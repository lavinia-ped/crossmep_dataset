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03beba9-3b6d-f021-488d-1ef7d7622296}">
          <p14:sldIdLst>
            <p14:sldId id="256"/>
          </p14:sldIdLst>
        </p14:section>
        <p14:section name="Motivation" id="{4f7cdbf3-b342-615c-0c01-88573a0618bc}">
          <p14:sldIdLst>
            <p14:sldId id="257"/>
            <p14:sldId id="258"/>
            <p14:sldId id="259"/>
            <p14:sldId id="260"/>
            <p14:sldId id="261"/>
          </p14:sldIdLst>
        </p14:section>
        <p14:section name="The dataset" id="{f19a24e6-ede9-481c-4896-959e65d2452a}">
          <p14:sldIdLst>
            <p14:sldId id="262"/>
            <p14:sldId id="263"/>
            <p14:sldId id="264"/>
            <p14:sldId id="265"/>
            <p14:sldId id="266"/>
          </p14:sldIdLst>
        </p14:section>
        <p14:section name="Experiments" id="{22d2f891-d592-7368-3e6d-70bfc3c17f6f}">
          <p14:sldIdLst>
            <p14:sldId id="267"/>
            <p14:sldId id="268"/>
            <p14:sldId id="269"/>
          </p14:sldIdLst>
        </p14:section>
        <p14:section name="Use" id="{213e8dfc-8382-23b1-4674-9da3832948de}">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splits on disjoint seeds: five thousand for training, five hundred each for validation and test, and a benchmark of a thousand, a hundred and twenty-five per tier. Plain JSON, with a schema and a datasheet.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benchmark context per tier. C1 is a single element, the most common support in any building; C8 has eight services on three rows. Within a tier everything else varies, so the element count is the one controlled axis of difficulty. On walls the section rotates, and electrical sits above water.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the count is fixed by construction, and load and congestion follow from the rules. Load at the support rises with the tier, from about 0.3 to 2.0 kilonewtons, and the closest gap narrows at every step, from 130 to about 51 millimetres. The dataset behaves as designed. (4:40)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The same files serve reinforcement learning, constraint programming and benchmarking, and we ship the scoring. Train on the generator, C1 up to C8. Evaluate on the benchmark, the same 125 contexts per tier for every method. Report per tier, with intervals and paired tests. (7:10)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Approximate practitioner estimates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The synthesis problem as defined at ISARC 2026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81328"/>
            <a:ext cx="4846320" cy="566928"/>
          </a:xfrm>
          <a:prstGeom prst="rect">
            <a:avLst/>
          </a:prstGeom>
          <a:noFill/>
          <a:ln/>
        </p:spPr>
        <p:txBody>
          <a:bodyPr wrap="square" lIns="0" tIns="0" rIns="0" bIns="0" rtlCol="0" anchor="t"/>
          <a:lstStyle/>
          <a:p>
            <a:pPr indent="0" marL="0">
              <a:buNone/>
            </a:pPr>
            <a:r>
              <a:rPr lang="en-US" sz="1400" b="1" dirty="0">
                <a:solidFill>
                  <a:schemeClr val="tx1"/>
                </a:solidFill>
              </a:rPr>
              <a:t>The real designs we had</a:t>
            </a:r>
            <a:endParaRPr lang="en-US" sz="1400" dirty="0"/>
          </a:p>
          <a:p>
            <a:pPr indent="0" marL="0">
              <a:buNone/>
            </a:pPr>
            <a:r>
              <a:rPr lang="en-US" sz="1150" dirty="0">
                <a:solidFill>
                  <a:srgbClr val="52514E"/>
                </a:solidFill>
              </a:rPr>
              <a:t>few, from one kind of project with one trade mix: one corner of the space</a:t>
            </a:r>
            <a:endParaRPr lang="en-US" sz="1400" dirty="0"/>
          </a:p>
        </p:txBody>
      </p:sp>
      <p:sp>
        <p:nvSpPr>
          <p:cNvPr id="5" name="x axis real"/>
          <p:cNvSpPr/>
          <p:nvPr/>
        </p:nvSpPr>
        <p:spPr>
          <a:xfrm>
            <a:off x="1051560" y="3063240"/>
            <a:ext cx="4480560" cy="0"/>
          </a:xfrm>
          <a:prstGeom prst="line">
            <a:avLst/>
          </a:prstGeom>
          <a:noFill/>
          <a:ln w="12700">
            <a:solidFill>
              <a:srgbClr val="52514E"/>
            </a:solidFill>
            <a:prstDash val="solid"/>
            <a:tailEnd type="triangle"/>
          </a:ln>
        </p:spPr>
      </p:sp>
      <p:sp>
        <p:nvSpPr>
          <p:cNvPr id="6" name="y axis real"/>
          <p:cNvSpPr/>
          <p:nvPr/>
        </p:nvSpPr>
        <p:spPr>
          <a:xfrm>
            <a:off x="1051560" y="2148840"/>
            <a:ext cx="0" cy="914400"/>
          </a:xfrm>
          <a:prstGeom prst="line">
            <a:avLst/>
          </a:prstGeom>
          <a:noFill/>
          <a:ln w="12700">
            <a:solidFill>
              <a:srgbClr val="52514E"/>
            </a:solidFill>
            <a:prstDash val="solid"/>
            <a:headEnd type="triangle"/>
          </a:ln>
        </p:spPr>
      </p:sp>
      <p:sp>
        <p:nvSpPr>
          <p:cNvPr id="7" name="x label real"/>
          <p:cNvSpPr txBox="1"/>
          <p:nvPr/>
        </p:nvSpPr>
        <p:spPr>
          <a:xfrm>
            <a:off x="1051560" y="309067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66928" y="214884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dot real 0"/>
          <p:cNvSpPr/>
          <p:nvPr/>
        </p:nvSpPr>
        <p:spPr>
          <a:xfrm>
            <a:off x="1516075" y="2807208"/>
            <a:ext cx="146304" cy="146304"/>
          </a:xfrm>
          <a:prstGeom prst="ellipse">
            <a:avLst/>
          </a:prstGeom>
          <a:solidFill>
            <a:srgbClr val="EB6834"/>
          </a:solidFill>
          <a:ln w="6350">
            <a:solidFill>
              <a:srgbClr val="FFFFFF"/>
            </a:solidFill>
            <a:prstDash val="solid"/>
          </a:ln>
        </p:spPr>
      </p:sp>
      <p:sp>
        <p:nvSpPr>
          <p:cNvPr id="10" name="dot real 1"/>
          <p:cNvSpPr/>
          <p:nvPr/>
        </p:nvSpPr>
        <p:spPr>
          <a:xfrm>
            <a:off x="1784909" y="2752344"/>
            <a:ext cx="146304" cy="146304"/>
          </a:xfrm>
          <a:prstGeom prst="ellipse">
            <a:avLst/>
          </a:prstGeom>
          <a:solidFill>
            <a:srgbClr val="EB6834"/>
          </a:solidFill>
          <a:ln w="6350">
            <a:solidFill>
              <a:srgbClr val="FFFFFF"/>
            </a:solidFill>
            <a:prstDash val="solid"/>
          </a:ln>
        </p:spPr>
      </p:sp>
      <p:sp>
        <p:nvSpPr>
          <p:cNvPr id="11" name="dot real 2"/>
          <p:cNvSpPr/>
          <p:nvPr/>
        </p:nvSpPr>
        <p:spPr>
          <a:xfrm>
            <a:off x="1964131" y="2834640"/>
            <a:ext cx="146304" cy="146304"/>
          </a:xfrm>
          <a:prstGeom prst="ellipse">
            <a:avLst/>
          </a:prstGeom>
          <a:solidFill>
            <a:srgbClr val="EB6834"/>
          </a:solidFill>
          <a:ln w="6350">
            <a:solidFill>
              <a:srgbClr val="FFFFFF"/>
            </a:solidFill>
            <a:prstDash val="solid"/>
          </a:ln>
        </p:spPr>
      </p:sp>
      <p:sp>
        <p:nvSpPr>
          <p:cNvPr id="12" name="dot real 3"/>
          <p:cNvSpPr/>
          <p:nvPr/>
        </p:nvSpPr>
        <p:spPr>
          <a:xfrm>
            <a:off x="1650492" y="2688336"/>
            <a:ext cx="146304" cy="146304"/>
          </a:xfrm>
          <a:prstGeom prst="ellipse">
            <a:avLst/>
          </a:prstGeom>
          <a:solidFill>
            <a:srgbClr val="EB6834"/>
          </a:solidFill>
          <a:ln w="6350">
            <a:solidFill>
              <a:srgbClr val="FFFFFF"/>
            </a:solidFill>
            <a:prstDash val="solid"/>
          </a:ln>
        </p:spPr>
      </p:sp>
      <p:sp>
        <p:nvSpPr>
          <p:cNvPr id="13" name="dot real 4"/>
          <p:cNvSpPr/>
          <p:nvPr/>
        </p:nvSpPr>
        <p:spPr>
          <a:xfrm>
            <a:off x="2188159" y="2770632"/>
            <a:ext cx="146304" cy="146304"/>
          </a:xfrm>
          <a:prstGeom prst="ellipse">
            <a:avLst/>
          </a:prstGeom>
          <a:solidFill>
            <a:srgbClr val="EB6834"/>
          </a:solidFill>
          <a:ln w="6350">
            <a:solidFill>
              <a:srgbClr val="FFFFFF"/>
            </a:solidFill>
            <a:prstDash val="solid"/>
          </a:ln>
        </p:spPr>
      </p:sp>
      <p:sp>
        <p:nvSpPr>
          <p:cNvPr id="14" name="dot real 5"/>
          <p:cNvSpPr/>
          <p:nvPr/>
        </p:nvSpPr>
        <p:spPr>
          <a:xfrm>
            <a:off x="1874520" y="2880360"/>
            <a:ext cx="146304" cy="146304"/>
          </a:xfrm>
          <a:prstGeom prst="ellipse">
            <a:avLst/>
          </a:prstGeom>
          <a:solidFill>
            <a:srgbClr val="EB6834"/>
          </a:solidFill>
          <a:ln w="6350">
            <a:solidFill>
              <a:srgbClr val="FFFFFF"/>
            </a:solidFill>
            <a:prstDash val="solid"/>
          </a:ln>
        </p:spPr>
      </p:sp>
      <p:sp>
        <p:nvSpPr>
          <p:cNvPr id="15" name="dot real 6"/>
          <p:cNvSpPr/>
          <p:nvPr/>
        </p:nvSpPr>
        <p:spPr>
          <a:xfrm>
            <a:off x="2367382" y="2715768"/>
            <a:ext cx="146304" cy="146304"/>
          </a:xfrm>
          <a:prstGeom prst="ellipse">
            <a:avLst/>
          </a:prstGeom>
          <a:solidFill>
            <a:srgbClr val="EB6834"/>
          </a:solidFill>
          <a:ln w="6350">
            <a:solidFill>
              <a:srgbClr val="FFFFFF"/>
            </a:solidFill>
            <a:prstDash val="solid"/>
          </a:ln>
        </p:spPr>
      </p:sp>
      <p:sp>
        <p:nvSpPr>
          <p:cNvPr id="16" name="dot real 7"/>
          <p:cNvSpPr/>
          <p:nvPr/>
        </p:nvSpPr>
        <p:spPr>
          <a:xfrm>
            <a:off x="1381658" y="2734056"/>
            <a:ext cx="146304" cy="146304"/>
          </a:xfrm>
          <a:prstGeom prst="ellipse">
            <a:avLst/>
          </a:prstGeom>
          <a:solidFill>
            <a:srgbClr val="EB6834"/>
          </a:solidFill>
          <a:ln w="6350">
            <a:solidFill>
              <a:srgbClr val="FFFFFF"/>
            </a:solidFill>
            <a:prstDash val="solid"/>
          </a:ln>
        </p:spPr>
      </p:sp>
      <p:sp>
        <p:nvSpPr>
          <p:cNvPr id="17" name="dot real 8"/>
          <p:cNvSpPr/>
          <p:nvPr/>
        </p:nvSpPr>
        <p:spPr>
          <a:xfrm>
            <a:off x="2098548" y="2660904"/>
            <a:ext cx="146304" cy="146304"/>
          </a:xfrm>
          <a:prstGeom prst="ellipse">
            <a:avLst/>
          </a:prstGeom>
          <a:solidFill>
            <a:srgbClr val="EB6834"/>
          </a:solidFill>
          <a:ln w="6350">
            <a:solidFill>
              <a:srgbClr val="FFFFFF"/>
            </a:solidFill>
            <a:prstDash val="solid"/>
          </a:ln>
        </p:spPr>
      </p:sp>
      <p:sp>
        <p:nvSpPr>
          <p:cNvPr id="18" name="dot real 9"/>
          <p:cNvSpPr/>
          <p:nvPr/>
        </p:nvSpPr>
        <p:spPr>
          <a:xfrm>
            <a:off x="2456993" y="2816352"/>
            <a:ext cx="146304" cy="146304"/>
          </a:xfrm>
          <a:prstGeom prst="ellipse">
            <a:avLst/>
          </a:prstGeom>
          <a:solidFill>
            <a:srgbClr val="EB6834"/>
          </a:solidFill>
          <a:ln w="6350">
            <a:solidFill>
              <a:srgbClr val="FFFFFF"/>
            </a:solidFill>
            <a:prstDash val="solid"/>
          </a:ln>
        </p:spPr>
      </p:sp>
      <p:sp>
        <p:nvSpPr>
          <p:cNvPr id="19" name="dot real 10"/>
          <p:cNvSpPr/>
          <p:nvPr/>
        </p:nvSpPr>
        <p:spPr>
          <a:xfrm>
            <a:off x="1740103" y="2624328"/>
            <a:ext cx="146304" cy="146304"/>
          </a:xfrm>
          <a:prstGeom prst="ellipse">
            <a:avLst/>
          </a:prstGeom>
          <a:solidFill>
            <a:srgbClr val="EB6834"/>
          </a:solidFill>
          <a:ln w="6350">
            <a:solidFill>
              <a:srgbClr val="FFFFFF"/>
            </a:solidFill>
            <a:prstDash val="solid"/>
          </a:ln>
        </p:spPr>
      </p:sp>
      <p:sp>
        <p:nvSpPr>
          <p:cNvPr id="20" name="dot real 11"/>
          <p:cNvSpPr/>
          <p:nvPr/>
        </p:nvSpPr>
        <p:spPr>
          <a:xfrm>
            <a:off x="2322576" y="2898648"/>
            <a:ext cx="146304" cy="146304"/>
          </a:xfrm>
          <a:prstGeom prst="ellipse">
            <a:avLst/>
          </a:prstGeom>
          <a:solidFill>
            <a:srgbClr val="EB6834"/>
          </a:solidFill>
          <a:ln w="6350">
            <a:solidFill>
              <a:srgbClr val="FFFFFF"/>
            </a:solidFill>
            <a:prstDash val="solid"/>
          </a:ln>
        </p:spPr>
      </p:sp>
      <p:sp>
        <p:nvSpPr>
          <p:cNvPr id="21" name="real cluster ring"/>
          <p:cNvSpPr/>
          <p:nvPr/>
        </p:nvSpPr>
        <p:spPr>
          <a:xfrm>
            <a:off x="1141171" y="2624328"/>
            <a:ext cx="1702613" cy="420624"/>
          </a:xfrm>
          <a:prstGeom prst="ellipse">
            <a:avLst/>
          </a:prstGeom>
          <a:ln w="12700">
            <a:solidFill>
              <a:srgbClr val="EB6834"/>
            </a:solidFill>
            <a:prstDash val="dash"/>
          </a:ln>
        </p:spPr>
      </p:sp>
      <p:sp>
        <p:nvSpPr>
          <p:cNvPr id="22" name="real note"/>
          <p:cNvSpPr txBox="1"/>
          <p:nvPr/>
        </p:nvSpPr>
        <p:spPr>
          <a:xfrm>
            <a:off x="3023006" y="2377440"/>
            <a:ext cx="2464308"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measures fit to that project</a:t>
            </a:r>
            <a:endParaRPr lang="en-US" sz="1100" dirty="0"/>
          </a:p>
        </p:txBody>
      </p:sp>
      <p:sp>
        <p:nvSpPr>
          <p:cNvPr id="23" name="space synthetic"/>
          <p:cNvSpPr/>
          <p:nvPr/>
        </p:nvSpPr>
        <p:spPr>
          <a:xfrm>
            <a:off x="548640" y="3611880"/>
            <a:ext cx="5212080" cy="2103120"/>
          </a:xfrm>
          <a:prstGeom prst="roundRect">
            <a:avLst>
              <a:gd name="adj" fmla="val 3043"/>
            </a:avLst>
          </a:prstGeom>
          <a:solidFill>
            <a:schemeClr val="bg2"/>
          </a:solidFill>
          <a:ln/>
        </p:spPr>
      </p:sp>
      <p:sp>
        <p:nvSpPr>
          <p:cNvPr id="24" name="space head synthetic"/>
          <p:cNvSpPr txBox="1"/>
          <p:nvPr/>
        </p:nvSpPr>
        <p:spPr>
          <a:xfrm>
            <a:off x="731520" y="3721608"/>
            <a:ext cx="4846320" cy="566928"/>
          </a:xfrm>
          <a:prstGeom prst="rect">
            <a:avLst/>
          </a:prstGeom>
          <a:noFill/>
          <a:ln/>
        </p:spPr>
        <p:txBody>
          <a:bodyPr wrap="square" lIns="0" tIns="0" rIns="0" bIns="0" rtlCol="0" anchor="t"/>
          <a:lstStyle/>
          <a:p>
            <a:pPr indent="0" marL="0">
              <a:buNone/>
            </a:pPr>
            <a:r>
              <a:rPr lang="en-US" sz="1400" b="1" dirty="0">
                <a:solidFill>
                  <a:schemeClr val="tx1"/>
                </a:solidFill>
              </a:rPr>
              <a:t>CrossMEP</a:t>
            </a:r>
            <a:endParaRPr lang="en-US" sz="1400" dirty="0"/>
          </a:p>
          <a:p>
            <a:pPr indent="0" marL="0">
              <a:buNone/>
            </a:pPr>
            <a:r>
              <a:rPr lang="en-US" sz="1150" dirty="0">
                <a:solidFill>
                  <a:srgbClr val="52514E"/>
                </a:solidFill>
              </a:rPr>
              <a:t>the space filled by construction, without limit: a new seed is a new set; uniform over the tiers, or any mix you ask for (generate_custom)</a:t>
            </a:r>
            <a:endParaRPr lang="en-US" sz="1400" dirty="0"/>
          </a:p>
        </p:txBody>
      </p:sp>
      <p:sp>
        <p:nvSpPr>
          <p:cNvPr id="25" name="x axis synthetic"/>
          <p:cNvSpPr/>
          <p:nvPr/>
        </p:nvSpPr>
        <p:spPr>
          <a:xfrm>
            <a:off x="1051560" y="5303520"/>
            <a:ext cx="4480560" cy="0"/>
          </a:xfrm>
          <a:prstGeom prst="line">
            <a:avLst/>
          </a:prstGeom>
          <a:noFill/>
          <a:ln w="12700">
            <a:solidFill>
              <a:srgbClr val="52514E"/>
            </a:solidFill>
            <a:prstDash val="solid"/>
            <a:tailEnd type="triangle"/>
          </a:ln>
        </p:spPr>
      </p:sp>
      <p:sp>
        <p:nvSpPr>
          <p:cNvPr id="26" name="y axis synthetic"/>
          <p:cNvSpPr/>
          <p:nvPr/>
        </p:nvSpPr>
        <p:spPr>
          <a:xfrm>
            <a:off x="1051560" y="4389120"/>
            <a:ext cx="0" cy="914400"/>
          </a:xfrm>
          <a:prstGeom prst="line">
            <a:avLst/>
          </a:prstGeom>
          <a:noFill/>
          <a:ln w="12700">
            <a:solidFill>
              <a:srgbClr val="52514E"/>
            </a:solidFill>
            <a:prstDash val="solid"/>
            <a:headEnd type="triangle"/>
          </a:ln>
        </p:spPr>
      </p:sp>
      <p:sp>
        <p:nvSpPr>
          <p:cNvPr id="27" name="x label synthetic"/>
          <p:cNvSpPr txBox="1"/>
          <p:nvPr/>
        </p:nvSpPr>
        <p:spPr>
          <a:xfrm>
            <a:off x="1051560" y="5330952"/>
            <a:ext cx="448056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28" name="y label synthetic"/>
          <p:cNvSpPr txBox="1"/>
          <p:nvPr/>
        </p:nvSpPr>
        <p:spPr>
          <a:xfrm rot="16200000">
            <a:off x="566928" y="4389120"/>
            <a:ext cx="457200" cy="91440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29" name="dot syn 00"/>
          <p:cNvSpPr/>
          <p:nvPr/>
        </p:nvSpPr>
        <p:spPr>
          <a:xfrm>
            <a:off x="1350569" y="5134356"/>
            <a:ext cx="118872" cy="118872"/>
          </a:xfrm>
          <a:prstGeom prst="ellipse">
            <a:avLst/>
          </a:prstGeom>
          <a:solidFill>
            <a:schemeClr val="accent1"/>
          </a:solidFill>
          <a:ln w="6350">
            <a:solidFill>
              <a:srgbClr val="FFFFFF"/>
            </a:solidFill>
            <a:prstDash val="solid"/>
          </a:ln>
        </p:spPr>
      </p:sp>
      <p:sp>
        <p:nvSpPr>
          <p:cNvPr id="30" name="dot syn 01"/>
          <p:cNvSpPr/>
          <p:nvPr/>
        </p:nvSpPr>
        <p:spPr>
          <a:xfrm>
            <a:off x="1350569" y="4896612"/>
            <a:ext cx="118872" cy="118872"/>
          </a:xfrm>
          <a:prstGeom prst="ellipse">
            <a:avLst/>
          </a:prstGeom>
          <a:solidFill>
            <a:schemeClr val="accent1"/>
          </a:solidFill>
          <a:ln w="6350">
            <a:solidFill>
              <a:srgbClr val="FFFFFF"/>
            </a:solidFill>
            <a:prstDash val="solid"/>
          </a:ln>
        </p:spPr>
      </p:sp>
      <p:sp>
        <p:nvSpPr>
          <p:cNvPr id="31" name="dot syn 02"/>
          <p:cNvSpPr/>
          <p:nvPr/>
        </p:nvSpPr>
        <p:spPr>
          <a:xfrm>
            <a:off x="1350569" y="4658868"/>
            <a:ext cx="118872" cy="118872"/>
          </a:xfrm>
          <a:prstGeom prst="ellipse">
            <a:avLst/>
          </a:prstGeom>
          <a:solidFill>
            <a:schemeClr val="accent1"/>
          </a:solidFill>
          <a:ln w="6350">
            <a:solidFill>
              <a:srgbClr val="FFFFFF"/>
            </a:solidFill>
            <a:prstDash val="solid"/>
          </a:ln>
        </p:spPr>
      </p:sp>
      <p:sp>
        <p:nvSpPr>
          <p:cNvPr id="32" name="dot syn 03"/>
          <p:cNvSpPr/>
          <p:nvPr/>
        </p:nvSpPr>
        <p:spPr>
          <a:xfrm>
            <a:off x="1350569" y="4421124"/>
            <a:ext cx="118872" cy="118872"/>
          </a:xfrm>
          <a:prstGeom prst="ellipse">
            <a:avLst/>
          </a:prstGeom>
          <a:solidFill>
            <a:schemeClr val="accent1"/>
          </a:solidFill>
          <a:ln w="6350">
            <a:solidFill>
              <a:srgbClr val="FFFFFF"/>
            </a:solidFill>
            <a:prstDash val="solid"/>
          </a:ln>
        </p:spPr>
      </p:sp>
      <p:sp>
        <p:nvSpPr>
          <p:cNvPr id="33" name="dot syn 10"/>
          <p:cNvSpPr/>
          <p:nvPr/>
        </p:nvSpPr>
        <p:spPr>
          <a:xfrm>
            <a:off x="1910639" y="5134356"/>
            <a:ext cx="118872" cy="118872"/>
          </a:xfrm>
          <a:prstGeom prst="ellipse">
            <a:avLst/>
          </a:prstGeom>
          <a:solidFill>
            <a:schemeClr val="accent1"/>
          </a:solidFill>
          <a:ln w="6350">
            <a:solidFill>
              <a:srgbClr val="FFFFFF"/>
            </a:solidFill>
            <a:prstDash val="solid"/>
          </a:ln>
        </p:spPr>
      </p:sp>
      <p:sp>
        <p:nvSpPr>
          <p:cNvPr id="34" name="dot syn 11"/>
          <p:cNvSpPr/>
          <p:nvPr/>
        </p:nvSpPr>
        <p:spPr>
          <a:xfrm>
            <a:off x="1910639" y="4896612"/>
            <a:ext cx="118872" cy="118872"/>
          </a:xfrm>
          <a:prstGeom prst="ellipse">
            <a:avLst/>
          </a:prstGeom>
          <a:solidFill>
            <a:schemeClr val="accent1"/>
          </a:solidFill>
          <a:ln w="6350">
            <a:solidFill>
              <a:srgbClr val="FFFFFF"/>
            </a:solidFill>
            <a:prstDash val="solid"/>
          </a:ln>
        </p:spPr>
      </p:sp>
      <p:sp>
        <p:nvSpPr>
          <p:cNvPr id="35" name="dot syn 12"/>
          <p:cNvSpPr/>
          <p:nvPr/>
        </p:nvSpPr>
        <p:spPr>
          <a:xfrm>
            <a:off x="1910639" y="4658868"/>
            <a:ext cx="118872" cy="118872"/>
          </a:xfrm>
          <a:prstGeom prst="ellipse">
            <a:avLst/>
          </a:prstGeom>
          <a:solidFill>
            <a:schemeClr val="accent1"/>
          </a:solidFill>
          <a:ln w="6350">
            <a:solidFill>
              <a:srgbClr val="FFFFFF"/>
            </a:solidFill>
            <a:prstDash val="solid"/>
          </a:ln>
        </p:spPr>
      </p:sp>
      <p:sp>
        <p:nvSpPr>
          <p:cNvPr id="36" name="dot syn 13"/>
          <p:cNvSpPr/>
          <p:nvPr/>
        </p:nvSpPr>
        <p:spPr>
          <a:xfrm>
            <a:off x="1910639" y="4421124"/>
            <a:ext cx="118872" cy="118872"/>
          </a:xfrm>
          <a:prstGeom prst="ellipse">
            <a:avLst/>
          </a:prstGeom>
          <a:solidFill>
            <a:schemeClr val="accent1"/>
          </a:solidFill>
          <a:ln w="6350">
            <a:solidFill>
              <a:srgbClr val="FFFFFF"/>
            </a:solidFill>
            <a:prstDash val="solid"/>
          </a:ln>
        </p:spPr>
      </p:sp>
      <p:sp>
        <p:nvSpPr>
          <p:cNvPr id="37" name="dot syn 20"/>
          <p:cNvSpPr/>
          <p:nvPr/>
        </p:nvSpPr>
        <p:spPr>
          <a:xfrm>
            <a:off x="2470709" y="5134356"/>
            <a:ext cx="118872" cy="118872"/>
          </a:xfrm>
          <a:prstGeom prst="ellipse">
            <a:avLst/>
          </a:prstGeom>
          <a:solidFill>
            <a:schemeClr val="accent1"/>
          </a:solidFill>
          <a:ln w="6350">
            <a:solidFill>
              <a:srgbClr val="FFFFFF"/>
            </a:solidFill>
            <a:prstDash val="solid"/>
          </a:ln>
        </p:spPr>
      </p:sp>
      <p:sp>
        <p:nvSpPr>
          <p:cNvPr id="38" name="dot syn 21"/>
          <p:cNvSpPr/>
          <p:nvPr/>
        </p:nvSpPr>
        <p:spPr>
          <a:xfrm>
            <a:off x="2470709" y="4896612"/>
            <a:ext cx="118872" cy="118872"/>
          </a:xfrm>
          <a:prstGeom prst="ellipse">
            <a:avLst/>
          </a:prstGeom>
          <a:solidFill>
            <a:schemeClr val="accent1"/>
          </a:solidFill>
          <a:ln w="6350">
            <a:solidFill>
              <a:srgbClr val="FFFFFF"/>
            </a:solidFill>
            <a:prstDash val="solid"/>
          </a:ln>
        </p:spPr>
      </p:sp>
      <p:sp>
        <p:nvSpPr>
          <p:cNvPr id="39" name="dot syn 22"/>
          <p:cNvSpPr/>
          <p:nvPr/>
        </p:nvSpPr>
        <p:spPr>
          <a:xfrm>
            <a:off x="2470709" y="4658868"/>
            <a:ext cx="118872" cy="118872"/>
          </a:xfrm>
          <a:prstGeom prst="ellipse">
            <a:avLst/>
          </a:prstGeom>
          <a:solidFill>
            <a:schemeClr val="accent1"/>
          </a:solidFill>
          <a:ln w="6350">
            <a:solidFill>
              <a:srgbClr val="FFFFFF"/>
            </a:solidFill>
            <a:prstDash val="solid"/>
          </a:ln>
        </p:spPr>
      </p:sp>
      <p:sp>
        <p:nvSpPr>
          <p:cNvPr id="40" name="dot syn 23"/>
          <p:cNvSpPr/>
          <p:nvPr/>
        </p:nvSpPr>
        <p:spPr>
          <a:xfrm>
            <a:off x="2470709" y="4421124"/>
            <a:ext cx="118872" cy="118872"/>
          </a:xfrm>
          <a:prstGeom prst="ellipse">
            <a:avLst/>
          </a:prstGeom>
          <a:solidFill>
            <a:schemeClr val="accent1"/>
          </a:solidFill>
          <a:ln w="6350">
            <a:solidFill>
              <a:srgbClr val="FFFFFF"/>
            </a:solidFill>
            <a:prstDash val="solid"/>
          </a:ln>
        </p:spPr>
      </p:sp>
      <p:sp>
        <p:nvSpPr>
          <p:cNvPr id="41" name="dot syn 30"/>
          <p:cNvSpPr/>
          <p:nvPr/>
        </p:nvSpPr>
        <p:spPr>
          <a:xfrm>
            <a:off x="3030779" y="5134356"/>
            <a:ext cx="118872" cy="118872"/>
          </a:xfrm>
          <a:prstGeom prst="ellipse">
            <a:avLst/>
          </a:prstGeom>
          <a:solidFill>
            <a:schemeClr val="accent1"/>
          </a:solidFill>
          <a:ln w="6350">
            <a:solidFill>
              <a:srgbClr val="FFFFFF"/>
            </a:solidFill>
            <a:prstDash val="solid"/>
          </a:ln>
        </p:spPr>
      </p:sp>
      <p:sp>
        <p:nvSpPr>
          <p:cNvPr id="42" name="dot syn 31"/>
          <p:cNvSpPr/>
          <p:nvPr/>
        </p:nvSpPr>
        <p:spPr>
          <a:xfrm>
            <a:off x="3030779" y="4896612"/>
            <a:ext cx="118872" cy="118872"/>
          </a:xfrm>
          <a:prstGeom prst="ellipse">
            <a:avLst/>
          </a:prstGeom>
          <a:solidFill>
            <a:schemeClr val="accent1"/>
          </a:solidFill>
          <a:ln w="6350">
            <a:solidFill>
              <a:srgbClr val="FFFFFF"/>
            </a:solidFill>
            <a:prstDash val="solid"/>
          </a:ln>
        </p:spPr>
      </p:sp>
      <p:sp>
        <p:nvSpPr>
          <p:cNvPr id="43" name="dot syn 32"/>
          <p:cNvSpPr/>
          <p:nvPr/>
        </p:nvSpPr>
        <p:spPr>
          <a:xfrm>
            <a:off x="3030779" y="4658868"/>
            <a:ext cx="118872" cy="118872"/>
          </a:xfrm>
          <a:prstGeom prst="ellipse">
            <a:avLst/>
          </a:prstGeom>
          <a:solidFill>
            <a:schemeClr val="accent1"/>
          </a:solidFill>
          <a:ln w="6350">
            <a:solidFill>
              <a:srgbClr val="FFFFFF"/>
            </a:solidFill>
            <a:prstDash val="solid"/>
          </a:ln>
        </p:spPr>
      </p:sp>
      <p:sp>
        <p:nvSpPr>
          <p:cNvPr id="44" name="dot syn 33"/>
          <p:cNvSpPr/>
          <p:nvPr/>
        </p:nvSpPr>
        <p:spPr>
          <a:xfrm>
            <a:off x="3030779" y="4421124"/>
            <a:ext cx="118872" cy="118872"/>
          </a:xfrm>
          <a:prstGeom prst="ellipse">
            <a:avLst/>
          </a:prstGeom>
          <a:solidFill>
            <a:schemeClr val="accent1"/>
          </a:solidFill>
          <a:ln w="6350">
            <a:solidFill>
              <a:srgbClr val="FFFFFF"/>
            </a:solidFill>
            <a:prstDash val="solid"/>
          </a:ln>
        </p:spPr>
      </p:sp>
      <p:sp>
        <p:nvSpPr>
          <p:cNvPr id="45" name="dot syn 40"/>
          <p:cNvSpPr/>
          <p:nvPr/>
        </p:nvSpPr>
        <p:spPr>
          <a:xfrm>
            <a:off x="3590849" y="5134356"/>
            <a:ext cx="118872" cy="118872"/>
          </a:xfrm>
          <a:prstGeom prst="ellipse">
            <a:avLst/>
          </a:prstGeom>
          <a:solidFill>
            <a:schemeClr val="accent1"/>
          </a:solidFill>
          <a:ln w="6350">
            <a:solidFill>
              <a:srgbClr val="FFFFFF"/>
            </a:solidFill>
            <a:prstDash val="solid"/>
          </a:ln>
        </p:spPr>
      </p:sp>
      <p:sp>
        <p:nvSpPr>
          <p:cNvPr id="46" name="dot syn 41"/>
          <p:cNvSpPr/>
          <p:nvPr/>
        </p:nvSpPr>
        <p:spPr>
          <a:xfrm>
            <a:off x="3590849" y="4896612"/>
            <a:ext cx="118872" cy="118872"/>
          </a:xfrm>
          <a:prstGeom prst="ellipse">
            <a:avLst/>
          </a:prstGeom>
          <a:solidFill>
            <a:schemeClr val="accent1"/>
          </a:solidFill>
          <a:ln w="6350">
            <a:solidFill>
              <a:srgbClr val="FFFFFF"/>
            </a:solidFill>
            <a:prstDash val="solid"/>
          </a:ln>
        </p:spPr>
      </p:sp>
      <p:sp>
        <p:nvSpPr>
          <p:cNvPr id="47" name="dot syn 42"/>
          <p:cNvSpPr/>
          <p:nvPr/>
        </p:nvSpPr>
        <p:spPr>
          <a:xfrm>
            <a:off x="3590849" y="4658868"/>
            <a:ext cx="118872" cy="118872"/>
          </a:xfrm>
          <a:prstGeom prst="ellipse">
            <a:avLst/>
          </a:prstGeom>
          <a:solidFill>
            <a:schemeClr val="accent1"/>
          </a:solidFill>
          <a:ln w="6350">
            <a:solidFill>
              <a:srgbClr val="FFFFFF"/>
            </a:solidFill>
            <a:prstDash val="solid"/>
          </a:ln>
        </p:spPr>
      </p:sp>
      <p:sp>
        <p:nvSpPr>
          <p:cNvPr id="48" name="dot syn 43"/>
          <p:cNvSpPr/>
          <p:nvPr/>
        </p:nvSpPr>
        <p:spPr>
          <a:xfrm>
            <a:off x="3590849" y="4421124"/>
            <a:ext cx="118872" cy="118872"/>
          </a:xfrm>
          <a:prstGeom prst="ellipse">
            <a:avLst/>
          </a:prstGeom>
          <a:solidFill>
            <a:schemeClr val="accent1"/>
          </a:solidFill>
          <a:ln w="6350">
            <a:solidFill>
              <a:srgbClr val="FFFFFF"/>
            </a:solidFill>
            <a:prstDash val="solid"/>
          </a:ln>
        </p:spPr>
      </p:sp>
      <p:sp>
        <p:nvSpPr>
          <p:cNvPr id="49" name="dot syn 50"/>
          <p:cNvSpPr/>
          <p:nvPr/>
        </p:nvSpPr>
        <p:spPr>
          <a:xfrm>
            <a:off x="4150919" y="5134356"/>
            <a:ext cx="118872" cy="118872"/>
          </a:xfrm>
          <a:prstGeom prst="ellipse">
            <a:avLst/>
          </a:prstGeom>
          <a:solidFill>
            <a:schemeClr val="accent1"/>
          </a:solidFill>
          <a:ln w="6350">
            <a:solidFill>
              <a:srgbClr val="FFFFFF"/>
            </a:solidFill>
            <a:prstDash val="solid"/>
          </a:ln>
        </p:spPr>
      </p:sp>
      <p:sp>
        <p:nvSpPr>
          <p:cNvPr id="50" name="dot syn 51"/>
          <p:cNvSpPr/>
          <p:nvPr/>
        </p:nvSpPr>
        <p:spPr>
          <a:xfrm>
            <a:off x="4150919" y="4896612"/>
            <a:ext cx="118872" cy="118872"/>
          </a:xfrm>
          <a:prstGeom prst="ellipse">
            <a:avLst/>
          </a:prstGeom>
          <a:solidFill>
            <a:schemeClr val="accent1"/>
          </a:solidFill>
          <a:ln w="6350">
            <a:solidFill>
              <a:srgbClr val="FFFFFF"/>
            </a:solidFill>
            <a:prstDash val="solid"/>
          </a:ln>
        </p:spPr>
      </p:sp>
      <p:sp>
        <p:nvSpPr>
          <p:cNvPr id="51" name="dot syn 52"/>
          <p:cNvSpPr/>
          <p:nvPr/>
        </p:nvSpPr>
        <p:spPr>
          <a:xfrm>
            <a:off x="4150919" y="4658868"/>
            <a:ext cx="118872" cy="118872"/>
          </a:xfrm>
          <a:prstGeom prst="ellipse">
            <a:avLst/>
          </a:prstGeom>
          <a:solidFill>
            <a:schemeClr val="accent1"/>
          </a:solidFill>
          <a:ln w="6350">
            <a:solidFill>
              <a:srgbClr val="FFFFFF"/>
            </a:solidFill>
            <a:prstDash val="solid"/>
          </a:ln>
        </p:spPr>
      </p:sp>
      <p:sp>
        <p:nvSpPr>
          <p:cNvPr id="52" name="dot syn 53"/>
          <p:cNvSpPr/>
          <p:nvPr/>
        </p:nvSpPr>
        <p:spPr>
          <a:xfrm>
            <a:off x="4150919" y="4421124"/>
            <a:ext cx="118872" cy="118872"/>
          </a:xfrm>
          <a:prstGeom prst="ellipse">
            <a:avLst/>
          </a:prstGeom>
          <a:solidFill>
            <a:schemeClr val="accent1"/>
          </a:solidFill>
          <a:ln w="6350">
            <a:solidFill>
              <a:srgbClr val="FFFFFF"/>
            </a:solidFill>
            <a:prstDash val="solid"/>
          </a:ln>
        </p:spPr>
      </p:sp>
      <p:sp>
        <p:nvSpPr>
          <p:cNvPr id="53" name="dot syn 60"/>
          <p:cNvSpPr/>
          <p:nvPr/>
        </p:nvSpPr>
        <p:spPr>
          <a:xfrm>
            <a:off x="4710989" y="5134356"/>
            <a:ext cx="118872" cy="118872"/>
          </a:xfrm>
          <a:prstGeom prst="ellipse">
            <a:avLst/>
          </a:prstGeom>
          <a:solidFill>
            <a:schemeClr val="accent1"/>
          </a:solidFill>
          <a:ln w="6350">
            <a:solidFill>
              <a:srgbClr val="FFFFFF"/>
            </a:solidFill>
            <a:prstDash val="solid"/>
          </a:ln>
        </p:spPr>
      </p:sp>
      <p:sp>
        <p:nvSpPr>
          <p:cNvPr id="54" name="dot syn 61"/>
          <p:cNvSpPr/>
          <p:nvPr/>
        </p:nvSpPr>
        <p:spPr>
          <a:xfrm>
            <a:off x="4710989" y="4896612"/>
            <a:ext cx="118872" cy="118872"/>
          </a:xfrm>
          <a:prstGeom prst="ellipse">
            <a:avLst/>
          </a:prstGeom>
          <a:solidFill>
            <a:schemeClr val="accent1"/>
          </a:solidFill>
          <a:ln w="6350">
            <a:solidFill>
              <a:srgbClr val="FFFFFF"/>
            </a:solidFill>
            <a:prstDash val="solid"/>
          </a:ln>
        </p:spPr>
      </p:sp>
      <p:sp>
        <p:nvSpPr>
          <p:cNvPr id="55" name="dot syn 62"/>
          <p:cNvSpPr/>
          <p:nvPr/>
        </p:nvSpPr>
        <p:spPr>
          <a:xfrm>
            <a:off x="4710989" y="4658868"/>
            <a:ext cx="118872" cy="118872"/>
          </a:xfrm>
          <a:prstGeom prst="ellipse">
            <a:avLst/>
          </a:prstGeom>
          <a:solidFill>
            <a:schemeClr val="accent1"/>
          </a:solidFill>
          <a:ln w="6350">
            <a:solidFill>
              <a:srgbClr val="FFFFFF"/>
            </a:solidFill>
            <a:prstDash val="solid"/>
          </a:ln>
        </p:spPr>
      </p:sp>
      <p:sp>
        <p:nvSpPr>
          <p:cNvPr id="56" name="dot syn 63"/>
          <p:cNvSpPr/>
          <p:nvPr/>
        </p:nvSpPr>
        <p:spPr>
          <a:xfrm>
            <a:off x="4710989" y="4421124"/>
            <a:ext cx="118872" cy="118872"/>
          </a:xfrm>
          <a:prstGeom prst="ellipse">
            <a:avLst/>
          </a:prstGeom>
          <a:solidFill>
            <a:schemeClr val="accent1"/>
          </a:solidFill>
          <a:ln w="6350">
            <a:solidFill>
              <a:srgbClr val="FFFFFF"/>
            </a:solidFill>
            <a:prstDash val="solid"/>
          </a:ln>
        </p:spPr>
      </p:sp>
      <p:sp>
        <p:nvSpPr>
          <p:cNvPr id="57" name="dot syn 70"/>
          <p:cNvSpPr/>
          <p:nvPr/>
        </p:nvSpPr>
        <p:spPr>
          <a:xfrm>
            <a:off x="5271059" y="5134356"/>
            <a:ext cx="118872" cy="118872"/>
          </a:xfrm>
          <a:prstGeom prst="ellipse">
            <a:avLst/>
          </a:prstGeom>
          <a:solidFill>
            <a:schemeClr val="accent1"/>
          </a:solidFill>
          <a:ln w="6350">
            <a:solidFill>
              <a:srgbClr val="FFFFFF"/>
            </a:solidFill>
            <a:prstDash val="solid"/>
          </a:ln>
        </p:spPr>
      </p:sp>
      <p:sp>
        <p:nvSpPr>
          <p:cNvPr id="58" name="dot syn 71"/>
          <p:cNvSpPr/>
          <p:nvPr/>
        </p:nvSpPr>
        <p:spPr>
          <a:xfrm>
            <a:off x="5271059" y="4896612"/>
            <a:ext cx="118872" cy="118872"/>
          </a:xfrm>
          <a:prstGeom prst="ellipse">
            <a:avLst/>
          </a:prstGeom>
          <a:solidFill>
            <a:schemeClr val="accent1"/>
          </a:solidFill>
          <a:ln w="6350">
            <a:solidFill>
              <a:srgbClr val="FFFFFF"/>
            </a:solidFill>
            <a:prstDash val="solid"/>
          </a:ln>
        </p:spPr>
      </p:sp>
      <p:sp>
        <p:nvSpPr>
          <p:cNvPr id="59" name="dot syn 72"/>
          <p:cNvSpPr/>
          <p:nvPr/>
        </p:nvSpPr>
        <p:spPr>
          <a:xfrm>
            <a:off x="5271059" y="4658868"/>
            <a:ext cx="118872" cy="118872"/>
          </a:xfrm>
          <a:prstGeom prst="ellipse">
            <a:avLst/>
          </a:prstGeom>
          <a:solidFill>
            <a:schemeClr val="accent1"/>
          </a:solidFill>
          <a:ln w="6350">
            <a:solidFill>
              <a:srgbClr val="FFFFFF"/>
            </a:solidFill>
            <a:prstDash val="solid"/>
          </a:ln>
        </p:spPr>
      </p:sp>
      <p:sp>
        <p:nvSpPr>
          <p:cNvPr id="60" name="dot syn 73"/>
          <p:cNvSpPr/>
          <p:nvPr/>
        </p:nvSpPr>
        <p:spPr>
          <a:xfrm>
            <a:off x="5271059" y="4421124"/>
            <a:ext cx="118872" cy="118872"/>
          </a:xfrm>
          <a:prstGeom prst="ellipse">
            <a:avLst/>
          </a:prstGeom>
          <a:solidFill>
            <a:schemeClr val="accent1"/>
          </a:solidFill>
          <a:ln w="6350">
            <a:solidFill>
              <a:srgbClr val="FFFFFF"/>
            </a:solidFill>
            <a:prstDash val="solid"/>
          </a:ln>
        </p:spPr>
      </p:sp>
      <p:sp>
        <p:nvSpPr>
          <p:cNvPr id="61"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62"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63"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64"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65"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66"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67"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68"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69"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70"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71"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72"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73"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74" name="tile every constant with its source, or declared a design choice"/>
          <p:cNvSpPr/>
          <p:nvPr/>
        </p:nvSpPr>
        <p:spPr>
          <a:xfrm>
            <a:off x="7812024" y="4023360"/>
            <a:ext cx="1822704" cy="1965960"/>
          </a:xfrm>
          <a:prstGeom prst="roundRect">
            <a:avLst>
              <a:gd name="adj" fmla="val 3512"/>
            </a:avLst>
          </a:prstGeom>
          <a:solidFill>
            <a:schemeClr val="bg2"/>
          </a:solidFill>
          <a:ln/>
        </p:spPr>
      </p:sp>
      <p:sp>
        <p:nvSpPr>
          <p:cNvPr id="75" name="value every constant with its source, or declared a design choice"/>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76" name="label every constant with its source, or declared a design choice"/>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with its source, or declared a design choice</a:t>
            </a:r>
            <a:endParaRPr lang="en-US" sz="1150" dirty="0"/>
          </a:p>
        </p:txBody>
      </p:sp>
      <p:sp>
        <p:nvSpPr>
          <p:cNvPr id="77"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78"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79"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[3]: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[12] (at least 25 mm); stagger within rows; electrical above wet on walls [10].</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10"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Aptos" pitchFamily="34" charset="0"/>
                          <a:ea typeface="Aptos" pitchFamily="34" charset="-122"/>
                          <a:cs typeface="Aptos" pitchFamily="34" charset="-120"/>
                        </a:rPr>
                        <a:t>Element</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Aptos" pitchFamily="34" charset="0"/>
                          <a:ea typeface="Aptos" pitchFamily="34" charset="-122"/>
                          <a:cs typeface="Aptos" pitchFamily="34" charset="-120"/>
                        </a:rPr>
                        <a:t>Sizes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Aptos" pitchFamily="34" charset="0"/>
                          <a:ea typeface="Aptos" pitchFamily="34" charset="-122"/>
                          <a:cs typeface="Aptos" pitchFamily="34" charset="-120"/>
                        </a:rPr>
                        <a:t>Load basis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Aptos" pitchFamily="34" charset="0"/>
                          <a:ea typeface="Aptos" pitchFamily="34" charset="-122"/>
                          <a:cs typeface="Aptos" pitchFamily="34" charset="-120"/>
                        </a:rPr>
                        <a:t>Pipes DN15–100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EN 10220 / EN 10255 medium series [4]</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steel + water × ASME B31.1 water-service span (published points only) [8]</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Aptos" pitchFamily="34" charset="0"/>
                          <a:ea typeface="Aptos" pitchFamily="34" charset="-122"/>
                          <a:cs typeface="Aptos" pitchFamily="34" charset="-120"/>
                        </a:rPr>
                        <a:t>Insulation</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GEG Anlage 8 (heated) [11]; 30/50 mm condensation control (chilled)</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Cable trays 150–600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IEC 61537 systems [6], NEMA VE 1 widths [7]</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full tray: 50 kg/m at 300 mm datum, × 2.0 m (NEMA VE 1 class span) [7]</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Ducts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EN 1505 rectangular; EN 1506 round [5]</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manufacturer duct-weight table incl. flanges, × 2.4 m (SMACNA) [9]</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Conduits Ø20–50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IEC 61386-1 [6], parallel groups of 2–6</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steel tube + 40 %-of-bore cable fill, × 2.0 m (IET / BS 7671) [10]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 [10]</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[12];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4983480"/>
            <a:ext cx="11091672" cy="685800"/>
          </a:xfrm>
          <a:prstGeom prst="roundRect">
            <a:avLst>
              <a:gd name="adj" fmla="val 9333"/>
            </a:avLst>
          </a:prstGeom>
          <a:solidFill>
            <a:schemeClr val="bg2"/>
          </a:solidFill>
          <a:ln/>
        </p:spPr>
      </p:sp>
      <p:sp>
        <p:nvSpPr>
          <p:cNvPr id="7" name="sources note"/>
          <p:cNvSpPr txBox="1"/>
          <p:nvPr/>
        </p:nvSpPr>
        <p:spPr>
          <a:xfrm>
            <a:off x="822960" y="4983480"/>
            <a:ext cx="10515600" cy="685800"/>
          </a:xfrm>
          <a:prstGeom prst="rect">
            <a:avLst/>
          </a:prstGeom>
          <a:noFill/>
          <a:ln/>
        </p:spPr>
        <p:txBody>
          <a:bodyPr wrap="square" lIns="0" tIns="0" rIns="0" bIns="0" rtlCol="0" anchor="ctr"/>
          <a:lstStyle/>
          <a:p>
            <a:pPr indent="0" marL="0">
              <a:buNone/>
            </a:pPr>
            <a:r>
              <a:rPr lang="en-US" sz="125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250" dirty="0"/>
          </a:p>
        </p:txBody>
      </p:sp>
      <p:sp>
        <p:nvSpPr>
          <p:cNvPr id="8" name="references"/>
          <p:cNvSpPr txBox="1"/>
          <p:nvPr/>
        </p:nvSpPr>
        <p:spPr>
          <a:xfrm>
            <a:off x="548640" y="5715000"/>
            <a:ext cx="11091672" cy="658368"/>
          </a:xfrm>
          <a:prstGeom prst="rect">
            <a:avLst/>
          </a:prstGeom>
          <a:noFill/>
          <a:ln/>
        </p:spPr>
        <p:txBody>
          <a:bodyPr wrap="square" lIns="0" tIns="0" rIns="0" bIns="0" rtlCol="0" anchor="b"/>
          <a:lstStyle/>
          <a:p>
            <a:pPr indent="0" marL="0">
              <a:buNone/>
            </a:pPr>
            <a:r>
              <a:rPr lang="en-US" sz="8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1"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Aptos" pitchFamily="34" charset="0"/>
                          <a:ea typeface="Aptos" pitchFamily="34" charset="-122"/>
                          <a:cs typeface="Aptos" pitchFamily="34" charset="-120"/>
                        </a:rPr>
                        <a:t>split</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contexts</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elements</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seed</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train</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1000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validation</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test</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3000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benchmark</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1,000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4,500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Aptos" pitchFamily="34" charset="0"/>
                          <a:ea typeface="Aptos" pitchFamily="34" charset="-122"/>
                          <a:cs typeface="Aptos" pitchFamily="34" charset="-120"/>
                        </a:rPr>
                        <a:t>total</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Aptos" pitchFamily="34" charset="0"/>
                          <a:ea typeface="Aptos" pitchFamily="34" charset="-122"/>
                          <a:cs typeface="Aptos" pitchFamily="34" charset="-120"/>
                        </a:rPr>
                        <a:t>7,000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Aptos" pitchFamily="34" charset="0"/>
                          <a:ea typeface="Aptos" pitchFamily="34" charset="-122"/>
                          <a:cs typeface="Aptos" pitchFamily="34" charset="-120"/>
                        </a:rPr>
                        <a:t>31,484</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50537"/>
            <a:ext cx="11091672" cy="640080"/>
          </a:xfrm>
          <a:prstGeom prst="rect">
            <a:avLst/>
          </a:prstGeom>
          <a:noFill/>
          <a:ln/>
        </p:spPr>
        <p:txBody>
          <a:bodyPr wrap="square" lIns="0" tIns="0" rIns="0" bIns="0" rtlCol="0" anchor="t"/>
          <a:lstStyle/>
          <a:p>
            <a:pPr indent="0" marL="0">
              <a:buNone/>
            </a:pPr>
            <a:r>
              <a:rPr lang="en-US" sz="120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[12].</a:t>
            </a:r>
            <a:endParaRPr lang="en-US" sz="1200" dirty="0"/>
          </a:p>
        </p:txBody>
      </p:sp>
      <p:sp>
        <p:nvSpPr>
          <p:cNvPr id="5" name="references"/>
          <p:cNvSpPr txBox="1"/>
          <p:nvPr/>
        </p:nvSpPr>
        <p:spPr>
          <a:xfrm>
            <a:off x="548640" y="6217920"/>
            <a:ext cx="11091672" cy="237744"/>
          </a:xfrm>
          <a:prstGeom prst="rect">
            <a:avLst/>
          </a:prstGeom>
          <a:noFill/>
          <a:ln/>
        </p:spPr>
        <p:txBody>
          <a:bodyPr wrap="square" lIns="0" tIns="0" rIns="0" bIns="0" rtlCol="0" anchor="b"/>
          <a:lstStyle/>
          <a:p>
            <a:pPr indent="0" marL="0">
              <a:buNone/>
            </a:pPr>
            <a:r>
              <a:rPr lang="en-US" sz="800" dirty="0">
                <a:solidFill>
                  <a:srgbClr val="52514E"/>
                </a:solidFill>
              </a:rPr>
              <a:t>[12]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[2] Pedrollo, Gvadzabia, Graeber &amp; Fischer (2026), CrossMEP, CIB W78 2026 (this paper)</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2026-10-06T22:50:16Z</dcterms:created>
  <dcterms:modified xsi:type="dcterms:W3CDTF">2026-10-06T22:50:16Z</dcterms:modified>
</cp:coreProperties>
</file>