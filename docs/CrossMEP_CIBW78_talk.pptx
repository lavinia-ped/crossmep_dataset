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7ff116-1ccd-9c27-6b2f-0734f46ab4cc}">
          <p14:sldIdLst>
            <p14:sldId id="256"/>
          </p14:sldIdLst>
        </p14:section>
        <p14:section name="Motivation" id="{6ce3a230-53d8-e1d1-70df-03d2e53c4c32}">
          <p14:sldIdLst>
            <p14:sldId id="257"/>
            <p14:sldId id="258"/>
            <p14:sldId id="259"/>
            <p14:sldId id="260"/>
            <p14:sldId id="261"/>
          </p14:sldIdLst>
        </p14:section>
        <p14:section name="The dataset" id="{788fc9c9-fc18-ac66-06ca-4923dcc6a267}">
          <p14:sldIdLst>
            <p14:sldId id="262"/>
            <p14:sldId id="263"/>
            <p14:sldId id="264"/>
            <p14:sldId id="265"/>
            <p14:sldId id="266"/>
          </p14:sldIdLst>
        </p14:section>
        <p14:section name="Experiments" id="{045e68fa-2344-700d-f405-f6d802a982d6}">
          <p14:sldIdLst>
            <p14:sldId id="267"/>
            <p14:sldId id="268"/>
            <p14:sldId id="269"/>
          </p14:sldIdLst>
        </p14:section>
        <p14:section name="Use" id="{20cd651a-bf81-13f0-70e6-91c7531796f7}">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splits on disjoint seeds: five thousand for training, five hundred each for validation and test, and a benchmark of a thousand, a hundred and twenty-five per tier. Plain JSON, with a schema and a datasheet.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benchmark context per tier. C1 is a single element, the most common support in any building; C8 has eight services on three rows. Within a tier everything else varies, so the element count is the one controlled axis of difficulty. On walls the section rotates, and electrical sits above water.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the count is fixed by construction, and load and congestion follow from the rules. Load at the support rises with the tier, from about 0.3 to 2.0 kilonewtons, and the closest gap narrows at every step, from 130 to about 51 millimetres. The dataset behaves as designed.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The same files serve reinforcement learning, constraint programming and benchmarking, and we ship the scoring. Train on the generator, C1 up to C8. Evaluate on the benchmark, the same 125 contexts per tier for every method. Report per tier, with intervals and paired tests. (7:10)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section" descr="preencoded.png">    </p:cNvPr>
          <p:cNvPicPr>
            <a:picLocks noChangeAspect="1"/>
          </p:cNvPicPr>
          <p:nvPr/>
        </p:nvPicPr>
        <p:blipFill>
          <a:blip r:embed="rId1"/>
          <a:stretch>
            <a:fillRect/>
          </a:stretch>
        </p:blipFill>
        <p:spPr>
          <a:xfrm>
            <a:off x="548640" y="1325880"/>
            <a:ext cx="5760720" cy="3532517"/>
          </a:xfrm>
          <a:prstGeom prst="rect">
            <a:avLst/>
          </a:prstGeom>
        </p:spPr>
      </p:pic>
      <p:sp>
        <p:nvSpPr>
          <p:cNvPr id="4" name="fields heading"/>
          <p:cNvSpPr txBox="1"/>
          <p:nvPr/>
        </p:nvSpPr>
        <p:spPr>
          <a:xfrm>
            <a:off x="548640" y="5440680"/>
            <a:ext cx="576072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5" name="chip kind"/>
          <p:cNvSpPr/>
          <p:nvPr/>
        </p:nvSpPr>
        <p:spPr>
          <a:xfrm>
            <a:off x="548640" y="5760720"/>
            <a:ext cx="453542" cy="310896"/>
          </a:xfrm>
          <a:prstGeom prst="roundRect">
            <a:avLst>
              <a:gd name="adj" fmla="val 50000"/>
            </a:avLst>
          </a:prstGeom>
          <a:solidFill>
            <a:srgbClr val="EEF1F4"/>
          </a:solidFill>
          <a:ln w="9525">
            <a:solidFill>
              <a:srgbClr val="E1E0D9"/>
            </a:solidFill>
            <a:prstDash val="solid"/>
          </a:ln>
        </p:spPr>
      </p:sp>
      <p:sp>
        <p:nvSpPr>
          <p:cNvPr id="6" name="chip text kind"/>
          <p:cNvSpPr txBox="1"/>
          <p:nvPr/>
        </p:nvSpPr>
        <p:spPr>
          <a:xfrm>
            <a:off x="548640" y="576072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7" name="chip service, trade"/>
          <p:cNvSpPr/>
          <p:nvPr/>
        </p:nvSpPr>
        <p:spPr>
          <a:xfrm>
            <a:off x="1111910" y="5760720"/>
            <a:ext cx="1038758" cy="310896"/>
          </a:xfrm>
          <a:prstGeom prst="roundRect">
            <a:avLst>
              <a:gd name="adj" fmla="val 50000"/>
            </a:avLst>
          </a:prstGeom>
          <a:solidFill>
            <a:srgbClr val="EEF1F4"/>
          </a:solidFill>
          <a:ln w="9525">
            <a:solidFill>
              <a:srgbClr val="E1E0D9"/>
            </a:solidFill>
            <a:prstDash val="solid"/>
          </a:ln>
        </p:spPr>
      </p:sp>
      <p:sp>
        <p:nvSpPr>
          <p:cNvPr id="8" name="chip text service, trade"/>
          <p:cNvSpPr txBox="1"/>
          <p:nvPr/>
        </p:nvSpPr>
        <p:spPr>
          <a:xfrm>
            <a:off x="1111910" y="576072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9" name="chip size"/>
          <p:cNvSpPr/>
          <p:nvPr/>
        </p:nvSpPr>
        <p:spPr>
          <a:xfrm>
            <a:off x="2260397" y="5760720"/>
            <a:ext cx="453542" cy="310896"/>
          </a:xfrm>
          <a:prstGeom prst="roundRect">
            <a:avLst>
              <a:gd name="adj" fmla="val 50000"/>
            </a:avLst>
          </a:prstGeom>
          <a:solidFill>
            <a:srgbClr val="EEF1F4"/>
          </a:solidFill>
          <a:ln w="9525">
            <a:solidFill>
              <a:srgbClr val="E1E0D9"/>
            </a:solidFill>
            <a:prstDash val="solid"/>
          </a:ln>
        </p:spPr>
      </p:sp>
      <p:sp>
        <p:nvSpPr>
          <p:cNvPr id="10" name="chip text size"/>
          <p:cNvSpPr txBox="1"/>
          <p:nvPr/>
        </p:nvSpPr>
        <p:spPr>
          <a:xfrm>
            <a:off x="2260397" y="576072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1" name="chip insulation"/>
          <p:cNvSpPr/>
          <p:nvPr/>
        </p:nvSpPr>
        <p:spPr>
          <a:xfrm>
            <a:off x="2823667" y="5760720"/>
            <a:ext cx="804672" cy="310896"/>
          </a:xfrm>
          <a:prstGeom prst="roundRect">
            <a:avLst>
              <a:gd name="adj" fmla="val 50000"/>
            </a:avLst>
          </a:prstGeom>
          <a:solidFill>
            <a:srgbClr val="EEF1F4"/>
          </a:solidFill>
          <a:ln w="9525">
            <a:solidFill>
              <a:srgbClr val="E1E0D9"/>
            </a:solidFill>
            <a:prstDash val="solid"/>
          </a:ln>
        </p:spPr>
      </p:sp>
      <p:sp>
        <p:nvSpPr>
          <p:cNvPr id="12" name="chip text insulation"/>
          <p:cNvSpPr txBox="1"/>
          <p:nvPr/>
        </p:nvSpPr>
        <p:spPr>
          <a:xfrm>
            <a:off x="2823667" y="5760720"/>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3" name="chip position"/>
          <p:cNvSpPr/>
          <p:nvPr/>
        </p:nvSpPr>
        <p:spPr>
          <a:xfrm>
            <a:off x="3738067" y="5760720"/>
            <a:ext cx="687629" cy="310896"/>
          </a:xfrm>
          <a:prstGeom prst="roundRect">
            <a:avLst>
              <a:gd name="adj" fmla="val 50000"/>
            </a:avLst>
          </a:prstGeom>
          <a:solidFill>
            <a:srgbClr val="EEF1F4"/>
          </a:solidFill>
          <a:ln w="9525">
            <a:solidFill>
              <a:srgbClr val="E1E0D9"/>
            </a:solidFill>
            <a:prstDash val="solid"/>
          </a:ln>
        </p:spPr>
      </p:sp>
      <p:sp>
        <p:nvSpPr>
          <p:cNvPr id="14" name="chip text position"/>
          <p:cNvSpPr txBox="1"/>
          <p:nvPr/>
        </p:nvSpPr>
        <p:spPr>
          <a:xfrm>
            <a:off x="3738067" y="5760720"/>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5" name="chip load = kN/m × span"/>
          <p:cNvSpPr/>
          <p:nvPr/>
        </p:nvSpPr>
        <p:spPr>
          <a:xfrm>
            <a:off x="4535424" y="5760720"/>
            <a:ext cx="1272845" cy="310896"/>
          </a:xfrm>
          <a:prstGeom prst="roundRect">
            <a:avLst>
              <a:gd name="adj" fmla="val 50000"/>
            </a:avLst>
          </a:prstGeom>
          <a:solidFill>
            <a:srgbClr val="EEF1F4"/>
          </a:solidFill>
          <a:ln w="9525">
            <a:solidFill>
              <a:srgbClr val="E1E0D9"/>
            </a:solidFill>
            <a:prstDash val="solid"/>
          </a:ln>
        </p:spPr>
      </p:sp>
      <p:sp>
        <p:nvSpPr>
          <p:cNvPr id="16" name="chip text load = kN/m × span"/>
          <p:cNvSpPr txBox="1"/>
          <p:nvPr/>
        </p:nvSpPr>
        <p:spPr>
          <a:xfrm>
            <a:off x="4535424" y="5760720"/>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17"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914400"/>
                <a:gridCol w="1371600"/>
                <a:gridCol w="640080"/>
                <a:gridCol w="685800"/>
                <a:gridCol w="621792"/>
                <a:gridCol w="868680"/>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50" b="1" dirty="0">
                          <a:solidFill>
                            <a:srgbClr val="0B0B0B"/>
                          </a:solidFill>
                          <a:latin typeface="Aptos" pitchFamily="34" charset="0"/>
                          <a:ea typeface="Aptos" pitchFamily="34" charset="-122"/>
                          <a:cs typeface="Aptos" pitchFamily="34" charset="-120"/>
                        </a:rPr>
                        <a:t>600 tray</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50" dirty="0">
                          <a:solidFill>
                            <a:srgbClr val="4A3AA7"/>
                          </a:solidFill>
                          <a:latin typeface="Aptos" pitchFamily="34" charset="0"/>
                          <a:ea typeface="Aptos" pitchFamily="34" charset="-122"/>
                          <a:cs typeface="Aptos" pitchFamily="34" charset="-120"/>
                        </a:rPr>
                        <a:t>● </a:t>
                      </a:r>
                      <a:pPr algn="l" indent="0" marL="0">
                        <a:buNone/>
                      </a:pPr>
                      <a:r>
                        <a:rPr lang="en-US" sz="1150" dirty="0">
                          <a:solidFill>
                            <a:srgbClr val="0B0B0B"/>
                          </a:solidFill>
                          <a:latin typeface="Aptos" pitchFamily="34" charset="0"/>
                          <a:ea typeface="Aptos" pitchFamily="34" charset="-122"/>
                          <a:cs typeface="Aptos" pitchFamily="34" charset="-120"/>
                        </a:rPr>
                        <a:t>electrical</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1.079</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2.0 m</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b="1" dirty="0">
                          <a:solidFill>
                            <a:srgbClr val="0B0B0B"/>
                          </a:solidFill>
                          <a:latin typeface="Aptos" pitchFamily="34" charset="0"/>
                          <a:ea typeface="Aptos" pitchFamily="34" charset="-122"/>
                          <a:cs typeface="Aptos" pitchFamily="34" charset="-120"/>
                        </a:rPr>
                        <a:t>2.16</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50" b="1" dirty="0">
                          <a:solidFill>
                            <a:srgbClr val="0B0B0B"/>
                          </a:solidFill>
                          <a:latin typeface="Aptos" pitchFamily="34" charset="0"/>
                          <a:ea typeface="Aptos" pitchFamily="34" charset="-122"/>
                          <a:cs typeface="Aptos" pitchFamily="34" charset="-120"/>
                        </a:rPr>
                        <a:t>150 tray</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50" dirty="0">
                          <a:solidFill>
                            <a:srgbClr val="4A3AA7"/>
                          </a:solidFill>
                          <a:latin typeface="Aptos" pitchFamily="34" charset="0"/>
                          <a:ea typeface="Aptos" pitchFamily="34" charset="-122"/>
                          <a:cs typeface="Aptos" pitchFamily="34" charset="-120"/>
                        </a:rPr>
                        <a:t>● </a:t>
                      </a:r>
                      <a:pPr algn="l" indent="0" marL="0">
                        <a:buNone/>
                      </a:pPr>
                      <a:r>
                        <a:rPr lang="en-US" sz="1150" dirty="0">
                          <a:solidFill>
                            <a:srgbClr val="0B0B0B"/>
                          </a:solidFill>
                          <a:latin typeface="Aptos" pitchFamily="34" charset="0"/>
                          <a:ea typeface="Aptos" pitchFamily="34" charset="-122"/>
                          <a:cs typeface="Aptos" pitchFamily="34" charset="-120"/>
                        </a:rPr>
                        <a:t>electrical</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0.270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2.0 m</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b="1" dirty="0">
                          <a:solidFill>
                            <a:srgbClr val="0B0B0B"/>
                          </a:solidFill>
                          <a:latin typeface="Aptos" pitchFamily="34" charset="0"/>
                          <a:ea typeface="Aptos" pitchFamily="34" charset="-122"/>
                          <a:cs typeface="Aptos" pitchFamily="34" charset="-120"/>
                        </a:rPr>
                        <a:t>0.54</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50" b="1" dirty="0">
                          <a:solidFill>
                            <a:srgbClr val="0B0B0B"/>
                          </a:solidFill>
                          <a:latin typeface="Aptos" pitchFamily="34" charset="0"/>
                          <a:ea typeface="Aptos" pitchFamily="34" charset="-122"/>
                          <a:cs typeface="Aptos" pitchFamily="34" charset="-120"/>
                        </a:rPr>
                        <a:t>DN32</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50" dirty="0">
                          <a:solidFill>
                            <a:srgbClr val="E34948"/>
                          </a:solidFill>
                          <a:latin typeface="Aptos" pitchFamily="34" charset="0"/>
                          <a:ea typeface="Aptos" pitchFamily="34" charset="-122"/>
                          <a:cs typeface="Aptos" pitchFamily="34" charset="-120"/>
                        </a:rPr>
                        <a:t>● </a:t>
                      </a:r>
                      <a:pPr algn="l" indent="0" marL="0">
                        <a:buNone/>
                      </a:pPr>
                      <a:r>
                        <a:rPr lang="en-US" sz="1150" dirty="0">
                          <a:solidFill>
                            <a:srgbClr val="0B0B0B"/>
                          </a:solidFill>
                          <a:latin typeface="Aptos" pitchFamily="34" charset="0"/>
                          <a:ea typeface="Aptos" pitchFamily="34" charset="-122"/>
                          <a:cs typeface="Aptos" pitchFamily="34" charset="-120"/>
                        </a:rPr>
                        <a:t>sprinkler</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0.040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2.1 m</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b="1" dirty="0">
                          <a:solidFill>
                            <a:srgbClr val="0B0B0B"/>
                          </a:solidFill>
                          <a:latin typeface="Aptos" pitchFamily="34" charset="0"/>
                          <a:ea typeface="Aptos" pitchFamily="34" charset="-122"/>
                          <a:cs typeface="Aptos" pitchFamily="34" charset="-120"/>
                        </a:rPr>
                        <a:t>0.08</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50" b="1" dirty="0">
                          <a:solidFill>
                            <a:srgbClr val="0B0B0B"/>
                          </a:solidFill>
                          <a:latin typeface="Aptos" pitchFamily="34" charset="0"/>
                          <a:ea typeface="Aptos" pitchFamily="34" charset="-122"/>
                          <a:cs typeface="Aptos" pitchFamily="34" charset="-120"/>
                        </a:rPr>
                        <a:t>DN20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50" dirty="0">
                          <a:solidFill>
                            <a:srgbClr val="2A78D6"/>
                          </a:solidFill>
                          <a:latin typeface="Aptos" pitchFamily="34" charset="0"/>
                          <a:ea typeface="Aptos" pitchFamily="34" charset="-122"/>
                          <a:cs typeface="Aptos" pitchFamily="34" charset="-120"/>
                        </a:rPr>
                        <a:t>● </a:t>
                      </a:r>
                      <a:pPr algn="l" indent="0" marL="0">
                        <a:buNone/>
                      </a:pPr>
                      <a:r>
                        <a:rPr lang="en-US" sz="1150" dirty="0">
                          <a:solidFill>
                            <a:srgbClr val="0B0B0B"/>
                          </a:solidFill>
                          <a:latin typeface="Aptos" pitchFamily="34" charset="0"/>
                          <a:ea typeface="Aptos" pitchFamily="34" charset="-122"/>
                          <a:cs typeface="Aptos" pitchFamily="34" charset="-120"/>
                        </a:rPr>
                        <a:t>domestic water</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0.019</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2.1 m</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b="1" dirty="0">
                          <a:solidFill>
                            <a:srgbClr val="0B0B0B"/>
                          </a:solidFill>
                          <a:latin typeface="Aptos" pitchFamily="34" charset="0"/>
                          <a:ea typeface="Aptos" pitchFamily="34" charset="-122"/>
                          <a:cs typeface="Aptos" pitchFamily="34" charset="-120"/>
                        </a:rPr>
                        <a:t>0.04</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50" b="1" dirty="0">
                          <a:solidFill>
                            <a:srgbClr val="0B0B0B"/>
                          </a:solidFill>
                          <a:latin typeface="Aptos" pitchFamily="34" charset="0"/>
                          <a:ea typeface="Aptos" pitchFamily="34" charset="-122"/>
                          <a:cs typeface="Aptos" pitchFamily="34" charset="-120"/>
                        </a:rPr>
                        <a:t>DN20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50" dirty="0">
                          <a:solidFill>
                            <a:srgbClr val="2A78D6"/>
                          </a:solidFill>
                          <a:latin typeface="Aptos" pitchFamily="34" charset="0"/>
                          <a:ea typeface="Aptos" pitchFamily="34" charset="-122"/>
                          <a:cs typeface="Aptos" pitchFamily="34" charset="-120"/>
                        </a:rPr>
                        <a:t>● </a:t>
                      </a:r>
                      <a:pPr algn="l" indent="0" marL="0">
                        <a:buNone/>
                      </a:pPr>
                      <a:r>
                        <a:rPr lang="en-US" sz="1150" dirty="0">
                          <a:solidFill>
                            <a:srgbClr val="0B0B0B"/>
                          </a:solidFill>
                          <a:latin typeface="Aptos" pitchFamily="34" charset="0"/>
                          <a:ea typeface="Aptos" pitchFamily="34" charset="-122"/>
                          <a:cs typeface="Aptos" pitchFamily="34" charset="-120"/>
                        </a:rPr>
                        <a:t>domestic water</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0.019</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2.1 m</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b="1" dirty="0">
                          <a:solidFill>
                            <a:srgbClr val="0B0B0B"/>
                          </a:solidFill>
                          <a:latin typeface="Aptos" pitchFamily="34" charset="0"/>
                          <a:ea typeface="Aptos" pitchFamily="34" charset="-122"/>
                          <a:cs typeface="Aptos" pitchFamily="34" charset="-120"/>
                        </a:rPr>
                        <a:t>0.04</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19" name="fact ceiling slab, concrete C30"/>
          <p:cNvSpPr/>
          <p:nvPr/>
        </p:nvSpPr>
        <p:spPr>
          <a:xfrm>
            <a:off x="6537960" y="3785616"/>
            <a:ext cx="1609344" cy="914400"/>
          </a:xfrm>
          <a:prstGeom prst="roundRect">
            <a:avLst>
              <a:gd name="adj" fmla="val 7000"/>
            </a:avLst>
          </a:prstGeom>
          <a:solidFill>
            <a:schemeClr val="bg2"/>
          </a:solidFill>
          <a:ln/>
        </p:spPr>
      </p:sp>
      <p:sp>
        <p:nvSpPr>
          <p:cNvPr id="20" name="icon ring fact ceiling slab, concrete C30"/>
          <p:cNvSpPr/>
          <p:nvPr/>
        </p:nvSpPr>
        <p:spPr>
          <a:xfrm>
            <a:off x="6675120" y="4014216"/>
            <a:ext cx="457200" cy="457200"/>
          </a:xfrm>
          <a:prstGeom prst="ellipse">
            <a:avLst/>
          </a:prstGeom>
          <a:solidFill>
            <a:schemeClr val="accent1"/>
          </a:solidFill>
          <a:ln/>
        </p:spPr>
      </p:sp>
      <p:pic>
        <p:nvPicPr>
          <p:cNvPr id="21" name="icon fact ceiling slab, concrete C30" descr="preencoded.png">    </p:cNvPr>
          <p:cNvPicPr>
            <a:picLocks noChangeAspect="1"/>
          </p:cNvPicPr>
          <p:nvPr/>
        </p:nvPicPr>
        <p:blipFill>
          <a:blip r:embed="rId2"/>
          <a:stretch>
            <a:fillRect/>
          </a:stretch>
        </p:blipFill>
        <p:spPr>
          <a:xfrm>
            <a:off x="6771132" y="4110228"/>
            <a:ext cx="265176" cy="265176"/>
          </a:xfrm>
          <a:prstGeom prst="rect">
            <a:avLst/>
          </a:prstGeom>
        </p:spPr>
      </p:pic>
      <p:sp>
        <p:nvSpPr>
          <p:cNvPr id="22"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150 mm</a:t>
            </a:r>
            <a:endParaRPr lang="en-US" sz="1250" dirty="0"/>
          </a:p>
          <a:p>
            <a:pPr indent="0" marL="0">
              <a:buNone/>
            </a:pPr>
            <a:r>
              <a:rPr lang="en-US" sz="950" dirty="0">
                <a:solidFill>
                  <a:srgbClr val="52514E"/>
                </a:solidFill>
              </a:rPr>
              <a:t>ceiling slab, concrete C30</a:t>
            </a:r>
            <a:endParaRPr lang="en-US" sz="1250" dirty="0"/>
          </a:p>
        </p:txBody>
      </p:sp>
      <p:sp>
        <p:nvSpPr>
          <p:cNvPr id="23" name="fact total load at this support"/>
          <p:cNvSpPr/>
          <p:nvPr/>
        </p:nvSpPr>
        <p:spPr>
          <a:xfrm>
            <a:off x="8284464" y="3785616"/>
            <a:ext cx="1609344" cy="914400"/>
          </a:xfrm>
          <a:prstGeom prst="roundRect">
            <a:avLst>
              <a:gd name="adj" fmla="val 7000"/>
            </a:avLst>
          </a:prstGeom>
          <a:solidFill>
            <a:schemeClr val="bg2"/>
          </a:solidFill>
          <a:ln/>
        </p:spPr>
      </p:sp>
      <p:sp>
        <p:nvSpPr>
          <p:cNvPr id="24" name="icon ring fact total load at this support"/>
          <p:cNvSpPr/>
          <p:nvPr/>
        </p:nvSpPr>
        <p:spPr>
          <a:xfrm>
            <a:off x="8421624" y="4014216"/>
            <a:ext cx="457200" cy="457200"/>
          </a:xfrm>
          <a:prstGeom prst="ellipse">
            <a:avLst/>
          </a:prstGeom>
          <a:solidFill>
            <a:schemeClr val="accent1"/>
          </a:solidFill>
          <a:ln/>
        </p:spPr>
      </p:sp>
      <p:pic>
        <p:nvPicPr>
          <p:cNvPr id="25" name="icon fact total load at this support" descr="preencoded.png">    </p:cNvPr>
          <p:cNvPicPr>
            <a:picLocks noChangeAspect="1"/>
          </p:cNvPicPr>
          <p:nvPr/>
        </p:nvPicPr>
        <p:blipFill>
          <a:blip r:embed="rId3"/>
          <a:stretch>
            <a:fillRect/>
          </a:stretch>
        </p:blipFill>
        <p:spPr>
          <a:xfrm>
            <a:off x="8517636" y="4110228"/>
            <a:ext cx="265176" cy="265176"/>
          </a:xfrm>
          <a:prstGeom prst="rect">
            <a:avLst/>
          </a:prstGeom>
        </p:spPr>
      </p:pic>
      <p:sp>
        <p:nvSpPr>
          <p:cNvPr id="26"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2.86 kN</a:t>
            </a:r>
            <a:endParaRPr lang="en-US" sz="1250" dirty="0"/>
          </a:p>
          <a:p>
            <a:pPr indent="0" marL="0">
              <a:buNone/>
            </a:pPr>
            <a:r>
              <a:rPr lang="en-US" sz="950" dirty="0">
                <a:solidFill>
                  <a:srgbClr val="52514E"/>
                </a:solidFill>
              </a:rPr>
              <a:t>total load at this support</a:t>
            </a:r>
            <a:endParaRPr lang="en-US" sz="1250" dirty="0"/>
          </a:p>
        </p:txBody>
      </p:sp>
      <p:sp>
        <p:nvSpPr>
          <p:cNvPr id="27" name="fact closest clear gap, 2 rows"/>
          <p:cNvSpPr/>
          <p:nvPr/>
        </p:nvSpPr>
        <p:spPr>
          <a:xfrm>
            <a:off x="10030968" y="3785616"/>
            <a:ext cx="1609344" cy="914400"/>
          </a:xfrm>
          <a:prstGeom prst="roundRect">
            <a:avLst>
              <a:gd name="adj" fmla="val 7000"/>
            </a:avLst>
          </a:prstGeom>
          <a:solidFill>
            <a:schemeClr val="bg2"/>
          </a:solidFill>
          <a:ln/>
        </p:spPr>
      </p:sp>
      <p:sp>
        <p:nvSpPr>
          <p:cNvPr id="28" name="icon ring fact closest clear gap, 2 rows"/>
          <p:cNvSpPr/>
          <p:nvPr/>
        </p:nvSpPr>
        <p:spPr>
          <a:xfrm>
            <a:off x="10168128" y="4014216"/>
            <a:ext cx="457200" cy="457200"/>
          </a:xfrm>
          <a:prstGeom prst="ellipse">
            <a:avLst/>
          </a:prstGeom>
          <a:solidFill>
            <a:schemeClr val="accent1"/>
          </a:solidFill>
          <a:ln/>
        </p:spPr>
      </p:sp>
      <p:pic>
        <p:nvPicPr>
          <p:cNvPr id="29" name="icon fact closest clear gap, 2 rows" descr="preencoded.png">    </p:cNvPr>
          <p:cNvPicPr>
            <a:picLocks noChangeAspect="1"/>
          </p:cNvPicPr>
          <p:nvPr/>
        </p:nvPicPr>
        <p:blipFill>
          <a:blip r:embed="rId4"/>
          <a:stretch>
            <a:fillRect/>
          </a:stretch>
        </p:blipFill>
        <p:spPr>
          <a:xfrm>
            <a:off x="10264140" y="4110228"/>
            <a:ext cx="265176" cy="265176"/>
          </a:xfrm>
          <a:prstGeom prst="rect">
            <a:avLst/>
          </a:prstGeom>
        </p:spPr>
      </p:pic>
      <p:sp>
        <p:nvSpPr>
          <p:cNvPr id="30"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72 mm</a:t>
            </a:r>
            <a:endParaRPr lang="en-US" sz="1250" dirty="0"/>
          </a:p>
          <a:p>
            <a:pPr indent="0" marL="0">
              <a:buNone/>
            </a:pPr>
            <a:r>
              <a:rPr lang="en-US" sz="950" dirty="0">
                <a:solidFill>
                  <a:srgbClr val="52514E"/>
                </a:solidFill>
              </a:rPr>
              <a:t>closest clear gap, 2 rows</a:t>
            </a:r>
            <a:endParaRPr lang="en-US" sz="1250" dirty="0"/>
          </a:p>
        </p:txBody>
      </p:sp>
      <p:sp>
        <p:nvSpPr>
          <p:cNvPr id="31" name="absent band"/>
          <p:cNvSpPr/>
          <p:nvPr/>
        </p:nvSpPr>
        <p:spPr>
          <a:xfrm>
            <a:off x="6537960" y="4882896"/>
            <a:ext cx="5102352" cy="1188720"/>
          </a:xfrm>
          <a:prstGeom prst="roundRect">
            <a:avLst>
              <a:gd name="adj" fmla="val 5385"/>
            </a:avLst>
          </a:prstGeom>
          <a:solidFill>
            <a:srgbClr val="1F2933"/>
          </a:solidFill>
          <a:ln/>
        </p:spPr>
      </p:sp>
      <p:pic>
        <p:nvPicPr>
          <p:cNvPr id="32" name="icon absent" descr="preencoded.png">    </p:cNvPr>
          <p:cNvPicPr>
            <a:picLocks noChangeAspect="1"/>
          </p:cNvPicPr>
          <p:nvPr/>
        </p:nvPicPr>
        <p:blipFill>
          <a:blip r:embed="rId5"/>
          <a:stretch>
            <a:fillRect/>
          </a:stretch>
        </p:blipFill>
        <p:spPr>
          <a:xfrm>
            <a:off x="6766560" y="5248656"/>
            <a:ext cx="457200" cy="457200"/>
          </a:xfrm>
          <a:prstGeom prst="rect">
            <a:avLst/>
          </a:prstGeom>
        </p:spPr>
      </p:pic>
      <p:sp>
        <p:nvSpPr>
          <p:cNvPr id="33"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[3]: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[12] (at least 25 mm); stagger within rows; electrical above wet on walls [10].</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Aptos" pitchFamily="34" charset="0"/>
                          <a:ea typeface="Aptos" pitchFamily="34" charset="-122"/>
                          <a:cs typeface="Aptos" pitchFamily="34" charset="-120"/>
                        </a:rPr>
                        <a:t>Element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Sizes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Load basis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Pipes DN15–100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10220 / EN 10255 medium series [4]</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 water × ASME B31.1 water-service span (published points only) [8]</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Insulation</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GEG Anlage 8 (heated) [11]; 30/50 mm condensation control (chilled)</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Cable trays 150–600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61537 systems [6], NEMA VE 1 widths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full tray: 50 kg/m at 300 mm datum, × 2.0 m (NEMA VE 1 class span)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Ducts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1505 rectangular; EN 1506 round [5]</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manufacturer duct-weight table incl. flanges, × 2.4 m (SMACNA) [9]</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Conduits Ø20–50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61386-1 [6], parallel groups of 2–6</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tube + 40 %-of-bore cable fill, × 2.0 m (IET / BS 7671) [10]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 [10]</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[12];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4983480"/>
            <a:ext cx="11091672" cy="685800"/>
          </a:xfrm>
          <a:prstGeom prst="roundRect">
            <a:avLst>
              <a:gd name="adj" fmla="val 9333"/>
            </a:avLst>
          </a:prstGeom>
          <a:solidFill>
            <a:schemeClr val="bg2"/>
          </a:solidFill>
          <a:ln/>
        </p:spPr>
      </p:sp>
      <p:sp>
        <p:nvSpPr>
          <p:cNvPr id="7" name="sources note"/>
          <p:cNvSpPr txBox="1"/>
          <p:nvPr/>
        </p:nvSpPr>
        <p:spPr>
          <a:xfrm>
            <a:off x="822960" y="4983480"/>
            <a:ext cx="10515600" cy="685800"/>
          </a:xfrm>
          <a:prstGeom prst="rect">
            <a:avLst/>
          </a:prstGeom>
          <a:noFill/>
          <a:ln/>
        </p:spPr>
        <p:txBody>
          <a:bodyPr wrap="square" lIns="0" tIns="0" rIns="0" bIns="0" rtlCol="0" anchor="ctr"/>
          <a:lstStyle/>
          <a:p>
            <a:pPr indent="0" marL="0">
              <a:buNone/>
            </a:pPr>
            <a:r>
              <a:rPr lang="en-US" sz="125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250" dirty="0"/>
          </a:p>
        </p:txBody>
      </p:sp>
      <p:sp>
        <p:nvSpPr>
          <p:cNvPr id="8"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Aptos" pitchFamily="34" charset="0"/>
                          <a:ea typeface="Aptos" pitchFamily="34" charset="-122"/>
                          <a:cs typeface="Aptos" pitchFamily="34" charset="-120"/>
                        </a:rPr>
                        <a:t>split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contexts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elements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seed</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train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validation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test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3000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benchmark</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Aptos" pitchFamily="34" charset="0"/>
                          <a:ea typeface="Aptos" pitchFamily="34" charset="-122"/>
                          <a:cs typeface="Aptos" pitchFamily="34" charset="-120"/>
                        </a:rPr>
                        <a:t>total</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7,000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31,484</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50537"/>
            <a:ext cx="11091672" cy="640080"/>
          </a:xfrm>
          <a:prstGeom prst="rect">
            <a:avLst/>
          </a:prstGeom>
          <a:noFill/>
          <a:ln/>
        </p:spPr>
        <p:txBody>
          <a:bodyPr wrap="square" lIns="0" tIns="0" rIns="0" bIns="0" rtlCol="0" anchor="t"/>
          <a:lstStyle/>
          <a:p>
            <a:pPr indent="0" marL="0">
              <a:buNone/>
            </a:pPr>
            <a:r>
              <a:rPr lang="en-US" sz="120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[12].</a:t>
            </a:r>
            <a:endParaRPr lang="en-US" sz="1200" dirty="0"/>
          </a:p>
        </p:txBody>
      </p:sp>
      <p:sp>
        <p:nvSpPr>
          <p:cNvPr id="5" name="references"/>
          <p:cNvSpPr txBox="1"/>
          <p:nvPr/>
        </p:nvSpPr>
        <p:spPr>
          <a:xfrm>
            <a:off x="548640" y="6217920"/>
            <a:ext cx="11091672" cy="237744"/>
          </a:xfrm>
          <a:prstGeom prst="rect">
            <a:avLst/>
          </a:prstGeom>
          <a:noFill/>
          <a:ln/>
        </p:spPr>
        <p:txBody>
          <a:bodyPr wrap="square" lIns="0" tIns="0" rIns="0" bIns="0" rtlCol="0" anchor="b"/>
          <a:lstStyle/>
          <a:p>
            <a:pPr indent="0" marL="0">
              <a:buNone/>
            </a:pPr>
            <a:r>
              <a:rPr lang="en-US" sz="800" dirty="0">
                <a:solidFill>
                  <a:srgbClr val="52514E"/>
                </a:solidFill>
              </a:rPr>
              <a:t>[12]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2026-10-06T23:01:41Z</dcterms:created>
  <dcterms:modified xsi:type="dcterms:W3CDTF">2026-10-06T23:01:41Z</dcterms:modified>
</cp:coreProperties>
</file>