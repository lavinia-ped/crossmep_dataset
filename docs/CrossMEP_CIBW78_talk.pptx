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d8f386a-a5a7-1eb1-d356-c29706b55b18}">
          <p14:sldIdLst>
            <p14:sldId id="256"/>
          </p14:sldIdLst>
        </p14:section>
        <p14:section name="Motivation" id="{dcd781e8-0da3-c1d0-9002-c0d31392fb04}">
          <p14:sldIdLst>
            <p14:sldId id="257"/>
            <p14:sldId id="258"/>
            <p14:sldId id="259"/>
            <p14:sldId id="260"/>
            <p14:sldId id="261"/>
          </p14:sldIdLst>
        </p14:section>
        <p14:section name="The dataset" id="{3bc824a8-df9a-3b94-e66e-2e27a58b27af}">
          <p14:sldIdLst>
            <p14:sldId id="262"/>
            <p14:sldId id="263"/>
            <p14:sldId id="264"/>
          </p14:sldIdLst>
        </p14:section>
        <p14:section name="Experiments" id="{6c47af42-8dfa-5970-6d8e-3882c69630df}">
          <p14:sldIdLst>
            <p14:sldId id="265"/>
            <p14:sldId id="266"/>
            <p14:sldId id="267"/>
          </p14:sldIdLst>
        </p14:section>
        <p14:section name="Use" id="{326d3821-53b3-6427-34d9-01dc1b7609f0}">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85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85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85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85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85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85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One benchmark context per tier: C1 is a single element, the most common support in any building; C8 has eight services on three rows. Within a tier everything else varies, so the element count is the one controlled axis. Load at the support rises with the tier, from about 0.3 to 2.0 kilonewtons, and the closest gap narrows at every step, from 130 to about 51 millimetres. The dataset behaves as designed.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440680"/>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status in the repository; the verification log says why each standard was chosen over its alternatives.</a:t>
            </a:r>
            <a:endParaRPr lang="en-US" sz="1100" dirty="0"/>
          </a:p>
        </p:txBody>
      </p:sp>
      <p:sp>
        <p:nvSpPr>
          <p:cNvPr id="49"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Tier Cn holds exactly n elements; higher tiers are heavier and tighter, as designed</a:t>
            </a:r>
            <a:endParaRPr lang="en-US" sz="2600" dirty="0"/>
          </a:p>
        </p:txBody>
      </p:sp>
      <p:pic>
        <p:nvPicPr>
          <p:cNvPr id="3" name="tiers C1 to C4" descr="preencoded.png">    </p:cNvPr>
          <p:cNvPicPr>
            <a:picLocks noChangeAspect="1"/>
          </p:cNvPicPr>
          <p:nvPr/>
        </p:nvPicPr>
        <p:blipFill>
          <a:blip r:embed="rId1"/>
          <a:stretch>
            <a:fillRect/>
          </a:stretch>
        </p:blipFill>
        <p:spPr>
          <a:xfrm>
            <a:off x="548640" y="1325880"/>
            <a:ext cx="5477256" cy="1278026"/>
          </a:xfrm>
          <a:prstGeom prst="rect">
            <a:avLst/>
          </a:prstGeom>
        </p:spPr>
      </p:pic>
      <p:pic>
        <p:nvPicPr>
          <p:cNvPr id="4" name="tiers C5 to C8" descr="preencoded.png">    </p:cNvPr>
          <p:cNvPicPr>
            <a:picLocks noChangeAspect="1"/>
          </p:cNvPicPr>
          <p:nvPr/>
        </p:nvPicPr>
        <p:blipFill>
          <a:blip r:embed="rId2"/>
          <a:stretch>
            <a:fillRect/>
          </a:stretch>
        </p:blipFill>
        <p:spPr>
          <a:xfrm>
            <a:off x="6163056" y="1325880"/>
            <a:ext cx="5477256" cy="1278026"/>
          </a:xfrm>
          <a:prstGeom prst="rect">
            <a:avLst/>
          </a:prstGeom>
        </p:spPr>
      </p:pic>
      <p:sp>
        <p:nvSpPr>
          <p:cNvPr id="5" name="gallery caption"/>
          <p:cNvSpPr txBox="1"/>
          <p:nvPr/>
        </p:nvSpPr>
        <p:spPr>
          <a:xfrm>
            <a:off x="548640" y="2633472"/>
            <a:ext cx="11091672" cy="36576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C1 to C8; dashed rings are insulation. Within a tier, kinds, trades, surfaces and stacking all vary: the element count is the one controlled axis of difficulty.</a:t>
            </a:r>
            <a:endParaRPr lang="en-US" sz="1100" dirty="0"/>
          </a:p>
        </p:txBody>
      </p:sp>
      <p:graphicFrame>
        <p:nvGraphicFramePr>
          <p:cNvPr id="6" name="load chart" descr=""/>
          <p:cNvGraphicFramePr/>
          <p:nvPr/>
        </p:nvGraphicFramePr>
        <p:xfrm>
          <a:off x="548640" y="3063240"/>
          <a:ext cx="5440680" cy="2697480"/>
        </p:xfrm>
        <a:graphic xmlns:a="http://schemas.openxmlformats.org/drawingml/2006/main">
          <a:graphicData uri="http://schemas.openxmlformats.org/drawingml/2006/chart">
            <c:chart xmlns:c="http://schemas.openxmlformats.org/drawingml/2006/chart" r:id="rId3"/>
          </a:graphicData>
        </a:graphic>
      </p:graphicFrame>
      <p:graphicFrame>
        <p:nvGraphicFramePr>
          <p:cNvPr id="7" name="gap chart" descr=""/>
          <p:cNvGraphicFramePr/>
          <p:nvPr/>
        </p:nvGraphicFramePr>
        <p:xfrm>
          <a:off x="6199632" y="3063240"/>
          <a:ext cx="5440680" cy="2697480"/>
        </p:xfrm>
        <a:graphic xmlns:a="http://schemas.openxmlformats.org/drawingml/2006/main">
          <a:graphicData uri="http://schemas.openxmlformats.org/drawingml/2006/chart">
            <c:chart xmlns:c="http://schemas.openxmlformats.org/drawingml/2006/chart" r:id="rId4"/>
          </a:graphicData>
        </a:graphic>
      </p:graphicFrame>
      <p:sp>
        <p:nvSpPr>
          <p:cNvPr id="8" name="experiment 1 caption"/>
          <p:cNvSpPr txBox="1"/>
          <p:nvPr/>
        </p:nvSpPr>
        <p:spPr>
          <a:xfrm>
            <a:off x="548640" y="5833872"/>
            <a:ext cx="11091672" cy="457200"/>
          </a:xfrm>
          <a:prstGeom prst="rect">
            <a:avLst/>
          </a:prstGeom>
          <a:noFill/>
          <a:ln/>
        </p:spPr>
        <p:txBody>
          <a:bodyPr wrap="square" lIns="0" tIns="0" rIns="0" bIns="0" rtlCol="0" anchor="t"/>
          <a:lstStyle/>
          <a:p>
            <a:pPr indent="0" marL="0">
              <a:buNone/>
            </a:pPr>
            <a:r>
              <a:rPr lang="en-US" sz="1050" dirty="0">
                <a:solidFill>
                  <a:srgbClr val="52514E"/>
                </a:solidFill>
              </a:rPr>
              <a:t>A check that the dataset behaves as designed, not a discovery: the tier fixes the count; load and congestion follow from the rules. Load rises with the tier (rank correlation +0.46 on the benchmark; the population medians rise at every step) and the closest gap narrows at every step (−0.38). Bootstrap intervals in RESULTS.md.</a:t>
            </a:r>
            <a:endParaRPr lang="en-US" sz="10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sp>
        <p:nvSpPr>
          <p:cNvPr id="6" name="splits heading"/>
          <p:cNvSpPr txBox="1"/>
          <p:nvPr/>
        </p:nvSpPr>
        <p:spPr>
          <a:xfrm>
            <a:off x="6355080" y="1417320"/>
            <a:ext cx="5285232" cy="274320"/>
          </a:xfrm>
          <a:prstGeom prst="rect">
            <a:avLst/>
          </a:prstGeom>
          <a:noFill/>
          <a:ln/>
        </p:spPr>
        <p:txBody>
          <a:bodyPr wrap="square" lIns="0" tIns="0" rIns="0" bIns="0" rtlCol="0" anchor="ctr"/>
          <a:lstStyle/>
          <a:p>
            <a:pPr indent="0" marL="0">
              <a:buNone/>
            </a:pPr>
            <a:r>
              <a:rPr lang="en-US" sz="1250" b="1" dirty="0">
                <a:solidFill>
                  <a:schemeClr val="tx1"/>
                </a:solidFill>
              </a:rPr>
              <a:t>Four splits on disjoint seeds; the test seeds are never trained on</a:t>
            </a:r>
            <a:endParaRPr lang="en-US" sz="1250" dirty="0"/>
          </a:p>
        </p:txBody>
      </p:sp>
      <p:sp>
        <p:nvSpPr>
          <p:cNvPr id="7" name="split train"/>
          <p:cNvSpPr/>
          <p:nvPr/>
        </p:nvSpPr>
        <p:spPr>
          <a:xfrm>
            <a:off x="6355080" y="1783080"/>
            <a:ext cx="1239012" cy="1371600"/>
          </a:xfrm>
          <a:prstGeom prst="roundRect">
            <a:avLst>
              <a:gd name="adj" fmla="val 5166"/>
            </a:avLst>
          </a:prstGeom>
          <a:solidFill>
            <a:schemeClr val="bg2"/>
          </a:solidFill>
          <a:ln/>
        </p:spPr>
      </p:sp>
      <p:sp>
        <p:nvSpPr>
          <p:cNvPr id="8" name="split count train"/>
          <p:cNvSpPr txBox="1"/>
          <p:nvPr/>
        </p:nvSpPr>
        <p:spPr>
          <a:xfrm>
            <a:off x="646480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5,000</a:t>
            </a:r>
            <a:endParaRPr lang="en-US" sz="2200" dirty="0"/>
          </a:p>
        </p:txBody>
      </p:sp>
      <p:sp>
        <p:nvSpPr>
          <p:cNvPr id="9" name="split label train"/>
          <p:cNvSpPr txBox="1"/>
          <p:nvPr/>
        </p:nvSpPr>
        <p:spPr>
          <a:xfrm>
            <a:off x="646480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train</a:t>
            </a:r>
            <a:endParaRPr lang="en-US" sz="1050" dirty="0"/>
          </a:p>
          <a:p>
            <a:pPr indent="0" marL="0">
              <a:buNone/>
            </a:pPr>
            <a:r>
              <a:rPr lang="en-US" sz="1050" dirty="0">
                <a:solidFill>
                  <a:srgbClr val="52514E"/>
                </a:solidFill>
              </a:rPr>
              <a:t>seed 1000</a:t>
            </a:r>
            <a:endParaRPr lang="en-US" sz="1050" dirty="0"/>
          </a:p>
        </p:txBody>
      </p:sp>
      <p:sp>
        <p:nvSpPr>
          <p:cNvPr id="10" name="split val"/>
          <p:cNvSpPr/>
          <p:nvPr/>
        </p:nvSpPr>
        <p:spPr>
          <a:xfrm>
            <a:off x="7703820" y="1783080"/>
            <a:ext cx="1239012" cy="1371600"/>
          </a:xfrm>
          <a:prstGeom prst="roundRect">
            <a:avLst>
              <a:gd name="adj" fmla="val 5166"/>
            </a:avLst>
          </a:prstGeom>
          <a:solidFill>
            <a:schemeClr val="bg2"/>
          </a:solidFill>
          <a:ln/>
        </p:spPr>
      </p:sp>
      <p:sp>
        <p:nvSpPr>
          <p:cNvPr id="11" name="split count val"/>
          <p:cNvSpPr txBox="1"/>
          <p:nvPr/>
        </p:nvSpPr>
        <p:spPr>
          <a:xfrm>
            <a:off x="781354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500</a:t>
            </a:r>
            <a:endParaRPr lang="en-US" sz="2200" dirty="0"/>
          </a:p>
        </p:txBody>
      </p:sp>
      <p:sp>
        <p:nvSpPr>
          <p:cNvPr id="12" name="split label val"/>
          <p:cNvSpPr txBox="1"/>
          <p:nvPr/>
        </p:nvSpPr>
        <p:spPr>
          <a:xfrm>
            <a:off x="781354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validation</a:t>
            </a:r>
            <a:endParaRPr lang="en-US" sz="1050" dirty="0"/>
          </a:p>
          <a:p>
            <a:pPr indent="0" marL="0">
              <a:buNone/>
            </a:pPr>
            <a:r>
              <a:rPr lang="en-US" sz="1050" dirty="0">
                <a:solidFill>
                  <a:srgbClr val="52514E"/>
                </a:solidFill>
              </a:rPr>
              <a:t>seed 2000</a:t>
            </a:r>
            <a:endParaRPr lang="en-US" sz="1050" dirty="0"/>
          </a:p>
        </p:txBody>
      </p:sp>
      <p:sp>
        <p:nvSpPr>
          <p:cNvPr id="13" name="split test"/>
          <p:cNvSpPr/>
          <p:nvPr/>
        </p:nvSpPr>
        <p:spPr>
          <a:xfrm>
            <a:off x="9052560" y="1783080"/>
            <a:ext cx="1239012" cy="1371600"/>
          </a:xfrm>
          <a:prstGeom prst="roundRect">
            <a:avLst>
              <a:gd name="adj" fmla="val 5166"/>
            </a:avLst>
          </a:prstGeom>
          <a:solidFill>
            <a:schemeClr val="bg2"/>
          </a:solidFill>
          <a:ln/>
        </p:spPr>
      </p:sp>
      <p:sp>
        <p:nvSpPr>
          <p:cNvPr id="14" name="split count test"/>
          <p:cNvSpPr txBox="1"/>
          <p:nvPr/>
        </p:nvSpPr>
        <p:spPr>
          <a:xfrm>
            <a:off x="916228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500</a:t>
            </a:r>
            <a:endParaRPr lang="en-US" sz="2200" dirty="0"/>
          </a:p>
        </p:txBody>
      </p:sp>
      <p:sp>
        <p:nvSpPr>
          <p:cNvPr id="15" name="split label test"/>
          <p:cNvSpPr txBox="1"/>
          <p:nvPr/>
        </p:nvSpPr>
        <p:spPr>
          <a:xfrm>
            <a:off x="916228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test</a:t>
            </a:r>
            <a:endParaRPr lang="en-US" sz="1050" dirty="0"/>
          </a:p>
          <a:p>
            <a:pPr indent="0" marL="0">
              <a:buNone/>
            </a:pPr>
            <a:r>
              <a:rPr lang="en-US" sz="1050" dirty="0">
                <a:solidFill>
                  <a:srgbClr val="52514E"/>
                </a:solidFill>
              </a:rPr>
              <a:t>seed 3000</a:t>
            </a:r>
            <a:endParaRPr lang="en-US" sz="1050" dirty="0"/>
          </a:p>
        </p:txBody>
      </p:sp>
      <p:sp>
        <p:nvSpPr>
          <p:cNvPr id="16" name="split benchmark"/>
          <p:cNvSpPr/>
          <p:nvPr/>
        </p:nvSpPr>
        <p:spPr>
          <a:xfrm>
            <a:off x="10401300" y="1783080"/>
            <a:ext cx="1239012" cy="1371600"/>
          </a:xfrm>
          <a:prstGeom prst="roundRect">
            <a:avLst>
              <a:gd name="adj" fmla="val 5166"/>
            </a:avLst>
          </a:prstGeom>
          <a:solidFill>
            <a:schemeClr val="bg2"/>
          </a:solidFill>
          <a:ln/>
        </p:spPr>
      </p:sp>
      <p:sp>
        <p:nvSpPr>
          <p:cNvPr id="17" name="split count benchmark"/>
          <p:cNvSpPr txBox="1"/>
          <p:nvPr/>
        </p:nvSpPr>
        <p:spPr>
          <a:xfrm>
            <a:off x="1051102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1,000</a:t>
            </a:r>
            <a:endParaRPr lang="en-US" sz="2200" dirty="0"/>
          </a:p>
        </p:txBody>
      </p:sp>
      <p:sp>
        <p:nvSpPr>
          <p:cNvPr id="18" name="split label benchmark"/>
          <p:cNvSpPr txBox="1"/>
          <p:nvPr/>
        </p:nvSpPr>
        <p:spPr>
          <a:xfrm>
            <a:off x="1051102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benchmark</a:t>
            </a:r>
            <a:endParaRPr lang="en-US" sz="1050" dirty="0"/>
          </a:p>
          <a:p>
            <a:pPr indent="0" marL="0">
              <a:buNone/>
            </a:pPr>
            <a:r>
              <a:rPr lang="en-US" sz="1050" dirty="0">
                <a:solidFill>
                  <a:srgbClr val="52514E"/>
                </a:solidFill>
              </a:rPr>
              <a:t>seed 42 · 125 per tier</a:t>
            </a:r>
            <a:endParaRPr lang="en-US" sz="1050" dirty="0"/>
          </a:p>
        </p:txBody>
      </p:sp>
      <p:sp>
        <p:nvSpPr>
          <p:cNvPr id="19" name="splits caption"/>
          <p:cNvSpPr txBox="1"/>
          <p:nvPr/>
        </p:nvSpPr>
        <p:spPr>
          <a:xfrm>
            <a:off x="6355080" y="3246120"/>
            <a:ext cx="5285232" cy="502920"/>
          </a:xfrm>
          <a:prstGeom prst="rect">
            <a:avLst/>
          </a:prstGeom>
          <a:noFill/>
          <a:ln/>
        </p:spPr>
        <p:txBody>
          <a:bodyPr wrap="square" lIns="0" tIns="0" rIns="0" bIns="0" rtlCol="0" anchor="t"/>
          <a:lstStyle/>
          <a:p>
            <a:pPr indent="0" marL="0">
              <a:buNone/>
            </a:pPr>
            <a:r>
              <a:rPr lang="en-US" sz="1100" dirty="0">
                <a:solidFill>
                  <a:srgbClr val="52514E"/>
                </a:solidFill>
              </a:rPr>
              <a:t>7,000 contexts, 31,484 elements; tiers assigned round-robin. Plain JSON with a JSON Schema, Croissant metadata and a datasheet.</a:t>
            </a:r>
            <a:endParaRPr lang="en-US" sz="1100" dirty="0"/>
          </a:p>
        </p:txBody>
      </p:sp>
      <p:sp>
        <p:nvSpPr>
          <p:cNvPr id="20" name="use Train"/>
          <p:cNvSpPr/>
          <p:nvPr/>
        </p:nvSpPr>
        <p:spPr>
          <a:xfrm>
            <a:off x="548640" y="4343400"/>
            <a:ext cx="3575304" cy="1280160"/>
          </a:xfrm>
          <a:prstGeom prst="roundRect">
            <a:avLst>
              <a:gd name="adj" fmla="val 5000"/>
            </a:avLst>
          </a:prstGeom>
          <a:solidFill>
            <a:schemeClr val="bg2"/>
          </a:solidFill>
          <a:ln/>
        </p:spPr>
      </p:sp>
      <p:sp>
        <p:nvSpPr>
          <p:cNvPr id="21" name="use head Train"/>
          <p:cNvSpPr txBox="1"/>
          <p:nvPr/>
        </p:nvSpPr>
        <p:spPr>
          <a:xfrm>
            <a:off x="777240" y="445312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22" name="use text Train"/>
          <p:cNvSpPr txBox="1"/>
          <p:nvPr/>
        </p:nvSpPr>
        <p:spPr>
          <a:xfrm>
            <a:off x="777240" y="484632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23" name="use Evaluate"/>
          <p:cNvSpPr/>
          <p:nvPr/>
        </p:nvSpPr>
        <p:spPr>
          <a:xfrm>
            <a:off x="4306824" y="4343400"/>
            <a:ext cx="3575304" cy="1280160"/>
          </a:xfrm>
          <a:prstGeom prst="roundRect">
            <a:avLst>
              <a:gd name="adj" fmla="val 5000"/>
            </a:avLst>
          </a:prstGeom>
          <a:solidFill>
            <a:schemeClr val="bg2"/>
          </a:solidFill>
          <a:ln/>
        </p:spPr>
      </p:sp>
      <p:sp>
        <p:nvSpPr>
          <p:cNvPr id="24" name="use head Evaluate"/>
          <p:cNvSpPr txBox="1"/>
          <p:nvPr/>
        </p:nvSpPr>
        <p:spPr>
          <a:xfrm>
            <a:off x="4535424" y="445312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25" name="use text Evaluate"/>
          <p:cNvSpPr txBox="1"/>
          <p:nvPr/>
        </p:nvSpPr>
        <p:spPr>
          <a:xfrm>
            <a:off x="4535424" y="484632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26" name="use Report"/>
          <p:cNvSpPr/>
          <p:nvPr/>
        </p:nvSpPr>
        <p:spPr>
          <a:xfrm>
            <a:off x="8065008" y="4343400"/>
            <a:ext cx="3575304" cy="1280160"/>
          </a:xfrm>
          <a:prstGeom prst="roundRect">
            <a:avLst>
              <a:gd name="adj" fmla="val 5000"/>
            </a:avLst>
          </a:prstGeom>
          <a:solidFill>
            <a:schemeClr val="bg2"/>
          </a:solidFill>
          <a:ln/>
        </p:spPr>
      </p:sp>
      <p:sp>
        <p:nvSpPr>
          <p:cNvPr id="27" name="use head Report"/>
          <p:cNvSpPr txBox="1"/>
          <p:nvPr/>
        </p:nvSpPr>
        <p:spPr>
          <a:xfrm>
            <a:off x="8293608" y="445312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28" name="use text Report"/>
          <p:cNvSpPr txBox="1"/>
          <p:nvPr/>
        </p:nvSpPr>
        <p:spPr>
          <a:xfrm>
            <a:off x="8293608" y="484632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2026-10-06T23:22:12Z</dcterms:created>
  <dcterms:modified xsi:type="dcterms:W3CDTF">2026-10-06T23:22:12Z</dcterms:modified>
</cp:coreProperties>
</file>