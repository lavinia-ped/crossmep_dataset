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0255f91-07a6-325f-1289-2346353109e2}">
          <p14:sldIdLst>
            <p14:sldId id="256"/>
          </p14:sldIdLst>
        </p14:section>
        <p14:section name="Motivation" id="{c1531636-c515-da40-e09f-1d275e146f8b}">
          <p14:sldIdLst>
            <p14:sldId id="257"/>
            <p14:sldId id="258"/>
            <p14:sldId id="259"/>
            <p14:sldId id="260"/>
            <p14:sldId id="261"/>
          </p14:sldIdLst>
        </p14:section>
        <p14:section name="The dataset" id="{ea4cb01e-c2ee-c8a4-db9e-d839f32913b9}">
          <p14:sldIdLst>
            <p14:sldId id="262"/>
            <p14:sldId id="263"/>
            <p14:sldId id="264"/>
          </p14:sldIdLst>
        </p14:section>
        <p14:section name="Experiments" id="{c0cca296-c535-74d2-99c8-3d14ffb30aba}">
          <p14:sldIdLst>
            <p14:sldId id="265"/>
            <p14:sldId id="266"/>
            <p14:sldId id="267"/>
          </p14:sldIdLst>
        </p14:section>
        <p14:section name="Use" id="{bfcc802d-e049-1ece-030d-70b5e44e791a}">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Lavinia, a PhD student at Stanford University, and today I am happy to present CrossMEP, which is the dataset we built when we found that the data to learn support design from did not exist. Support design is the one part of MEP that every tool coordinates, every tool checks, and no tool does. A hospital has ten thousand of these supports, each chosen by hand from a catalog. We think a machine can learn to choose them, and what has stopped anyone trying is not the algorithm. It is that nobody had the problems to practise on. So we built the problems.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This is a hospital, and every red mark is a place where services hang from the structure. A modular support groups several services on one prefabricated frame: a structural support assembly. A hospital this size needs about ten thousand of them, each designed individually, twenty minutes to two hours apiece. Add it up and it is about a quarter of the MEP design effort. Practitioner estimates, but these are the numbers people live with.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designed, and from what? In: one cross-section at a hanger. The structure it hangs from, and the services crossing it, each with its trade, position, size and weight per metre. We call that the context. It is the brief. Out: assemblies of catalog parts that carry those services to the structure, checked for statics, anchors, connectors and buildability, ranked by cost. That is the answer. Hold on to these two words, because CrossMEP is contexts only. It contains no assemblies.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A designer works from one section at each hanger, after coordination. Tools coordinate the model and check a design, but they do not choose the layout or the parts. Three reasons it has resisted automation: the topology comes from experience, the rules interact across thousands of combinations, and catalogs change faster than rule systems can be rewritten.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would a machine learn it? Give it a context. Let it propose an assembly. Check the assembly, and feed pass or fail back. Round after round, it gets better. But every round needs a new context, and that is where it stops. Real projects give a handful of sections, all from the same kind of job and confidential: too few to practise on, and a method tuned on them only fits that job. So we generate the contexts, as many as a method needs, and we fix one benchmark to judge every method on. (2:15)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scarce? The real designs we could get were ninety, from one project. Nearly every one had a duct and many pipes. Not one had a cable tray, and not one was as simple as a single pipe: one corner of the design space. A method tuned on them measures fit to that project. So CrossMEP fills the space by construction: every tier from one element to eight, kinds and surfaces varied, without limit. A new seed is a new set. Seven thousand contexts are the release, not the ceiling.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(8:05)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4.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
        <p:nvSpPr>
          <p:cNvPr id="7" name="logo chip"/>
          <p:cNvSpPr/>
          <p:nvPr/>
        </p:nvSpPr>
        <p:spPr>
          <a:xfrm>
            <a:off x="8229600" y="489204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The synthesis of structural support assemblies (SSAs) takes 25% of MEP design effort because every assembly must be designed individually</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C00000"/>
            </a:solidFill>
            <a:prstDash val="solid"/>
          </a:ln>
        </p:spPr>
      </p:sp>
      <p:sp>
        <p:nvSpPr>
          <p:cNvPr id="5" name="zoom line top"/>
          <p:cNvSpPr/>
          <p:nvPr/>
        </p:nvSpPr>
        <p:spPr>
          <a:xfrm flipV="1">
            <a:off x="3897484" y="2791716"/>
            <a:ext cx="3051956" cy="-1008636"/>
          </a:xfrm>
          <a:prstGeom prst="line">
            <a:avLst/>
          </a:prstGeom>
          <a:noFill/>
          <a:ln w="19050">
            <a:solidFill>
              <a:srgbClr val="C00000"/>
            </a:solidFill>
            <a:prstDash val="solid"/>
          </a:ln>
        </p:spPr>
      </p:sp>
      <p:sp>
        <p:nvSpPr>
          <p:cNvPr id="6" name="zoom line bottom"/>
          <p:cNvSpPr/>
          <p:nvPr/>
        </p:nvSpPr>
        <p:spPr>
          <a:xfrm>
            <a:off x="3897484" y="3265617"/>
            <a:ext cx="3051956" cy="1210645"/>
          </a:xfrm>
          <a:prstGeom prst="line">
            <a:avLst/>
          </a:prstGeom>
          <a:noFill/>
          <a:ln w="19050">
            <a:solidFill>
              <a:srgbClr val="C00000"/>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C00000"/>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rgbClr val="C00000"/>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rgbClr val="C00000"/>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b="1" dirty="0">
                <a:solidFill>
                  <a:srgbClr val="C00000"/>
                </a:solidFill>
              </a:rPr>
              <a:t>support assemblies </a:t>
            </a:r>
            <a:pPr indent="0" marL="0">
              <a:buNone/>
            </a:pPr>
            <a:r>
              <a:rPr lang="en-US" sz="1200" dirty="0">
                <a:solidFill>
                  <a:srgbClr val="52514E"/>
                </a:solidFill>
              </a:rPr>
              <a:t>in one 200,000 sq ft hospital project</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rgbClr val="C00000"/>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rgbClr val="C00000"/>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b="1" dirty="0">
                <a:solidFill>
                  <a:srgbClr val="C00000"/>
                </a:solidFill>
              </a:rPr>
              <a:t>of engineering time </a:t>
            </a:r>
            <a:pPr indent="0" marL="0">
              <a:buNone/>
            </a:pPr>
            <a:r>
              <a:rPr lang="en-US" sz="1200" dirty="0">
                <a:solidFill>
                  <a:srgbClr val="52514E"/>
                </a:solidFill>
              </a:rPr>
              <a:t>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rgbClr val="C00000"/>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rgbClr val="C00000"/>
                </a:solidFill>
              </a:rPr>
              <a:t>≈ $600k</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b="1" dirty="0">
                <a:solidFill>
                  <a:srgbClr val="C00000"/>
                </a:solidFill>
              </a:rPr>
              <a:t>of engineering cost </a:t>
            </a:r>
            <a:pPr indent="0" marL="0">
              <a:buNone/>
            </a:pPr>
            <a:r>
              <a:rPr lang="en-US" sz="1200" dirty="0">
                <a:solidFill>
                  <a:srgbClr val="52514E"/>
                </a:solidFill>
              </a:rPr>
              <a:t>cumulative per hospital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Approximate practitioner estimates [1].   [1] Pedrollo, Graeber &amp; Fischer (2026), Feasibility-aware sequential synthesis of structural support assemblies, ISARC 2026</a:t>
            </a:r>
            <a:endParaRPr lang="en-US" sz="900" dirty="0"/>
          </a:p>
        </p:txBody>
      </p:sp>
      <p:sp>
        <p:nvSpPr>
          <p:cNvPr id="2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An SSA designer turns one MEP cross-section into a feasible structural support assembly</a:t>
            </a:r>
            <a:endParaRPr lang="en-US" sz="2600" dirty="0"/>
          </a:p>
        </p:txBody>
      </p:sp>
      <p:sp>
        <p:nvSpPr>
          <p:cNvPr id="3"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4"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5" name="hatch in 0.8"/>
          <p:cNvSpPr/>
          <p:nvPr/>
        </p:nvSpPr>
        <p:spPr>
          <a:xfrm flipV="1">
            <a:off x="731520" y="2011680"/>
            <a:ext cx="274320" cy="384048"/>
          </a:xfrm>
          <a:prstGeom prst="line">
            <a:avLst/>
          </a:prstGeom>
          <a:noFill/>
          <a:ln w="6350">
            <a:solidFill>
              <a:srgbClr val="898781"/>
            </a:solidFill>
            <a:prstDash val="solid"/>
          </a:ln>
        </p:spPr>
      </p:sp>
      <p:sp>
        <p:nvSpPr>
          <p:cNvPr id="6" name="hatch in 1.1"/>
          <p:cNvSpPr/>
          <p:nvPr/>
        </p:nvSpPr>
        <p:spPr>
          <a:xfrm flipV="1">
            <a:off x="1005840" y="2011680"/>
            <a:ext cx="274320" cy="384048"/>
          </a:xfrm>
          <a:prstGeom prst="line">
            <a:avLst/>
          </a:prstGeom>
          <a:noFill/>
          <a:ln w="6350">
            <a:solidFill>
              <a:srgbClr val="898781"/>
            </a:solidFill>
            <a:prstDash val="solid"/>
          </a:ln>
        </p:spPr>
      </p:sp>
      <p:sp>
        <p:nvSpPr>
          <p:cNvPr id="7" name="hatch in 1.4"/>
          <p:cNvSpPr/>
          <p:nvPr/>
        </p:nvSpPr>
        <p:spPr>
          <a:xfrm flipV="1">
            <a:off x="1280160" y="2011680"/>
            <a:ext cx="274320" cy="384048"/>
          </a:xfrm>
          <a:prstGeom prst="line">
            <a:avLst/>
          </a:prstGeom>
          <a:noFill/>
          <a:ln w="6350">
            <a:solidFill>
              <a:srgbClr val="898781"/>
            </a:solidFill>
            <a:prstDash val="solid"/>
          </a:ln>
        </p:spPr>
      </p:sp>
      <p:sp>
        <p:nvSpPr>
          <p:cNvPr id="8" name="hatch in 1.7"/>
          <p:cNvSpPr/>
          <p:nvPr/>
        </p:nvSpPr>
        <p:spPr>
          <a:xfrm flipV="1">
            <a:off x="1554480" y="2011680"/>
            <a:ext cx="274320" cy="384048"/>
          </a:xfrm>
          <a:prstGeom prst="line">
            <a:avLst/>
          </a:prstGeom>
          <a:noFill/>
          <a:ln w="6350">
            <a:solidFill>
              <a:srgbClr val="898781"/>
            </a:solidFill>
            <a:prstDash val="solid"/>
          </a:ln>
        </p:spPr>
      </p:sp>
      <p:sp>
        <p:nvSpPr>
          <p:cNvPr id="9" name="hatch in 2.0"/>
          <p:cNvSpPr/>
          <p:nvPr/>
        </p:nvSpPr>
        <p:spPr>
          <a:xfrm flipV="1">
            <a:off x="1828800" y="2011680"/>
            <a:ext cx="274320" cy="384048"/>
          </a:xfrm>
          <a:prstGeom prst="line">
            <a:avLst/>
          </a:prstGeom>
          <a:noFill/>
          <a:ln w="6350">
            <a:solidFill>
              <a:srgbClr val="898781"/>
            </a:solidFill>
            <a:prstDash val="solid"/>
          </a:ln>
        </p:spPr>
      </p:sp>
      <p:sp>
        <p:nvSpPr>
          <p:cNvPr id="10" name="hatch in 2.3"/>
          <p:cNvSpPr/>
          <p:nvPr/>
        </p:nvSpPr>
        <p:spPr>
          <a:xfrm flipV="1">
            <a:off x="2103120" y="2011680"/>
            <a:ext cx="274320" cy="384048"/>
          </a:xfrm>
          <a:prstGeom prst="line">
            <a:avLst/>
          </a:prstGeom>
          <a:noFill/>
          <a:ln w="6350">
            <a:solidFill>
              <a:srgbClr val="898781"/>
            </a:solidFill>
            <a:prstDash val="solid"/>
          </a:ln>
        </p:spPr>
      </p:sp>
      <p:sp>
        <p:nvSpPr>
          <p:cNvPr id="11" name="hatch in 2.6"/>
          <p:cNvSpPr/>
          <p:nvPr/>
        </p:nvSpPr>
        <p:spPr>
          <a:xfrm flipV="1">
            <a:off x="2377440" y="2011680"/>
            <a:ext cx="274320" cy="384048"/>
          </a:xfrm>
          <a:prstGeom prst="line">
            <a:avLst/>
          </a:prstGeom>
          <a:noFill/>
          <a:ln w="6350">
            <a:solidFill>
              <a:srgbClr val="898781"/>
            </a:solidFill>
            <a:prstDash val="solid"/>
          </a:ln>
        </p:spPr>
      </p:sp>
      <p:sp>
        <p:nvSpPr>
          <p:cNvPr id="12" name="hatch in 2.9"/>
          <p:cNvSpPr/>
          <p:nvPr/>
        </p:nvSpPr>
        <p:spPr>
          <a:xfrm flipV="1">
            <a:off x="2651760" y="2011680"/>
            <a:ext cx="274320" cy="384048"/>
          </a:xfrm>
          <a:prstGeom prst="line">
            <a:avLst/>
          </a:prstGeom>
          <a:noFill/>
          <a:ln w="6350">
            <a:solidFill>
              <a:srgbClr val="898781"/>
            </a:solidFill>
            <a:prstDash val="solid"/>
          </a:ln>
        </p:spPr>
      </p:sp>
      <p:sp>
        <p:nvSpPr>
          <p:cNvPr id="13" name="hatch in 3.2"/>
          <p:cNvSpPr/>
          <p:nvPr/>
        </p:nvSpPr>
        <p:spPr>
          <a:xfrm flipV="1">
            <a:off x="2926080" y="2011680"/>
            <a:ext cx="274320" cy="384048"/>
          </a:xfrm>
          <a:prstGeom prst="line">
            <a:avLst/>
          </a:prstGeom>
          <a:noFill/>
          <a:ln w="6350">
            <a:solidFill>
              <a:srgbClr val="898781"/>
            </a:solidFill>
            <a:prstDash val="solid"/>
          </a:ln>
        </p:spPr>
      </p:sp>
      <p:sp>
        <p:nvSpPr>
          <p:cNvPr id="14" name="hatch in 3.5"/>
          <p:cNvSpPr/>
          <p:nvPr/>
        </p:nvSpPr>
        <p:spPr>
          <a:xfrm flipV="1">
            <a:off x="3200400" y="2011680"/>
            <a:ext cx="274320" cy="384048"/>
          </a:xfrm>
          <a:prstGeom prst="line">
            <a:avLst/>
          </a:prstGeom>
          <a:noFill/>
          <a:ln w="6350">
            <a:solidFill>
              <a:srgbClr val="898781"/>
            </a:solidFill>
            <a:prstDash val="solid"/>
          </a:ln>
        </p:spPr>
      </p:sp>
      <p:sp>
        <p:nvSpPr>
          <p:cNvPr id="15" name="hatch in 3.8"/>
          <p:cNvSpPr/>
          <p:nvPr/>
        </p:nvSpPr>
        <p:spPr>
          <a:xfrm flipV="1">
            <a:off x="3474720" y="2011680"/>
            <a:ext cx="274320" cy="384048"/>
          </a:xfrm>
          <a:prstGeom prst="line">
            <a:avLst/>
          </a:prstGeom>
          <a:noFill/>
          <a:ln w="6350">
            <a:solidFill>
              <a:srgbClr val="898781"/>
            </a:solidFill>
            <a:prstDash val="solid"/>
          </a:ln>
        </p:spPr>
      </p:sp>
      <p:sp>
        <p:nvSpPr>
          <p:cNvPr id="16" name="hatch in 4.1"/>
          <p:cNvSpPr/>
          <p:nvPr/>
        </p:nvSpPr>
        <p:spPr>
          <a:xfrm flipV="1">
            <a:off x="3749040" y="2011680"/>
            <a:ext cx="274320" cy="384048"/>
          </a:xfrm>
          <a:prstGeom prst="line">
            <a:avLst/>
          </a:prstGeom>
          <a:noFill/>
          <a:ln w="6350">
            <a:solidFill>
              <a:srgbClr val="898781"/>
            </a:solidFill>
            <a:prstDash val="solid"/>
          </a:ln>
        </p:spPr>
      </p:sp>
      <p:sp>
        <p:nvSpPr>
          <p:cNvPr id="17" name="hatch in 4.4"/>
          <p:cNvSpPr/>
          <p:nvPr/>
        </p:nvSpPr>
        <p:spPr>
          <a:xfrm flipV="1">
            <a:off x="4023360" y="2011680"/>
            <a:ext cx="274320" cy="384048"/>
          </a:xfrm>
          <a:prstGeom prst="line">
            <a:avLst/>
          </a:prstGeom>
          <a:noFill/>
          <a:ln w="6350">
            <a:solidFill>
              <a:srgbClr val="898781"/>
            </a:solidFill>
            <a:prstDash val="solid"/>
          </a:ln>
        </p:spPr>
      </p:sp>
      <p:sp>
        <p:nvSpPr>
          <p:cNvPr id="18" name="hatch in 4.7"/>
          <p:cNvSpPr/>
          <p:nvPr/>
        </p:nvSpPr>
        <p:spPr>
          <a:xfrm flipV="1">
            <a:off x="4297680" y="2011680"/>
            <a:ext cx="274320" cy="384048"/>
          </a:xfrm>
          <a:prstGeom prst="line">
            <a:avLst/>
          </a:prstGeom>
          <a:noFill/>
          <a:ln w="6350">
            <a:solidFill>
              <a:srgbClr val="898781"/>
            </a:solidFill>
            <a:prstDash val="solid"/>
          </a:ln>
        </p:spPr>
      </p:sp>
      <p:sp>
        <p:nvSpPr>
          <p:cNvPr id="19" name="hatch in 5.0"/>
          <p:cNvSpPr/>
          <p:nvPr/>
        </p:nvSpPr>
        <p:spPr>
          <a:xfrm flipV="1">
            <a:off x="4572000" y="2011680"/>
            <a:ext cx="274320" cy="384048"/>
          </a:xfrm>
          <a:prstGeom prst="line">
            <a:avLst/>
          </a:prstGeom>
          <a:noFill/>
          <a:ln w="6350">
            <a:solidFill>
              <a:srgbClr val="898781"/>
            </a:solidFill>
            <a:prstDash val="solid"/>
          </a:ln>
        </p:spPr>
      </p:sp>
      <p:sp>
        <p:nvSpPr>
          <p:cNvPr id="20" name="hatch in 5.3"/>
          <p:cNvSpPr/>
          <p:nvPr/>
        </p:nvSpPr>
        <p:spPr>
          <a:xfrm flipV="1">
            <a:off x="4846320" y="2011680"/>
            <a:ext cx="274320" cy="384048"/>
          </a:xfrm>
          <a:prstGeom prst="line">
            <a:avLst/>
          </a:prstGeom>
          <a:noFill/>
          <a:ln w="6350">
            <a:solidFill>
              <a:srgbClr val="898781"/>
            </a:solidFill>
            <a:prstDash val="solid"/>
          </a:ln>
        </p:spPr>
      </p:sp>
      <p:sp>
        <p:nvSpPr>
          <p:cNvPr id="21"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2"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3"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4"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5"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6"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7"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8"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29" name="design arrow"/>
          <p:cNvSpPr/>
          <p:nvPr/>
        </p:nvSpPr>
        <p:spPr>
          <a:xfrm>
            <a:off x="5577840" y="3200400"/>
            <a:ext cx="1033272" cy="0"/>
          </a:xfrm>
          <a:prstGeom prst="line">
            <a:avLst/>
          </a:prstGeom>
          <a:noFill/>
          <a:ln w="19050">
            <a:solidFill>
              <a:srgbClr val="52514E"/>
            </a:solidFill>
            <a:prstDash val="solid"/>
            <a:tailEnd type="triangle"/>
          </a:ln>
        </p:spPr>
      </p:sp>
      <p:sp>
        <p:nvSpPr>
          <p:cNvPr id="30"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1"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2"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3" name="hatch out 7.6"/>
          <p:cNvSpPr/>
          <p:nvPr/>
        </p:nvSpPr>
        <p:spPr>
          <a:xfrm flipV="1">
            <a:off x="6976872" y="2011680"/>
            <a:ext cx="274320" cy="384048"/>
          </a:xfrm>
          <a:prstGeom prst="line">
            <a:avLst/>
          </a:prstGeom>
          <a:noFill/>
          <a:ln w="6350">
            <a:solidFill>
              <a:srgbClr val="898781"/>
            </a:solidFill>
            <a:prstDash val="solid"/>
          </a:ln>
        </p:spPr>
      </p:sp>
      <p:sp>
        <p:nvSpPr>
          <p:cNvPr id="34" name="hatch out 7.9"/>
          <p:cNvSpPr/>
          <p:nvPr/>
        </p:nvSpPr>
        <p:spPr>
          <a:xfrm flipV="1">
            <a:off x="7251192" y="2011680"/>
            <a:ext cx="274320" cy="384048"/>
          </a:xfrm>
          <a:prstGeom prst="line">
            <a:avLst/>
          </a:prstGeom>
          <a:noFill/>
          <a:ln w="6350">
            <a:solidFill>
              <a:srgbClr val="898781"/>
            </a:solidFill>
            <a:prstDash val="solid"/>
          </a:ln>
        </p:spPr>
      </p:sp>
      <p:sp>
        <p:nvSpPr>
          <p:cNvPr id="35" name="hatch out 8.2"/>
          <p:cNvSpPr/>
          <p:nvPr/>
        </p:nvSpPr>
        <p:spPr>
          <a:xfrm flipV="1">
            <a:off x="7525512" y="2011680"/>
            <a:ext cx="274320" cy="384048"/>
          </a:xfrm>
          <a:prstGeom prst="line">
            <a:avLst/>
          </a:prstGeom>
          <a:noFill/>
          <a:ln w="6350">
            <a:solidFill>
              <a:srgbClr val="898781"/>
            </a:solidFill>
            <a:prstDash val="solid"/>
          </a:ln>
        </p:spPr>
      </p:sp>
      <p:sp>
        <p:nvSpPr>
          <p:cNvPr id="36" name="hatch out 8.5"/>
          <p:cNvSpPr/>
          <p:nvPr/>
        </p:nvSpPr>
        <p:spPr>
          <a:xfrm flipV="1">
            <a:off x="7799832" y="2011680"/>
            <a:ext cx="274320" cy="384048"/>
          </a:xfrm>
          <a:prstGeom prst="line">
            <a:avLst/>
          </a:prstGeom>
          <a:noFill/>
          <a:ln w="6350">
            <a:solidFill>
              <a:srgbClr val="898781"/>
            </a:solidFill>
            <a:prstDash val="solid"/>
          </a:ln>
        </p:spPr>
      </p:sp>
      <p:sp>
        <p:nvSpPr>
          <p:cNvPr id="37" name="hatch out 8.8"/>
          <p:cNvSpPr/>
          <p:nvPr/>
        </p:nvSpPr>
        <p:spPr>
          <a:xfrm flipV="1">
            <a:off x="8074152" y="2011680"/>
            <a:ext cx="274320" cy="384048"/>
          </a:xfrm>
          <a:prstGeom prst="line">
            <a:avLst/>
          </a:prstGeom>
          <a:noFill/>
          <a:ln w="6350">
            <a:solidFill>
              <a:srgbClr val="898781"/>
            </a:solidFill>
            <a:prstDash val="solid"/>
          </a:ln>
        </p:spPr>
      </p:sp>
      <p:sp>
        <p:nvSpPr>
          <p:cNvPr id="38" name="hatch out 9.1"/>
          <p:cNvSpPr/>
          <p:nvPr/>
        </p:nvSpPr>
        <p:spPr>
          <a:xfrm flipV="1">
            <a:off x="8348472" y="2011680"/>
            <a:ext cx="274320" cy="384048"/>
          </a:xfrm>
          <a:prstGeom prst="line">
            <a:avLst/>
          </a:prstGeom>
          <a:noFill/>
          <a:ln w="6350">
            <a:solidFill>
              <a:srgbClr val="898781"/>
            </a:solidFill>
            <a:prstDash val="solid"/>
          </a:ln>
        </p:spPr>
      </p:sp>
      <p:sp>
        <p:nvSpPr>
          <p:cNvPr id="39" name="hatch out 9.4"/>
          <p:cNvSpPr/>
          <p:nvPr/>
        </p:nvSpPr>
        <p:spPr>
          <a:xfrm flipV="1">
            <a:off x="8622792" y="2011680"/>
            <a:ext cx="274320" cy="384048"/>
          </a:xfrm>
          <a:prstGeom prst="line">
            <a:avLst/>
          </a:prstGeom>
          <a:noFill/>
          <a:ln w="6350">
            <a:solidFill>
              <a:srgbClr val="898781"/>
            </a:solidFill>
            <a:prstDash val="solid"/>
          </a:ln>
        </p:spPr>
      </p:sp>
      <p:sp>
        <p:nvSpPr>
          <p:cNvPr id="40" name="hatch out 9.7"/>
          <p:cNvSpPr/>
          <p:nvPr/>
        </p:nvSpPr>
        <p:spPr>
          <a:xfrm flipV="1">
            <a:off x="8897112" y="2011680"/>
            <a:ext cx="274320" cy="384048"/>
          </a:xfrm>
          <a:prstGeom prst="line">
            <a:avLst/>
          </a:prstGeom>
          <a:noFill/>
          <a:ln w="6350">
            <a:solidFill>
              <a:srgbClr val="898781"/>
            </a:solidFill>
            <a:prstDash val="solid"/>
          </a:ln>
        </p:spPr>
      </p:sp>
      <p:sp>
        <p:nvSpPr>
          <p:cNvPr id="41" name="hatch out 10.0"/>
          <p:cNvSpPr/>
          <p:nvPr/>
        </p:nvSpPr>
        <p:spPr>
          <a:xfrm flipV="1">
            <a:off x="9171432" y="2011680"/>
            <a:ext cx="274320" cy="384048"/>
          </a:xfrm>
          <a:prstGeom prst="line">
            <a:avLst/>
          </a:prstGeom>
          <a:noFill/>
          <a:ln w="6350">
            <a:solidFill>
              <a:srgbClr val="898781"/>
            </a:solidFill>
            <a:prstDash val="solid"/>
          </a:ln>
        </p:spPr>
      </p:sp>
      <p:sp>
        <p:nvSpPr>
          <p:cNvPr id="42" name="hatch out 10.3"/>
          <p:cNvSpPr/>
          <p:nvPr/>
        </p:nvSpPr>
        <p:spPr>
          <a:xfrm flipV="1">
            <a:off x="9445752" y="2011680"/>
            <a:ext cx="274320" cy="384048"/>
          </a:xfrm>
          <a:prstGeom prst="line">
            <a:avLst/>
          </a:prstGeom>
          <a:noFill/>
          <a:ln w="6350">
            <a:solidFill>
              <a:srgbClr val="898781"/>
            </a:solidFill>
            <a:prstDash val="solid"/>
          </a:ln>
        </p:spPr>
      </p:sp>
      <p:sp>
        <p:nvSpPr>
          <p:cNvPr id="43" name="hatch out 10.6"/>
          <p:cNvSpPr/>
          <p:nvPr/>
        </p:nvSpPr>
        <p:spPr>
          <a:xfrm flipV="1">
            <a:off x="9720072" y="2011680"/>
            <a:ext cx="274320" cy="384048"/>
          </a:xfrm>
          <a:prstGeom prst="line">
            <a:avLst/>
          </a:prstGeom>
          <a:noFill/>
          <a:ln w="6350">
            <a:solidFill>
              <a:srgbClr val="898781"/>
            </a:solidFill>
            <a:prstDash val="solid"/>
          </a:ln>
        </p:spPr>
      </p:sp>
      <p:sp>
        <p:nvSpPr>
          <p:cNvPr id="44" name="hatch out 10.9"/>
          <p:cNvSpPr/>
          <p:nvPr/>
        </p:nvSpPr>
        <p:spPr>
          <a:xfrm flipV="1">
            <a:off x="9994392" y="2011680"/>
            <a:ext cx="274320" cy="384048"/>
          </a:xfrm>
          <a:prstGeom prst="line">
            <a:avLst/>
          </a:prstGeom>
          <a:noFill/>
          <a:ln w="6350">
            <a:solidFill>
              <a:srgbClr val="898781"/>
            </a:solidFill>
            <a:prstDash val="solid"/>
          </a:ln>
        </p:spPr>
      </p:sp>
      <p:sp>
        <p:nvSpPr>
          <p:cNvPr id="45" name="hatch out 11.2"/>
          <p:cNvSpPr/>
          <p:nvPr/>
        </p:nvSpPr>
        <p:spPr>
          <a:xfrm flipV="1">
            <a:off x="10268712" y="2011680"/>
            <a:ext cx="274320" cy="384048"/>
          </a:xfrm>
          <a:prstGeom prst="line">
            <a:avLst/>
          </a:prstGeom>
          <a:noFill/>
          <a:ln w="6350">
            <a:solidFill>
              <a:srgbClr val="898781"/>
            </a:solidFill>
            <a:prstDash val="solid"/>
          </a:ln>
        </p:spPr>
      </p:sp>
      <p:sp>
        <p:nvSpPr>
          <p:cNvPr id="46" name="hatch out 11.5"/>
          <p:cNvSpPr/>
          <p:nvPr/>
        </p:nvSpPr>
        <p:spPr>
          <a:xfrm flipV="1">
            <a:off x="10543032" y="2011680"/>
            <a:ext cx="274320" cy="384048"/>
          </a:xfrm>
          <a:prstGeom prst="line">
            <a:avLst/>
          </a:prstGeom>
          <a:noFill/>
          <a:ln w="6350">
            <a:solidFill>
              <a:srgbClr val="898781"/>
            </a:solidFill>
            <a:prstDash val="solid"/>
          </a:ln>
        </p:spPr>
      </p:sp>
      <p:sp>
        <p:nvSpPr>
          <p:cNvPr id="47" name="hatch out 11.8"/>
          <p:cNvSpPr/>
          <p:nvPr/>
        </p:nvSpPr>
        <p:spPr>
          <a:xfrm flipV="1">
            <a:off x="10817352" y="2011680"/>
            <a:ext cx="274320" cy="384048"/>
          </a:xfrm>
          <a:prstGeom prst="line">
            <a:avLst/>
          </a:prstGeom>
          <a:noFill/>
          <a:ln w="6350">
            <a:solidFill>
              <a:srgbClr val="898781"/>
            </a:solidFill>
            <a:prstDash val="solid"/>
          </a:ln>
        </p:spPr>
      </p:sp>
      <p:sp>
        <p:nvSpPr>
          <p:cNvPr id="48" name="hatch out 12.1"/>
          <p:cNvSpPr/>
          <p:nvPr/>
        </p:nvSpPr>
        <p:spPr>
          <a:xfrm flipV="1">
            <a:off x="11091672" y="2011680"/>
            <a:ext cx="274320" cy="384048"/>
          </a:xfrm>
          <a:prstGeom prst="line">
            <a:avLst/>
          </a:prstGeom>
          <a:noFill/>
          <a:ln w="6350">
            <a:solidFill>
              <a:srgbClr val="898781"/>
            </a:solidFill>
            <a:prstDash val="solid"/>
          </a:ln>
        </p:spPr>
      </p:sp>
      <p:sp>
        <p:nvSpPr>
          <p:cNvPr id="49"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0"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1"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2"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3"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4"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55" name="anchor 0"/>
          <p:cNvSpPr/>
          <p:nvPr/>
        </p:nvSpPr>
        <p:spPr>
          <a:xfrm>
            <a:off x="7123176" y="2286000"/>
            <a:ext cx="146304" cy="146304"/>
          </a:xfrm>
          <a:prstGeom prst="rect">
            <a:avLst/>
          </a:prstGeom>
          <a:solidFill>
            <a:srgbClr val="1F2933"/>
          </a:solidFill>
          <a:ln/>
        </p:spPr>
      </p:sp>
      <p:sp>
        <p:nvSpPr>
          <p:cNvPr id="56" name="rod 0"/>
          <p:cNvSpPr/>
          <p:nvPr/>
        </p:nvSpPr>
        <p:spPr>
          <a:xfrm>
            <a:off x="7178040" y="2395728"/>
            <a:ext cx="36576" cy="1353312"/>
          </a:xfrm>
          <a:prstGeom prst="rect">
            <a:avLst/>
          </a:prstGeom>
          <a:solidFill>
            <a:srgbClr val="1F2933"/>
          </a:solidFill>
          <a:ln/>
        </p:spPr>
      </p:sp>
      <p:sp>
        <p:nvSpPr>
          <p:cNvPr id="57" name="anchor 1"/>
          <p:cNvSpPr/>
          <p:nvPr/>
        </p:nvSpPr>
        <p:spPr>
          <a:xfrm>
            <a:off x="11164824" y="2286000"/>
            <a:ext cx="146304" cy="146304"/>
          </a:xfrm>
          <a:prstGeom prst="rect">
            <a:avLst/>
          </a:prstGeom>
          <a:solidFill>
            <a:srgbClr val="1F2933"/>
          </a:solidFill>
          <a:ln/>
        </p:spPr>
      </p:sp>
      <p:sp>
        <p:nvSpPr>
          <p:cNvPr id="58" name="rod 1"/>
          <p:cNvSpPr/>
          <p:nvPr/>
        </p:nvSpPr>
        <p:spPr>
          <a:xfrm>
            <a:off x="11219688" y="2395728"/>
            <a:ext cx="36576" cy="1353312"/>
          </a:xfrm>
          <a:prstGeom prst="rect">
            <a:avLst/>
          </a:prstGeom>
          <a:solidFill>
            <a:srgbClr val="1F2933"/>
          </a:solidFill>
          <a:ln/>
        </p:spPr>
      </p:sp>
      <p:sp>
        <p:nvSpPr>
          <p:cNvPr id="59" name="trapeze bar"/>
          <p:cNvSpPr/>
          <p:nvPr/>
        </p:nvSpPr>
        <p:spPr>
          <a:xfrm>
            <a:off x="7068312" y="3749040"/>
            <a:ext cx="4297680" cy="82296"/>
          </a:xfrm>
          <a:prstGeom prst="rect">
            <a:avLst/>
          </a:prstGeom>
          <a:solidFill>
            <a:srgbClr val="1F2933"/>
          </a:solidFill>
          <a:ln/>
        </p:spPr>
      </p:sp>
      <p:sp>
        <p:nvSpPr>
          <p:cNvPr id="60"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1"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2"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Existing tools coordinate and verify modular support assemblies, but their synthesis remains manual because it relies on tacit engineering expertise and complex catalog-driven rules</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learning method needs thousands of contexts to practise on, and real projects give too few, so we generate them</a:t>
            </a:r>
            <a:endParaRPr lang="en-US" sz="2600" dirty="0"/>
          </a:p>
        </p:txBody>
      </p:sp>
      <p:sp>
        <p:nvSpPr>
          <p:cNvPr id="3" name="loop heading"/>
          <p:cNvSpPr txBox="1"/>
          <p:nvPr/>
        </p:nvSpPr>
        <p:spPr>
          <a:xfrm>
            <a:off x="548640" y="1325880"/>
            <a:ext cx="4572000" cy="274320"/>
          </a:xfrm>
          <a:prstGeom prst="rect">
            <a:avLst/>
          </a:prstGeom>
          <a:noFill/>
          <a:ln/>
        </p:spPr>
        <p:txBody>
          <a:bodyPr wrap="square" lIns="0" tIns="0" rIns="0" bIns="0" rtlCol="0" anchor="ctr"/>
          <a:lstStyle/>
          <a:p>
            <a:pPr indent="0" marL="0">
              <a:buNone/>
            </a:pPr>
            <a:r>
              <a:rPr lang="en-US" sz="1200" b="1" dirty="0">
                <a:solidFill>
                  <a:srgbClr val="52514E"/>
                </a:solidFill>
              </a:rPr>
              <a:t>How a learning method learns, round after round</a:t>
            </a:r>
            <a:endParaRPr lang="en-US" sz="1200" dirty="0"/>
          </a:p>
        </p:txBody>
      </p:sp>
      <p:sp>
        <p:nvSpPr>
          <p:cNvPr id="4" name="box context"/>
          <p:cNvSpPr/>
          <p:nvPr/>
        </p:nvSpPr>
        <p:spPr>
          <a:xfrm>
            <a:off x="548640" y="1783080"/>
            <a:ext cx="2103120" cy="1371600"/>
          </a:xfrm>
          <a:prstGeom prst="roundRect">
            <a:avLst>
              <a:gd name="adj" fmla="val 4000"/>
            </a:avLst>
          </a:prstGeom>
          <a:solidFill>
            <a:schemeClr val="bg2"/>
          </a:solidFill>
          <a:ln w="19050">
            <a:solidFill>
              <a:schemeClr val="accent1"/>
            </a:solidFill>
            <a:prstDash val="solid"/>
          </a:ln>
        </p:spPr>
      </p:sp>
      <p:sp>
        <p:nvSpPr>
          <p:cNvPr id="5" name="mini card loop context"/>
          <p:cNvSpPr/>
          <p:nvPr/>
        </p:nvSpPr>
        <p:spPr>
          <a:xfrm>
            <a:off x="1005840" y="1892808"/>
            <a:ext cx="1188720" cy="475488"/>
          </a:xfrm>
          <a:prstGeom prst="rect">
            <a:avLst/>
          </a:prstGeom>
          <a:solidFill>
            <a:srgbClr val="FFFFFF"/>
          </a:solidFill>
          <a:ln w="6350">
            <a:solidFill>
              <a:srgbClr val="898781"/>
            </a:solidFill>
            <a:prstDash val="solid"/>
          </a:ln>
        </p:spPr>
      </p:sp>
      <p:sp>
        <p:nvSpPr>
          <p:cNvPr id="6" name="mini slab loop context"/>
          <p:cNvSpPr/>
          <p:nvPr/>
        </p:nvSpPr>
        <p:spPr>
          <a:xfrm>
            <a:off x="1051560" y="1938528"/>
            <a:ext cx="1097280" cy="32004"/>
          </a:xfrm>
          <a:prstGeom prst="rect">
            <a:avLst/>
          </a:prstGeom>
          <a:solidFill>
            <a:srgbClr val="52514E"/>
          </a:solidFill>
          <a:ln/>
        </p:spPr>
      </p:sp>
      <p:sp>
        <p:nvSpPr>
          <p:cNvPr id="7" name="mini loop context 0"/>
          <p:cNvSpPr/>
          <p:nvPr/>
        </p:nvSpPr>
        <p:spPr>
          <a:xfrm>
            <a:off x="1202436" y="2002536"/>
            <a:ext cx="137160" cy="100584"/>
          </a:xfrm>
          <a:prstGeom prst="rect">
            <a:avLst/>
          </a:prstGeom>
          <a:solidFill>
            <a:schemeClr val="accent1"/>
          </a:solidFill>
          <a:ln w="5080">
            <a:solidFill>
              <a:srgbClr val="FFFFFF"/>
            </a:solidFill>
            <a:prstDash val="solid"/>
          </a:ln>
        </p:spPr>
      </p:sp>
      <p:sp>
        <p:nvSpPr>
          <p:cNvPr id="8" name="mini loop context 1"/>
          <p:cNvSpPr/>
          <p:nvPr/>
        </p:nvSpPr>
        <p:spPr>
          <a:xfrm>
            <a:off x="1449324" y="2011680"/>
            <a:ext cx="82296" cy="82296"/>
          </a:xfrm>
          <a:prstGeom prst="ellipse">
            <a:avLst/>
          </a:prstGeom>
          <a:solidFill>
            <a:schemeClr val="accent1"/>
          </a:solidFill>
          <a:ln w="5080">
            <a:solidFill>
              <a:srgbClr val="FFFFFF"/>
            </a:solidFill>
            <a:prstDash val="solid"/>
          </a:ln>
        </p:spPr>
      </p:sp>
      <p:sp>
        <p:nvSpPr>
          <p:cNvPr id="9" name="mini loop context 2"/>
          <p:cNvSpPr/>
          <p:nvPr/>
        </p:nvSpPr>
        <p:spPr>
          <a:xfrm>
            <a:off x="1668780" y="2011680"/>
            <a:ext cx="82296" cy="82296"/>
          </a:xfrm>
          <a:prstGeom prst="ellipse">
            <a:avLst/>
          </a:prstGeom>
          <a:solidFill>
            <a:schemeClr val="accent1"/>
          </a:solidFill>
          <a:ln w="5080">
            <a:solidFill>
              <a:srgbClr val="FFFFFF"/>
            </a:solidFill>
            <a:prstDash val="solid"/>
          </a:ln>
        </p:spPr>
      </p:sp>
      <p:sp>
        <p:nvSpPr>
          <p:cNvPr id="10" name="mini loop context 3"/>
          <p:cNvSpPr/>
          <p:nvPr/>
        </p:nvSpPr>
        <p:spPr>
          <a:xfrm>
            <a:off x="1874520" y="2029968"/>
            <a:ext cx="109728" cy="45720"/>
          </a:xfrm>
          <a:prstGeom prst="rect">
            <a:avLst/>
          </a:prstGeom>
          <a:solidFill>
            <a:schemeClr val="accent1"/>
          </a:solidFill>
          <a:ln w="5080">
            <a:solidFill>
              <a:srgbClr val="FFFFFF"/>
            </a:solidFill>
            <a:prstDash val="solid"/>
          </a:ln>
        </p:spPr>
      </p:sp>
      <p:sp>
        <p:nvSpPr>
          <p:cNvPr id="11" name="text context"/>
          <p:cNvSpPr txBox="1"/>
          <p:nvPr/>
        </p:nvSpPr>
        <p:spPr>
          <a:xfrm>
            <a:off x="54864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Context</a:t>
            </a:r>
            <a:endParaRPr lang="en-US" sz="1400" dirty="0"/>
          </a:p>
          <a:p>
            <a:pPr algn="ctr" indent="0" marL="0">
              <a:buNone/>
            </a:pPr>
            <a:r>
              <a:rPr lang="en-US" sz="1100" dirty="0">
                <a:solidFill>
                  <a:srgbClr val="52514E"/>
                </a:solidFill>
              </a:rPr>
              <a:t>one section at a hanger, without the answer</a:t>
            </a:r>
            <a:endParaRPr lang="en-US" sz="1400" dirty="0"/>
          </a:p>
        </p:txBody>
      </p:sp>
      <p:sp>
        <p:nvSpPr>
          <p:cNvPr id="12" name="black box method"/>
          <p:cNvSpPr/>
          <p:nvPr/>
        </p:nvSpPr>
        <p:spPr>
          <a:xfrm>
            <a:off x="3246120" y="1783080"/>
            <a:ext cx="2468880" cy="1371600"/>
          </a:xfrm>
          <a:prstGeom prst="roundRect">
            <a:avLst>
              <a:gd name="adj" fmla="val 4000"/>
            </a:avLst>
          </a:prstGeom>
          <a:solidFill>
            <a:srgbClr val="0B0B0B"/>
          </a:solidFill>
          <a:ln/>
        </p:spPr>
      </p:sp>
      <p:pic>
        <p:nvPicPr>
          <p:cNvPr id="13" name="icon method" descr="preencoded.png">    </p:cNvPr>
          <p:cNvPicPr>
            <a:picLocks noChangeAspect="1"/>
          </p:cNvPicPr>
          <p:nvPr/>
        </p:nvPicPr>
        <p:blipFill>
          <a:blip r:embed="rId1"/>
          <a:stretch>
            <a:fillRect/>
          </a:stretch>
        </p:blipFill>
        <p:spPr>
          <a:xfrm>
            <a:off x="4251960" y="1911096"/>
            <a:ext cx="457200" cy="457200"/>
          </a:xfrm>
          <a:prstGeom prst="rect">
            <a:avLst/>
          </a:prstGeom>
        </p:spPr>
      </p:pic>
      <p:sp>
        <p:nvSpPr>
          <p:cNvPr id="14" name="text method"/>
          <p:cNvSpPr txBox="1"/>
          <p:nvPr/>
        </p:nvSpPr>
        <p:spPr>
          <a:xfrm>
            <a:off x="3246120" y="2404872"/>
            <a:ext cx="2468880" cy="731520"/>
          </a:xfrm>
          <a:prstGeom prst="rect">
            <a:avLst/>
          </a:prstGeom>
          <a:noFill/>
          <a:ln/>
        </p:spPr>
        <p:txBody>
          <a:bodyPr wrap="square" lIns="762" tIns="762" rIns="762" bIns="762" rtlCol="0" anchor="t"/>
          <a:lstStyle/>
          <a:p>
            <a:pPr algn="ctr" indent="0" marL="0">
              <a:buNone/>
            </a:pPr>
            <a:r>
              <a:rPr lang="en-US" sz="1400" b="1" dirty="0">
                <a:solidFill>
                  <a:srgbClr val="FFFFFF"/>
                </a:solidFill>
              </a:rPr>
              <a:t>Learning method</a:t>
            </a:r>
            <a:endParaRPr lang="en-US" sz="1400" dirty="0"/>
          </a:p>
          <a:p>
            <a:pPr algn="ctr" indent="0" marL="0">
              <a:buNone/>
            </a:pPr>
            <a:r>
              <a:rPr lang="en-US" sz="1100" dirty="0">
                <a:solidFill>
                  <a:srgbClr val="CADCFC"/>
                </a:solidFill>
              </a:rPr>
              <a:t>a black box that proposes a design</a:t>
            </a:r>
            <a:endParaRPr lang="en-US" sz="1400" dirty="0"/>
          </a:p>
        </p:txBody>
      </p:sp>
      <p:sp>
        <p:nvSpPr>
          <p:cNvPr id="15" name="arrow context to method"/>
          <p:cNvSpPr/>
          <p:nvPr/>
        </p:nvSpPr>
        <p:spPr>
          <a:xfrm>
            <a:off x="2651760" y="2468880"/>
            <a:ext cx="594360" cy="0"/>
          </a:xfrm>
          <a:prstGeom prst="line">
            <a:avLst/>
          </a:prstGeom>
          <a:noFill/>
          <a:ln w="19050">
            <a:solidFill>
              <a:srgbClr val="52514E"/>
            </a:solidFill>
            <a:prstDash val="solid"/>
            <a:tailEnd type="triangle"/>
          </a:ln>
        </p:spPr>
      </p:sp>
      <p:sp>
        <p:nvSpPr>
          <p:cNvPr id="16" name="box design"/>
          <p:cNvSpPr/>
          <p:nvPr/>
        </p:nvSpPr>
        <p:spPr>
          <a:xfrm>
            <a:off x="6309360" y="1783080"/>
            <a:ext cx="2103120" cy="1371600"/>
          </a:xfrm>
          <a:prstGeom prst="roundRect">
            <a:avLst>
              <a:gd name="adj" fmla="val 4000"/>
            </a:avLst>
          </a:prstGeom>
          <a:solidFill>
            <a:schemeClr val="bg2"/>
          </a:solidFill>
          <a:ln w="12700">
            <a:solidFill>
              <a:srgbClr val="52514E"/>
            </a:solidFill>
            <a:prstDash val="solid"/>
          </a:ln>
        </p:spPr>
      </p:sp>
      <p:sp>
        <p:nvSpPr>
          <p:cNvPr id="17" name="mini out slab"/>
          <p:cNvSpPr/>
          <p:nvPr/>
        </p:nvSpPr>
        <p:spPr>
          <a:xfrm>
            <a:off x="6903720" y="1911096"/>
            <a:ext cx="914400" cy="73152"/>
          </a:xfrm>
          <a:prstGeom prst="rect">
            <a:avLst/>
          </a:prstGeom>
          <a:solidFill>
            <a:srgbClr val="EEF1F4"/>
          </a:solidFill>
          <a:ln w="6350">
            <a:solidFill>
              <a:srgbClr val="52514E"/>
            </a:solidFill>
            <a:prstDash val="solid"/>
          </a:ln>
        </p:spPr>
      </p:sp>
      <p:sp>
        <p:nvSpPr>
          <p:cNvPr id="18" name="mini rod 0"/>
          <p:cNvSpPr/>
          <p:nvPr/>
        </p:nvSpPr>
        <p:spPr>
          <a:xfrm>
            <a:off x="6976872" y="1984248"/>
            <a:ext cx="27432" cy="347472"/>
          </a:xfrm>
          <a:prstGeom prst="rect">
            <a:avLst/>
          </a:prstGeom>
          <a:solidFill>
            <a:srgbClr val="1F2933"/>
          </a:solidFill>
          <a:ln/>
        </p:spPr>
      </p:sp>
      <p:sp>
        <p:nvSpPr>
          <p:cNvPr id="19" name="mini rod 1"/>
          <p:cNvSpPr/>
          <p:nvPr/>
        </p:nvSpPr>
        <p:spPr>
          <a:xfrm>
            <a:off x="7717536" y="1984248"/>
            <a:ext cx="27432" cy="347472"/>
          </a:xfrm>
          <a:prstGeom prst="rect">
            <a:avLst/>
          </a:prstGeom>
          <a:solidFill>
            <a:srgbClr val="1F2933"/>
          </a:solidFill>
          <a:ln/>
        </p:spPr>
      </p:sp>
      <p:sp>
        <p:nvSpPr>
          <p:cNvPr id="20" name="mini bar"/>
          <p:cNvSpPr/>
          <p:nvPr/>
        </p:nvSpPr>
        <p:spPr>
          <a:xfrm>
            <a:off x="6903720" y="2313432"/>
            <a:ext cx="914400" cy="36576"/>
          </a:xfrm>
          <a:prstGeom prst="rect">
            <a:avLst/>
          </a:prstGeom>
          <a:solidFill>
            <a:srgbClr val="1F2933"/>
          </a:solidFill>
          <a:ln/>
        </p:spPr>
      </p:sp>
      <p:sp>
        <p:nvSpPr>
          <p:cNvPr id="21" name="mini out pipe a"/>
          <p:cNvSpPr/>
          <p:nvPr/>
        </p:nvSpPr>
        <p:spPr>
          <a:xfrm>
            <a:off x="7132320" y="2130552"/>
            <a:ext cx="182880" cy="182880"/>
          </a:xfrm>
          <a:prstGeom prst="ellipse">
            <a:avLst/>
          </a:prstGeom>
          <a:solidFill>
            <a:srgbClr val="FFFFFF"/>
          </a:solidFill>
          <a:ln w="9525">
            <a:solidFill>
              <a:srgbClr val="52514E"/>
            </a:solidFill>
            <a:prstDash val="solid"/>
          </a:ln>
        </p:spPr>
      </p:sp>
      <p:sp>
        <p:nvSpPr>
          <p:cNvPr id="22" name="mini out pipe b"/>
          <p:cNvSpPr/>
          <p:nvPr/>
        </p:nvSpPr>
        <p:spPr>
          <a:xfrm>
            <a:off x="7406640" y="2176272"/>
            <a:ext cx="137160" cy="137160"/>
          </a:xfrm>
          <a:prstGeom prst="ellipse">
            <a:avLst/>
          </a:prstGeom>
          <a:solidFill>
            <a:srgbClr val="FFFFFF"/>
          </a:solidFill>
          <a:ln w="9525">
            <a:solidFill>
              <a:srgbClr val="52514E"/>
            </a:solidFill>
            <a:prstDash val="solid"/>
          </a:ln>
        </p:spPr>
      </p:sp>
      <p:sp>
        <p:nvSpPr>
          <p:cNvPr id="23" name="text design"/>
          <p:cNvSpPr txBox="1"/>
          <p:nvPr/>
        </p:nvSpPr>
        <p:spPr>
          <a:xfrm>
            <a:off x="630936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Proposed design</a:t>
            </a:r>
            <a:endParaRPr lang="en-US" sz="1400" dirty="0"/>
          </a:p>
          <a:p>
            <a:pPr algn="ctr" indent="0" marL="0">
              <a:buNone/>
            </a:pPr>
            <a:r>
              <a:rPr lang="en-US" sz="1100" dirty="0">
                <a:solidFill>
                  <a:srgbClr val="52514E"/>
                </a:solidFill>
              </a:rPr>
              <a:t>an assembly: channel, rods, clamps, anchors</a:t>
            </a:r>
            <a:endParaRPr lang="en-US" sz="1400" dirty="0"/>
          </a:p>
        </p:txBody>
      </p:sp>
      <p:sp>
        <p:nvSpPr>
          <p:cNvPr id="24" name="arrow method to design"/>
          <p:cNvSpPr/>
          <p:nvPr/>
        </p:nvSpPr>
        <p:spPr>
          <a:xfrm>
            <a:off x="5715000" y="2468880"/>
            <a:ext cx="594360" cy="0"/>
          </a:xfrm>
          <a:prstGeom prst="line">
            <a:avLst/>
          </a:prstGeom>
          <a:noFill/>
          <a:ln w="19050">
            <a:solidFill>
              <a:srgbClr val="52514E"/>
            </a:solidFill>
            <a:prstDash val="solid"/>
            <a:tailEnd type="triangle"/>
          </a:ln>
        </p:spPr>
      </p:sp>
      <p:sp>
        <p:nvSpPr>
          <p:cNvPr id="25" name="box check"/>
          <p:cNvSpPr/>
          <p:nvPr/>
        </p:nvSpPr>
        <p:spPr>
          <a:xfrm>
            <a:off x="9006840" y="1783080"/>
            <a:ext cx="2633472" cy="1371600"/>
          </a:xfrm>
          <a:prstGeom prst="roundRect">
            <a:avLst>
              <a:gd name="adj" fmla="val 4000"/>
            </a:avLst>
          </a:prstGeom>
          <a:solidFill>
            <a:srgbClr val="EAF5EE"/>
          </a:solidFill>
          <a:ln w="19050">
            <a:solidFill>
              <a:srgbClr val="008300"/>
            </a:solidFill>
            <a:prstDash val="solid"/>
          </a:ln>
        </p:spPr>
      </p:sp>
      <p:pic>
        <p:nvPicPr>
          <p:cNvPr id="26" name="icon check" descr="preencoded.png">    </p:cNvPr>
          <p:cNvPicPr>
            <a:picLocks noChangeAspect="1"/>
          </p:cNvPicPr>
          <p:nvPr/>
        </p:nvPicPr>
        <p:blipFill>
          <a:blip r:embed="rId2"/>
          <a:stretch>
            <a:fillRect/>
          </a:stretch>
        </p:blipFill>
        <p:spPr>
          <a:xfrm>
            <a:off x="10094976" y="1911096"/>
            <a:ext cx="457200" cy="457200"/>
          </a:xfrm>
          <a:prstGeom prst="rect">
            <a:avLst/>
          </a:prstGeom>
        </p:spPr>
      </p:pic>
      <p:sp>
        <p:nvSpPr>
          <p:cNvPr id="27" name="text check"/>
          <p:cNvSpPr txBox="1"/>
          <p:nvPr/>
        </p:nvSpPr>
        <p:spPr>
          <a:xfrm>
            <a:off x="9006840" y="2404872"/>
            <a:ext cx="2633472"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Check</a:t>
            </a:r>
            <a:endParaRPr lang="en-US" sz="1400" dirty="0"/>
          </a:p>
          <a:p>
            <a:pPr algn="ctr" indent="0" marL="0">
              <a:buNone/>
            </a:pPr>
            <a:r>
              <a:rPr lang="en-US" sz="1100" dirty="0">
                <a:solidFill>
                  <a:srgbClr val="52514E"/>
                </a:solidFill>
              </a:rPr>
              <a:t>statics, anchors, connectors, buildability, cost</a:t>
            </a:r>
            <a:endParaRPr lang="en-US" sz="1400" dirty="0"/>
          </a:p>
        </p:txBody>
      </p:sp>
      <p:sp>
        <p:nvSpPr>
          <p:cNvPr id="28" name="arrow design to check"/>
          <p:cNvSpPr/>
          <p:nvPr/>
        </p:nvSpPr>
        <p:spPr>
          <a:xfrm>
            <a:off x="8412480" y="2468880"/>
            <a:ext cx="594360" cy="0"/>
          </a:xfrm>
          <a:prstGeom prst="line">
            <a:avLst/>
          </a:prstGeom>
          <a:noFill/>
          <a:ln w="19050">
            <a:solidFill>
              <a:srgbClr val="52514E"/>
            </a:solidFill>
            <a:prstDash val="solid"/>
            <a:tailEnd type="triangle"/>
          </a:ln>
        </p:spPr>
      </p:sp>
      <p:sp>
        <p:nvSpPr>
          <p:cNvPr id="29" name="feedback up"/>
          <p:cNvSpPr/>
          <p:nvPr/>
        </p:nvSpPr>
        <p:spPr>
          <a:xfrm>
            <a:off x="10323576" y="1600200"/>
            <a:ext cx="0" cy="182880"/>
          </a:xfrm>
          <a:prstGeom prst="line">
            <a:avLst/>
          </a:prstGeom>
          <a:noFill/>
          <a:ln w="19050">
            <a:solidFill>
              <a:srgbClr val="008300"/>
            </a:solidFill>
            <a:prstDash val="dash"/>
          </a:ln>
        </p:spPr>
      </p:sp>
      <p:sp>
        <p:nvSpPr>
          <p:cNvPr id="30" name="feedback across"/>
          <p:cNvSpPr/>
          <p:nvPr/>
        </p:nvSpPr>
        <p:spPr>
          <a:xfrm>
            <a:off x="4480560" y="1600200"/>
            <a:ext cx="5843016" cy="0"/>
          </a:xfrm>
          <a:prstGeom prst="line">
            <a:avLst/>
          </a:prstGeom>
          <a:noFill/>
          <a:ln w="19050">
            <a:solidFill>
              <a:srgbClr val="008300"/>
            </a:solidFill>
            <a:prstDash val="dash"/>
          </a:ln>
        </p:spPr>
      </p:sp>
      <p:sp>
        <p:nvSpPr>
          <p:cNvPr id="31" name="feedback down"/>
          <p:cNvSpPr/>
          <p:nvPr/>
        </p:nvSpPr>
        <p:spPr>
          <a:xfrm>
            <a:off x="4480560" y="1600200"/>
            <a:ext cx="0" cy="182880"/>
          </a:xfrm>
          <a:prstGeom prst="line">
            <a:avLst/>
          </a:prstGeom>
          <a:noFill/>
          <a:ln w="19050">
            <a:solidFill>
              <a:srgbClr val="008300"/>
            </a:solidFill>
            <a:prstDash val="dash"/>
            <a:tailEnd type="triangle"/>
          </a:ln>
        </p:spPr>
      </p:sp>
      <p:sp>
        <p:nvSpPr>
          <p:cNvPr id="32" name="label feedback"/>
          <p:cNvSpPr txBox="1"/>
          <p:nvPr/>
        </p:nvSpPr>
        <p:spPr>
          <a:xfrm>
            <a:off x="4754880" y="1325880"/>
            <a:ext cx="5294376" cy="237744"/>
          </a:xfrm>
          <a:prstGeom prst="rect">
            <a:avLst/>
          </a:prstGeom>
          <a:noFill/>
          <a:ln/>
        </p:spPr>
        <p:txBody>
          <a:bodyPr wrap="square" lIns="0" tIns="0" rIns="0" bIns="0" rtlCol="0" anchor="ctr"/>
          <a:lstStyle/>
          <a:p>
            <a:pPr algn="ctr" indent="0" marL="0">
              <a:buNone/>
            </a:pPr>
            <a:r>
              <a:rPr lang="en-US" sz="1100" dirty="0">
                <a:solidFill>
                  <a:srgbClr val="008300"/>
                </a:solidFill>
              </a:rPr>
              <a:t>pass or fail is fed back, and the method improves</a:t>
            </a:r>
            <a:endParaRPr lang="en-US" sz="1100" dirty="0"/>
          </a:p>
        </p:txBody>
      </p:sp>
      <p:sp>
        <p:nvSpPr>
          <p:cNvPr id="33" name="sources frame"/>
          <p:cNvSpPr/>
          <p:nvPr/>
        </p:nvSpPr>
        <p:spPr>
          <a:xfrm>
            <a:off x="548640" y="4005072"/>
            <a:ext cx="11164824" cy="2048256"/>
          </a:xfrm>
          <a:prstGeom prst="roundRect">
            <a:avLst>
              <a:gd name="adj" fmla="val 3125"/>
            </a:avLst>
          </a:prstGeom>
          <a:solidFill>
            <a:schemeClr val="bg2"/>
          </a:solidFill>
          <a:ln w="19050">
            <a:solidFill>
              <a:schemeClr val="accent1"/>
            </a:solidFill>
            <a:prstDash val="solid"/>
          </a:ln>
        </p:spPr>
      </p:sp>
      <p:sp>
        <p:nvSpPr>
          <p:cNvPr id="34" name="callout left"/>
          <p:cNvSpPr/>
          <p:nvPr/>
        </p:nvSpPr>
        <p:spPr>
          <a:xfrm>
            <a:off x="548640" y="3154680"/>
            <a:ext cx="0" cy="850392"/>
          </a:xfrm>
          <a:prstGeom prst="line">
            <a:avLst/>
          </a:prstGeom>
          <a:noFill/>
          <a:ln w="19050">
            <a:solidFill>
              <a:schemeClr val="accent1"/>
            </a:solidFill>
            <a:prstDash val="sysDot"/>
          </a:ln>
        </p:spPr>
      </p:sp>
      <p:sp>
        <p:nvSpPr>
          <p:cNvPr id="35" name="callout right"/>
          <p:cNvSpPr/>
          <p:nvPr/>
        </p:nvSpPr>
        <p:spPr>
          <a:xfrm>
            <a:off x="2651760" y="3154680"/>
            <a:ext cx="9061704" cy="850392"/>
          </a:xfrm>
          <a:prstGeom prst="line">
            <a:avLst/>
          </a:prstGeom>
          <a:noFill/>
          <a:ln w="19050">
            <a:solidFill>
              <a:schemeClr val="accent1"/>
            </a:solidFill>
            <a:prstDash val="sysDot"/>
          </a:ln>
        </p:spPr>
      </p:sp>
      <p:sp>
        <p:nvSpPr>
          <p:cNvPr id="36" name="card real"/>
          <p:cNvSpPr/>
          <p:nvPr/>
        </p:nvSpPr>
        <p:spPr>
          <a:xfrm>
            <a:off x="612648" y="4069080"/>
            <a:ext cx="5330952" cy="1920240"/>
          </a:xfrm>
          <a:prstGeom prst="roundRect">
            <a:avLst>
              <a:gd name="adj" fmla="val 3333"/>
            </a:avLst>
          </a:prstGeom>
          <a:solidFill>
            <a:srgbClr val="FFFFFF"/>
          </a:solidFill>
          <a:ln w="19050">
            <a:solidFill>
              <a:srgbClr val="EB6834"/>
            </a:solidFill>
            <a:prstDash val="solid"/>
          </a:ln>
        </p:spPr>
      </p:sp>
      <p:sp>
        <p:nvSpPr>
          <p:cNvPr id="37" name="card head real"/>
          <p:cNvSpPr txBox="1"/>
          <p:nvPr/>
        </p:nvSpPr>
        <p:spPr>
          <a:xfrm>
            <a:off x="841248"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Real projects</a:t>
            </a:r>
            <a:endParaRPr lang="en-US" sz="1500" dirty="0"/>
          </a:p>
        </p:txBody>
      </p:sp>
      <p:sp>
        <p:nvSpPr>
          <p:cNvPr id="38" name="card tag real"/>
          <p:cNvSpPr/>
          <p:nvPr/>
        </p:nvSpPr>
        <p:spPr>
          <a:xfrm>
            <a:off x="3611880" y="4206240"/>
            <a:ext cx="2103120" cy="274320"/>
          </a:xfrm>
          <a:prstGeom prst="roundRect">
            <a:avLst>
              <a:gd name="adj" fmla="val 50000"/>
            </a:avLst>
          </a:prstGeom>
          <a:solidFill>
            <a:srgbClr val="EB6834"/>
          </a:solidFill>
          <a:ln/>
        </p:spPr>
      </p:sp>
      <p:sp>
        <p:nvSpPr>
          <p:cNvPr id="39" name="card tag text real"/>
          <p:cNvSpPr txBox="1"/>
          <p:nvPr/>
        </p:nvSpPr>
        <p:spPr>
          <a:xfrm>
            <a:off x="3611880" y="4206240"/>
            <a:ext cx="2103120" cy="274320"/>
          </a:xfrm>
          <a:prstGeom prst="rect">
            <a:avLst/>
          </a:prstGeom>
          <a:noFill/>
          <a:ln/>
        </p:spPr>
        <p:txBody>
          <a:bodyPr wrap="square" lIns="0" tIns="0" rIns="0" bIns="0" rtlCol="0" anchor="ctr"/>
          <a:lstStyle/>
          <a:p>
            <a:pPr algn="ctr" indent="0" marL="0">
              <a:buNone/>
            </a:pPr>
            <a:r>
              <a:rPr lang="en-US" sz="1050" b="1" dirty="0">
                <a:solidFill>
                  <a:srgbClr val="FFFFFF"/>
                </a:solidFill>
              </a:rPr>
              <a:t>too few, not diverse enough</a:t>
            </a:r>
            <a:endParaRPr lang="en-US" sz="1050" dirty="0"/>
          </a:p>
        </p:txBody>
      </p:sp>
      <p:sp>
        <p:nvSpPr>
          <p:cNvPr id="40" name="card body real"/>
          <p:cNvSpPr txBox="1"/>
          <p:nvPr/>
        </p:nvSpPr>
        <p:spPr>
          <a:xfrm>
            <a:off x="841248" y="5257800"/>
            <a:ext cx="4873752" cy="640080"/>
          </a:xfrm>
          <a:prstGeom prst="rect">
            <a:avLst/>
          </a:prstGeom>
          <a:noFill/>
          <a:ln/>
        </p:spPr>
        <p:txBody>
          <a:bodyPr wrap="square" lIns="0" tIns="0" rIns="0" bIns="0" rtlCol="0" anchor="t"/>
          <a:lstStyle/>
          <a:p>
            <a:pPr indent="0" marL="0">
              <a:buNone/>
            </a:pPr>
            <a:r>
              <a:rPr lang="en-US" sz="1150" dirty="0">
                <a:solidFill>
                  <a:schemeClr val="tx1"/>
                </a:solidFill>
              </a:rPr>
              <a:t>A handful of sections, from one project with one trade mix, and confidential. Not enough to practise on, and a method tuned on them only fits that project.</a:t>
            </a:r>
            <a:endParaRPr lang="en-US" sz="1150" dirty="0"/>
          </a:p>
        </p:txBody>
      </p:sp>
      <p:sp>
        <p:nvSpPr>
          <p:cNvPr id="41" name="mini card real 0"/>
          <p:cNvSpPr/>
          <p:nvPr/>
        </p:nvSpPr>
        <p:spPr>
          <a:xfrm>
            <a:off x="841248" y="4590288"/>
            <a:ext cx="548640" cy="475488"/>
          </a:xfrm>
          <a:prstGeom prst="rect">
            <a:avLst/>
          </a:prstGeom>
          <a:solidFill>
            <a:srgbClr val="FFFFFF"/>
          </a:solidFill>
          <a:ln w="6350">
            <a:solidFill>
              <a:srgbClr val="898781"/>
            </a:solidFill>
            <a:prstDash val="solid"/>
          </a:ln>
        </p:spPr>
      </p:sp>
      <p:sp>
        <p:nvSpPr>
          <p:cNvPr id="42" name="mini slab real 0"/>
          <p:cNvSpPr/>
          <p:nvPr/>
        </p:nvSpPr>
        <p:spPr>
          <a:xfrm>
            <a:off x="886968" y="4636008"/>
            <a:ext cx="457200" cy="32004"/>
          </a:xfrm>
          <a:prstGeom prst="rect">
            <a:avLst/>
          </a:prstGeom>
          <a:solidFill>
            <a:srgbClr val="52514E"/>
          </a:solidFill>
          <a:ln/>
        </p:spPr>
      </p:sp>
      <p:sp>
        <p:nvSpPr>
          <p:cNvPr id="43" name="mini real 0 0"/>
          <p:cNvSpPr/>
          <p:nvPr/>
        </p:nvSpPr>
        <p:spPr>
          <a:xfrm>
            <a:off x="971012" y="4709160"/>
            <a:ext cx="60512" cy="60512"/>
          </a:xfrm>
          <a:prstGeom prst="ellipse">
            <a:avLst/>
          </a:prstGeom>
          <a:solidFill>
            <a:srgbClr val="EB6834"/>
          </a:solidFill>
          <a:ln w="5080">
            <a:solidFill>
              <a:srgbClr val="FFFFFF"/>
            </a:solidFill>
            <a:prstDash val="solid"/>
          </a:ln>
        </p:spPr>
      </p:sp>
      <p:sp>
        <p:nvSpPr>
          <p:cNvPr id="44" name="mini real 0 1"/>
          <p:cNvSpPr/>
          <p:nvPr/>
        </p:nvSpPr>
        <p:spPr>
          <a:xfrm>
            <a:off x="1085312" y="4709160"/>
            <a:ext cx="60512" cy="60512"/>
          </a:xfrm>
          <a:prstGeom prst="ellipse">
            <a:avLst/>
          </a:prstGeom>
          <a:solidFill>
            <a:srgbClr val="EB6834"/>
          </a:solidFill>
          <a:ln w="5080">
            <a:solidFill>
              <a:srgbClr val="FFFFFF"/>
            </a:solidFill>
            <a:prstDash val="solid"/>
          </a:ln>
        </p:spPr>
      </p:sp>
      <p:sp>
        <p:nvSpPr>
          <p:cNvPr id="45" name="mini real 0 2"/>
          <p:cNvSpPr/>
          <p:nvPr/>
        </p:nvSpPr>
        <p:spPr>
          <a:xfrm>
            <a:off x="1199612" y="4709160"/>
            <a:ext cx="60512" cy="60512"/>
          </a:xfrm>
          <a:prstGeom prst="ellipse">
            <a:avLst/>
          </a:prstGeom>
          <a:solidFill>
            <a:srgbClr val="EB6834"/>
          </a:solidFill>
          <a:ln w="5080">
            <a:solidFill>
              <a:srgbClr val="FFFFFF"/>
            </a:solidFill>
            <a:prstDash val="solid"/>
          </a:ln>
        </p:spPr>
      </p:sp>
      <p:sp>
        <p:nvSpPr>
          <p:cNvPr id="46" name="mini card real 1"/>
          <p:cNvSpPr/>
          <p:nvPr/>
        </p:nvSpPr>
        <p:spPr>
          <a:xfrm>
            <a:off x="1408176" y="4590288"/>
            <a:ext cx="548640" cy="475488"/>
          </a:xfrm>
          <a:prstGeom prst="rect">
            <a:avLst/>
          </a:prstGeom>
          <a:solidFill>
            <a:srgbClr val="FFFFFF"/>
          </a:solidFill>
          <a:ln w="6350">
            <a:solidFill>
              <a:srgbClr val="898781"/>
            </a:solidFill>
            <a:prstDash val="solid"/>
          </a:ln>
        </p:spPr>
      </p:sp>
      <p:sp>
        <p:nvSpPr>
          <p:cNvPr id="47" name="mini slab real 1"/>
          <p:cNvSpPr/>
          <p:nvPr/>
        </p:nvSpPr>
        <p:spPr>
          <a:xfrm>
            <a:off x="1453896" y="4636008"/>
            <a:ext cx="457200" cy="32004"/>
          </a:xfrm>
          <a:prstGeom prst="rect">
            <a:avLst/>
          </a:prstGeom>
          <a:solidFill>
            <a:srgbClr val="52514E"/>
          </a:solidFill>
          <a:ln/>
        </p:spPr>
      </p:sp>
      <p:sp>
        <p:nvSpPr>
          <p:cNvPr id="48" name="mini real 1 0"/>
          <p:cNvSpPr/>
          <p:nvPr/>
        </p:nvSpPr>
        <p:spPr>
          <a:xfrm>
            <a:off x="1537940" y="4709160"/>
            <a:ext cx="60512" cy="60512"/>
          </a:xfrm>
          <a:prstGeom prst="ellipse">
            <a:avLst/>
          </a:prstGeom>
          <a:solidFill>
            <a:srgbClr val="EB6834"/>
          </a:solidFill>
          <a:ln w="5080">
            <a:solidFill>
              <a:srgbClr val="FFFFFF"/>
            </a:solidFill>
            <a:prstDash val="solid"/>
          </a:ln>
        </p:spPr>
      </p:sp>
      <p:sp>
        <p:nvSpPr>
          <p:cNvPr id="49" name="mini real 1 1"/>
          <p:cNvSpPr/>
          <p:nvPr/>
        </p:nvSpPr>
        <p:spPr>
          <a:xfrm>
            <a:off x="1652240" y="4709160"/>
            <a:ext cx="60512" cy="60512"/>
          </a:xfrm>
          <a:prstGeom prst="ellipse">
            <a:avLst/>
          </a:prstGeom>
          <a:solidFill>
            <a:srgbClr val="EB6834"/>
          </a:solidFill>
          <a:ln w="5080">
            <a:solidFill>
              <a:srgbClr val="FFFFFF"/>
            </a:solidFill>
            <a:prstDash val="solid"/>
          </a:ln>
        </p:spPr>
      </p:sp>
      <p:sp>
        <p:nvSpPr>
          <p:cNvPr id="50" name="mini real 1 2"/>
          <p:cNvSpPr/>
          <p:nvPr/>
        </p:nvSpPr>
        <p:spPr>
          <a:xfrm>
            <a:off x="1766540" y="4709160"/>
            <a:ext cx="60512" cy="60512"/>
          </a:xfrm>
          <a:prstGeom prst="ellipse">
            <a:avLst/>
          </a:prstGeom>
          <a:solidFill>
            <a:srgbClr val="EB6834"/>
          </a:solidFill>
          <a:ln w="5080">
            <a:solidFill>
              <a:srgbClr val="FFFFFF"/>
            </a:solidFill>
            <a:prstDash val="solid"/>
          </a:ln>
        </p:spPr>
      </p:sp>
      <p:sp>
        <p:nvSpPr>
          <p:cNvPr id="51" name="mini card real 2"/>
          <p:cNvSpPr/>
          <p:nvPr/>
        </p:nvSpPr>
        <p:spPr>
          <a:xfrm>
            <a:off x="1975104" y="4590288"/>
            <a:ext cx="548640" cy="475488"/>
          </a:xfrm>
          <a:prstGeom prst="rect">
            <a:avLst/>
          </a:prstGeom>
          <a:solidFill>
            <a:srgbClr val="FFFFFF"/>
          </a:solidFill>
          <a:ln w="6350">
            <a:solidFill>
              <a:srgbClr val="898781"/>
            </a:solidFill>
            <a:prstDash val="solid"/>
          </a:ln>
        </p:spPr>
      </p:sp>
      <p:sp>
        <p:nvSpPr>
          <p:cNvPr id="52" name="mini slab real 2"/>
          <p:cNvSpPr/>
          <p:nvPr/>
        </p:nvSpPr>
        <p:spPr>
          <a:xfrm>
            <a:off x="2020824" y="4636008"/>
            <a:ext cx="457200" cy="32004"/>
          </a:xfrm>
          <a:prstGeom prst="rect">
            <a:avLst/>
          </a:prstGeom>
          <a:solidFill>
            <a:srgbClr val="52514E"/>
          </a:solidFill>
          <a:ln/>
        </p:spPr>
      </p:sp>
      <p:sp>
        <p:nvSpPr>
          <p:cNvPr id="53" name="mini real 2 0"/>
          <p:cNvSpPr/>
          <p:nvPr/>
        </p:nvSpPr>
        <p:spPr>
          <a:xfrm>
            <a:off x="2104868" y="4709160"/>
            <a:ext cx="60512" cy="60512"/>
          </a:xfrm>
          <a:prstGeom prst="ellipse">
            <a:avLst/>
          </a:prstGeom>
          <a:solidFill>
            <a:srgbClr val="EB6834"/>
          </a:solidFill>
          <a:ln w="5080">
            <a:solidFill>
              <a:srgbClr val="FFFFFF"/>
            </a:solidFill>
            <a:prstDash val="solid"/>
          </a:ln>
        </p:spPr>
      </p:sp>
      <p:sp>
        <p:nvSpPr>
          <p:cNvPr id="54" name="mini real 2 1"/>
          <p:cNvSpPr/>
          <p:nvPr/>
        </p:nvSpPr>
        <p:spPr>
          <a:xfrm>
            <a:off x="2219168" y="4709160"/>
            <a:ext cx="60512" cy="60512"/>
          </a:xfrm>
          <a:prstGeom prst="ellipse">
            <a:avLst/>
          </a:prstGeom>
          <a:solidFill>
            <a:srgbClr val="EB6834"/>
          </a:solidFill>
          <a:ln w="5080">
            <a:solidFill>
              <a:srgbClr val="FFFFFF"/>
            </a:solidFill>
            <a:prstDash val="solid"/>
          </a:ln>
        </p:spPr>
      </p:sp>
      <p:sp>
        <p:nvSpPr>
          <p:cNvPr id="55" name="mini real 2 2"/>
          <p:cNvSpPr/>
          <p:nvPr/>
        </p:nvSpPr>
        <p:spPr>
          <a:xfrm>
            <a:off x="2333468" y="4709160"/>
            <a:ext cx="60512" cy="60512"/>
          </a:xfrm>
          <a:prstGeom prst="ellipse">
            <a:avLst/>
          </a:prstGeom>
          <a:solidFill>
            <a:srgbClr val="EB6834"/>
          </a:solidFill>
          <a:ln w="5080">
            <a:solidFill>
              <a:srgbClr val="FFFFFF"/>
            </a:solidFill>
            <a:prstDash val="solid"/>
          </a:ln>
        </p:spPr>
      </p:sp>
      <p:sp>
        <p:nvSpPr>
          <p:cNvPr id="56" name="mini card real 3"/>
          <p:cNvSpPr/>
          <p:nvPr/>
        </p:nvSpPr>
        <p:spPr>
          <a:xfrm>
            <a:off x="2542032" y="4590288"/>
            <a:ext cx="548640" cy="475488"/>
          </a:xfrm>
          <a:prstGeom prst="rect">
            <a:avLst/>
          </a:prstGeom>
          <a:solidFill>
            <a:srgbClr val="FFFFFF"/>
          </a:solidFill>
          <a:ln w="6350">
            <a:solidFill>
              <a:srgbClr val="898781"/>
            </a:solidFill>
            <a:prstDash val="solid"/>
          </a:ln>
        </p:spPr>
      </p:sp>
      <p:sp>
        <p:nvSpPr>
          <p:cNvPr id="57" name="mini slab real 3"/>
          <p:cNvSpPr/>
          <p:nvPr/>
        </p:nvSpPr>
        <p:spPr>
          <a:xfrm>
            <a:off x="2587752" y="4636008"/>
            <a:ext cx="457200" cy="32004"/>
          </a:xfrm>
          <a:prstGeom prst="rect">
            <a:avLst/>
          </a:prstGeom>
          <a:solidFill>
            <a:srgbClr val="52514E"/>
          </a:solidFill>
          <a:ln/>
        </p:spPr>
      </p:sp>
      <p:sp>
        <p:nvSpPr>
          <p:cNvPr id="58" name="mini real 3 0"/>
          <p:cNvSpPr/>
          <p:nvPr/>
        </p:nvSpPr>
        <p:spPr>
          <a:xfrm>
            <a:off x="2671796" y="4709160"/>
            <a:ext cx="60512" cy="60512"/>
          </a:xfrm>
          <a:prstGeom prst="ellipse">
            <a:avLst/>
          </a:prstGeom>
          <a:solidFill>
            <a:srgbClr val="EB6834"/>
          </a:solidFill>
          <a:ln w="5080">
            <a:solidFill>
              <a:srgbClr val="FFFFFF"/>
            </a:solidFill>
            <a:prstDash val="solid"/>
          </a:ln>
        </p:spPr>
      </p:sp>
      <p:sp>
        <p:nvSpPr>
          <p:cNvPr id="59" name="mini real 3 1"/>
          <p:cNvSpPr/>
          <p:nvPr/>
        </p:nvSpPr>
        <p:spPr>
          <a:xfrm>
            <a:off x="2786096" y="4709160"/>
            <a:ext cx="60512" cy="60512"/>
          </a:xfrm>
          <a:prstGeom prst="ellipse">
            <a:avLst/>
          </a:prstGeom>
          <a:solidFill>
            <a:srgbClr val="EB6834"/>
          </a:solidFill>
          <a:ln w="5080">
            <a:solidFill>
              <a:srgbClr val="FFFFFF"/>
            </a:solidFill>
            <a:prstDash val="solid"/>
          </a:ln>
        </p:spPr>
      </p:sp>
      <p:sp>
        <p:nvSpPr>
          <p:cNvPr id="60" name="mini real 3 2"/>
          <p:cNvSpPr/>
          <p:nvPr/>
        </p:nvSpPr>
        <p:spPr>
          <a:xfrm>
            <a:off x="2900396" y="4709160"/>
            <a:ext cx="60512" cy="60512"/>
          </a:xfrm>
          <a:prstGeom prst="ellipse">
            <a:avLst/>
          </a:prstGeom>
          <a:solidFill>
            <a:srgbClr val="EB6834"/>
          </a:solidFill>
          <a:ln w="5080">
            <a:solidFill>
              <a:srgbClr val="FFFFFF"/>
            </a:solidFill>
            <a:prstDash val="solid"/>
          </a:ln>
        </p:spPr>
      </p:sp>
      <p:sp>
        <p:nvSpPr>
          <p:cNvPr id="61" name="mini card real 4"/>
          <p:cNvSpPr/>
          <p:nvPr/>
        </p:nvSpPr>
        <p:spPr>
          <a:xfrm>
            <a:off x="3108960" y="4590288"/>
            <a:ext cx="548640" cy="475488"/>
          </a:xfrm>
          <a:prstGeom prst="rect">
            <a:avLst/>
          </a:prstGeom>
          <a:solidFill>
            <a:srgbClr val="FFFFFF"/>
          </a:solidFill>
          <a:ln w="6350">
            <a:solidFill>
              <a:srgbClr val="898781"/>
            </a:solidFill>
            <a:prstDash val="solid"/>
          </a:ln>
        </p:spPr>
      </p:sp>
      <p:sp>
        <p:nvSpPr>
          <p:cNvPr id="62" name="mini slab real 4"/>
          <p:cNvSpPr/>
          <p:nvPr/>
        </p:nvSpPr>
        <p:spPr>
          <a:xfrm>
            <a:off x="3154680" y="4636008"/>
            <a:ext cx="457200" cy="32004"/>
          </a:xfrm>
          <a:prstGeom prst="rect">
            <a:avLst/>
          </a:prstGeom>
          <a:solidFill>
            <a:srgbClr val="52514E"/>
          </a:solidFill>
          <a:ln/>
        </p:spPr>
      </p:sp>
      <p:sp>
        <p:nvSpPr>
          <p:cNvPr id="63" name="mini real 4 0"/>
          <p:cNvSpPr/>
          <p:nvPr/>
        </p:nvSpPr>
        <p:spPr>
          <a:xfrm>
            <a:off x="3238724" y="4709160"/>
            <a:ext cx="60512" cy="60512"/>
          </a:xfrm>
          <a:prstGeom prst="ellipse">
            <a:avLst/>
          </a:prstGeom>
          <a:solidFill>
            <a:srgbClr val="EB6834"/>
          </a:solidFill>
          <a:ln w="5080">
            <a:solidFill>
              <a:srgbClr val="FFFFFF"/>
            </a:solidFill>
            <a:prstDash val="solid"/>
          </a:ln>
        </p:spPr>
      </p:sp>
      <p:sp>
        <p:nvSpPr>
          <p:cNvPr id="64" name="mini real 4 1"/>
          <p:cNvSpPr/>
          <p:nvPr/>
        </p:nvSpPr>
        <p:spPr>
          <a:xfrm>
            <a:off x="3353024" y="4709160"/>
            <a:ext cx="60512" cy="60512"/>
          </a:xfrm>
          <a:prstGeom prst="ellipse">
            <a:avLst/>
          </a:prstGeom>
          <a:solidFill>
            <a:srgbClr val="EB6834"/>
          </a:solidFill>
          <a:ln w="5080">
            <a:solidFill>
              <a:srgbClr val="FFFFFF"/>
            </a:solidFill>
            <a:prstDash val="solid"/>
          </a:ln>
        </p:spPr>
      </p:sp>
      <p:sp>
        <p:nvSpPr>
          <p:cNvPr id="65" name="mini real 4 2"/>
          <p:cNvSpPr/>
          <p:nvPr/>
        </p:nvSpPr>
        <p:spPr>
          <a:xfrm>
            <a:off x="3467324" y="4709160"/>
            <a:ext cx="60512" cy="60512"/>
          </a:xfrm>
          <a:prstGeom prst="ellipse">
            <a:avLst/>
          </a:prstGeom>
          <a:solidFill>
            <a:srgbClr val="EB6834"/>
          </a:solidFill>
          <a:ln w="5080">
            <a:solidFill>
              <a:srgbClr val="FFFFFF"/>
            </a:solidFill>
            <a:prstDash val="solid"/>
          </a:ln>
        </p:spPr>
      </p:sp>
      <p:sp>
        <p:nvSpPr>
          <p:cNvPr id="66" name="mini card real 5"/>
          <p:cNvSpPr/>
          <p:nvPr/>
        </p:nvSpPr>
        <p:spPr>
          <a:xfrm>
            <a:off x="3675888" y="4590288"/>
            <a:ext cx="548640" cy="475488"/>
          </a:xfrm>
          <a:prstGeom prst="rect">
            <a:avLst/>
          </a:prstGeom>
          <a:solidFill>
            <a:srgbClr val="FFFFFF"/>
          </a:solidFill>
          <a:ln w="6350">
            <a:solidFill>
              <a:srgbClr val="898781"/>
            </a:solidFill>
            <a:prstDash val="solid"/>
          </a:ln>
        </p:spPr>
      </p:sp>
      <p:sp>
        <p:nvSpPr>
          <p:cNvPr id="67" name="mini slab real 5"/>
          <p:cNvSpPr/>
          <p:nvPr/>
        </p:nvSpPr>
        <p:spPr>
          <a:xfrm>
            <a:off x="3721608" y="4636008"/>
            <a:ext cx="457200" cy="32004"/>
          </a:xfrm>
          <a:prstGeom prst="rect">
            <a:avLst/>
          </a:prstGeom>
          <a:solidFill>
            <a:srgbClr val="52514E"/>
          </a:solidFill>
          <a:ln/>
        </p:spPr>
      </p:sp>
      <p:sp>
        <p:nvSpPr>
          <p:cNvPr id="68" name="mini real 5 0"/>
          <p:cNvSpPr/>
          <p:nvPr/>
        </p:nvSpPr>
        <p:spPr>
          <a:xfrm>
            <a:off x="3805652" y="4709160"/>
            <a:ext cx="60512" cy="60512"/>
          </a:xfrm>
          <a:prstGeom prst="ellipse">
            <a:avLst/>
          </a:prstGeom>
          <a:solidFill>
            <a:srgbClr val="EB6834"/>
          </a:solidFill>
          <a:ln w="5080">
            <a:solidFill>
              <a:srgbClr val="FFFFFF"/>
            </a:solidFill>
            <a:prstDash val="solid"/>
          </a:ln>
        </p:spPr>
      </p:sp>
      <p:sp>
        <p:nvSpPr>
          <p:cNvPr id="69" name="mini real 5 1"/>
          <p:cNvSpPr/>
          <p:nvPr/>
        </p:nvSpPr>
        <p:spPr>
          <a:xfrm>
            <a:off x="3919952" y="4709160"/>
            <a:ext cx="60512" cy="60512"/>
          </a:xfrm>
          <a:prstGeom prst="ellipse">
            <a:avLst/>
          </a:prstGeom>
          <a:solidFill>
            <a:srgbClr val="EB6834"/>
          </a:solidFill>
          <a:ln w="5080">
            <a:solidFill>
              <a:srgbClr val="FFFFFF"/>
            </a:solidFill>
            <a:prstDash val="solid"/>
          </a:ln>
        </p:spPr>
      </p:sp>
      <p:sp>
        <p:nvSpPr>
          <p:cNvPr id="70" name="mini real 5 2"/>
          <p:cNvSpPr/>
          <p:nvPr/>
        </p:nvSpPr>
        <p:spPr>
          <a:xfrm>
            <a:off x="4034252" y="4709160"/>
            <a:ext cx="60512" cy="60512"/>
          </a:xfrm>
          <a:prstGeom prst="ellipse">
            <a:avLst/>
          </a:prstGeom>
          <a:solidFill>
            <a:srgbClr val="EB6834"/>
          </a:solidFill>
          <a:ln w="5080">
            <a:solidFill>
              <a:srgbClr val="FFFFFF"/>
            </a:solidFill>
            <a:prstDash val="solid"/>
          </a:ln>
        </p:spPr>
      </p:sp>
      <p:sp>
        <p:nvSpPr>
          <p:cNvPr id="71" name="empty slot 6"/>
          <p:cNvSpPr/>
          <p:nvPr/>
        </p:nvSpPr>
        <p:spPr>
          <a:xfrm>
            <a:off x="4242816" y="4590288"/>
            <a:ext cx="548640" cy="475488"/>
          </a:xfrm>
          <a:prstGeom prst="rect">
            <a:avLst/>
          </a:prstGeom>
          <a:ln w="6350">
            <a:solidFill>
              <a:srgbClr val="898781"/>
            </a:solidFill>
            <a:prstDash val="dash"/>
          </a:ln>
        </p:spPr>
      </p:sp>
      <p:sp>
        <p:nvSpPr>
          <p:cNvPr id="72" name="empty slot 7"/>
          <p:cNvSpPr/>
          <p:nvPr/>
        </p:nvSpPr>
        <p:spPr>
          <a:xfrm>
            <a:off x="4809744" y="4590288"/>
            <a:ext cx="548640" cy="475488"/>
          </a:xfrm>
          <a:prstGeom prst="rect">
            <a:avLst/>
          </a:prstGeom>
          <a:ln w="6350">
            <a:solidFill>
              <a:srgbClr val="898781"/>
            </a:solidFill>
            <a:prstDash val="dash"/>
          </a:ln>
        </p:spPr>
      </p:sp>
      <p:sp>
        <p:nvSpPr>
          <p:cNvPr id="73" name="empty slot 8"/>
          <p:cNvSpPr/>
          <p:nvPr/>
        </p:nvSpPr>
        <p:spPr>
          <a:xfrm>
            <a:off x="5376672" y="4590288"/>
            <a:ext cx="548640" cy="475488"/>
          </a:xfrm>
          <a:prstGeom prst="rect">
            <a:avLst/>
          </a:prstGeom>
          <a:ln w="6350">
            <a:solidFill>
              <a:srgbClr val="898781"/>
            </a:solidFill>
            <a:prstDash val="dash"/>
          </a:ln>
        </p:spPr>
      </p:sp>
      <p:sp>
        <p:nvSpPr>
          <p:cNvPr id="74" name="card generated"/>
          <p:cNvSpPr/>
          <p:nvPr/>
        </p:nvSpPr>
        <p:spPr>
          <a:xfrm>
            <a:off x="6245352" y="4069080"/>
            <a:ext cx="5330952" cy="1920240"/>
          </a:xfrm>
          <a:prstGeom prst="roundRect">
            <a:avLst>
              <a:gd name="adj" fmla="val 3333"/>
            </a:avLst>
          </a:prstGeom>
          <a:solidFill>
            <a:srgbClr val="FFFFFF"/>
          </a:solidFill>
          <a:ln w="19050">
            <a:solidFill>
              <a:schemeClr val="accent1"/>
            </a:solidFill>
            <a:prstDash val="solid"/>
          </a:ln>
        </p:spPr>
      </p:sp>
      <p:sp>
        <p:nvSpPr>
          <p:cNvPr id="75" name="card head generated"/>
          <p:cNvSpPr txBox="1"/>
          <p:nvPr/>
        </p:nvSpPr>
        <p:spPr>
          <a:xfrm>
            <a:off x="6473952"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CrossMEP generates them</a:t>
            </a:r>
            <a:endParaRPr lang="en-US" sz="1500" dirty="0"/>
          </a:p>
        </p:txBody>
      </p:sp>
      <p:sp>
        <p:nvSpPr>
          <p:cNvPr id="76" name="card tag generated"/>
          <p:cNvSpPr/>
          <p:nvPr/>
        </p:nvSpPr>
        <p:spPr>
          <a:xfrm>
            <a:off x="9884664" y="4206240"/>
            <a:ext cx="1463040" cy="274320"/>
          </a:xfrm>
          <a:prstGeom prst="roundRect">
            <a:avLst>
              <a:gd name="adj" fmla="val 50000"/>
            </a:avLst>
          </a:prstGeom>
          <a:solidFill>
            <a:schemeClr val="accent1"/>
          </a:solidFill>
          <a:ln/>
        </p:spPr>
      </p:sp>
      <p:sp>
        <p:nvSpPr>
          <p:cNvPr id="77" name="card tag text generated"/>
          <p:cNvSpPr txBox="1"/>
          <p:nvPr/>
        </p:nvSpPr>
        <p:spPr>
          <a:xfrm>
            <a:off x="9884664"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unlimited, diverse</a:t>
            </a:r>
            <a:endParaRPr lang="en-US" sz="1050" dirty="0"/>
          </a:p>
        </p:txBody>
      </p:sp>
      <p:sp>
        <p:nvSpPr>
          <p:cNvPr id="78" name="card body generated"/>
          <p:cNvSpPr txBox="1"/>
          <p:nvPr/>
        </p:nvSpPr>
        <p:spPr>
          <a:xfrm>
            <a:off x="6473952" y="5257800"/>
            <a:ext cx="4873752" cy="640080"/>
          </a:xfrm>
          <a:prstGeom prst="rect">
            <a:avLst/>
          </a:prstGeom>
          <a:noFill/>
          <a:ln/>
        </p:spPr>
        <p:txBody>
          <a:bodyPr wrap="square" lIns="0" tIns="0" rIns="0" bIns="0" rtlCol="0" anchor="t"/>
          <a:lstStyle/>
          <a:p>
            <a:pPr indent="0" marL="0">
              <a:buNone/>
            </a:pPr>
            <a:r>
              <a:rPr lang="en-US" sz="1150" dirty="0">
                <a:solidFill>
                  <a:schemeClr val="tx1"/>
                </a:solidFill>
              </a:rPr>
              <a:t>As many contexts as a method needs: every tier from one to eight elements, kinds and surfaces varied, a new seed a new set. And one fixed benchmark, never trained on, to judge every method on.</a:t>
            </a:r>
            <a:endParaRPr lang="en-US" sz="1150" dirty="0"/>
          </a:p>
        </p:txBody>
      </p:sp>
      <p:sp>
        <p:nvSpPr>
          <p:cNvPr id="79" name="mini card gen 1"/>
          <p:cNvSpPr/>
          <p:nvPr/>
        </p:nvSpPr>
        <p:spPr>
          <a:xfrm>
            <a:off x="6473952" y="4590288"/>
            <a:ext cx="603504" cy="475488"/>
          </a:xfrm>
          <a:prstGeom prst="rect">
            <a:avLst/>
          </a:prstGeom>
          <a:solidFill>
            <a:srgbClr val="FFFFFF"/>
          </a:solidFill>
          <a:ln w="6350">
            <a:solidFill>
              <a:srgbClr val="898781"/>
            </a:solidFill>
            <a:prstDash val="solid"/>
          </a:ln>
        </p:spPr>
      </p:sp>
      <p:sp>
        <p:nvSpPr>
          <p:cNvPr id="80" name="mini slab gen 1"/>
          <p:cNvSpPr/>
          <p:nvPr/>
        </p:nvSpPr>
        <p:spPr>
          <a:xfrm>
            <a:off x="6519672" y="4636008"/>
            <a:ext cx="512064" cy="32004"/>
          </a:xfrm>
          <a:prstGeom prst="rect">
            <a:avLst/>
          </a:prstGeom>
          <a:solidFill>
            <a:srgbClr val="52514E"/>
          </a:solidFill>
          <a:ln/>
        </p:spPr>
      </p:sp>
      <p:sp>
        <p:nvSpPr>
          <p:cNvPr id="81" name="mini gen 1 0"/>
          <p:cNvSpPr/>
          <p:nvPr/>
        </p:nvSpPr>
        <p:spPr>
          <a:xfrm>
            <a:off x="6707124" y="4700016"/>
            <a:ext cx="137160" cy="100584"/>
          </a:xfrm>
          <a:prstGeom prst="rect">
            <a:avLst/>
          </a:prstGeom>
          <a:solidFill>
            <a:schemeClr val="accent1"/>
          </a:solidFill>
          <a:ln w="5080">
            <a:solidFill>
              <a:srgbClr val="FFFFFF"/>
            </a:solidFill>
            <a:prstDash val="solid"/>
          </a:ln>
        </p:spPr>
      </p:sp>
      <p:sp>
        <p:nvSpPr>
          <p:cNvPr id="82" name="mini card gen 2"/>
          <p:cNvSpPr/>
          <p:nvPr/>
        </p:nvSpPr>
        <p:spPr>
          <a:xfrm>
            <a:off x="7095744" y="4590288"/>
            <a:ext cx="603504" cy="475488"/>
          </a:xfrm>
          <a:prstGeom prst="rect">
            <a:avLst/>
          </a:prstGeom>
          <a:solidFill>
            <a:srgbClr val="FFFFFF"/>
          </a:solidFill>
          <a:ln w="6350">
            <a:solidFill>
              <a:srgbClr val="898781"/>
            </a:solidFill>
            <a:prstDash val="solid"/>
          </a:ln>
        </p:spPr>
      </p:sp>
      <p:sp>
        <p:nvSpPr>
          <p:cNvPr id="83" name="mini slab gen 2"/>
          <p:cNvSpPr/>
          <p:nvPr/>
        </p:nvSpPr>
        <p:spPr>
          <a:xfrm>
            <a:off x="7141464" y="4636008"/>
            <a:ext cx="512064" cy="32004"/>
          </a:xfrm>
          <a:prstGeom prst="rect">
            <a:avLst/>
          </a:prstGeom>
          <a:solidFill>
            <a:srgbClr val="52514E"/>
          </a:solidFill>
          <a:ln/>
        </p:spPr>
      </p:sp>
      <p:sp>
        <p:nvSpPr>
          <p:cNvPr id="84" name="mini gen 2 0"/>
          <p:cNvSpPr/>
          <p:nvPr/>
        </p:nvSpPr>
        <p:spPr>
          <a:xfrm>
            <a:off x="7271004" y="4709160"/>
            <a:ext cx="82296" cy="82296"/>
          </a:xfrm>
          <a:prstGeom prst="ellipse">
            <a:avLst/>
          </a:prstGeom>
          <a:solidFill>
            <a:schemeClr val="accent1"/>
          </a:solidFill>
          <a:ln w="5080">
            <a:solidFill>
              <a:srgbClr val="FFFFFF"/>
            </a:solidFill>
            <a:prstDash val="solid"/>
          </a:ln>
        </p:spPr>
      </p:sp>
      <p:sp>
        <p:nvSpPr>
          <p:cNvPr id="85" name="mini gen 2 1"/>
          <p:cNvSpPr/>
          <p:nvPr/>
        </p:nvSpPr>
        <p:spPr>
          <a:xfrm>
            <a:off x="7427976" y="4727448"/>
            <a:ext cx="109728" cy="45720"/>
          </a:xfrm>
          <a:prstGeom prst="rect">
            <a:avLst/>
          </a:prstGeom>
          <a:solidFill>
            <a:schemeClr val="accent1"/>
          </a:solidFill>
          <a:ln w="5080">
            <a:solidFill>
              <a:srgbClr val="FFFFFF"/>
            </a:solidFill>
            <a:prstDash val="solid"/>
          </a:ln>
        </p:spPr>
      </p:sp>
      <p:sp>
        <p:nvSpPr>
          <p:cNvPr id="86" name="mini card gen 3"/>
          <p:cNvSpPr/>
          <p:nvPr/>
        </p:nvSpPr>
        <p:spPr>
          <a:xfrm>
            <a:off x="7717536" y="4590288"/>
            <a:ext cx="603504" cy="475488"/>
          </a:xfrm>
          <a:prstGeom prst="rect">
            <a:avLst/>
          </a:prstGeom>
          <a:solidFill>
            <a:srgbClr val="FFFFFF"/>
          </a:solidFill>
          <a:ln w="6350">
            <a:solidFill>
              <a:srgbClr val="898781"/>
            </a:solidFill>
            <a:prstDash val="solid"/>
          </a:ln>
        </p:spPr>
      </p:sp>
      <p:sp>
        <p:nvSpPr>
          <p:cNvPr id="87" name="mini wall gen 3"/>
          <p:cNvSpPr/>
          <p:nvPr/>
        </p:nvSpPr>
        <p:spPr>
          <a:xfrm>
            <a:off x="7763256" y="4636008"/>
            <a:ext cx="32004" cy="384048"/>
          </a:xfrm>
          <a:prstGeom prst="rect">
            <a:avLst/>
          </a:prstGeom>
          <a:solidFill>
            <a:srgbClr val="52514E"/>
          </a:solidFill>
          <a:ln/>
        </p:spPr>
      </p:sp>
      <p:sp>
        <p:nvSpPr>
          <p:cNvPr id="88" name="mini gen 3 0"/>
          <p:cNvSpPr/>
          <p:nvPr/>
        </p:nvSpPr>
        <p:spPr>
          <a:xfrm>
            <a:off x="7845552" y="4698785"/>
            <a:ext cx="66470" cy="66470"/>
          </a:xfrm>
          <a:prstGeom prst="ellipse">
            <a:avLst/>
          </a:prstGeom>
          <a:solidFill>
            <a:schemeClr val="accent1"/>
          </a:solidFill>
          <a:ln w="5080">
            <a:solidFill>
              <a:srgbClr val="FFFFFF"/>
            </a:solidFill>
            <a:prstDash val="solid"/>
          </a:ln>
        </p:spPr>
      </p:sp>
      <p:sp>
        <p:nvSpPr>
          <p:cNvPr id="89" name="mini gen 3 1"/>
          <p:cNvSpPr/>
          <p:nvPr/>
        </p:nvSpPr>
        <p:spPr>
          <a:xfrm>
            <a:off x="7845552" y="4794797"/>
            <a:ext cx="66470" cy="66470"/>
          </a:xfrm>
          <a:prstGeom prst="ellipse">
            <a:avLst/>
          </a:prstGeom>
          <a:solidFill>
            <a:schemeClr val="accent1"/>
          </a:solidFill>
          <a:ln w="5080">
            <a:solidFill>
              <a:srgbClr val="FFFFFF"/>
            </a:solidFill>
            <a:prstDash val="solid"/>
          </a:ln>
        </p:spPr>
      </p:sp>
      <p:sp>
        <p:nvSpPr>
          <p:cNvPr id="90" name="mini gen 3 2"/>
          <p:cNvSpPr/>
          <p:nvPr/>
        </p:nvSpPr>
        <p:spPr>
          <a:xfrm>
            <a:off x="7845552" y="4890809"/>
            <a:ext cx="66470" cy="66470"/>
          </a:xfrm>
          <a:prstGeom prst="ellipse">
            <a:avLst/>
          </a:prstGeom>
          <a:solidFill>
            <a:schemeClr val="accent1"/>
          </a:solidFill>
          <a:ln w="5080">
            <a:solidFill>
              <a:srgbClr val="FFFFFF"/>
            </a:solidFill>
            <a:prstDash val="solid"/>
          </a:ln>
        </p:spPr>
      </p:sp>
      <p:sp>
        <p:nvSpPr>
          <p:cNvPr id="91" name="mini card gen 4"/>
          <p:cNvSpPr/>
          <p:nvPr/>
        </p:nvSpPr>
        <p:spPr>
          <a:xfrm>
            <a:off x="8339328" y="4590288"/>
            <a:ext cx="603504" cy="475488"/>
          </a:xfrm>
          <a:prstGeom prst="rect">
            <a:avLst/>
          </a:prstGeom>
          <a:solidFill>
            <a:srgbClr val="FFFFFF"/>
          </a:solidFill>
          <a:ln w="6350">
            <a:solidFill>
              <a:srgbClr val="898781"/>
            </a:solidFill>
            <a:prstDash val="solid"/>
          </a:ln>
        </p:spPr>
      </p:sp>
      <p:sp>
        <p:nvSpPr>
          <p:cNvPr id="92" name="mini slab gen 4"/>
          <p:cNvSpPr/>
          <p:nvPr/>
        </p:nvSpPr>
        <p:spPr>
          <a:xfrm>
            <a:off x="8385048" y="4636008"/>
            <a:ext cx="512064" cy="32004"/>
          </a:xfrm>
          <a:prstGeom prst="rect">
            <a:avLst/>
          </a:prstGeom>
          <a:solidFill>
            <a:srgbClr val="52514E"/>
          </a:solidFill>
          <a:ln/>
        </p:spPr>
      </p:sp>
      <p:sp>
        <p:nvSpPr>
          <p:cNvPr id="93" name="mini gen 4 0"/>
          <p:cNvSpPr/>
          <p:nvPr/>
        </p:nvSpPr>
        <p:spPr>
          <a:xfrm>
            <a:off x="8442279" y="4700016"/>
            <a:ext cx="90364" cy="66267"/>
          </a:xfrm>
          <a:prstGeom prst="rect">
            <a:avLst/>
          </a:prstGeom>
          <a:solidFill>
            <a:schemeClr val="accent1"/>
          </a:solidFill>
          <a:ln w="5080">
            <a:solidFill>
              <a:srgbClr val="FFFFFF"/>
            </a:solidFill>
            <a:prstDash val="solid"/>
          </a:ln>
        </p:spPr>
      </p:sp>
      <p:sp>
        <p:nvSpPr>
          <p:cNvPr id="94" name="mini gen 4 1"/>
          <p:cNvSpPr/>
          <p:nvPr/>
        </p:nvSpPr>
        <p:spPr>
          <a:xfrm>
            <a:off x="8562764" y="4709160"/>
            <a:ext cx="54219" cy="54219"/>
          </a:xfrm>
          <a:prstGeom prst="ellipse">
            <a:avLst/>
          </a:prstGeom>
          <a:solidFill>
            <a:schemeClr val="accent1"/>
          </a:solidFill>
          <a:ln w="5080">
            <a:solidFill>
              <a:srgbClr val="FFFFFF"/>
            </a:solidFill>
            <a:prstDash val="solid"/>
          </a:ln>
        </p:spPr>
      </p:sp>
      <p:sp>
        <p:nvSpPr>
          <p:cNvPr id="95" name="mini gen 4 2"/>
          <p:cNvSpPr/>
          <p:nvPr/>
        </p:nvSpPr>
        <p:spPr>
          <a:xfrm>
            <a:off x="8656141" y="4727448"/>
            <a:ext cx="72291" cy="30121"/>
          </a:xfrm>
          <a:prstGeom prst="rect">
            <a:avLst/>
          </a:prstGeom>
          <a:solidFill>
            <a:schemeClr val="accent1"/>
          </a:solidFill>
          <a:ln w="5080">
            <a:solidFill>
              <a:srgbClr val="FFFFFF"/>
            </a:solidFill>
            <a:prstDash val="solid"/>
          </a:ln>
        </p:spPr>
      </p:sp>
      <p:sp>
        <p:nvSpPr>
          <p:cNvPr id="96" name="mini gen 4 3"/>
          <p:cNvSpPr/>
          <p:nvPr/>
        </p:nvSpPr>
        <p:spPr>
          <a:xfrm>
            <a:off x="8767590" y="4709160"/>
            <a:ext cx="54219" cy="54219"/>
          </a:xfrm>
          <a:prstGeom prst="ellipse">
            <a:avLst/>
          </a:prstGeom>
          <a:solidFill>
            <a:schemeClr val="accent1"/>
          </a:solidFill>
          <a:ln w="5080">
            <a:solidFill>
              <a:srgbClr val="FFFFFF"/>
            </a:solidFill>
            <a:prstDash val="solid"/>
          </a:ln>
        </p:spPr>
      </p:sp>
      <p:sp>
        <p:nvSpPr>
          <p:cNvPr id="97" name="mini card gen 5"/>
          <p:cNvSpPr/>
          <p:nvPr/>
        </p:nvSpPr>
        <p:spPr>
          <a:xfrm>
            <a:off x="8961120" y="4590288"/>
            <a:ext cx="603504" cy="475488"/>
          </a:xfrm>
          <a:prstGeom prst="rect">
            <a:avLst/>
          </a:prstGeom>
          <a:solidFill>
            <a:srgbClr val="FFFFFF"/>
          </a:solidFill>
          <a:ln w="6350">
            <a:solidFill>
              <a:srgbClr val="898781"/>
            </a:solidFill>
            <a:prstDash val="solid"/>
          </a:ln>
        </p:spPr>
      </p:sp>
      <p:sp>
        <p:nvSpPr>
          <p:cNvPr id="98" name="mini slab gen 5"/>
          <p:cNvSpPr/>
          <p:nvPr/>
        </p:nvSpPr>
        <p:spPr>
          <a:xfrm>
            <a:off x="9006840" y="4636008"/>
            <a:ext cx="512064" cy="32004"/>
          </a:xfrm>
          <a:prstGeom prst="rect">
            <a:avLst/>
          </a:prstGeom>
          <a:solidFill>
            <a:srgbClr val="52514E"/>
          </a:solidFill>
          <a:ln/>
        </p:spPr>
      </p:sp>
      <p:sp>
        <p:nvSpPr>
          <p:cNvPr id="99" name="mini gen 5 0"/>
          <p:cNvSpPr/>
          <p:nvPr/>
        </p:nvSpPr>
        <p:spPr>
          <a:xfrm>
            <a:off x="9069593" y="4709160"/>
            <a:ext cx="45182" cy="45182"/>
          </a:xfrm>
          <a:prstGeom prst="ellipse">
            <a:avLst/>
          </a:prstGeom>
          <a:solidFill>
            <a:schemeClr val="accent1"/>
          </a:solidFill>
          <a:ln w="5080">
            <a:solidFill>
              <a:srgbClr val="FFFFFF"/>
            </a:solidFill>
            <a:prstDash val="solid"/>
          </a:ln>
        </p:spPr>
      </p:sp>
      <p:sp>
        <p:nvSpPr>
          <p:cNvPr id="100" name="mini gen 5 1"/>
          <p:cNvSpPr/>
          <p:nvPr/>
        </p:nvSpPr>
        <p:spPr>
          <a:xfrm>
            <a:off x="9147407" y="4727448"/>
            <a:ext cx="60243" cy="25101"/>
          </a:xfrm>
          <a:prstGeom prst="rect">
            <a:avLst/>
          </a:prstGeom>
          <a:solidFill>
            <a:schemeClr val="accent1"/>
          </a:solidFill>
          <a:ln w="5080">
            <a:solidFill>
              <a:srgbClr val="FFFFFF"/>
            </a:solidFill>
            <a:prstDash val="solid"/>
          </a:ln>
        </p:spPr>
      </p:sp>
      <p:sp>
        <p:nvSpPr>
          <p:cNvPr id="101" name="mini gen 5 2"/>
          <p:cNvSpPr/>
          <p:nvPr/>
        </p:nvSpPr>
        <p:spPr>
          <a:xfrm>
            <a:off x="9240281" y="4709160"/>
            <a:ext cx="45182" cy="45182"/>
          </a:xfrm>
          <a:prstGeom prst="ellipse">
            <a:avLst/>
          </a:prstGeom>
          <a:solidFill>
            <a:schemeClr val="accent1"/>
          </a:solidFill>
          <a:ln w="5080">
            <a:solidFill>
              <a:srgbClr val="FFFFFF"/>
            </a:solidFill>
            <a:prstDash val="solid"/>
          </a:ln>
        </p:spPr>
      </p:sp>
      <p:sp>
        <p:nvSpPr>
          <p:cNvPr id="102" name="mini gen 5 3"/>
          <p:cNvSpPr/>
          <p:nvPr/>
        </p:nvSpPr>
        <p:spPr>
          <a:xfrm>
            <a:off x="9325625" y="4709160"/>
            <a:ext cx="45182" cy="45182"/>
          </a:xfrm>
          <a:prstGeom prst="ellipse">
            <a:avLst/>
          </a:prstGeom>
          <a:solidFill>
            <a:schemeClr val="accent1"/>
          </a:solidFill>
          <a:ln w="5080">
            <a:solidFill>
              <a:srgbClr val="FFFFFF"/>
            </a:solidFill>
            <a:prstDash val="solid"/>
          </a:ln>
        </p:spPr>
      </p:sp>
      <p:sp>
        <p:nvSpPr>
          <p:cNvPr id="103" name="mini gen 5 4"/>
          <p:cNvSpPr/>
          <p:nvPr/>
        </p:nvSpPr>
        <p:spPr>
          <a:xfrm>
            <a:off x="9403439" y="4727448"/>
            <a:ext cx="60243" cy="25101"/>
          </a:xfrm>
          <a:prstGeom prst="rect">
            <a:avLst/>
          </a:prstGeom>
          <a:solidFill>
            <a:schemeClr val="accent1"/>
          </a:solidFill>
          <a:ln w="5080">
            <a:solidFill>
              <a:srgbClr val="FFFFFF"/>
            </a:solidFill>
            <a:prstDash val="solid"/>
          </a:ln>
        </p:spPr>
      </p:sp>
      <p:sp>
        <p:nvSpPr>
          <p:cNvPr id="104" name="mini card gen 6"/>
          <p:cNvSpPr/>
          <p:nvPr/>
        </p:nvSpPr>
        <p:spPr>
          <a:xfrm>
            <a:off x="9582912" y="4590288"/>
            <a:ext cx="603504" cy="475488"/>
          </a:xfrm>
          <a:prstGeom prst="rect">
            <a:avLst/>
          </a:prstGeom>
          <a:solidFill>
            <a:srgbClr val="FFFFFF"/>
          </a:solidFill>
          <a:ln w="6350">
            <a:solidFill>
              <a:srgbClr val="898781"/>
            </a:solidFill>
            <a:prstDash val="solid"/>
          </a:ln>
        </p:spPr>
      </p:sp>
      <p:sp>
        <p:nvSpPr>
          <p:cNvPr id="105" name="mini slab gen 6"/>
          <p:cNvSpPr/>
          <p:nvPr/>
        </p:nvSpPr>
        <p:spPr>
          <a:xfrm>
            <a:off x="9628632" y="4636008"/>
            <a:ext cx="512064" cy="32004"/>
          </a:xfrm>
          <a:prstGeom prst="rect">
            <a:avLst/>
          </a:prstGeom>
          <a:solidFill>
            <a:srgbClr val="52514E"/>
          </a:solidFill>
          <a:ln/>
        </p:spPr>
      </p:sp>
      <p:sp>
        <p:nvSpPr>
          <p:cNvPr id="106" name="mini gen 6 0"/>
          <p:cNvSpPr/>
          <p:nvPr/>
        </p:nvSpPr>
        <p:spPr>
          <a:xfrm>
            <a:off x="9682420" y="4709160"/>
            <a:ext cx="38728" cy="38728"/>
          </a:xfrm>
          <a:prstGeom prst="ellipse">
            <a:avLst/>
          </a:prstGeom>
          <a:solidFill>
            <a:schemeClr val="accent1"/>
          </a:solidFill>
          <a:ln w="5080">
            <a:solidFill>
              <a:srgbClr val="FFFFFF"/>
            </a:solidFill>
            <a:prstDash val="solid"/>
          </a:ln>
        </p:spPr>
      </p:sp>
      <p:sp>
        <p:nvSpPr>
          <p:cNvPr id="107" name="mini gen 6 1"/>
          <p:cNvSpPr/>
          <p:nvPr/>
        </p:nvSpPr>
        <p:spPr>
          <a:xfrm>
            <a:off x="9755572" y="4709160"/>
            <a:ext cx="38728" cy="38728"/>
          </a:xfrm>
          <a:prstGeom prst="ellipse">
            <a:avLst/>
          </a:prstGeom>
          <a:solidFill>
            <a:schemeClr val="accent1"/>
          </a:solidFill>
          <a:ln w="5080">
            <a:solidFill>
              <a:srgbClr val="FFFFFF"/>
            </a:solidFill>
            <a:prstDash val="solid"/>
          </a:ln>
        </p:spPr>
      </p:sp>
      <p:sp>
        <p:nvSpPr>
          <p:cNvPr id="108" name="mini gen 6 2"/>
          <p:cNvSpPr/>
          <p:nvPr/>
        </p:nvSpPr>
        <p:spPr>
          <a:xfrm>
            <a:off x="9828724" y="4709160"/>
            <a:ext cx="38728" cy="38728"/>
          </a:xfrm>
          <a:prstGeom prst="ellipse">
            <a:avLst/>
          </a:prstGeom>
          <a:solidFill>
            <a:schemeClr val="accent1"/>
          </a:solidFill>
          <a:ln w="5080">
            <a:solidFill>
              <a:srgbClr val="FFFFFF"/>
            </a:solidFill>
            <a:prstDash val="solid"/>
          </a:ln>
        </p:spPr>
      </p:sp>
      <p:sp>
        <p:nvSpPr>
          <p:cNvPr id="109" name="mini gen 6 3"/>
          <p:cNvSpPr/>
          <p:nvPr/>
        </p:nvSpPr>
        <p:spPr>
          <a:xfrm>
            <a:off x="9901876" y="4709160"/>
            <a:ext cx="38728" cy="38728"/>
          </a:xfrm>
          <a:prstGeom prst="ellipse">
            <a:avLst/>
          </a:prstGeom>
          <a:solidFill>
            <a:schemeClr val="accent1"/>
          </a:solidFill>
          <a:ln w="5080">
            <a:solidFill>
              <a:srgbClr val="FFFFFF"/>
            </a:solidFill>
            <a:prstDash val="solid"/>
          </a:ln>
        </p:spPr>
      </p:sp>
      <p:sp>
        <p:nvSpPr>
          <p:cNvPr id="110" name="mini gen 6 4"/>
          <p:cNvSpPr/>
          <p:nvPr/>
        </p:nvSpPr>
        <p:spPr>
          <a:xfrm>
            <a:off x="9975028" y="4709160"/>
            <a:ext cx="38728" cy="38728"/>
          </a:xfrm>
          <a:prstGeom prst="ellipse">
            <a:avLst/>
          </a:prstGeom>
          <a:solidFill>
            <a:schemeClr val="accent1"/>
          </a:solidFill>
          <a:ln w="5080">
            <a:solidFill>
              <a:srgbClr val="FFFFFF"/>
            </a:solidFill>
            <a:prstDash val="solid"/>
          </a:ln>
        </p:spPr>
      </p:sp>
      <p:sp>
        <p:nvSpPr>
          <p:cNvPr id="111" name="mini gen 6 5"/>
          <p:cNvSpPr/>
          <p:nvPr/>
        </p:nvSpPr>
        <p:spPr>
          <a:xfrm>
            <a:off x="10048180" y="4709160"/>
            <a:ext cx="38728" cy="38728"/>
          </a:xfrm>
          <a:prstGeom prst="ellipse">
            <a:avLst/>
          </a:prstGeom>
          <a:solidFill>
            <a:schemeClr val="accent1"/>
          </a:solidFill>
          <a:ln w="5080">
            <a:solidFill>
              <a:srgbClr val="FFFFFF"/>
            </a:solidFill>
            <a:prstDash val="solid"/>
          </a:ln>
        </p:spPr>
      </p:sp>
      <p:sp>
        <p:nvSpPr>
          <p:cNvPr id="112" name="mini card gen 7"/>
          <p:cNvSpPr/>
          <p:nvPr/>
        </p:nvSpPr>
        <p:spPr>
          <a:xfrm>
            <a:off x="10204704" y="4590288"/>
            <a:ext cx="603504" cy="475488"/>
          </a:xfrm>
          <a:prstGeom prst="rect">
            <a:avLst/>
          </a:prstGeom>
          <a:solidFill>
            <a:srgbClr val="FFFFFF"/>
          </a:solidFill>
          <a:ln w="6350">
            <a:solidFill>
              <a:srgbClr val="898781"/>
            </a:solidFill>
            <a:prstDash val="solid"/>
          </a:ln>
        </p:spPr>
      </p:sp>
      <p:sp>
        <p:nvSpPr>
          <p:cNvPr id="113" name="mini wall gen 7"/>
          <p:cNvSpPr/>
          <p:nvPr/>
        </p:nvSpPr>
        <p:spPr>
          <a:xfrm>
            <a:off x="10250424" y="4636008"/>
            <a:ext cx="32004" cy="384048"/>
          </a:xfrm>
          <a:prstGeom prst="rect">
            <a:avLst/>
          </a:prstGeom>
          <a:solidFill>
            <a:srgbClr val="52514E"/>
          </a:solidFill>
          <a:ln/>
        </p:spPr>
      </p:sp>
      <p:sp>
        <p:nvSpPr>
          <p:cNvPr id="114" name="mini gen 7 0"/>
          <p:cNvSpPr/>
          <p:nvPr/>
        </p:nvSpPr>
        <p:spPr>
          <a:xfrm>
            <a:off x="10323576" y="4665550"/>
            <a:ext cx="55392" cy="36928"/>
          </a:xfrm>
          <a:prstGeom prst="rect">
            <a:avLst/>
          </a:prstGeom>
          <a:solidFill>
            <a:schemeClr val="accent1"/>
          </a:solidFill>
          <a:ln w="5080">
            <a:solidFill>
              <a:srgbClr val="FFFFFF"/>
            </a:solidFill>
            <a:prstDash val="solid"/>
          </a:ln>
        </p:spPr>
      </p:sp>
      <p:sp>
        <p:nvSpPr>
          <p:cNvPr id="115" name="mini gen 7 1"/>
          <p:cNvSpPr/>
          <p:nvPr/>
        </p:nvSpPr>
        <p:spPr>
          <a:xfrm>
            <a:off x="10332720" y="4715403"/>
            <a:ext cx="33235" cy="33235"/>
          </a:xfrm>
          <a:prstGeom prst="ellipse">
            <a:avLst/>
          </a:prstGeom>
          <a:solidFill>
            <a:schemeClr val="accent1"/>
          </a:solidFill>
          <a:ln w="5080">
            <a:solidFill>
              <a:srgbClr val="FFFFFF"/>
            </a:solidFill>
            <a:prstDash val="solid"/>
          </a:ln>
        </p:spPr>
      </p:sp>
      <p:sp>
        <p:nvSpPr>
          <p:cNvPr id="116" name="mini gen 7 2"/>
          <p:cNvSpPr/>
          <p:nvPr/>
        </p:nvSpPr>
        <p:spPr>
          <a:xfrm>
            <a:off x="10323576" y="4770794"/>
            <a:ext cx="44313" cy="18464"/>
          </a:xfrm>
          <a:prstGeom prst="rect">
            <a:avLst/>
          </a:prstGeom>
          <a:solidFill>
            <a:schemeClr val="accent1"/>
          </a:solidFill>
          <a:ln w="5080">
            <a:solidFill>
              <a:srgbClr val="FFFFFF"/>
            </a:solidFill>
            <a:prstDash val="solid"/>
          </a:ln>
        </p:spPr>
      </p:sp>
      <p:sp>
        <p:nvSpPr>
          <p:cNvPr id="117" name="mini gen 7 3"/>
          <p:cNvSpPr/>
          <p:nvPr/>
        </p:nvSpPr>
        <p:spPr>
          <a:xfrm>
            <a:off x="10332720" y="4811415"/>
            <a:ext cx="33235" cy="33235"/>
          </a:xfrm>
          <a:prstGeom prst="ellipse">
            <a:avLst/>
          </a:prstGeom>
          <a:solidFill>
            <a:schemeClr val="accent1"/>
          </a:solidFill>
          <a:ln w="5080">
            <a:solidFill>
              <a:srgbClr val="FFFFFF"/>
            </a:solidFill>
            <a:prstDash val="solid"/>
          </a:ln>
        </p:spPr>
      </p:sp>
      <p:sp>
        <p:nvSpPr>
          <p:cNvPr id="118" name="mini gen 7 4"/>
          <p:cNvSpPr/>
          <p:nvPr/>
        </p:nvSpPr>
        <p:spPr>
          <a:xfrm>
            <a:off x="10323576" y="4857574"/>
            <a:ext cx="55392" cy="36928"/>
          </a:xfrm>
          <a:prstGeom prst="rect">
            <a:avLst/>
          </a:prstGeom>
          <a:solidFill>
            <a:schemeClr val="accent1"/>
          </a:solidFill>
          <a:ln w="5080">
            <a:solidFill>
              <a:srgbClr val="FFFFFF"/>
            </a:solidFill>
            <a:prstDash val="solid"/>
          </a:ln>
        </p:spPr>
      </p:sp>
      <p:sp>
        <p:nvSpPr>
          <p:cNvPr id="119" name="mini gen 7 5"/>
          <p:cNvSpPr/>
          <p:nvPr/>
        </p:nvSpPr>
        <p:spPr>
          <a:xfrm>
            <a:off x="10332720" y="4907427"/>
            <a:ext cx="33235" cy="33235"/>
          </a:xfrm>
          <a:prstGeom prst="ellipse">
            <a:avLst/>
          </a:prstGeom>
          <a:solidFill>
            <a:schemeClr val="accent1"/>
          </a:solidFill>
          <a:ln w="5080">
            <a:solidFill>
              <a:srgbClr val="FFFFFF"/>
            </a:solidFill>
            <a:prstDash val="solid"/>
          </a:ln>
        </p:spPr>
      </p:sp>
      <p:sp>
        <p:nvSpPr>
          <p:cNvPr id="120" name="mini gen 7 6"/>
          <p:cNvSpPr/>
          <p:nvPr/>
        </p:nvSpPr>
        <p:spPr>
          <a:xfrm>
            <a:off x="10323576" y="4962818"/>
            <a:ext cx="44313" cy="18464"/>
          </a:xfrm>
          <a:prstGeom prst="rect">
            <a:avLst/>
          </a:prstGeom>
          <a:solidFill>
            <a:schemeClr val="accent1"/>
          </a:solidFill>
          <a:ln w="5080">
            <a:solidFill>
              <a:srgbClr val="FFFFFF"/>
            </a:solidFill>
            <a:prstDash val="solid"/>
          </a:ln>
        </p:spPr>
      </p:sp>
      <p:sp>
        <p:nvSpPr>
          <p:cNvPr id="121" name="mini card gen 8"/>
          <p:cNvSpPr/>
          <p:nvPr/>
        </p:nvSpPr>
        <p:spPr>
          <a:xfrm>
            <a:off x="10826496" y="4590288"/>
            <a:ext cx="603504" cy="475488"/>
          </a:xfrm>
          <a:prstGeom prst="rect">
            <a:avLst/>
          </a:prstGeom>
          <a:solidFill>
            <a:srgbClr val="FFFFFF"/>
          </a:solidFill>
          <a:ln w="6350">
            <a:solidFill>
              <a:srgbClr val="898781"/>
            </a:solidFill>
            <a:prstDash val="solid"/>
          </a:ln>
        </p:spPr>
      </p:sp>
      <p:sp>
        <p:nvSpPr>
          <p:cNvPr id="122" name="mini slab gen 8"/>
          <p:cNvSpPr/>
          <p:nvPr/>
        </p:nvSpPr>
        <p:spPr>
          <a:xfrm>
            <a:off x="10872216" y="4636008"/>
            <a:ext cx="512064" cy="32004"/>
          </a:xfrm>
          <a:prstGeom prst="rect">
            <a:avLst/>
          </a:prstGeom>
          <a:solidFill>
            <a:srgbClr val="52514E"/>
          </a:solidFill>
          <a:ln/>
        </p:spPr>
      </p:sp>
      <p:sp>
        <p:nvSpPr>
          <p:cNvPr id="123" name="mini gen 8 0"/>
          <p:cNvSpPr/>
          <p:nvPr/>
        </p:nvSpPr>
        <p:spPr>
          <a:xfrm>
            <a:off x="10914051" y="4709160"/>
            <a:ext cx="30121" cy="30121"/>
          </a:xfrm>
          <a:prstGeom prst="ellipse">
            <a:avLst/>
          </a:prstGeom>
          <a:solidFill>
            <a:schemeClr val="accent1"/>
          </a:solidFill>
          <a:ln w="5080">
            <a:solidFill>
              <a:srgbClr val="FFFFFF"/>
            </a:solidFill>
            <a:prstDash val="solid"/>
          </a:ln>
        </p:spPr>
      </p:sp>
      <p:sp>
        <p:nvSpPr>
          <p:cNvPr id="124" name="mini gen 8 1"/>
          <p:cNvSpPr/>
          <p:nvPr/>
        </p:nvSpPr>
        <p:spPr>
          <a:xfrm>
            <a:off x="10965927" y="4727448"/>
            <a:ext cx="40162" cy="16734"/>
          </a:xfrm>
          <a:prstGeom prst="rect">
            <a:avLst/>
          </a:prstGeom>
          <a:solidFill>
            <a:schemeClr val="accent1"/>
          </a:solidFill>
          <a:ln w="5080">
            <a:solidFill>
              <a:srgbClr val="FFFFFF"/>
            </a:solidFill>
            <a:prstDash val="solid"/>
          </a:ln>
        </p:spPr>
      </p:sp>
      <p:sp>
        <p:nvSpPr>
          <p:cNvPr id="125" name="mini gen 8 2"/>
          <p:cNvSpPr/>
          <p:nvPr/>
        </p:nvSpPr>
        <p:spPr>
          <a:xfrm>
            <a:off x="11027843" y="4709160"/>
            <a:ext cx="30121" cy="30121"/>
          </a:xfrm>
          <a:prstGeom prst="ellipse">
            <a:avLst/>
          </a:prstGeom>
          <a:solidFill>
            <a:schemeClr val="accent1"/>
          </a:solidFill>
          <a:ln w="5080">
            <a:solidFill>
              <a:srgbClr val="FFFFFF"/>
            </a:solidFill>
            <a:prstDash val="solid"/>
          </a:ln>
        </p:spPr>
      </p:sp>
      <p:sp>
        <p:nvSpPr>
          <p:cNvPr id="126" name="mini gen 8 3"/>
          <p:cNvSpPr/>
          <p:nvPr/>
        </p:nvSpPr>
        <p:spPr>
          <a:xfrm>
            <a:off x="11084739" y="4709160"/>
            <a:ext cx="30121" cy="30121"/>
          </a:xfrm>
          <a:prstGeom prst="ellipse">
            <a:avLst/>
          </a:prstGeom>
          <a:solidFill>
            <a:schemeClr val="accent1"/>
          </a:solidFill>
          <a:ln w="5080">
            <a:solidFill>
              <a:srgbClr val="FFFFFF"/>
            </a:solidFill>
            <a:prstDash val="solid"/>
          </a:ln>
        </p:spPr>
      </p:sp>
      <p:sp>
        <p:nvSpPr>
          <p:cNvPr id="127" name="mini gen 8 4"/>
          <p:cNvSpPr/>
          <p:nvPr/>
        </p:nvSpPr>
        <p:spPr>
          <a:xfrm>
            <a:off x="11136615" y="4727448"/>
            <a:ext cx="40162" cy="16734"/>
          </a:xfrm>
          <a:prstGeom prst="rect">
            <a:avLst/>
          </a:prstGeom>
          <a:solidFill>
            <a:schemeClr val="accent1"/>
          </a:solidFill>
          <a:ln w="5080">
            <a:solidFill>
              <a:srgbClr val="FFFFFF"/>
            </a:solidFill>
            <a:prstDash val="solid"/>
          </a:ln>
        </p:spPr>
      </p:sp>
      <p:sp>
        <p:nvSpPr>
          <p:cNvPr id="128" name="mini gen 8 5"/>
          <p:cNvSpPr/>
          <p:nvPr/>
        </p:nvSpPr>
        <p:spPr>
          <a:xfrm>
            <a:off x="11198531" y="4709160"/>
            <a:ext cx="30121" cy="30121"/>
          </a:xfrm>
          <a:prstGeom prst="ellipse">
            <a:avLst/>
          </a:prstGeom>
          <a:solidFill>
            <a:schemeClr val="accent1"/>
          </a:solidFill>
          <a:ln w="5080">
            <a:solidFill>
              <a:srgbClr val="FFFFFF"/>
            </a:solidFill>
            <a:prstDash val="solid"/>
          </a:ln>
        </p:spPr>
      </p:sp>
      <p:sp>
        <p:nvSpPr>
          <p:cNvPr id="129" name="mini gen 8 6"/>
          <p:cNvSpPr/>
          <p:nvPr/>
        </p:nvSpPr>
        <p:spPr>
          <a:xfrm>
            <a:off x="11255427" y="4709160"/>
            <a:ext cx="30121" cy="30121"/>
          </a:xfrm>
          <a:prstGeom prst="ellipse">
            <a:avLst/>
          </a:prstGeom>
          <a:solidFill>
            <a:schemeClr val="accent1"/>
          </a:solidFill>
          <a:ln w="5080">
            <a:solidFill>
              <a:srgbClr val="FFFFFF"/>
            </a:solidFill>
            <a:prstDash val="solid"/>
          </a:ln>
        </p:spPr>
      </p:sp>
      <p:sp>
        <p:nvSpPr>
          <p:cNvPr id="130" name="mini gen 8 7"/>
          <p:cNvSpPr/>
          <p:nvPr/>
        </p:nvSpPr>
        <p:spPr>
          <a:xfrm>
            <a:off x="11307303" y="4727448"/>
            <a:ext cx="40162" cy="16734"/>
          </a:xfrm>
          <a:prstGeom prst="rect">
            <a:avLst/>
          </a:prstGeom>
          <a:solidFill>
            <a:schemeClr val="accent1"/>
          </a:solidFill>
          <a:ln w="5080">
            <a:solidFill>
              <a:srgbClr val="FFFFFF"/>
            </a:solidFill>
            <a:prstDash val="solid"/>
          </a:ln>
        </p:spPr>
      </p:sp>
      <p:sp>
        <p:nvSpPr>
          <p:cNvPr id="131"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ninety real designs we had came from one project and filled one corner of the design space, so CrossMEP covers all of it by construction</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ninety · one project · confidential</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3223260" y="2032711"/>
            <a:ext cx="640080" cy="329184"/>
          </a:xfrm>
          <a:prstGeom prst="rect">
            <a:avLst/>
          </a:prstGeom>
          <a:solidFill>
            <a:srgbClr val="FFFFFF"/>
          </a:solidFill>
          <a:ln w="6350">
            <a:solidFill>
              <a:srgbClr val="898781"/>
            </a:solidFill>
            <a:prstDash val="solid"/>
          </a:ln>
        </p:spPr>
      </p:sp>
      <p:sp>
        <p:nvSpPr>
          <p:cNvPr id="10" name="mini slab real 0"/>
          <p:cNvSpPr/>
          <p:nvPr/>
        </p:nvSpPr>
        <p:spPr>
          <a:xfrm>
            <a:off x="3268980" y="2078431"/>
            <a:ext cx="548640" cy="32004"/>
          </a:xfrm>
          <a:prstGeom prst="rect">
            <a:avLst/>
          </a:prstGeom>
          <a:solidFill>
            <a:srgbClr val="52514E"/>
          </a:solidFill>
          <a:ln/>
        </p:spPr>
      </p:sp>
      <p:sp>
        <p:nvSpPr>
          <p:cNvPr id="11" name="mini real 0 0"/>
          <p:cNvSpPr/>
          <p:nvPr/>
        </p:nvSpPr>
        <p:spPr>
          <a:xfrm>
            <a:off x="3312779" y="2142439"/>
            <a:ext cx="69156" cy="50715"/>
          </a:xfrm>
          <a:prstGeom prst="rect">
            <a:avLst/>
          </a:prstGeom>
          <a:solidFill>
            <a:srgbClr val="EB6834"/>
          </a:solidFill>
          <a:ln w="5080">
            <a:solidFill>
              <a:srgbClr val="FFFFFF"/>
            </a:solidFill>
            <a:prstDash val="solid"/>
          </a:ln>
        </p:spPr>
      </p:sp>
      <p:sp>
        <p:nvSpPr>
          <p:cNvPr id="12" name="mini real 0 1"/>
          <p:cNvSpPr/>
          <p:nvPr/>
        </p:nvSpPr>
        <p:spPr>
          <a:xfrm>
            <a:off x="3404987" y="2151583"/>
            <a:ext cx="41494" cy="41494"/>
          </a:xfrm>
          <a:prstGeom prst="ellipse">
            <a:avLst/>
          </a:prstGeom>
          <a:solidFill>
            <a:srgbClr val="EB6834"/>
          </a:solidFill>
          <a:ln w="5080">
            <a:solidFill>
              <a:srgbClr val="FFFFFF"/>
            </a:solidFill>
            <a:prstDash val="solid"/>
          </a:ln>
        </p:spPr>
      </p:sp>
      <p:sp>
        <p:nvSpPr>
          <p:cNvPr id="13" name="mini real 0 2"/>
          <p:cNvSpPr/>
          <p:nvPr/>
        </p:nvSpPr>
        <p:spPr>
          <a:xfrm>
            <a:off x="3483365" y="2151583"/>
            <a:ext cx="41494" cy="41494"/>
          </a:xfrm>
          <a:prstGeom prst="ellipse">
            <a:avLst/>
          </a:prstGeom>
          <a:solidFill>
            <a:srgbClr val="EB6834"/>
          </a:solidFill>
          <a:ln w="5080">
            <a:solidFill>
              <a:srgbClr val="FFFFFF"/>
            </a:solidFill>
            <a:prstDash val="solid"/>
          </a:ln>
        </p:spPr>
      </p:sp>
      <p:sp>
        <p:nvSpPr>
          <p:cNvPr id="14" name="mini real 0 3"/>
          <p:cNvSpPr/>
          <p:nvPr/>
        </p:nvSpPr>
        <p:spPr>
          <a:xfrm>
            <a:off x="3561742" y="2151583"/>
            <a:ext cx="41494" cy="41494"/>
          </a:xfrm>
          <a:prstGeom prst="ellipse">
            <a:avLst/>
          </a:prstGeom>
          <a:solidFill>
            <a:srgbClr val="EB6834"/>
          </a:solidFill>
          <a:ln w="5080">
            <a:solidFill>
              <a:srgbClr val="FFFFFF"/>
            </a:solidFill>
            <a:prstDash val="solid"/>
          </a:ln>
        </p:spPr>
      </p:sp>
      <p:sp>
        <p:nvSpPr>
          <p:cNvPr id="15" name="mini real 0 4"/>
          <p:cNvSpPr/>
          <p:nvPr/>
        </p:nvSpPr>
        <p:spPr>
          <a:xfrm>
            <a:off x="3626288" y="2142439"/>
            <a:ext cx="69156" cy="50715"/>
          </a:xfrm>
          <a:prstGeom prst="rect">
            <a:avLst/>
          </a:prstGeom>
          <a:solidFill>
            <a:srgbClr val="EB6834"/>
          </a:solidFill>
          <a:ln w="5080">
            <a:solidFill>
              <a:srgbClr val="FFFFFF"/>
            </a:solidFill>
            <a:prstDash val="solid"/>
          </a:ln>
        </p:spPr>
      </p:sp>
      <p:sp>
        <p:nvSpPr>
          <p:cNvPr id="16" name="mini real 0 5"/>
          <p:cNvSpPr/>
          <p:nvPr/>
        </p:nvSpPr>
        <p:spPr>
          <a:xfrm>
            <a:off x="3718496" y="2151583"/>
            <a:ext cx="41494" cy="41494"/>
          </a:xfrm>
          <a:prstGeom prst="ellipse">
            <a:avLst/>
          </a:prstGeom>
          <a:solidFill>
            <a:srgbClr val="EB6834"/>
          </a:solidFill>
          <a:ln w="5080">
            <a:solidFill>
              <a:srgbClr val="FFFFFF"/>
            </a:solidFill>
            <a:prstDash val="solid"/>
          </a:ln>
        </p:spPr>
      </p:sp>
      <p:sp>
        <p:nvSpPr>
          <p:cNvPr id="17" name="mini card real 1"/>
          <p:cNvSpPr/>
          <p:nvPr/>
        </p:nvSpPr>
        <p:spPr>
          <a:xfrm>
            <a:off x="3856939" y="2032711"/>
            <a:ext cx="640080" cy="329184"/>
          </a:xfrm>
          <a:prstGeom prst="rect">
            <a:avLst/>
          </a:prstGeom>
          <a:solidFill>
            <a:srgbClr val="FFFFFF"/>
          </a:solidFill>
          <a:ln w="6350">
            <a:solidFill>
              <a:srgbClr val="898781"/>
            </a:solidFill>
            <a:prstDash val="solid"/>
          </a:ln>
        </p:spPr>
      </p:sp>
      <p:sp>
        <p:nvSpPr>
          <p:cNvPr id="18" name="mini slab real 1"/>
          <p:cNvSpPr/>
          <p:nvPr/>
        </p:nvSpPr>
        <p:spPr>
          <a:xfrm>
            <a:off x="3902659" y="2078431"/>
            <a:ext cx="548640" cy="32004"/>
          </a:xfrm>
          <a:prstGeom prst="rect">
            <a:avLst/>
          </a:prstGeom>
          <a:solidFill>
            <a:srgbClr val="52514E"/>
          </a:solidFill>
          <a:ln/>
        </p:spPr>
      </p:sp>
      <p:sp>
        <p:nvSpPr>
          <p:cNvPr id="19" name="mini real 1 0"/>
          <p:cNvSpPr/>
          <p:nvPr/>
        </p:nvSpPr>
        <p:spPr>
          <a:xfrm>
            <a:off x="3940983" y="2142439"/>
            <a:ext cx="60512" cy="44375"/>
          </a:xfrm>
          <a:prstGeom prst="rect">
            <a:avLst/>
          </a:prstGeom>
          <a:solidFill>
            <a:srgbClr val="EB6834"/>
          </a:solidFill>
          <a:ln w="5080">
            <a:solidFill>
              <a:srgbClr val="FFFFFF"/>
            </a:solidFill>
            <a:prstDash val="solid"/>
          </a:ln>
        </p:spPr>
      </p:sp>
      <p:sp>
        <p:nvSpPr>
          <p:cNvPr id="20" name="mini real 1 1"/>
          <p:cNvSpPr/>
          <p:nvPr/>
        </p:nvSpPr>
        <p:spPr>
          <a:xfrm>
            <a:off x="4021666" y="2151583"/>
            <a:ext cx="36307" cy="36307"/>
          </a:xfrm>
          <a:prstGeom prst="ellipse">
            <a:avLst/>
          </a:prstGeom>
          <a:solidFill>
            <a:srgbClr val="EB6834"/>
          </a:solidFill>
          <a:ln w="5080">
            <a:solidFill>
              <a:srgbClr val="FFFFFF"/>
            </a:solidFill>
            <a:prstDash val="solid"/>
          </a:ln>
        </p:spPr>
      </p:sp>
      <p:sp>
        <p:nvSpPr>
          <p:cNvPr id="21" name="mini real 1 2"/>
          <p:cNvSpPr/>
          <p:nvPr/>
        </p:nvSpPr>
        <p:spPr>
          <a:xfrm>
            <a:off x="4090246" y="2151583"/>
            <a:ext cx="36307" cy="36307"/>
          </a:xfrm>
          <a:prstGeom prst="ellipse">
            <a:avLst/>
          </a:prstGeom>
          <a:solidFill>
            <a:srgbClr val="EB6834"/>
          </a:solidFill>
          <a:ln w="5080">
            <a:solidFill>
              <a:srgbClr val="FFFFFF"/>
            </a:solidFill>
            <a:prstDash val="solid"/>
          </a:ln>
        </p:spPr>
      </p:sp>
      <p:sp>
        <p:nvSpPr>
          <p:cNvPr id="22" name="mini real 1 3"/>
          <p:cNvSpPr/>
          <p:nvPr/>
        </p:nvSpPr>
        <p:spPr>
          <a:xfrm>
            <a:off x="4158826" y="2151583"/>
            <a:ext cx="36307" cy="36307"/>
          </a:xfrm>
          <a:prstGeom prst="ellipse">
            <a:avLst/>
          </a:prstGeom>
          <a:solidFill>
            <a:srgbClr val="EB6834"/>
          </a:solidFill>
          <a:ln w="5080">
            <a:solidFill>
              <a:srgbClr val="FFFFFF"/>
            </a:solidFill>
            <a:prstDash val="solid"/>
          </a:ln>
        </p:spPr>
      </p:sp>
      <p:sp>
        <p:nvSpPr>
          <p:cNvPr id="23" name="mini real 1 4"/>
          <p:cNvSpPr/>
          <p:nvPr/>
        </p:nvSpPr>
        <p:spPr>
          <a:xfrm>
            <a:off x="4215303" y="2142439"/>
            <a:ext cx="60512" cy="44375"/>
          </a:xfrm>
          <a:prstGeom prst="rect">
            <a:avLst/>
          </a:prstGeom>
          <a:solidFill>
            <a:srgbClr val="EB6834"/>
          </a:solidFill>
          <a:ln w="5080">
            <a:solidFill>
              <a:srgbClr val="FFFFFF"/>
            </a:solidFill>
            <a:prstDash val="solid"/>
          </a:ln>
        </p:spPr>
      </p:sp>
      <p:sp>
        <p:nvSpPr>
          <p:cNvPr id="24" name="mini real 1 5"/>
          <p:cNvSpPr/>
          <p:nvPr/>
        </p:nvSpPr>
        <p:spPr>
          <a:xfrm>
            <a:off x="4295986" y="2151583"/>
            <a:ext cx="36307" cy="36307"/>
          </a:xfrm>
          <a:prstGeom prst="ellipse">
            <a:avLst/>
          </a:prstGeom>
          <a:solidFill>
            <a:srgbClr val="EB6834"/>
          </a:solidFill>
          <a:ln w="5080">
            <a:solidFill>
              <a:srgbClr val="FFFFFF"/>
            </a:solidFill>
            <a:prstDash val="solid"/>
          </a:ln>
        </p:spPr>
      </p:sp>
      <p:sp>
        <p:nvSpPr>
          <p:cNvPr id="25" name="mini real 1 6"/>
          <p:cNvSpPr/>
          <p:nvPr/>
        </p:nvSpPr>
        <p:spPr>
          <a:xfrm>
            <a:off x="4364566" y="2151583"/>
            <a:ext cx="36307" cy="36307"/>
          </a:xfrm>
          <a:prstGeom prst="ellipse">
            <a:avLst/>
          </a:prstGeom>
          <a:solidFill>
            <a:srgbClr val="EB6834"/>
          </a:solidFill>
          <a:ln w="5080">
            <a:solidFill>
              <a:srgbClr val="FFFFFF"/>
            </a:solidFill>
            <a:prstDash val="solid"/>
          </a:ln>
        </p:spPr>
      </p:sp>
      <p:sp>
        <p:nvSpPr>
          <p:cNvPr id="26" name="mini card real 2"/>
          <p:cNvSpPr/>
          <p:nvPr/>
        </p:nvSpPr>
        <p:spPr>
          <a:xfrm>
            <a:off x="4490618" y="2032711"/>
            <a:ext cx="640080" cy="329184"/>
          </a:xfrm>
          <a:prstGeom prst="rect">
            <a:avLst/>
          </a:prstGeom>
          <a:solidFill>
            <a:srgbClr val="FFFFFF"/>
          </a:solidFill>
          <a:ln w="6350">
            <a:solidFill>
              <a:srgbClr val="898781"/>
            </a:solidFill>
            <a:prstDash val="solid"/>
          </a:ln>
        </p:spPr>
      </p:sp>
      <p:sp>
        <p:nvSpPr>
          <p:cNvPr id="27" name="mini slab real 2"/>
          <p:cNvSpPr/>
          <p:nvPr/>
        </p:nvSpPr>
        <p:spPr>
          <a:xfrm>
            <a:off x="4536338" y="2078431"/>
            <a:ext cx="548640" cy="32004"/>
          </a:xfrm>
          <a:prstGeom prst="rect">
            <a:avLst/>
          </a:prstGeom>
          <a:solidFill>
            <a:srgbClr val="52514E"/>
          </a:solidFill>
          <a:ln/>
        </p:spPr>
      </p:sp>
      <p:sp>
        <p:nvSpPr>
          <p:cNvPr id="28" name="mini real 2 0"/>
          <p:cNvSpPr/>
          <p:nvPr/>
        </p:nvSpPr>
        <p:spPr>
          <a:xfrm>
            <a:off x="4570404" y="2142439"/>
            <a:ext cx="53788" cy="39445"/>
          </a:xfrm>
          <a:prstGeom prst="rect">
            <a:avLst/>
          </a:prstGeom>
          <a:solidFill>
            <a:srgbClr val="EB6834"/>
          </a:solidFill>
          <a:ln w="5080">
            <a:solidFill>
              <a:srgbClr val="FFFFFF"/>
            </a:solidFill>
            <a:prstDash val="solid"/>
          </a:ln>
        </p:spPr>
      </p:sp>
      <p:sp>
        <p:nvSpPr>
          <p:cNvPr id="29" name="mini real 2 1"/>
          <p:cNvSpPr/>
          <p:nvPr/>
        </p:nvSpPr>
        <p:spPr>
          <a:xfrm>
            <a:off x="4642122" y="2151583"/>
            <a:ext cx="32273" cy="32273"/>
          </a:xfrm>
          <a:prstGeom prst="ellipse">
            <a:avLst/>
          </a:prstGeom>
          <a:solidFill>
            <a:srgbClr val="EB6834"/>
          </a:solidFill>
          <a:ln w="5080">
            <a:solidFill>
              <a:srgbClr val="FFFFFF"/>
            </a:solidFill>
            <a:prstDash val="solid"/>
          </a:ln>
        </p:spPr>
      </p:sp>
      <p:sp>
        <p:nvSpPr>
          <p:cNvPr id="30" name="mini real 2 2"/>
          <p:cNvSpPr/>
          <p:nvPr/>
        </p:nvSpPr>
        <p:spPr>
          <a:xfrm>
            <a:off x="4703082" y="2151583"/>
            <a:ext cx="32273" cy="32273"/>
          </a:xfrm>
          <a:prstGeom prst="ellipse">
            <a:avLst/>
          </a:prstGeom>
          <a:solidFill>
            <a:srgbClr val="EB6834"/>
          </a:solidFill>
          <a:ln w="5080">
            <a:solidFill>
              <a:srgbClr val="FFFFFF"/>
            </a:solidFill>
            <a:prstDash val="solid"/>
          </a:ln>
        </p:spPr>
      </p:sp>
      <p:sp>
        <p:nvSpPr>
          <p:cNvPr id="31" name="mini real 2 3"/>
          <p:cNvSpPr/>
          <p:nvPr/>
        </p:nvSpPr>
        <p:spPr>
          <a:xfrm>
            <a:off x="4764042" y="2151583"/>
            <a:ext cx="32273" cy="32273"/>
          </a:xfrm>
          <a:prstGeom prst="ellipse">
            <a:avLst/>
          </a:prstGeom>
          <a:solidFill>
            <a:srgbClr val="EB6834"/>
          </a:solidFill>
          <a:ln w="5080">
            <a:solidFill>
              <a:srgbClr val="FFFFFF"/>
            </a:solidFill>
            <a:prstDash val="solid"/>
          </a:ln>
        </p:spPr>
      </p:sp>
      <p:sp>
        <p:nvSpPr>
          <p:cNvPr id="32" name="mini real 2 4"/>
          <p:cNvSpPr/>
          <p:nvPr/>
        </p:nvSpPr>
        <p:spPr>
          <a:xfrm>
            <a:off x="4814244" y="2142439"/>
            <a:ext cx="53788" cy="39445"/>
          </a:xfrm>
          <a:prstGeom prst="rect">
            <a:avLst/>
          </a:prstGeom>
          <a:solidFill>
            <a:srgbClr val="EB6834"/>
          </a:solidFill>
          <a:ln w="5080">
            <a:solidFill>
              <a:srgbClr val="FFFFFF"/>
            </a:solidFill>
            <a:prstDash val="solid"/>
          </a:ln>
        </p:spPr>
      </p:sp>
      <p:sp>
        <p:nvSpPr>
          <p:cNvPr id="33" name="mini real 2 5"/>
          <p:cNvSpPr/>
          <p:nvPr/>
        </p:nvSpPr>
        <p:spPr>
          <a:xfrm>
            <a:off x="4885962" y="2151583"/>
            <a:ext cx="32273" cy="32273"/>
          </a:xfrm>
          <a:prstGeom prst="ellipse">
            <a:avLst/>
          </a:prstGeom>
          <a:solidFill>
            <a:srgbClr val="EB6834"/>
          </a:solidFill>
          <a:ln w="5080">
            <a:solidFill>
              <a:srgbClr val="FFFFFF"/>
            </a:solidFill>
            <a:prstDash val="solid"/>
          </a:ln>
        </p:spPr>
      </p:sp>
      <p:sp>
        <p:nvSpPr>
          <p:cNvPr id="34" name="mini real 2 6"/>
          <p:cNvSpPr/>
          <p:nvPr/>
        </p:nvSpPr>
        <p:spPr>
          <a:xfrm>
            <a:off x="4946922" y="2151583"/>
            <a:ext cx="32273" cy="32273"/>
          </a:xfrm>
          <a:prstGeom prst="ellipse">
            <a:avLst/>
          </a:prstGeom>
          <a:solidFill>
            <a:srgbClr val="EB6834"/>
          </a:solidFill>
          <a:ln w="5080">
            <a:solidFill>
              <a:srgbClr val="FFFFFF"/>
            </a:solidFill>
            <a:prstDash val="solid"/>
          </a:ln>
        </p:spPr>
      </p:sp>
      <p:sp>
        <p:nvSpPr>
          <p:cNvPr id="35" name="mini real 2 7"/>
          <p:cNvSpPr/>
          <p:nvPr/>
        </p:nvSpPr>
        <p:spPr>
          <a:xfrm>
            <a:off x="5007882" y="2151583"/>
            <a:ext cx="32273" cy="32273"/>
          </a:xfrm>
          <a:prstGeom prst="ellipse">
            <a:avLst/>
          </a:prstGeom>
          <a:solidFill>
            <a:srgbClr val="EB6834"/>
          </a:solidFill>
          <a:ln w="5080">
            <a:solidFill>
              <a:srgbClr val="FFFFFF"/>
            </a:solidFill>
            <a:prstDash val="solid"/>
          </a:ln>
        </p:spPr>
      </p:sp>
      <p:sp>
        <p:nvSpPr>
          <p:cNvPr id="36" name="mini card real 3"/>
          <p:cNvSpPr/>
          <p:nvPr/>
        </p:nvSpPr>
        <p:spPr>
          <a:xfrm>
            <a:off x="3404311" y="2427732"/>
            <a:ext cx="640080" cy="329184"/>
          </a:xfrm>
          <a:prstGeom prst="rect">
            <a:avLst/>
          </a:prstGeom>
          <a:solidFill>
            <a:srgbClr val="FFFFFF"/>
          </a:solidFill>
          <a:ln w="6350">
            <a:solidFill>
              <a:srgbClr val="898781"/>
            </a:solidFill>
            <a:prstDash val="solid"/>
          </a:ln>
        </p:spPr>
      </p:sp>
      <p:sp>
        <p:nvSpPr>
          <p:cNvPr id="37" name="mini slab real 3"/>
          <p:cNvSpPr/>
          <p:nvPr/>
        </p:nvSpPr>
        <p:spPr>
          <a:xfrm>
            <a:off x="3450031" y="2473452"/>
            <a:ext cx="548640" cy="32004"/>
          </a:xfrm>
          <a:prstGeom prst="rect">
            <a:avLst/>
          </a:prstGeom>
          <a:solidFill>
            <a:srgbClr val="52514E"/>
          </a:solidFill>
          <a:ln/>
        </p:spPr>
      </p:sp>
      <p:sp>
        <p:nvSpPr>
          <p:cNvPr id="38" name="mini real 3 0"/>
          <p:cNvSpPr/>
          <p:nvPr/>
        </p:nvSpPr>
        <p:spPr>
          <a:xfrm>
            <a:off x="3493830" y="2537460"/>
            <a:ext cx="69156" cy="50715"/>
          </a:xfrm>
          <a:prstGeom prst="rect">
            <a:avLst/>
          </a:prstGeom>
          <a:solidFill>
            <a:srgbClr val="EB6834"/>
          </a:solidFill>
          <a:ln w="5080">
            <a:solidFill>
              <a:srgbClr val="FFFFFF"/>
            </a:solidFill>
            <a:prstDash val="solid"/>
          </a:ln>
        </p:spPr>
      </p:sp>
      <p:sp>
        <p:nvSpPr>
          <p:cNvPr id="39" name="mini real 3 1"/>
          <p:cNvSpPr/>
          <p:nvPr/>
        </p:nvSpPr>
        <p:spPr>
          <a:xfrm>
            <a:off x="3586039" y="2546604"/>
            <a:ext cx="41494" cy="41494"/>
          </a:xfrm>
          <a:prstGeom prst="ellipse">
            <a:avLst/>
          </a:prstGeom>
          <a:solidFill>
            <a:srgbClr val="EB6834"/>
          </a:solidFill>
          <a:ln w="5080">
            <a:solidFill>
              <a:srgbClr val="FFFFFF"/>
            </a:solidFill>
            <a:prstDash val="solid"/>
          </a:ln>
        </p:spPr>
      </p:sp>
      <p:sp>
        <p:nvSpPr>
          <p:cNvPr id="40" name="mini real 3 2"/>
          <p:cNvSpPr/>
          <p:nvPr/>
        </p:nvSpPr>
        <p:spPr>
          <a:xfrm>
            <a:off x="3664416" y="2546604"/>
            <a:ext cx="41494" cy="41494"/>
          </a:xfrm>
          <a:prstGeom prst="ellipse">
            <a:avLst/>
          </a:prstGeom>
          <a:solidFill>
            <a:srgbClr val="EB6834"/>
          </a:solidFill>
          <a:ln w="5080">
            <a:solidFill>
              <a:srgbClr val="FFFFFF"/>
            </a:solidFill>
            <a:prstDash val="solid"/>
          </a:ln>
        </p:spPr>
      </p:sp>
      <p:sp>
        <p:nvSpPr>
          <p:cNvPr id="41" name="mini real 3 3"/>
          <p:cNvSpPr/>
          <p:nvPr/>
        </p:nvSpPr>
        <p:spPr>
          <a:xfrm>
            <a:off x="3742793" y="2546604"/>
            <a:ext cx="41494" cy="41494"/>
          </a:xfrm>
          <a:prstGeom prst="ellipse">
            <a:avLst/>
          </a:prstGeom>
          <a:solidFill>
            <a:srgbClr val="EB6834"/>
          </a:solidFill>
          <a:ln w="5080">
            <a:solidFill>
              <a:srgbClr val="FFFFFF"/>
            </a:solidFill>
            <a:prstDash val="solid"/>
          </a:ln>
        </p:spPr>
      </p:sp>
      <p:sp>
        <p:nvSpPr>
          <p:cNvPr id="42" name="mini real 3 4"/>
          <p:cNvSpPr/>
          <p:nvPr/>
        </p:nvSpPr>
        <p:spPr>
          <a:xfrm>
            <a:off x="3807339" y="2537460"/>
            <a:ext cx="69156" cy="50715"/>
          </a:xfrm>
          <a:prstGeom prst="rect">
            <a:avLst/>
          </a:prstGeom>
          <a:solidFill>
            <a:srgbClr val="EB6834"/>
          </a:solidFill>
          <a:ln w="5080">
            <a:solidFill>
              <a:srgbClr val="FFFFFF"/>
            </a:solidFill>
            <a:prstDash val="solid"/>
          </a:ln>
        </p:spPr>
      </p:sp>
      <p:sp>
        <p:nvSpPr>
          <p:cNvPr id="43" name="mini real 3 5"/>
          <p:cNvSpPr/>
          <p:nvPr/>
        </p:nvSpPr>
        <p:spPr>
          <a:xfrm>
            <a:off x="3899547" y="2546604"/>
            <a:ext cx="41494" cy="41494"/>
          </a:xfrm>
          <a:prstGeom prst="ellipse">
            <a:avLst/>
          </a:prstGeom>
          <a:solidFill>
            <a:srgbClr val="EB6834"/>
          </a:solidFill>
          <a:ln w="5080">
            <a:solidFill>
              <a:srgbClr val="FFFFFF"/>
            </a:solidFill>
            <a:prstDash val="solid"/>
          </a:ln>
        </p:spPr>
      </p:sp>
      <p:sp>
        <p:nvSpPr>
          <p:cNvPr id="44" name="mini card real 4"/>
          <p:cNvSpPr/>
          <p:nvPr/>
        </p:nvSpPr>
        <p:spPr>
          <a:xfrm>
            <a:off x="4037990" y="2427732"/>
            <a:ext cx="640080" cy="329184"/>
          </a:xfrm>
          <a:prstGeom prst="rect">
            <a:avLst/>
          </a:prstGeom>
          <a:solidFill>
            <a:srgbClr val="FFFFFF"/>
          </a:solidFill>
          <a:ln w="6350">
            <a:solidFill>
              <a:srgbClr val="898781"/>
            </a:solidFill>
            <a:prstDash val="solid"/>
          </a:ln>
        </p:spPr>
      </p:sp>
      <p:sp>
        <p:nvSpPr>
          <p:cNvPr id="45" name="mini slab real 4"/>
          <p:cNvSpPr/>
          <p:nvPr/>
        </p:nvSpPr>
        <p:spPr>
          <a:xfrm>
            <a:off x="4083710" y="2473452"/>
            <a:ext cx="548640" cy="32004"/>
          </a:xfrm>
          <a:prstGeom prst="rect">
            <a:avLst/>
          </a:prstGeom>
          <a:solidFill>
            <a:srgbClr val="52514E"/>
          </a:solidFill>
          <a:ln/>
        </p:spPr>
      </p:sp>
      <p:sp>
        <p:nvSpPr>
          <p:cNvPr id="46" name="mini real 4 0"/>
          <p:cNvSpPr/>
          <p:nvPr/>
        </p:nvSpPr>
        <p:spPr>
          <a:xfrm>
            <a:off x="4122035" y="2537460"/>
            <a:ext cx="60512" cy="44375"/>
          </a:xfrm>
          <a:prstGeom prst="rect">
            <a:avLst/>
          </a:prstGeom>
          <a:solidFill>
            <a:srgbClr val="EB6834"/>
          </a:solidFill>
          <a:ln w="5080">
            <a:solidFill>
              <a:srgbClr val="FFFFFF"/>
            </a:solidFill>
            <a:prstDash val="solid"/>
          </a:ln>
        </p:spPr>
      </p:sp>
      <p:sp>
        <p:nvSpPr>
          <p:cNvPr id="47" name="mini real 4 1"/>
          <p:cNvSpPr/>
          <p:nvPr/>
        </p:nvSpPr>
        <p:spPr>
          <a:xfrm>
            <a:off x="4202717" y="2546604"/>
            <a:ext cx="36307" cy="36307"/>
          </a:xfrm>
          <a:prstGeom prst="ellipse">
            <a:avLst/>
          </a:prstGeom>
          <a:solidFill>
            <a:srgbClr val="EB6834"/>
          </a:solidFill>
          <a:ln w="5080">
            <a:solidFill>
              <a:srgbClr val="FFFFFF"/>
            </a:solidFill>
            <a:prstDash val="solid"/>
          </a:ln>
        </p:spPr>
      </p:sp>
      <p:sp>
        <p:nvSpPr>
          <p:cNvPr id="48" name="mini real 4 2"/>
          <p:cNvSpPr/>
          <p:nvPr/>
        </p:nvSpPr>
        <p:spPr>
          <a:xfrm>
            <a:off x="4271297" y="2546604"/>
            <a:ext cx="36307" cy="36307"/>
          </a:xfrm>
          <a:prstGeom prst="ellipse">
            <a:avLst/>
          </a:prstGeom>
          <a:solidFill>
            <a:srgbClr val="EB6834"/>
          </a:solidFill>
          <a:ln w="5080">
            <a:solidFill>
              <a:srgbClr val="FFFFFF"/>
            </a:solidFill>
            <a:prstDash val="solid"/>
          </a:ln>
        </p:spPr>
      </p:sp>
      <p:sp>
        <p:nvSpPr>
          <p:cNvPr id="49" name="mini real 4 3"/>
          <p:cNvSpPr/>
          <p:nvPr/>
        </p:nvSpPr>
        <p:spPr>
          <a:xfrm>
            <a:off x="4339877" y="2546604"/>
            <a:ext cx="36307" cy="36307"/>
          </a:xfrm>
          <a:prstGeom prst="ellipse">
            <a:avLst/>
          </a:prstGeom>
          <a:solidFill>
            <a:srgbClr val="EB6834"/>
          </a:solidFill>
          <a:ln w="5080">
            <a:solidFill>
              <a:srgbClr val="FFFFFF"/>
            </a:solidFill>
            <a:prstDash val="solid"/>
          </a:ln>
        </p:spPr>
      </p:sp>
      <p:sp>
        <p:nvSpPr>
          <p:cNvPr id="50" name="mini real 4 4"/>
          <p:cNvSpPr/>
          <p:nvPr/>
        </p:nvSpPr>
        <p:spPr>
          <a:xfrm>
            <a:off x="4396355" y="2537460"/>
            <a:ext cx="60512" cy="44375"/>
          </a:xfrm>
          <a:prstGeom prst="rect">
            <a:avLst/>
          </a:prstGeom>
          <a:solidFill>
            <a:srgbClr val="EB6834"/>
          </a:solidFill>
          <a:ln w="5080">
            <a:solidFill>
              <a:srgbClr val="FFFFFF"/>
            </a:solidFill>
            <a:prstDash val="solid"/>
          </a:ln>
        </p:spPr>
      </p:sp>
      <p:sp>
        <p:nvSpPr>
          <p:cNvPr id="51" name="mini real 4 5"/>
          <p:cNvSpPr/>
          <p:nvPr/>
        </p:nvSpPr>
        <p:spPr>
          <a:xfrm>
            <a:off x="4477037" y="2546604"/>
            <a:ext cx="36307" cy="36307"/>
          </a:xfrm>
          <a:prstGeom prst="ellipse">
            <a:avLst/>
          </a:prstGeom>
          <a:solidFill>
            <a:srgbClr val="EB6834"/>
          </a:solidFill>
          <a:ln w="5080">
            <a:solidFill>
              <a:srgbClr val="FFFFFF"/>
            </a:solidFill>
            <a:prstDash val="solid"/>
          </a:ln>
        </p:spPr>
      </p:sp>
      <p:sp>
        <p:nvSpPr>
          <p:cNvPr id="52" name="mini real 4 6"/>
          <p:cNvSpPr/>
          <p:nvPr/>
        </p:nvSpPr>
        <p:spPr>
          <a:xfrm>
            <a:off x="4545617" y="2546604"/>
            <a:ext cx="36307" cy="36307"/>
          </a:xfrm>
          <a:prstGeom prst="ellipse">
            <a:avLst/>
          </a:prstGeom>
          <a:solidFill>
            <a:srgbClr val="EB6834"/>
          </a:solidFill>
          <a:ln w="5080">
            <a:solidFill>
              <a:srgbClr val="FFFFFF"/>
            </a:solidFill>
            <a:prstDash val="solid"/>
          </a:ln>
        </p:spPr>
      </p:sp>
      <p:sp>
        <p:nvSpPr>
          <p:cNvPr id="53" name="mini card real 5"/>
          <p:cNvSpPr/>
          <p:nvPr/>
        </p:nvSpPr>
        <p:spPr>
          <a:xfrm>
            <a:off x="4671670" y="2427732"/>
            <a:ext cx="640080" cy="329184"/>
          </a:xfrm>
          <a:prstGeom prst="rect">
            <a:avLst/>
          </a:prstGeom>
          <a:solidFill>
            <a:srgbClr val="FFFFFF"/>
          </a:solidFill>
          <a:ln w="6350">
            <a:solidFill>
              <a:srgbClr val="898781"/>
            </a:solidFill>
            <a:prstDash val="solid"/>
          </a:ln>
        </p:spPr>
      </p:sp>
      <p:sp>
        <p:nvSpPr>
          <p:cNvPr id="54" name="mini slab real 5"/>
          <p:cNvSpPr/>
          <p:nvPr/>
        </p:nvSpPr>
        <p:spPr>
          <a:xfrm>
            <a:off x="4717390" y="2473452"/>
            <a:ext cx="548640" cy="32004"/>
          </a:xfrm>
          <a:prstGeom prst="rect">
            <a:avLst/>
          </a:prstGeom>
          <a:solidFill>
            <a:srgbClr val="52514E"/>
          </a:solidFill>
          <a:ln/>
        </p:spPr>
      </p:sp>
      <p:sp>
        <p:nvSpPr>
          <p:cNvPr id="55" name="mini real 5 0"/>
          <p:cNvSpPr/>
          <p:nvPr/>
        </p:nvSpPr>
        <p:spPr>
          <a:xfrm>
            <a:off x="4751455" y="2537460"/>
            <a:ext cx="53788" cy="39445"/>
          </a:xfrm>
          <a:prstGeom prst="rect">
            <a:avLst/>
          </a:prstGeom>
          <a:solidFill>
            <a:srgbClr val="EB6834"/>
          </a:solidFill>
          <a:ln w="5080">
            <a:solidFill>
              <a:srgbClr val="FFFFFF"/>
            </a:solidFill>
            <a:prstDash val="solid"/>
          </a:ln>
        </p:spPr>
      </p:sp>
      <p:sp>
        <p:nvSpPr>
          <p:cNvPr id="56" name="mini real 5 1"/>
          <p:cNvSpPr/>
          <p:nvPr/>
        </p:nvSpPr>
        <p:spPr>
          <a:xfrm>
            <a:off x="4823173" y="2546604"/>
            <a:ext cx="32273" cy="32273"/>
          </a:xfrm>
          <a:prstGeom prst="ellipse">
            <a:avLst/>
          </a:prstGeom>
          <a:solidFill>
            <a:srgbClr val="EB6834"/>
          </a:solidFill>
          <a:ln w="5080">
            <a:solidFill>
              <a:srgbClr val="FFFFFF"/>
            </a:solidFill>
            <a:prstDash val="solid"/>
          </a:ln>
        </p:spPr>
      </p:sp>
      <p:sp>
        <p:nvSpPr>
          <p:cNvPr id="57" name="mini real 5 2"/>
          <p:cNvSpPr/>
          <p:nvPr/>
        </p:nvSpPr>
        <p:spPr>
          <a:xfrm>
            <a:off x="4884133" y="2546604"/>
            <a:ext cx="32273" cy="32273"/>
          </a:xfrm>
          <a:prstGeom prst="ellipse">
            <a:avLst/>
          </a:prstGeom>
          <a:solidFill>
            <a:srgbClr val="EB6834"/>
          </a:solidFill>
          <a:ln w="5080">
            <a:solidFill>
              <a:srgbClr val="FFFFFF"/>
            </a:solidFill>
            <a:prstDash val="solid"/>
          </a:ln>
        </p:spPr>
      </p:sp>
      <p:sp>
        <p:nvSpPr>
          <p:cNvPr id="58" name="mini real 5 3"/>
          <p:cNvSpPr/>
          <p:nvPr/>
        </p:nvSpPr>
        <p:spPr>
          <a:xfrm>
            <a:off x="4945093" y="2546604"/>
            <a:ext cx="32273" cy="32273"/>
          </a:xfrm>
          <a:prstGeom prst="ellipse">
            <a:avLst/>
          </a:prstGeom>
          <a:solidFill>
            <a:srgbClr val="EB6834"/>
          </a:solidFill>
          <a:ln w="5080">
            <a:solidFill>
              <a:srgbClr val="FFFFFF"/>
            </a:solidFill>
            <a:prstDash val="solid"/>
          </a:ln>
        </p:spPr>
      </p:sp>
      <p:sp>
        <p:nvSpPr>
          <p:cNvPr id="59" name="mini real 5 4"/>
          <p:cNvSpPr/>
          <p:nvPr/>
        </p:nvSpPr>
        <p:spPr>
          <a:xfrm>
            <a:off x="4995295" y="2537460"/>
            <a:ext cx="53788" cy="39445"/>
          </a:xfrm>
          <a:prstGeom prst="rect">
            <a:avLst/>
          </a:prstGeom>
          <a:solidFill>
            <a:srgbClr val="EB6834"/>
          </a:solidFill>
          <a:ln w="5080">
            <a:solidFill>
              <a:srgbClr val="FFFFFF"/>
            </a:solidFill>
            <a:prstDash val="solid"/>
          </a:ln>
        </p:spPr>
      </p:sp>
      <p:sp>
        <p:nvSpPr>
          <p:cNvPr id="60" name="mini real 5 5"/>
          <p:cNvSpPr/>
          <p:nvPr/>
        </p:nvSpPr>
        <p:spPr>
          <a:xfrm>
            <a:off x="5067013" y="2546604"/>
            <a:ext cx="32273" cy="32273"/>
          </a:xfrm>
          <a:prstGeom prst="ellipse">
            <a:avLst/>
          </a:prstGeom>
          <a:solidFill>
            <a:srgbClr val="EB6834"/>
          </a:solidFill>
          <a:ln w="5080">
            <a:solidFill>
              <a:srgbClr val="FFFFFF"/>
            </a:solidFill>
            <a:prstDash val="solid"/>
          </a:ln>
        </p:spPr>
      </p:sp>
      <p:sp>
        <p:nvSpPr>
          <p:cNvPr id="61" name="mini real 5 6"/>
          <p:cNvSpPr/>
          <p:nvPr/>
        </p:nvSpPr>
        <p:spPr>
          <a:xfrm>
            <a:off x="5127973" y="2546604"/>
            <a:ext cx="32273" cy="32273"/>
          </a:xfrm>
          <a:prstGeom prst="ellipse">
            <a:avLst/>
          </a:prstGeom>
          <a:solidFill>
            <a:srgbClr val="EB6834"/>
          </a:solidFill>
          <a:ln w="5080">
            <a:solidFill>
              <a:srgbClr val="FFFFFF"/>
            </a:solidFill>
            <a:prstDash val="solid"/>
          </a:ln>
        </p:spPr>
      </p:sp>
      <p:sp>
        <p:nvSpPr>
          <p:cNvPr id="62" name="mini real 5 7"/>
          <p:cNvSpPr/>
          <p:nvPr/>
        </p:nvSpPr>
        <p:spPr>
          <a:xfrm>
            <a:off x="5188933" y="2546604"/>
            <a:ext cx="32273" cy="32273"/>
          </a:xfrm>
          <a:prstGeom prst="ellipse">
            <a:avLst/>
          </a:prstGeom>
          <a:solidFill>
            <a:srgbClr val="EB6834"/>
          </a:solidFill>
          <a:ln w="5080">
            <a:solidFill>
              <a:srgbClr val="FFFFFF"/>
            </a:solidFill>
            <a:prstDash val="solid"/>
          </a:ln>
        </p:spPr>
      </p:sp>
      <p:sp>
        <p:nvSpPr>
          <p:cNvPr id="63" name="real cluster ring"/>
          <p:cNvSpPr/>
          <p:nvPr/>
        </p:nvSpPr>
        <p:spPr>
          <a:xfrm>
            <a:off x="2997403" y="1970532"/>
            <a:ext cx="2444191" cy="962863"/>
          </a:xfrm>
          <a:prstGeom prst="ellipse">
            <a:avLst/>
          </a:prstGeom>
          <a:ln w="12700">
            <a:solidFill>
              <a:srgbClr val="EB6834"/>
            </a:solidFill>
            <a:prstDash val="dash"/>
          </a:ln>
        </p:spPr>
      </p:sp>
      <p:sp>
        <p:nvSpPr>
          <p:cNvPr id="64" name="real note"/>
          <p:cNvSpPr txBox="1"/>
          <p:nvPr/>
        </p:nvSpPr>
        <p:spPr>
          <a:xfrm>
            <a:off x="1024128" y="1995221"/>
            <a:ext cx="1810512" cy="925830"/>
          </a:xfrm>
          <a:prstGeom prst="rect">
            <a:avLst/>
          </a:prstGeom>
          <a:noFill/>
          <a:ln/>
        </p:spPr>
        <p:txBody>
          <a:bodyPr wrap="square" lIns="0" tIns="0" rIns="0" bIns="0" rtlCol="0" anchor="ctr"/>
          <a:lstStyle/>
          <a:p>
            <a:pPr indent="0" marL="0">
              <a:buNone/>
            </a:pPr>
            <a:r>
              <a:rPr lang="en-US" sz="1100" dirty="0">
                <a:solidFill>
                  <a:srgbClr val="52514E"/>
                </a:solidFill>
              </a:rPr>
              <a:t>ducts and many pipes, no trays, nothing as simple as one pipe</a:t>
            </a:r>
            <a:endParaRPr lang="en-US" sz="1100" dirty="0"/>
          </a:p>
          <a:p>
            <a:pPr indent="0" marL="0">
              <a:buNone/>
            </a:pPr>
            <a:r>
              <a:rPr lang="en-US" sz="1100" i="1" dirty="0">
                <a:solidFill>
                  <a:srgbClr val="52514E"/>
                </a:solidFill>
              </a:rPr>
              <a:t>a method tuned here only fits that project</a:t>
            </a:r>
            <a:endParaRPr lang="en-US" sz="1100" dirty="0"/>
          </a:p>
        </p:txBody>
      </p:sp>
      <p:sp>
        <p:nvSpPr>
          <p:cNvPr id="65" name="space synthetic"/>
          <p:cNvSpPr/>
          <p:nvPr/>
        </p:nvSpPr>
        <p:spPr>
          <a:xfrm>
            <a:off x="548640" y="3611880"/>
            <a:ext cx="5212080" cy="2103120"/>
          </a:xfrm>
          <a:prstGeom prst="roundRect">
            <a:avLst>
              <a:gd name="adj" fmla="val 3043"/>
            </a:avLst>
          </a:prstGeom>
          <a:solidFill>
            <a:schemeClr val="bg2"/>
          </a:solidFill>
          <a:ln/>
        </p:spPr>
      </p:sp>
      <p:sp>
        <p:nvSpPr>
          <p:cNvPr id="66"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67" name="x axis synthetic"/>
          <p:cNvSpPr/>
          <p:nvPr/>
        </p:nvSpPr>
        <p:spPr>
          <a:xfrm>
            <a:off x="1005840" y="5321808"/>
            <a:ext cx="4526280" cy="0"/>
          </a:xfrm>
          <a:prstGeom prst="line">
            <a:avLst/>
          </a:prstGeom>
          <a:noFill/>
          <a:ln w="12700">
            <a:solidFill>
              <a:srgbClr val="52514E"/>
            </a:solidFill>
            <a:prstDash val="solid"/>
            <a:tailEnd type="triangle"/>
          </a:ln>
        </p:spPr>
      </p:sp>
      <p:sp>
        <p:nvSpPr>
          <p:cNvPr id="68" name="y axis synthetic"/>
          <p:cNvSpPr/>
          <p:nvPr/>
        </p:nvSpPr>
        <p:spPr>
          <a:xfrm>
            <a:off x="1005840" y="4087368"/>
            <a:ext cx="0" cy="1234440"/>
          </a:xfrm>
          <a:prstGeom prst="line">
            <a:avLst/>
          </a:prstGeom>
          <a:noFill/>
          <a:ln w="12700">
            <a:solidFill>
              <a:srgbClr val="52514E"/>
            </a:solidFill>
            <a:prstDash val="solid"/>
            <a:headEnd type="triangle"/>
          </a:ln>
        </p:spPr>
      </p:sp>
      <p:sp>
        <p:nvSpPr>
          <p:cNvPr id="69"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70"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71"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72" name="mini slab syn 10"/>
          <p:cNvSpPr/>
          <p:nvPr/>
        </p:nvSpPr>
        <p:spPr>
          <a:xfrm>
            <a:off x="1088136" y="4160520"/>
            <a:ext cx="401193" cy="32004"/>
          </a:xfrm>
          <a:prstGeom prst="rect">
            <a:avLst/>
          </a:prstGeom>
          <a:solidFill>
            <a:srgbClr val="52514E"/>
          </a:solidFill>
          <a:ln/>
        </p:spPr>
      </p:sp>
      <p:sp>
        <p:nvSpPr>
          <p:cNvPr id="73"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74"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75" name="mini slab syn 11"/>
          <p:cNvSpPr/>
          <p:nvPr/>
        </p:nvSpPr>
        <p:spPr>
          <a:xfrm>
            <a:off x="1088136" y="4572000"/>
            <a:ext cx="401193" cy="32004"/>
          </a:xfrm>
          <a:prstGeom prst="rect">
            <a:avLst/>
          </a:prstGeom>
          <a:solidFill>
            <a:srgbClr val="52514E"/>
          </a:solidFill>
          <a:ln/>
        </p:spPr>
      </p:sp>
      <p:sp>
        <p:nvSpPr>
          <p:cNvPr id="76"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77"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78" name="mini wall syn 12"/>
          <p:cNvSpPr/>
          <p:nvPr/>
        </p:nvSpPr>
        <p:spPr>
          <a:xfrm>
            <a:off x="1088136" y="4983480"/>
            <a:ext cx="32004" cy="265176"/>
          </a:xfrm>
          <a:prstGeom prst="rect">
            <a:avLst/>
          </a:prstGeom>
          <a:solidFill>
            <a:srgbClr val="52514E"/>
          </a:solidFill>
          <a:ln/>
        </p:spPr>
      </p:sp>
      <p:sp>
        <p:nvSpPr>
          <p:cNvPr id="79"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80"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81" name="mini slab syn 20"/>
          <p:cNvSpPr/>
          <p:nvPr/>
        </p:nvSpPr>
        <p:spPr>
          <a:xfrm>
            <a:off x="1653921" y="4160520"/>
            <a:ext cx="401193" cy="32004"/>
          </a:xfrm>
          <a:prstGeom prst="rect">
            <a:avLst/>
          </a:prstGeom>
          <a:solidFill>
            <a:srgbClr val="52514E"/>
          </a:solidFill>
          <a:ln/>
        </p:spPr>
      </p:sp>
      <p:sp>
        <p:nvSpPr>
          <p:cNvPr id="82"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83"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84"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85" name="mini slab syn 21"/>
          <p:cNvSpPr/>
          <p:nvPr/>
        </p:nvSpPr>
        <p:spPr>
          <a:xfrm>
            <a:off x="1653921" y="4572000"/>
            <a:ext cx="401193" cy="32004"/>
          </a:xfrm>
          <a:prstGeom prst="rect">
            <a:avLst/>
          </a:prstGeom>
          <a:solidFill>
            <a:srgbClr val="52514E"/>
          </a:solidFill>
          <a:ln/>
        </p:spPr>
      </p:sp>
      <p:sp>
        <p:nvSpPr>
          <p:cNvPr id="86"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87"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88"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89" name="mini wall syn 22"/>
          <p:cNvSpPr/>
          <p:nvPr/>
        </p:nvSpPr>
        <p:spPr>
          <a:xfrm>
            <a:off x="1653921" y="4983480"/>
            <a:ext cx="32004" cy="265176"/>
          </a:xfrm>
          <a:prstGeom prst="rect">
            <a:avLst/>
          </a:prstGeom>
          <a:solidFill>
            <a:srgbClr val="52514E"/>
          </a:solidFill>
          <a:ln/>
        </p:spPr>
      </p:sp>
      <p:sp>
        <p:nvSpPr>
          <p:cNvPr id="90"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91"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92"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93" name="mini slab syn 30"/>
          <p:cNvSpPr/>
          <p:nvPr/>
        </p:nvSpPr>
        <p:spPr>
          <a:xfrm>
            <a:off x="2219706" y="4160520"/>
            <a:ext cx="401193" cy="32004"/>
          </a:xfrm>
          <a:prstGeom prst="rect">
            <a:avLst/>
          </a:prstGeom>
          <a:solidFill>
            <a:srgbClr val="52514E"/>
          </a:solidFill>
          <a:ln/>
        </p:spPr>
      </p:sp>
      <p:sp>
        <p:nvSpPr>
          <p:cNvPr id="94"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95"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96"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97"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98" name="mini slab syn 31"/>
          <p:cNvSpPr/>
          <p:nvPr/>
        </p:nvSpPr>
        <p:spPr>
          <a:xfrm>
            <a:off x="2219706" y="4572000"/>
            <a:ext cx="401193" cy="32004"/>
          </a:xfrm>
          <a:prstGeom prst="rect">
            <a:avLst/>
          </a:prstGeom>
          <a:solidFill>
            <a:srgbClr val="52514E"/>
          </a:solidFill>
          <a:ln/>
        </p:spPr>
      </p:sp>
      <p:sp>
        <p:nvSpPr>
          <p:cNvPr id="99"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100"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101"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102"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103" name="mini wall syn 32"/>
          <p:cNvSpPr/>
          <p:nvPr/>
        </p:nvSpPr>
        <p:spPr>
          <a:xfrm>
            <a:off x="2219706" y="4983480"/>
            <a:ext cx="32004" cy="265176"/>
          </a:xfrm>
          <a:prstGeom prst="rect">
            <a:avLst/>
          </a:prstGeom>
          <a:solidFill>
            <a:srgbClr val="52514E"/>
          </a:solidFill>
          <a:ln/>
        </p:spPr>
      </p:sp>
      <p:sp>
        <p:nvSpPr>
          <p:cNvPr id="104"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105"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106"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107"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108" name="mini slab syn 40"/>
          <p:cNvSpPr/>
          <p:nvPr/>
        </p:nvSpPr>
        <p:spPr>
          <a:xfrm>
            <a:off x="2785491" y="4160520"/>
            <a:ext cx="401193" cy="32004"/>
          </a:xfrm>
          <a:prstGeom prst="rect">
            <a:avLst/>
          </a:prstGeom>
          <a:solidFill>
            <a:srgbClr val="52514E"/>
          </a:solidFill>
          <a:ln/>
        </p:spPr>
      </p:sp>
      <p:sp>
        <p:nvSpPr>
          <p:cNvPr id="109"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110"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111"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112"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113"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114" name="mini slab syn 41"/>
          <p:cNvSpPr/>
          <p:nvPr/>
        </p:nvSpPr>
        <p:spPr>
          <a:xfrm>
            <a:off x="2785491" y="4572000"/>
            <a:ext cx="401193" cy="32004"/>
          </a:xfrm>
          <a:prstGeom prst="rect">
            <a:avLst/>
          </a:prstGeom>
          <a:solidFill>
            <a:srgbClr val="52514E"/>
          </a:solidFill>
          <a:ln/>
        </p:spPr>
      </p:sp>
      <p:sp>
        <p:nvSpPr>
          <p:cNvPr id="115"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116"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117"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118"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119"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120" name="mini wall syn 42"/>
          <p:cNvSpPr/>
          <p:nvPr/>
        </p:nvSpPr>
        <p:spPr>
          <a:xfrm>
            <a:off x="2785491" y="4983480"/>
            <a:ext cx="32004" cy="265176"/>
          </a:xfrm>
          <a:prstGeom prst="rect">
            <a:avLst/>
          </a:prstGeom>
          <a:solidFill>
            <a:srgbClr val="52514E"/>
          </a:solidFill>
          <a:ln/>
        </p:spPr>
      </p:sp>
      <p:sp>
        <p:nvSpPr>
          <p:cNvPr id="121"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122"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123"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24"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25"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26" name="mini slab syn 50"/>
          <p:cNvSpPr/>
          <p:nvPr/>
        </p:nvSpPr>
        <p:spPr>
          <a:xfrm>
            <a:off x="3351276" y="4160520"/>
            <a:ext cx="401193" cy="32004"/>
          </a:xfrm>
          <a:prstGeom prst="rect">
            <a:avLst/>
          </a:prstGeom>
          <a:solidFill>
            <a:srgbClr val="52514E"/>
          </a:solidFill>
          <a:ln/>
        </p:spPr>
      </p:sp>
      <p:sp>
        <p:nvSpPr>
          <p:cNvPr id="127"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28"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29"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30"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31"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32"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33" name="mini slab syn 51"/>
          <p:cNvSpPr/>
          <p:nvPr/>
        </p:nvSpPr>
        <p:spPr>
          <a:xfrm>
            <a:off x="3351276" y="4572000"/>
            <a:ext cx="401193" cy="32004"/>
          </a:xfrm>
          <a:prstGeom prst="rect">
            <a:avLst/>
          </a:prstGeom>
          <a:solidFill>
            <a:srgbClr val="52514E"/>
          </a:solidFill>
          <a:ln/>
        </p:spPr>
      </p:sp>
      <p:sp>
        <p:nvSpPr>
          <p:cNvPr id="134"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35"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36"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37"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38"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39"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40" name="mini wall syn 52"/>
          <p:cNvSpPr/>
          <p:nvPr/>
        </p:nvSpPr>
        <p:spPr>
          <a:xfrm>
            <a:off x="3351276" y="4983480"/>
            <a:ext cx="32004" cy="265176"/>
          </a:xfrm>
          <a:prstGeom prst="rect">
            <a:avLst/>
          </a:prstGeom>
          <a:solidFill>
            <a:srgbClr val="52514E"/>
          </a:solidFill>
          <a:ln/>
        </p:spPr>
      </p:sp>
      <p:sp>
        <p:nvSpPr>
          <p:cNvPr id="141"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42"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43"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44"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45"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46"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47" name="mini slab syn 60"/>
          <p:cNvSpPr/>
          <p:nvPr/>
        </p:nvSpPr>
        <p:spPr>
          <a:xfrm>
            <a:off x="3917061" y="4160520"/>
            <a:ext cx="401193" cy="32004"/>
          </a:xfrm>
          <a:prstGeom prst="rect">
            <a:avLst/>
          </a:prstGeom>
          <a:solidFill>
            <a:srgbClr val="52514E"/>
          </a:solidFill>
          <a:ln/>
        </p:spPr>
      </p:sp>
      <p:sp>
        <p:nvSpPr>
          <p:cNvPr id="148"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49"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50"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51"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52"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53"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54"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55" name="mini slab syn 61"/>
          <p:cNvSpPr/>
          <p:nvPr/>
        </p:nvSpPr>
        <p:spPr>
          <a:xfrm>
            <a:off x="3917061" y="4572000"/>
            <a:ext cx="401193" cy="32004"/>
          </a:xfrm>
          <a:prstGeom prst="rect">
            <a:avLst/>
          </a:prstGeom>
          <a:solidFill>
            <a:srgbClr val="52514E"/>
          </a:solidFill>
          <a:ln/>
        </p:spPr>
      </p:sp>
      <p:sp>
        <p:nvSpPr>
          <p:cNvPr id="156"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57"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58"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59"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60"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61"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62"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63" name="mini wall syn 62"/>
          <p:cNvSpPr/>
          <p:nvPr/>
        </p:nvSpPr>
        <p:spPr>
          <a:xfrm>
            <a:off x="3917061" y="4983480"/>
            <a:ext cx="32004" cy="265176"/>
          </a:xfrm>
          <a:prstGeom prst="rect">
            <a:avLst/>
          </a:prstGeom>
          <a:solidFill>
            <a:srgbClr val="52514E"/>
          </a:solidFill>
          <a:ln/>
        </p:spPr>
      </p:sp>
      <p:sp>
        <p:nvSpPr>
          <p:cNvPr id="164"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65"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66"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67"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68"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69"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70"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71" name="mini slab syn 70"/>
          <p:cNvSpPr/>
          <p:nvPr/>
        </p:nvSpPr>
        <p:spPr>
          <a:xfrm>
            <a:off x="4482846" y="4160520"/>
            <a:ext cx="401193" cy="32004"/>
          </a:xfrm>
          <a:prstGeom prst="rect">
            <a:avLst/>
          </a:prstGeom>
          <a:solidFill>
            <a:srgbClr val="52514E"/>
          </a:solidFill>
          <a:ln/>
        </p:spPr>
      </p:sp>
      <p:sp>
        <p:nvSpPr>
          <p:cNvPr id="172"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73"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74"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75"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76"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77"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78"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79"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80" name="mini slab syn 71"/>
          <p:cNvSpPr/>
          <p:nvPr/>
        </p:nvSpPr>
        <p:spPr>
          <a:xfrm>
            <a:off x="4482846" y="4572000"/>
            <a:ext cx="401193" cy="32004"/>
          </a:xfrm>
          <a:prstGeom prst="rect">
            <a:avLst/>
          </a:prstGeom>
          <a:solidFill>
            <a:srgbClr val="52514E"/>
          </a:solidFill>
          <a:ln/>
        </p:spPr>
      </p:sp>
      <p:sp>
        <p:nvSpPr>
          <p:cNvPr id="181"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82"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83"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84"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85"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86"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87"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88"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89" name="mini wall syn 72"/>
          <p:cNvSpPr/>
          <p:nvPr/>
        </p:nvSpPr>
        <p:spPr>
          <a:xfrm>
            <a:off x="4482846" y="4983480"/>
            <a:ext cx="32004" cy="265176"/>
          </a:xfrm>
          <a:prstGeom prst="rect">
            <a:avLst/>
          </a:prstGeom>
          <a:solidFill>
            <a:srgbClr val="52514E"/>
          </a:solidFill>
          <a:ln/>
        </p:spPr>
      </p:sp>
      <p:sp>
        <p:nvSpPr>
          <p:cNvPr id="190"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91"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92"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93"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94"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95"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96"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97"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98" name="mini slab syn 80"/>
          <p:cNvSpPr/>
          <p:nvPr/>
        </p:nvSpPr>
        <p:spPr>
          <a:xfrm>
            <a:off x="5048631" y="4160520"/>
            <a:ext cx="401193" cy="32004"/>
          </a:xfrm>
          <a:prstGeom prst="rect">
            <a:avLst/>
          </a:prstGeom>
          <a:solidFill>
            <a:srgbClr val="52514E"/>
          </a:solidFill>
          <a:ln/>
        </p:spPr>
      </p:sp>
      <p:sp>
        <p:nvSpPr>
          <p:cNvPr id="199"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200"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201"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202"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203"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204"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205"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206"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207"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208" name="mini slab syn 81"/>
          <p:cNvSpPr/>
          <p:nvPr/>
        </p:nvSpPr>
        <p:spPr>
          <a:xfrm>
            <a:off x="5048631" y="4572000"/>
            <a:ext cx="401193" cy="32004"/>
          </a:xfrm>
          <a:prstGeom prst="rect">
            <a:avLst/>
          </a:prstGeom>
          <a:solidFill>
            <a:srgbClr val="52514E"/>
          </a:solidFill>
          <a:ln/>
        </p:spPr>
      </p:sp>
      <p:sp>
        <p:nvSpPr>
          <p:cNvPr id="209"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210"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211"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212"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213"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214"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215"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216"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217"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218" name="mini wall syn 82"/>
          <p:cNvSpPr/>
          <p:nvPr/>
        </p:nvSpPr>
        <p:spPr>
          <a:xfrm>
            <a:off x="5048631" y="4983480"/>
            <a:ext cx="32004" cy="265176"/>
          </a:xfrm>
          <a:prstGeom prst="rect">
            <a:avLst/>
          </a:prstGeom>
          <a:solidFill>
            <a:srgbClr val="52514E"/>
          </a:solidFill>
          <a:ln/>
        </p:spPr>
      </p:sp>
      <p:sp>
        <p:nvSpPr>
          <p:cNvPr id="219"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220"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221"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222"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223"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24"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25"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26"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27"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28" name="glance 7,000"/>
          <p:cNvSpPr/>
          <p:nvPr/>
        </p:nvSpPr>
        <p:spPr>
          <a:xfrm>
            <a:off x="5806440" y="1828800"/>
            <a:ext cx="2825496" cy="1188720"/>
          </a:xfrm>
          <a:prstGeom prst="roundRect">
            <a:avLst>
              <a:gd name="adj" fmla="val 5385"/>
            </a:avLst>
          </a:prstGeom>
          <a:solidFill>
            <a:schemeClr val="bg2"/>
          </a:solidFill>
          <a:ln/>
        </p:spPr>
      </p:sp>
      <p:sp>
        <p:nvSpPr>
          <p:cNvPr id="229" name="icon ring glance 7,000"/>
          <p:cNvSpPr/>
          <p:nvPr/>
        </p:nvSpPr>
        <p:spPr>
          <a:xfrm>
            <a:off x="6007608" y="2130552"/>
            <a:ext cx="585216" cy="585216"/>
          </a:xfrm>
          <a:prstGeom prst="ellipse">
            <a:avLst/>
          </a:prstGeom>
          <a:solidFill>
            <a:schemeClr val="accent1"/>
          </a:solidFill>
          <a:ln/>
        </p:spPr>
      </p:sp>
      <p:pic>
        <p:nvPicPr>
          <p:cNvPr id="230"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31"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32"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33" name="glance 31,484"/>
          <p:cNvSpPr/>
          <p:nvPr/>
        </p:nvSpPr>
        <p:spPr>
          <a:xfrm>
            <a:off x="8814816" y="1828800"/>
            <a:ext cx="2825496" cy="1188720"/>
          </a:xfrm>
          <a:prstGeom prst="roundRect">
            <a:avLst>
              <a:gd name="adj" fmla="val 5385"/>
            </a:avLst>
          </a:prstGeom>
          <a:solidFill>
            <a:schemeClr val="bg2"/>
          </a:solidFill>
          <a:ln/>
        </p:spPr>
      </p:sp>
      <p:sp>
        <p:nvSpPr>
          <p:cNvPr id="234" name="icon ring glance 31,484"/>
          <p:cNvSpPr/>
          <p:nvPr/>
        </p:nvSpPr>
        <p:spPr>
          <a:xfrm>
            <a:off x="9015984" y="2130552"/>
            <a:ext cx="585216" cy="585216"/>
          </a:xfrm>
          <a:prstGeom prst="ellipse">
            <a:avLst/>
          </a:prstGeom>
          <a:solidFill>
            <a:schemeClr val="accent1"/>
          </a:solidFill>
          <a:ln/>
        </p:spPr>
      </p:sp>
      <p:pic>
        <p:nvPicPr>
          <p:cNvPr id="235"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36"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37"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38" name="glance C1–C8"/>
          <p:cNvSpPr/>
          <p:nvPr/>
        </p:nvSpPr>
        <p:spPr>
          <a:xfrm>
            <a:off x="5806440" y="3172968"/>
            <a:ext cx="2825496" cy="1188720"/>
          </a:xfrm>
          <a:prstGeom prst="roundRect">
            <a:avLst>
              <a:gd name="adj" fmla="val 5385"/>
            </a:avLst>
          </a:prstGeom>
          <a:solidFill>
            <a:schemeClr val="bg2"/>
          </a:solidFill>
          <a:ln/>
        </p:spPr>
      </p:sp>
      <p:sp>
        <p:nvSpPr>
          <p:cNvPr id="239" name="icon ring glance C1–C8"/>
          <p:cNvSpPr/>
          <p:nvPr/>
        </p:nvSpPr>
        <p:spPr>
          <a:xfrm>
            <a:off x="6007608" y="3474720"/>
            <a:ext cx="585216" cy="585216"/>
          </a:xfrm>
          <a:prstGeom prst="ellipse">
            <a:avLst/>
          </a:prstGeom>
          <a:solidFill>
            <a:schemeClr val="accent1"/>
          </a:solidFill>
          <a:ln/>
        </p:spPr>
      </p:sp>
      <p:pic>
        <p:nvPicPr>
          <p:cNvPr id="240"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41"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42"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43" name="glance 0 labels"/>
          <p:cNvSpPr/>
          <p:nvPr/>
        </p:nvSpPr>
        <p:spPr>
          <a:xfrm>
            <a:off x="8814816" y="3172968"/>
            <a:ext cx="2825496" cy="1188720"/>
          </a:xfrm>
          <a:prstGeom prst="roundRect">
            <a:avLst>
              <a:gd name="adj" fmla="val 5385"/>
            </a:avLst>
          </a:prstGeom>
          <a:solidFill>
            <a:schemeClr val="bg2"/>
          </a:solidFill>
          <a:ln/>
        </p:spPr>
      </p:sp>
      <p:sp>
        <p:nvSpPr>
          <p:cNvPr id="244" name="icon ring glance 0 labels"/>
          <p:cNvSpPr/>
          <p:nvPr/>
        </p:nvSpPr>
        <p:spPr>
          <a:xfrm>
            <a:off x="9015984" y="3474720"/>
            <a:ext cx="585216" cy="585216"/>
          </a:xfrm>
          <a:prstGeom prst="ellipse">
            <a:avLst/>
          </a:prstGeom>
          <a:solidFill>
            <a:schemeClr val="accent1"/>
          </a:solidFill>
          <a:ln/>
        </p:spPr>
      </p:sp>
      <p:pic>
        <p:nvPicPr>
          <p:cNvPr id="245"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46"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47"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48" name="glance Traced"/>
          <p:cNvSpPr/>
          <p:nvPr/>
        </p:nvSpPr>
        <p:spPr>
          <a:xfrm>
            <a:off x="5806440" y="4517136"/>
            <a:ext cx="2825496" cy="1188720"/>
          </a:xfrm>
          <a:prstGeom prst="roundRect">
            <a:avLst>
              <a:gd name="adj" fmla="val 5385"/>
            </a:avLst>
          </a:prstGeom>
          <a:solidFill>
            <a:schemeClr val="bg2"/>
          </a:solidFill>
          <a:ln/>
        </p:spPr>
      </p:sp>
      <p:sp>
        <p:nvSpPr>
          <p:cNvPr id="249" name="icon ring glance Traced"/>
          <p:cNvSpPr/>
          <p:nvPr/>
        </p:nvSpPr>
        <p:spPr>
          <a:xfrm>
            <a:off x="6007608" y="4818888"/>
            <a:ext cx="585216" cy="585216"/>
          </a:xfrm>
          <a:prstGeom prst="ellipse">
            <a:avLst/>
          </a:prstGeom>
          <a:solidFill>
            <a:schemeClr val="accent1"/>
          </a:solidFill>
          <a:ln/>
        </p:spPr>
      </p:sp>
      <p:pic>
        <p:nvPicPr>
          <p:cNvPr id="250"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51"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52"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53" name="glance Open"/>
          <p:cNvSpPr/>
          <p:nvPr/>
        </p:nvSpPr>
        <p:spPr>
          <a:xfrm>
            <a:off x="8814816" y="4517136"/>
            <a:ext cx="2825496" cy="1188720"/>
          </a:xfrm>
          <a:prstGeom prst="roundRect">
            <a:avLst>
              <a:gd name="adj" fmla="val 5385"/>
            </a:avLst>
          </a:prstGeom>
          <a:solidFill>
            <a:schemeClr val="bg2"/>
          </a:solidFill>
          <a:ln/>
        </p:spPr>
      </p:sp>
      <p:sp>
        <p:nvSpPr>
          <p:cNvPr id="254" name="icon ring glance Open"/>
          <p:cNvSpPr/>
          <p:nvPr/>
        </p:nvSpPr>
        <p:spPr>
          <a:xfrm>
            <a:off x="9015984" y="4818888"/>
            <a:ext cx="585216" cy="585216"/>
          </a:xfrm>
          <a:prstGeom prst="ellipse">
            <a:avLst/>
          </a:prstGeom>
          <a:solidFill>
            <a:schemeClr val="accent1"/>
          </a:solidFill>
          <a:ln/>
        </p:spPr>
      </p:sp>
      <p:pic>
        <p:nvPicPr>
          <p:cNvPr id="255"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56"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57"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8"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context is exactly what a support designer receives at one hanger, without the answer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21"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37"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section is built the way trades run services, with gaps measured on a real building</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900" dirty="0"/>
          </a:p>
        </p:txBody>
      </p:sp>
      <p:sp>
        <p:nvSpPr>
          <p:cNvPr id="40"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is traced to a standard, to a measurement, or to a choice we declare as ours</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376672"/>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687568"/>
            <a:ext cx="11091672" cy="694944"/>
          </a:xfrm>
          <a:prstGeom prst="rect">
            <a:avLst/>
          </a:prstGeom>
          <a:noFill/>
          <a:ln/>
        </p:spPr>
        <p:txBody>
          <a:bodyPr wrap="square" lIns="0" tIns="0" rIns="0" bIns="0" rtlCol="0" anchor="b"/>
          <a:lstStyle/>
          <a:p>
            <a:pPr indent="0" marL="0">
              <a:buNone/>
            </a:pPr>
            <a:r>
              <a:rPr lang="en-US" sz="9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900" dirty="0"/>
          </a:p>
        </p:txBody>
      </p:sp>
      <p:sp>
        <p:nvSpPr>
          <p:cNvPr id="50"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tier fixes the element count, and load and congestion grow with it as the rules intend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Generated spacing matches a clinic the generator never saw to within 32 millimetres</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pPr indent="0" marL="0">
              <a:buNone/>
            </a:pPr>
            <a:r>
              <a:rPr lang="en-US" sz="900" dirty="0">
                <a:solidFill>
                  <a:srgbClr val="52514E"/>
                </a:solidFill>
              </a:rPr>
              <a:t>generated vs a real model     </a:t>
            </a:r>
            <a:pPr indent="0" marL="0">
              <a:buNone/>
            </a:pPr>
            <a:r>
              <a:rPr lang="en-US" sz="900" dirty="0">
                <a:solidFill>
                  <a:srgbClr val="2A78D6"/>
                </a:solidFill>
              </a:rPr>
              <a:t>● </a:t>
            </a:r>
            <a:pPr indent="0" marL="0">
              <a:buNone/>
            </a:pPr>
            <a:r>
              <a:rPr lang="en-US" sz="900" dirty="0">
                <a:solidFill>
                  <a:srgbClr val="52514E"/>
                </a:solidFill>
              </a:rPr>
              <a:t>real vs real     </a:t>
            </a:r>
            <a:pPr indent="0" marL="0">
              <a:buNone/>
            </a:pP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900" dirty="0"/>
          </a:p>
        </p:txBody>
      </p:sp>
      <p:sp>
        <p:nvSpPr>
          <p:cNvPr id="54"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paper’s two clamp sizes reach one pipe in seven, and the dataset says which sizes to add</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[2] Pedrollo, Gvadzabia, Graeber &amp; Fischer (2026), CrossMEP, CIB W78 2026 (this paper)</a:t>
            </a:r>
            <a:endParaRPr lang="en-US" sz="900" dirty="0"/>
          </a:p>
        </p:txBody>
      </p:sp>
      <p:sp>
        <p:nvSpPr>
          <p:cNvPr id="1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Pick a tier or an exact mix and a seed, and the Generator Studio returns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1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Methods train on the generator and are compared on one fixed benchmark, tier by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Aptos Mono" pitchFamily="34" charset="0"/>
                <a:ea typeface="Aptos Mono" pitchFamily="34" charset="-122"/>
                <a:cs typeface="Aptos Mono" pitchFamily="34" charset="-120"/>
              </a:rPr>
              <a:t>import crossmep.tasks as cm</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data = cm.load("benchmark")</a:t>
            </a:r>
            <a:pPr indent="0" marL="0">
              <a:buNone/>
            </a:pPr>
            <a:r>
              <a:rPr lang="en-US" sz="1300" dirty="0">
                <a:solidFill>
                  <a:srgbClr val="CADCFC"/>
                </a:solidFill>
                <a:latin typeface="Aptos Mono" pitchFamily="34" charset="0"/>
                <a:ea typeface="Aptos Mono" pitchFamily="34" charset="-122"/>
                <a:cs typeface="Aptos Mono" pitchFamily="34" charset="-120"/>
              </a:rPr>
              <a:t>  # 1,000 contexts, or generate your own mix</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from crossmep.evaluate import score, compare</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score(my_results, data)</a:t>
            </a:r>
            <a:pPr indent="0" marL="0">
              <a:buNone/>
            </a:pPr>
            <a:r>
              <a:rPr lang="en-US" sz="1300" dirty="0">
                <a:solidFill>
                  <a:srgbClr val="CADCFC"/>
                </a:solidFill>
                <a:latin typeface="Aptos Mono" pitchFamily="34" charset="0"/>
                <a:ea typeface="Aptos Mono" pitchFamily="34" charset="-122"/>
                <a:cs typeface="Aptos Mono"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32"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Today CrossMEP is one section at one support, and next come a checker and real projects</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31"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finally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CrossMEP is the brief, not the answer: seven thousand support-design problems, open to anyone who wants to teach a machine to design supports.</a:t>
            </a:r>
            <a:endParaRPr lang="en-US" sz="1600" dirty="0"/>
          </a:p>
          <a:p>
            <a:pPr indent="0" marL="0">
              <a:buNone/>
            </a:pPr>
            <a:r>
              <a:rPr lang="en-US" sz="600" dirty="0">
                <a:solidFill>
                  <a:srgbClr val="CADCFC"/>
                </a:solidFill>
              </a:rPr>
              <a:t> </a:t>
            </a:r>
            <a:endParaRPr lang="en-US" sz="1600" dirty="0"/>
          </a:p>
          <a:p>
            <a:pPr indent="0" marL="0">
              <a:buNone/>
            </a:pPr>
            <a:r>
              <a:rPr lang="en-US" sz="1200" dirty="0">
                <a:solidFill>
                  <a:srgbClr val="CADCFC"/>
                </a:solidFill>
              </a:rPr>
              <a:t>Data CC BY 4.0, code MIT.  Not for the structural design of real installations.</a:t>
            </a:r>
            <a:endParaRPr lang="en-US" sz="1600" dirty="0"/>
          </a:p>
        </p:txBody>
      </p:sp>
      <p:sp>
        <p:nvSpPr>
          <p:cNvPr id="4" name="takeaway 7,000"/>
          <p:cNvSpPr/>
          <p:nvPr/>
        </p:nvSpPr>
        <p:spPr>
          <a:xfrm>
            <a:off x="640080" y="4800600"/>
            <a:ext cx="1771650" cy="1325880"/>
          </a:xfrm>
          <a:prstGeom prst="roundRect">
            <a:avLst>
              <a:gd name="adj" fmla="val 4828"/>
            </a:avLst>
          </a:prstGeom>
          <a:solidFill>
            <a:srgbClr val="2B3946"/>
          </a:solidFill>
          <a:ln/>
        </p:spPr>
      </p:sp>
      <p:pic>
        <p:nvPicPr>
          <p:cNvPr id="5" name="takeaway icon 7,000" descr="preencoded.png">    </p:cNvPr>
          <p:cNvPicPr>
            <a:picLocks noChangeAspect="1"/>
          </p:cNvPicPr>
          <p:nvPr/>
        </p:nvPicPr>
        <p:blipFill>
          <a:blip r:embed="rId1"/>
          <a:stretch>
            <a:fillRect/>
          </a:stretch>
        </p:blipFill>
        <p:spPr>
          <a:xfrm>
            <a:off x="804672" y="4965192"/>
            <a:ext cx="310896" cy="310896"/>
          </a:xfrm>
          <a:prstGeom prst="rect">
            <a:avLst/>
          </a:prstGeom>
        </p:spPr>
      </p:pic>
      <p:sp>
        <p:nvSpPr>
          <p:cNvPr id="6" name="takeaway value 7,000"/>
          <p:cNvSpPr txBox="1"/>
          <p:nvPr/>
        </p:nvSpPr>
        <p:spPr>
          <a:xfrm>
            <a:off x="120700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7,000</a:t>
            </a:r>
            <a:endParaRPr lang="en-US" sz="1700" dirty="0"/>
          </a:p>
        </p:txBody>
      </p:sp>
      <p:sp>
        <p:nvSpPr>
          <p:cNvPr id="7" name="takeaway label 7,000"/>
          <p:cNvSpPr txBox="1"/>
          <p:nvPr/>
        </p:nvSpPr>
        <p:spPr>
          <a:xfrm>
            <a:off x="80467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support-design problems in eight tiers</a:t>
            </a:r>
            <a:endParaRPr lang="en-US" sz="1050" dirty="0"/>
          </a:p>
        </p:txBody>
      </p:sp>
      <p:sp>
        <p:nvSpPr>
          <p:cNvPr id="8" name="takeaway Sourced"/>
          <p:cNvSpPr/>
          <p:nvPr/>
        </p:nvSpPr>
        <p:spPr>
          <a:xfrm>
            <a:off x="2548890" y="4800600"/>
            <a:ext cx="1771650" cy="1325880"/>
          </a:xfrm>
          <a:prstGeom prst="roundRect">
            <a:avLst>
              <a:gd name="adj" fmla="val 4828"/>
            </a:avLst>
          </a:prstGeom>
          <a:solidFill>
            <a:srgbClr val="2B3946"/>
          </a:solidFill>
          <a:ln/>
        </p:spPr>
      </p:sp>
      <p:pic>
        <p:nvPicPr>
          <p:cNvPr id="9" name="takeaway icon Sourced" descr="preencoded.png">    </p:cNvPr>
          <p:cNvPicPr>
            <a:picLocks noChangeAspect="1"/>
          </p:cNvPicPr>
          <p:nvPr/>
        </p:nvPicPr>
        <p:blipFill>
          <a:blip r:embed="rId2"/>
          <a:stretch>
            <a:fillRect/>
          </a:stretch>
        </p:blipFill>
        <p:spPr>
          <a:xfrm>
            <a:off x="2713482" y="4965192"/>
            <a:ext cx="310896" cy="310896"/>
          </a:xfrm>
          <a:prstGeom prst="rect">
            <a:avLst/>
          </a:prstGeom>
        </p:spPr>
      </p:pic>
      <p:sp>
        <p:nvSpPr>
          <p:cNvPr id="10" name="takeaway value Sourced"/>
          <p:cNvSpPr txBox="1"/>
          <p:nvPr/>
        </p:nvSpPr>
        <p:spPr>
          <a:xfrm>
            <a:off x="311581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Sourced</a:t>
            </a:r>
            <a:endParaRPr lang="en-US" sz="1700" dirty="0"/>
          </a:p>
        </p:txBody>
      </p:sp>
      <p:sp>
        <p:nvSpPr>
          <p:cNvPr id="11" name="takeaway label Sourced"/>
          <p:cNvSpPr txBox="1"/>
          <p:nvPr/>
        </p:nvSpPr>
        <p:spPr>
          <a:xfrm>
            <a:off x="271348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every constant sourced or declared</a:t>
            </a:r>
            <a:endParaRPr lang="en-US" sz="1050" dirty="0"/>
          </a:p>
        </p:txBody>
      </p:sp>
      <p:sp>
        <p:nvSpPr>
          <p:cNvPr id="12" name="takeaway Checked"/>
          <p:cNvSpPr/>
          <p:nvPr/>
        </p:nvSpPr>
        <p:spPr>
          <a:xfrm>
            <a:off x="4457700" y="4800600"/>
            <a:ext cx="1771650" cy="1325880"/>
          </a:xfrm>
          <a:prstGeom prst="roundRect">
            <a:avLst>
              <a:gd name="adj" fmla="val 4828"/>
            </a:avLst>
          </a:prstGeom>
          <a:solidFill>
            <a:srgbClr val="2B3946"/>
          </a:solidFill>
          <a:ln/>
        </p:spPr>
      </p:sp>
      <p:pic>
        <p:nvPicPr>
          <p:cNvPr id="13" name="takeaway icon Checked" descr="preencoded.png">    </p:cNvPr>
          <p:cNvPicPr>
            <a:picLocks noChangeAspect="1"/>
          </p:cNvPicPr>
          <p:nvPr/>
        </p:nvPicPr>
        <p:blipFill>
          <a:blip r:embed="rId3"/>
          <a:stretch>
            <a:fillRect/>
          </a:stretch>
        </p:blipFill>
        <p:spPr>
          <a:xfrm>
            <a:off x="4622292" y="4965192"/>
            <a:ext cx="310896" cy="310896"/>
          </a:xfrm>
          <a:prstGeom prst="rect">
            <a:avLst/>
          </a:prstGeom>
        </p:spPr>
      </p:pic>
      <p:sp>
        <p:nvSpPr>
          <p:cNvPr id="14" name="takeaway value Checked"/>
          <p:cNvSpPr txBox="1"/>
          <p:nvPr/>
        </p:nvSpPr>
        <p:spPr>
          <a:xfrm>
            <a:off x="502462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Checked</a:t>
            </a:r>
            <a:endParaRPr lang="en-US" sz="1700" dirty="0"/>
          </a:p>
        </p:txBody>
      </p:sp>
      <p:sp>
        <p:nvSpPr>
          <p:cNvPr id="15" name="takeaway label Checked"/>
          <p:cNvSpPr txBox="1"/>
          <p:nvPr/>
        </p:nvSpPr>
        <p:spPr>
          <a:xfrm>
            <a:off x="462229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pipe gaps tested on two open buildings</a:t>
            </a:r>
            <a:endParaRPr lang="en-US" sz="1050" dirty="0"/>
          </a:p>
        </p:txBody>
      </p:sp>
      <p:sp>
        <p:nvSpPr>
          <p:cNvPr id="16" name="takeaway Open"/>
          <p:cNvSpPr/>
          <p:nvPr/>
        </p:nvSpPr>
        <p:spPr>
          <a:xfrm>
            <a:off x="6366510" y="4800600"/>
            <a:ext cx="1771650" cy="1325880"/>
          </a:xfrm>
          <a:prstGeom prst="roundRect">
            <a:avLst>
              <a:gd name="adj" fmla="val 4828"/>
            </a:avLst>
          </a:prstGeom>
          <a:solidFill>
            <a:srgbClr val="2B3946"/>
          </a:solidFill>
          <a:ln/>
        </p:spPr>
      </p:sp>
      <p:pic>
        <p:nvPicPr>
          <p:cNvPr id="17" name="takeaway icon Open" descr="preencoded.png">    </p:cNvPr>
          <p:cNvPicPr>
            <a:picLocks noChangeAspect="1"/>
          </p:cNvPicPr>
          <p:nvPr/>
        </p:nvPicPr>
        <p:blipFill>
          <a:blip r:embed="rId4"/>
          <a:stretch>
            <a:fillRect/>
          </a:stretch>
        </p:blipFill>
        <p:spPr>
          <a:xfrm>
            <a:off x="6531102" y="4965192"/>
            <a:ext cx="310896" cy="310896"/>
          </a:xfrm>
          <a:prstGeom prst="rect">
            <a:avLst/>
          </a:prstGeom>
        </p:spPr>
      </p:pic>
      <p:sp>
        <p:nvSpPr>
          <p:cNvPr id="18" name="takeaway value Open"/>
          <p:cNvSpPr txBox="1"/>
          <p:nvPr/>
        </p:nvSpPr>
        <p:spPr>
          <a:xfrm>
            <a:off x="693343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Open</a:t>
            </a:r>
            <a:endParaRPr lang="en-US" sz="1700" dirty="0"/>
          </a:p>
        </p:txBody>
      </p:sp>
      <p:sp>
        <p:nvSpPr>
          <p:cNvPr id="19" name="takeaway label Open"/>
          <p:cNvSpPr txBox="1"/>
          <p:nvPr/>
        </p:nvSpPr>
        <p:spPr>
          <a:xfrm>
            <a:off x="653110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data, code and generator</a:t>
            </a:r>
            <a:endParaRPr lang="en-US" sz="1050" dirty="0"/>
          </a:p>
        </p:txBody>
      </p:sp>
      <p:pic>
        <p:nvPicPr>
          <p:cNvPr id="20" name="qr closing" descr="/home/user/crossmep_dataset/docs/figures/qr_repo.png">    </p:cNvPr>
          <p:cNvPicPr>
            <a:picLocks noChangeAspect="1"/>
          </p:cNvPicPr>
          <p:nvPr/>
        </p:nvPicPr>
        <p:blipFill>
          <a:blip r:embed="rId5"/>
          <a:stretch>
            <a:fillRect/>
          </a:stretch>
        </p:blipFill>
        <p:spPr>
          <a:xfrm>
            <a:off x="9006840" y="1600200"/>
            <a:ext cx="2011680" cy="2011680"/>
          </a:xfrm>
          <a:prstGeom prst="rect">
            <a:avLst/>
          </a:prstGeom>
        </p:spPr>
      </p:pic>
      <p:sp>
        <p:nvSpPr>
          <p:cNvPr id="21" name="closing link"/>
          <p:cNvSpPr txBox="1"/>
          <p:nvPr/>
        </p:nvSpPr>
        <p:spPr>
          <a:xfrm>
            <a:off x="8229600" y="3703320"/>
            <a:ext cx="3566160" cy="68580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
        <p:nvSpPr>
          <p:cNvPr id="22" name="logo chip"/>
          <p:cNvSpPr/>
          <p:nvPr/>
        </p:nvSpPr>
        <p:spPr>
          <a:xfrm>
            <a:off x="8229600" y="4892040"/>
            <a:ext cx="3566160" cy="1188720"/>
          </a:xfrm>
          <a:prstGeom prst="roundRect">
            <a:avLst>
              <a:gd name="adj" fmla="val 6154"/>
            </a:avLst>
          </a:prstGeom>
          <a:solidFill>
            <a:srgbClr val="FFFFFF"/>
          </a:solidFill>
          <a:ln/>
        </p:spPr>
      </p:sp>
      <p:pic>
        <p:nvPicPr>
          <p:cNvPr id="23" name="logo stanford" descr="preencoded.png">    </p:cNvPr>
          <p:cNvPicPr>
            <a:picLocks noChangeAspect="1"/>
          </p:cNvPicPr>
          <p:nvPr/>
        </p:nvPicPr>
        <p:blipFill>
          <a:blip r:embed="rId6"/>
          <a:stretch>
            <a:fillRect/>
          </a:stretch>
        </p:blipFill>
        <p:spPr>
          <a:xfrm>
            <a:off x="8412480" y="5078476"/>
            <a:ext cx="2011680" cy="815848"/>
          </a:xfrm>
          <a:prstGeom prst="rect">
            <a:avLst/>
          </a:prstGeom>
        </p:spPr>
      </p:pic>
      <p:pic>
        <p:nvPicPr>
          <p:cNvPr id="24" name="logo hilti" descr="preencoded.png">    </p:cNvPr>
          <p:cNvPicPr>
            <a:picLocks noChangeAspect="1"/>
          </p:cNvPicPr>
          <p:nvPr/>
        </p:nvPicPr>
        <p:blipFill>
          <a:blip r:embed="rId7"/>
          <a:stretch>
            <a:fillRect/>
          </a:stretch>
        </p:blipFill>
        <p:spPr>
          <a:xfrm>
            <a:off x="10607040" y="5364189"/>
            <a:ext cx="1005840" cy="244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2026-10-07T02:32:01Z</dcterms:created>
  <dcterms:modified xsi:type="dcterms:W3CDTF">2026-10-07T02:32:01Z</dcterms:modified>
</cp:coreProperties>
</file>