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6eece79-1ce1-5c3e-6d69-37583bdfcc27}">
          <p14:sldIdLst>
            <p14:sldId id="256"/>
          </p14:sldIdLst>
        </p14:section>
        <p14:section name="Motivation" id="{8be7afa7-71e9-d7f2-ca59-ac91f4d5e4e1}">
          <p14:sldIdLst>
            <p14:sldId id="257"/>
            <p14:sldId id="258"/>
          </p14:sldIdLst>
        </p14:section>
        <p14:section name="The dataset" id="{d8587ef5-79a1-46e9-3526-caafef1e76ef}">
          <p14:sldIdLst>
            <p14:sldId id="259"/>
            <p14:sldId id="260"/>
            <p14:sldId id="261"/>
            <p14:sldId id="262"/>
            <p14:sldId id="263"/>
          </p14:sldIdLst>
        </p14:section>
        <p14:section name="Experiments" id="{884b2a48-e498-fe43-ba0a-6a48be8872dd}">
          <p14:sldIdLst>
            <p14:sldId id="264"/>
            <p14:sldId id="265"/>
            <p14:sldId id="266"/>
          </p14:sldIdLst>
        </p14:section>
        <p14:section name="Use" id="{52163845-df48-443a-c925-337414024f5f}">
          <p14:sldIdLst>
            <p14:sldId id="267"/>
            <p14:sldId id="268"/>
            <p14:sldId id="269"/>
          </p14:sldIdLst>
        </p14:section>
        <p14:section name="Appendix" id="{9b4dc607-6417-0e5c-12ad-a5441c7af412}">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Elements by kind, all splits</a:t>
            </a:r>
          </a:p>
        </c:rich>
      </c:tx>
      <c:layout/>
      <c:overlay val="0"/>
    </c:title>
    <c:autoTitleDeleted val="0"/>
    <c:plotArea>
      <c:layout/>
      <c:barChart>
        <c:barDir val="bar"/>
        <c:grouping val="clustered"/>
        <c:varyColors val="0"/>
        <c:ser>
          <c:idx val="0"/>
          <c:order val="0"/>
          <c:tx>
            <c:strRef>
              <c:f>Sheet1!$B$1</c:f>
              <c:strCache>
                <c:ptCount val="1"/>
                <c:pt idx="0">
                  <c:v>elements</c:v>
                </c:pt>
              </c:strCache>
            </c:strRef>
          </c:tx>
          <c:spPr>
            <a:solidFill>
              <a:srgbClr val="2A78D6"/>
            </a:solidFill>
            <a:effectLst/>
          </c:spPr>
          <c:invertIfNegative val="0"/>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cat>
            <c:multiLvlStrRef>
              <c:f>Sheet1!$A$2:$A$5</c:f>
              <c:multiLvlStrCache>
                <c:ptCount val="4"/>
                <c:lvl>
                  <c:pt idx="0">
                    <c:v>pipes</c:v>
                  </c:pt>
                  <c:pt idx="1">
                    <c:v>conduits</c:v>
                  </c:pt>
                  <c:pt idx="2">
                    <c:v>cable trays</c:v>
                  </c:pt>
                  <c:pt idx="3">
                    <c:v>ducts</c:v>
                  </c:pt>
                </c:lvl>
              </c:multiLvlStrCache>
            </c:multiLvlStrRef>
          </c:cat>
          <c:val>
            <c:numRef>
              <c:f>Sheet1!$B$2:$B$5</c:f>
              <c:numCache>
                <c:formatCode>General</c:formatCode>
                <c:ptCount val="4"/>
                <c:pt idx="0">
                  <c:v>17984</c:v>
                </c:pt>
                <c:pt idx="1">
                  <c:v>7617</c:v>
                </c:pt>
                <c:pt idx="2">
                  <c:v>3975</c:v>
                </c:pt>
                <c:pt idx="3">
                  <c:v>1908</c:v>
                </c:pt>
              </c:numCache>
            </c:numRef>
          </c:val>
        </c:ser>
        <c:dLbls>
          <c:numFmt formatCode="#,##0" sourceLinked="0"/>
          <c:txPr>
            <a:bodyPr/>
            <a:lstStyle/>
            <a:p>
              <a:pPr>
                <a:defRPr b="0" i="0" strike="noStrike" sz="1000" u="none">
                  <a:solidFill>
                    <a:srgbClr val="0B0B0B"/>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all splits</a:t>
            </a:r>
          </a:p>
        </c:rich>
      </c:tx>
      <c:layout/>
      <c:overlay val="0"/>
    </c:title>
    <c:autoTitleDeleted val="0"/>
    <c:plotArea>
      <c:layout/>
      <c:barChart>
        <c:barDir val="col"/>
        <c:grouping val="clustered"/>
        <c:varyColors val="0"/>
        <c:ser>
          <c:idx val="0"/>
          <c:order val="0"/>
          <c:tx>
            <c:strRef>
              <c:f>Sheet1!$B$1</c:f>
              <c:strCache>
                <c:ptCount val="1"/>
                <c:pt idx="0">
                  <c:v>pipes</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1495</c:v>
                </c:pt>
                <c:pt idx="1">
                  <c:v>2415</c:v>
                </c:pt>
                <c:pt idx="2">
                  <c:v>3399</c:v>
                </c:pt>
                <c:pt idx="3">
                  <c:v>3431</c:v>
                </c:pt>
                <c:pt idx="4">
                  <c:v>1924</c:v>
                </c:pt>
                <c:pt idx="5">
                  <c:v>1777</c:v>
                </c:pt>
                <c:pt idx="6">
                  <c:v>1804</c:v>
                </c:pt>
                <c:pt idx="7">
                  <c:v>865</c:v>
                </c:pt>
                <c:pt idx="8">
                  <c:v>874</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40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Pipes by nominal size: what the two-size catalog attaches</a:t>
            </a:r>
          </a:p>
        </c:rich>
      </c:tx>
      <c:layout/>
      <c:overlay val="0"/>
    </c:title>
    <c:autoTitleDeleted val="0"/>
    <c:plotArea>
      <c:layout/>
      <c:barChart>
        <c:barDir val="col"/>
        <c:grouping val="stacked"/>
        <c:varyColors val="0"/>
        <c:ser>
          <c:idx val="0"/>
          <c:order val="0"/>
          <c:tx>
            <c:strRef>
              <c:f>Sheet1!$B$1</c:f>
              <c:strCache>
                <c:ptCount val="1"/>
                <c:pt idx="0">
                  <c:v>attachable</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Sheet1!$B$2:$B$10</c:f>
              <c:numCache>
                <c:formatCode>General</c:formatCode>
                <c:ptCount val="9"/>
                <c:pt idx="0">
                  <c:v>0</c:v>
                </c:pt>
                <c:pt idx="1">
                  <c:v>0</c:v>
                </c:pt>
                <c:pt idx="2">
                  <c:v>0</c:v>
                </c:pt>
                <c:pt idx="3">
                  <c:v>0</c:v>
                </c:pt>
                <c:pt idx="4">
                  <c:v>293</c:v>
                </c:pt>
                <c:pt idx="5">
                  <c:v>0</c:v>
                </c:pt>
                <c:pt idx="6">
                  <c:v>0</c:v>
                </c:pt>
                <c:pt idx="7">
                  <c:v>0</c:v>
                </c:pt>
                <c:pt idx="8">
                  <c:v>0</c:v>
                </c:pt>
              </c:numCache>
            </c:numRef>
          </c:val>
        </c:ser>
        <c:ser>
          <c:idx val="1"/>
          <c:order val="1"/>
          <c:tx>
            <c:strRef>
              <c:f>Sheet1!$C$1</c:f>
              <c:strCache>
                <c:ptCount val="1"/>
                <c:pt idx="0">
                  <c:v>no size fits</c:v>
                </c:pt>
              </c:strCache>
            </c:strRef>
          </c:tx>
          <c:spPr>
            <a:solidFill>
              <a:srgbClr val="CFCDC3"/>
            </a:solidFill>
            <a:effectLst/>
          </c:spPr>
          <c:invertIfNegative val="0"/>
          <c:dLbls>
            <c:numFmt formatCode="#,##0;;;" sourceLinked="0"/>
            <c:txPr>
              <a:bodyPr/>
              <a:lstStyle/>
              <a:p>
                <a:pPr>
                  <a:defRPr b="0" i="0" strike="noStrike" sz="900" u="none">
                    <a:solidFill>
                      <a:srgbClr val="0B0B0B"/>
                    </a:solidFill>
                    <a:latin typeface="+mn-lt"/>
                  </a:defRPr>
                </a:pPr>
              </a:p>
            </c:txPr>
            <c:dLblPos val="ctr"/>
            <c:showLegendKey val="0"/>
            <c:showVal val="1"/>
            <c:showCatName val="0"/>
            <c:showSerName val="0"/>
            <c:showPercent val="0"/>
            <c:showBubbleSize val="0"/>
            <c:showLeaderLines val="0"/>
          </c:dLbls>
          <c:cat>
            <c:multiLvlStrRef>
              <c:f>Sheet1!$A$2:$A$10</c:f>
              <c:multiLvlStrCache>
                <c:ptCount val="9"/>
                <c:lvl>
                  <c:pt idx="0">
                    <c:v>DN15</c:v>
                  </c:pt>
                  <c:pt idx="1">
                    <c:v>DN20</c:v>
                  </c:pt>
                  <c:pt idx="2">
                    <c:v>DN25</c:v>
                  </c:pt>
                  <c:pt idx="3">
                    <c:v>DN32</c:v>
                  </c:pt>
                  <c:pt idx="4">
                    <c:v>DN40</c:v>
                  </c:pt>
                  <c:pt idx="5">
                    <c:v>DN50</c:v>
                  </c:pt>
                  <c:pt idx="6">
                    <c:v>DN65</c:v>
                  </c:pt>
                  <c:pt idx="7">
                    <c:v>DN80</c:v>
                  </c:pt>
                  <c:pt idx="8">
                    <c:v>DN100</c:v>
                  </c:pt>
                </c:lvl>
              </c:multiLvlStrCache>
            </c:multiLvlStrRef>
          </c:cat>
          <c:val>
            <c:numRef>
              <c:f>Sheet1!$C$2:$C$10</c:f>
              <c:numCache>
                <c:formatCode>General</c:formatCode>
                <c:ptCount val="9"/>
                <c:pt idx="0">
                  <c:v>221</c:v>
                </c:pt>
                <c:pt idx="1">
                  <c:v>294</c:v>
                </c:pt>
                <c:pt idx="2">
                  <c:v>523</c:v>
                </c:pt>
                <c:pt idx="3">
                  <c:v>463</c:v>
                </c:pt>
                <c:pt idx="4">
                  <c:v>0</c:v>
                </c:pt>
                <c:pt idx="5">
                  <c:v>245</c:v>
                </c:pt>
                <c:pt idx="6">
                  <c:v>250</c:v>
                </c:pt>
                <c:pt idx="7">
                  <c:v>117</c:v>
                </c:pt>
                <c:pt idx="8">
                  <c:v>123</c:v>
                </c:pt>
              </c:numCache>
            </c:numRef>
          </c:val>
        </c:ser>
        <c:dLbls>
          <c:numFmt formatCode="#,##0;;;" sourceLinked="0"/>
          <c:txPr>
            <a:bodyPr/>
            <a:lstStyle/>
            <a:p>
              <a:pPr>
                <a:defRPr b="0" i="0" strike="noStrike" sz="900" u="none">
                  <a:solidFill>
                    <a:srgbClr val="0B0B0B"/>
                  </a:solidFill>
                  <a:latin typeface="+mn-lt"/>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6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100"/>
      </c:valAx>
      <c:spPr>
        <a:noFill/>
        <a:ln>
          <a:noFill/>
        </a:ln>
        <a:effectLst/>
      </c:spPr>
    </c:plotArea>
    <c:legend>
      <c:legendPos val="b"/>
      <c:overlay val="0"/>
      <c:txPr>
        <a:bodyPr/>
        <a:lstStyle/>
        <a:p>
          <a:pPr>
            <a:defRPr sz="1000">
              <a:solidFill>
                <a:srgbClr val="52514E"/>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B0B0B"/>
                </a:solidFill>
                <a:latin typeface="+mn-lt"/>
              </a:defRPr>
            </a:pPr>
            <a:r>
              <a:rPr sz="1200" b="0" i="0" u="none" strike="noStrike">
                <a:solidFill>
                  <a:srgbClr val="0B0B0B"/>
                </a:solidFill>
                <a:latin typeface="+mn-lt"/>
              </a:rPr>
              <a:t>Best share of pipes (%) that any k clamp sizes could attach</a:t>
            </a:r>
          </a:p>
        </c:rich>
      </c:tx>
      <c:layout/>
      <c:overlay val="0"/>
    </c:title>
    <c:autoTitleDeleted val="0"/>
    <c:plotArea>
      <c:layout/>
      <c:barChart>
        <c:barDir val="col"/>
        <c:grouping val="clustered"/>
        <c:varyColors val="0"/>
        <c:ser>
          <c:idx val="0"/>
          <c:order val="0"/>
          <c:tx>
            <c:strRef>
              <c:f>Sheet1!$B$1</c:f>
              <c:strCache>
                <c:ptCount val="1"/>
                <c:pt idx="0">
                  <c:v>best possible share (%)</c:v>
                </c:pt>
              </c:strCache>
            </c:strRef>
          </c:tx>
          <c:spPr>
            <a:solidFill>
              <a:srgbClr val="2A78D6"/>
            </a:solidFill>
            <a:effectLst/>
          </c:spPr>
          <c:invertIfNegative val="0"/>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cat>
            <c:multiLvlStrRef>
              <c:f>Sheet1!$A$2:$A$13</c:f>
              <c:multiLvlStrCache>
                <c:ptCount val="12"/>
                <c:lvl>
                  <c:pt idx="0">
                    <c:v>1</c:v>
                  </c:pt>
                  <c:pt idx="1">
                    <c:v>2</c:v>
                  </c:pt>
                  <c:pt idx="2">
                    <c:v>3</c:v>
                  </c:pt>
                  <c:pt idx="3">
                    <c:v>4</c:v>
                  </c:pt>
                  <c:pt idx="4">
                    <c:v>5</c:v>
                  </c:pt>
                  <c:pt idx="5">
                    <c:v>6</c:v>
                  </c:pt>
                  <c:pt idx="6">
                    <c:v>7</c:v>
                  </c:pt>
                  <c:pt idx="7">
                    <c:v>8</c:v>
                  </c:pt>
                  <c:pt idx="8">
                    <c:v>9</c:v>
                  </c:pt>
                  <c:pt idx="9">
                    <c:v>10</c:v>
                  </c:pt>
                  <c:pt idx="10">
                    <c:v>11</c:v>
                  </c:pt>
                  <c:pt idx="11">
                    <c:v>12</c:v>
                  </c:pt>
                </c:lvl>
              </c:multiLvlStrCache>
            </c:multiLvlStrRef>
          </c:cat>
          <c:val>
            <c:numRef>
              <c:f>Sheet1!$B$2:$B$13</c:f>
              <c:numCache>
                <c:formatCode>General</c:formatCode>
                <c:ptCount val="12"/>
                <c:pt idx="0">
                  <c:v>22.61763542902333</c:v>
                </c:pt>
                <c:pt idx="1">
                  <c:v>42.981415579280345</c:v>
                </c:pt>
                <c:pt idx="2">
                  <c:v>60.41913799920918</c:v>
                </c:pt>
                <c:pt idx="3">
                  <c:v>67.69474100434955</c:v>
                </c:pt>
                <c:pt idx="4">
                  <c:v>74.06089363384737</c:v>
                </c:pt>
                <c:pt idx="5">
                  <c:v>80.11071569790431</c:v>
                </c:pt>
                <c:pt idx="6">
                  <c:v>84.53934361407671</c:v>
                </c:pt>
                <c:pt idx="7">
                  <c:v>88.1771451166469</c:v>
                </c:pt>
                <c:pt idx="8">
                  <c:v>91.73586397785687</c:v>
                </c:pt>
                <c:pt idx="9">
                  <c:v>95.25504151838672</c:v>
                </c:pt>
                <c:pt idx="10">
                  <c:v>98.69513641755634</c:v>
                </c:pt>
                <c:pt idx="11">
                  <c:v>100</c:v>
                </c:pt>
              </c:numCache>
            </c:numRef>
          </c:val>
        </c:ser>
        <c:dLbls>
          <c:numFmt formatCode="0" sourceLinked="0"/>
          <c:txPr>
            <a:bodyPr/>
            <a:lstStyle/>
            <a:p>
              <a:pPr>
                <a:defRPr b="0" i="0" strike="noStrike" sz="900" u="none">
                  <a:solidFill>
                    <a:srgbClr val="0B0B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2514E"/>
                    </a:solidFill>
                    <a:latin typeface="Arial"/>
                  </a:defRPr>
                </a:pPr>
                <a:r>
                  <a:rPr sz="1000" b="0" i="0" u="none" strike="noStrike">
                    <a:solidFill>
                      <a:srgbClr val="52514E"/>
                    </a:solidFill>
                    <a:latin typeface="Arial"/>
                  </a:rPr>
                  <a:t>number of clamp sizes, each fitting a 6 mm diameter window</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1E0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2514E"/>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Lavinia Pedrollo from Stanford's Center for Integrated Facility Engineering. This is CrossMEP, joint work with David Gvadzabia, Torben Graeber and Martin Fischer: a dataset of the problems a support designer solves, made for training and testing methods that design MEP supports.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pipe, duct and tray in a building hangs from a support assembly: anchors, rods, channel, clamps. On a 200,000 square-foot hospital that is on the order of 10,000 assemblies, each taking 20 minutes to two hours by hand - together roughly a quarter of the MEP design effort. These are practitioner estimates. The work starts after coordination: at every hanger location the designer takes the section across the run and designs a support for exactly what passes through it. That section is the unit of work, and it is the unit of our dataset.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Learning-based methods for this task need many such sections, and none were public. Project models are proprietary, the open ones are not organised around supports, and any one project covers one narrow slice. So we built CrossMEP: 7,000 contexts with about 31,500 elements, stratified into eight tiers, deliberately unlabeled, with every constant traced to its source, checked against an open IFC project, and released openly with the generator.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context. It is a 2-D section at one support location. Each element carries its kind, service and trade, its bare size, its insulation, its load per metre and the span it was sized at - so the load at this support - and its position along and out from the surface. Plus the surface itself: slab or wall, substrate, thickness. What is not in it is the support: no channel, no rods, no anchors, and no 'correct answer', because a feasible support depends on the catalog you build from. The context is the brief; the assembly is the answer. (1:40)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context made? Not by free randomness: by rules you would recognise. The tier fixes the number of elements. We pick the surface. We fill the count with services the way trades actually run - hot and cold together, flow and return together, conduits in groups. Bulky services go nearest the slab: ducts, then containment, then pipes. Gaps between neighbours are drawn from gaps measured on a built project, with a 25 millimetre minimum, plus a small stagger within rows; on walls, electrical stays above water. Finally every context is checked - every pair at least 25 millimetres clear - and it is seeded: the same seed gives the same file, byte for byte.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in a context has a source. Pipe sizes and walls from EN 10220 and 10255, filled with water, at ASME B31.1 water-service spans. Insulation from the German GEG for heated lines and a condensation-control schedule for chilled water. Trays at IEC 61537 widths, loaded full. Ducts at the EN preferred sizes with a manufacturer weight table. Conduits at IEC 61386 sizes with 40 per cent cable fill. The loads are computed from these sources in the code, and every constant is documented with its source and status. Things that are choices - the trade mix, the tier composition - are labelled as design choices, not presented as measurements. (3:20)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release has four splits on disjoint seeds: 5,000 contexts for training, 500 for validation, 500 for test, and a 1,000-context benchmark with 125 per tier. 31,484 elements in total - mostly pipes, then conduits, trays and ducts; pipe sizes from DN15 to DN100, mostly small bore, as in the measured project. Four in five contexts hang from a ceiling, one in five from a wall, and electrical containment is the largest trade by count. Everything is plain JSON with a schema, metadata and a datasheet. (4:05)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data looks like: one benchmark context per tier. C1 is a single element - the most common support in any building. By C8 you have eight services on three rows. Within a tier everything else varies - kinds, trades, surfaces and stacking - so the element count is the one controlled difficulty axis. Note the walls: the section rotates, and electrical sits above water. (4:45)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experiment: are the tiers actually ordered? The element count is exact by construction, so we look at congestion. The median closest gap between elements falls from 120 mm at C2 to about 60 mm at C8, and the median load at the support rises from 0.1 to 1.7 kilonewtons. The trend is near-monotone - with 125 contexts per tier, neighbouring tiers can swap - so difficulty is carried jointly by count, congestion and load, with count as the controlled axis. (5:20)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experiment: is the spacing realistic? We parsed two discipline models of the open buildingSMART Duplex Apartment with IfcOpenShell and measured the gaps between parallel runs. They are irregular, not modular - the median is about 108 mm. The generator samples a lognormal fitted to those gaps. The distance between generated and measured distributions is 41 mm between insulation surfaces and 68 mm between pipe surfaces; the building's own two discipline models are 50 mm apart, and a fixed modular gap would be 139 mm away. So the generated spacing sits in the range of the variation between two real models of one building.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experiment connects the dataset to the task it serves: what must a catalog of clamps cover? Take the two-size catalog from the paper as an illustration. It attaches 11.6 per cent of the pipes - 293 of 2,529, interval 10 to 13 - and every one is a single size, DN40. Load never binds: the heaviest pipe is 0.88 kilonewtons against a 2.5 kilonewton clamp. Trays, ducts and conduits are not covered at all. On the right is what the dataset asks of any catalog: two sizes placed where the pipes are would attach 43 per cent, six sizes 80, and 12 sizes every pipe. So 'what should the catalog contain' becomes a measurement. (7:05)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it takes a few lines. Load a split - the loader needs only the Python standard library - filter by composition, test your own catalog against the benchmark, or generate your own mix with the same rules. There is an interactive gallery for inspection. And because there are no labels, the same files serve reinforcement learning, constraint-programming baselines and human benchmarking: a curriculum over the tiers, per-tier evaluation, and held-out seeds and custom compositions as probes. (7:50)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scope: one section at one support - routing, branches and spacing are outside it, although the span is recorded so a method can vary it. Realism is checked on one open residential project; congested racks rest on practice and standards. The trade mix is a design choice, and the data is not for structural design. Next: measuring per-tier feasibility collapse in a multi-element synthesis environment, verification on commercial corridor models, and an expert plausibility review - which is where we would value your eye. (8:40)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CrossMEP is the brief, not the answer: 7,000 support-design problems, every number traced to its source, checked against a built project, and open. The QR code takes you to the data, the code and the gallery. Thank you. (9:10)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per-tier medians on the benchmark split, and the fit statistics behind experiment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questions on experiment 3. Per tier, the benchmark has only 125 contexts, so its intervals are wide; the population estimate from two thousand generated contexts per tier shows the tiers are about equal. The headline depends on the attach-diameter rule and on bin-edge tolerance because one nominal size, DN100, sits 0.3 millimetres outside a bin. Only size and capacity are tested - clearance, insert orientation and anchors are not - so the coverage is an upper bound on what can be installed.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what one stored context looks like - plain JSON, one object per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rtlCol="0"/>
          <a:lstStyle>
            <a:lvl1pPr indent="0" marL="0">
              <a:buNone/>
              <a:defRPr lang="en-US" sz="1300" dirty="0">
                <a:solidFill>
                  <a:schemeClr val="bg1"/>
                </a:solidFill>
              </a:defRPr>
            </a:lvl1pPr>
          </a:lstStyle>
          <a:p>
            <a:pPr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900" dirty="0">
                <a:solidFill>
                  <a:srgbClr val="898781"/>
                </a:solidFill>
              </a:rPr>
              <a:t>CrossMEP  ·  CIB W78 2026, New Delhi</a:t>
            </a:r>
            <a:endParaRPr lang="en-US" sz="9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rtlCol="0"/>
          <a:lstStyle>
            <a:lvl1pPr indent="0" marL="0">
              <a:buNone/>
              <a:defRPr lang="en-US" sz="1600" dirty="0">
                <a:solidFill>
                  <a:srgbClr val="CADCFC"/>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60120"/>
            <a:ext cx="6949440" cy="2286000"/>
          </a:xfrm>
          <a:prstGeom prst="rect">
            <a:avLst/>
          </a:prstGeom>
          <a:noFill/>
          <a:ln/>
        </p:spPr>
        <p:txBody>
          <a:bodyPr wrap="square" lIns="0" tIns="0" rIns="0" bIns="0" rtlCol="0" anchor="b"/>
          <a:lstStyle/>
          <a:p>
            <a:pPr algn="l" indent="0" marL="0">
              <a:buNone/>
            </a:pPr>
            <a:r>
              <a:rPr lang="en-US" sz="3400" b="1" dirty="0">
                <a:solidFill>
                  <a:schemeClr val="bg1"/>
                </a:solidFill>
              </a:rPr>
              <a:t>CrossMEP: A Tiered Synthetic</a:t>
            </a:r>
            <a:endParaRPr lang="en-US" sz="3400" dirty="0"/>
          </a:p>
          <a:p>
            <a:pPr algn="l" indent="0" marL="0">
              <a:buNone/>
            </a:pPr>
            <a:r>
              <a:rPr lang="en-US" sz="3400" b="1" dirty="0">
                <a:solidFill>
                  <a:schemeClr val="bg1"/>
                </a:solidFill>
              </a:rPr>
              <a:t>Dataset of Multi-Trade MEP</a:t>
            </a:r>
            <a:endParaRPr lang="en-US" sz="3400" dirty="0"/>
          </a:p>
          <a:p>
            <a:pPr algn="l" indent="0" marL="0">
              <a:buNone/>
            </a:pPr>
            <a:r>
              <a:rPr lang="en-US" sz="3400" b="1" dirty="0">
                <a:solidFill>
                  <a:schemeClr val="bg1"/>
                </a:solidFill>
              </a:rPr>
              <a:t>Cross-Sections</a:t>
            </a:r>
            <a:endParaRPr lang="en-US" sz="3400" dirty="0"/>
          </a:p>
        </p:txBody>
      </p:sp>
      <p:sp>
        <p:nvSpPr>
          <p:cNvPr id="3" name="Text 0"/>
          <p:cNvSpPr/>
          <p:nvPr>
            <p:ph idx="101" type="body" hasCustomPrompt="1"/>
          </p:nvPr>
        </p:nvSpPr>
        <p:spPr>
          <a:xfrm>
            <a:off x="640080" y="3429000"/>
            <a:ext cx="6766560" cy="1005840"/>
          </a:xfrm>
          <a:prstGeom prst="rect">
            <a:avLst/>
          </a:prstGeom>
          <a:noFill/>
          <a:ln/>
        </p:spPr>
        <p:txBody>
          <a:bodyPr wrap="square" lIns="0" tIns="0" rIns="0" bIns="0" rtlCol="0" anchor="t"/>
          <a:lstStyle/>
          <a:p>
            <a:pPr indent="0" marL="0">
              <a:buNone/>
            </a:pPr>
            <a:r>
              <a:rPr lang="en-US" sz="1600" dirty="0">
                <a:solidFill>
                  <a:srgbClr val="CADCFC"/>
                </a:solidFill>
              </a:rPr>
              <a:t>A support-design problem distribution for learning-based structural support assembly synthesis</a:t>
            </a:r>
            <a:endParaRPr lang="en-US" sz="1600" dirty="0"/>
          </a:p>
        </p:txBody>
      </p:sp>
      <p:sp>
        <p:nvSpPr>
          <p:cNvPr id="4" name="Text 0"/>
          <p:cNvSpPr/>
          <p:nvPr>
            <p:ph idx="102" type="body" hasCustomPrompt="1"/>
          </p:nvPr>
        </p:nvSpPr>
        <p:spPr>
          <a:xfrm>
            <a:off x="640080" y="4663440"/>
            <a:ext cx="7680960" cy="1463040"/>
          </a:xfrm>
          <a:prstGeom prst="rect">
            <a:avLst/>
          </a:prstGeom>
          <a:noFill/>
          <a:ln/>
        </p:spPr>
        <p:txBody>
          <a:bodyPr wrap="square" lIns="0" tIns="0" rIns="0" bIns="0" rtlCol="0" anchor="t"/>
          <a:lstStyle/>
          <a:p>
            <a:pPr indent="0" marL="0">
              <a:buNone/>
            </a:pPr>
            <a:r>
              <a:rPr lang="en-US" sz="1300" b="1" dirty="0">
                <a:solidFill>
                  <a:schemeClr val="bg1"/>
                </a:solidFill>
              </a:rPr>
              <a:t>Lavinia Pedrollo ¹  ·  David Gvadzabia ²  ·  Torben Graeber ³  ·  Martin Fischer ¹</a:t>
            </a:r>
            <a:endParaRPr lang="en-US" sz="1300" dirty="0"/>
          </a:p>
          <a:p>
            <a:pPr indent="0" marL="0">
              <a:buNone/>
            </a:pPr>
            <a:r>
              <a:rPr lang="en-US" sz="1300" dirty="0">
                <a:solidFill>
                  <a:srgbClr val="CADCFC"/>
                </a:solidFill>
              </a:rPr>
              <a:t>¹ Stanford University, CIFE   ² Lafayette College   ³ Hilti AG</a:t>
            </a:r>
            <a:endParaRPr lang="en-US" sz="1300" dirty="0"/>
          </a:p>
          <a:p>
            <a:pPr indent="0" marL="0">
              <a:buNone/>
            </a:pPr>
            <a:r>
              <a:rPr lang="en-US" sz="600" dirty="0">
                <a:solidFill>
                  <a:schemeClr val="bg1"/>
                </a:solidFill>
              </a:rPr>
              <a:t> </a:t>
            </a:r>
            <a:endParaRPr lang="en-US" sz="1300" dirty="0"/>
          </a:p>
          <a:p>
            <a:pPr indent="0" marL="0">
              <a:buNone/>
            </a:pPr>
            <a:r>
              <a:rPr lang="en-US" sz="1300" dirty="0">
                <a:solidFill>
                  <a:srgbClr val="CADCFC"/>
                </a:solidFill>
              </a:rPr>
              <a:t>43rd International CIB W78 Conference · IT in Construction · New Delhi, 6–8 October 2026</a:t>
            </a:r>
            <a:endParaRPr lang="en-US" sz="1300" dirty="0"/>
          </a:p>
        </p:txBody>
      </p:sp>
      <p:pic>
        <p:nvPicPr>
          <p:cNvPr id="5" name="title art" descr="/home/user/crossmep_dataset/docs/figures/title_art.png">    </p:cNvPr>
          <p:cNvPicPr>
            <a:picLocks noChangeAspect="1"/>
          </p:cNvPicPr>
          <p:nvPr/>
        </p:nvPicPr>
        <p:blipFill>
          <a:blip r:embed="rId1"/>
          <a:stretch>
            <a:fillRect/>
          </a:stretch>
        </p:blipFill>
        <p:spPr>
          <a:xfrm>
            <a:off x="7772400" y="1463040"/>
            <a:ext cx="4023360" cy="2514600"/>
          </a:xfrm>
          <a:prstGeom prst="rect">
            <a:avLst/>
          </a:prstGeom>
        </p:spPr>
      </p:pic>
      <p:sp>
        <p:nvSpPr>
          <p:cNvPr id="6" name="art caption"/>
          <p:cNvSpPr txBox="1"/>
          <p:nvPr/>
        </p:nvSpPr>
        <p:spPr>
          <a:xfrm>
            <a:off x="7772400" y="4069080"/>
            <a:ext cx="4023360" cy="274320"/>
          </a:xfrm>
          <a:prstGeom prst="rect">
            <a:avLst/>
          </a:prstGeom>
          <a:noFill/>
          <a:ln/>
        </p:spPr>
        <p:txBody>
          <a:bodyPr wrap="square" lIns="0" tIns="0" rIns="0" bIns="0" rtlCol="0" anchor="ctr"/>
          <a:lstStyle/>
          <a:p>
            <a:pPr algn="r" indent="0" marL="0">
              <a:buNone/>
            </a:pPr>
            <a:r>
              <a:rPr lang="en-US" sz="1000" dirty="0">
                <a:solidFill>
                  <a:srgbClr val="CADCFC"/>
                </a:solidFill>
              </a:rPr>
              <a:t>a generated C8 context: eight services on three rows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pipe, duct and tray hangs from a support designed by hand</a:t>
            </a:r>
            <a:endParaRPr lang="en-US" sz="2600" dirty="0"/>
          </a:p>
        </p:txBody>
      </p:sp>
      <p:sp>
        <p:nvSpPr>
          <p:cNvPr id="3" name="tile support assemblies in one 200,000 sq ft hospital"/>
          <p:cNvSpPr/>
          <p:nvPr/>
        </p:nvSpPr>
        <p:spPr>
          <a:xfrm>
            <a:off x="548640" y="1417320"/>
            <a:ext cx="3566160" cy="1371600"/>
          </a:xfrm>
          <a:prstGeom prst="roundRect">
            <a:avLst>
              <a:gd name="adj" fmla="val 4667"/>
            </a:avLst>
          </a:prstGeom>
          <a:solidFill>
            <a:schemeClr val="bg2"/>
          </a:solidFill>
          <a:ln/>
        </p:spPr>
      </p:sp>
      <p:sp>
        <p:nvSpPr>
          <p:cNvPr id="4" name="value support assemblies in one 200,000 sq ft hospital"/>
          <p:cNvSpPr txBox="1"/>
          <p:nvPr/>
        </p:nvSpPr>
        <p:spPr>
          <a:xfrm>
            <a:off x="749808" y="150876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 10,000</a:t>
            </a:r>
            <a:endParaRPr lang="en-US" sz="3200" dirty="0"/>
          </a:p>
        </p:txBody>
      </p:sp>
      <p:sp>
        <p:nvSpPr>
          <p:cNvPr id="5" name="label support assemblies in one 200,000 sq ft hospital"/>
          <p:cNvSpPr txBox="1"/>
          <p:nvPr/>
        </p:nvSpPr>
        <p:spPr>
          <a:xfrm>
            <a:off x="749808" y="2212848"/>
            <a:ext cx="3163824" cy="521208"/>
          </a:xfrm>
          <a:prstGeom prst="rect">
            <a:avLst/>
          </a:prstGeom>
          <a:noFill/>
          <a:ln/>
        </p:spPr>
        <p:txBody>
          <a:bodyPr wrap="square" lIns="0" tIns="0" rIns="0" bIns="0" rtlCol="0" anchor="t"/>
          <a:lstStyle/>
          <a:p>
            <a:pPr indent="0" marL="0">
              <a:buNone/>
            </a:pPr>
            <a:r>
              <a:rPr lang="en-US" sz="1200" dirty="0">
                <a:solidFill>
                  <a:srgbClr val="52514E"/>
                </a:solidFill>
              </a:rPr>
              <a:t>support assemblies in one 200,000 sq ft hospital</a:t>
            </a:r>
            <a:endParaRPr lang="en-US" sz="1200" dirty="0"/>
          </a:p>
        </p:txBody>
      </p:sp>
      <p:sp>
        <p:nvSpPr>
          <p:cNvPr id="6" name="tile to design each one by hand, from the coordinated model"/>
          <p:cNvSpPr/>
          <p:nvPr/>
        </p:nvSpPr>
        <p:spPr>
          <a:xfrm>
            <a:off x="548640" y="2926080"/>
            <a:ext cx="3566160" cy="1371600"/>
          </a:xfrm>
          <a:prstGeom prst="roundRect">
            <a:avLst>
              <a:gd name="adj" fmla="val 4667"/>
            </a:avLst>
          </a:prstGeom>
          <a:solidFill>
            <a:schemeClr val="bg2"/>
          </a:solidFill>
          <a:ln/>
        </p:spPr>
      </p:sp>
      <p:sp>
        <p:nvSpPr>
          <p:cNvPr id="7" name="value to design each one by hand, from the coordinated model"/>
          <p:cNvSpPr txBox="1"/>
          <p:nvPr/>
        </p:nvSpPr>
        <p:spPr>
          <a:xfrm>
            <a:off x="749808" y="301752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20 min – 2 h</a:t>
            </a:r>
            <a:endParaRPr lang="en-US" sz="3200" dirty="0"/>
          </a:p>
        </p:txBody>
      </p:sp>
      <p:sp>
        <p:nvSpPr>
          <p:cNvPr id="8" name="label to design each one by hand, from the coordinated model"/>
          <p:cNvSpPr txBox="1"/>
          <p:nvPr/>
        </p:nvSpPr>
        <p:spPr>
          <a:xfrm>
            <a:off x="749808" y="3721608"/>
            <a:ext cx="3163824" cy="521208"/>
          </a:xfrm>
          <a:prstGeom prst="rect">
            <a:avLst/>
          </a:prstGeom>
          <a:noFill/>
          <a:ln/>
        </p:spPr>
        <p:txBody>
          <a:bodyPr wrap="square" lIns="0" tIns="0" rIns="0" bIns="0" rtlCol="0" anchor="t"/>
          <a:lstStyle/>
          <a:p>
            <a:pPr indent="0" marL="0">
              <a:buNone/>
            </a:pPr>
            <a:r>
              <a:rPr lang="en-US" sz="1200" dirty="0">
                <a:solidFill>
                  <a:srgbClr val="52514E"/>
                </a:solidFill>
              </a:rPr>
              <a:t>to design each one by hand, from the coordinated model</a:t>
            </a:r>
            <a:endParaRPr lang="en-US" sz="1200" dirty="0"/>
          </a:p>
        </p:txBody>
      </p:sp>
      <p:sp>
        <p:nvSpPr>
          <p:cNvPr id="9" name="tile of all MEP design effort; on the order of $600K of engineering per project"/>
          <p:cNvSpPr/>
          <p:nvPr/>
        </p:nvSpPr>
        <p:spPr>
          <a:xfrm>
            <a:off x="548640" y="4434840"/>
            <a:ext cx="3566160" cy="1371600"/>
          </a:xfrm>
          <a:prstGeom prst="roundRect">
            <a:avLst>
              <a:gd name="adj" fmla="val 4667"/>
            </a:avLst>
          </a:prstGeom>
          <a:solidFill>
            <a:schemeClr val="bg2"/>
          </a:solidFill>
          <a:ln/>
        </p:spPr>
      </p:sp>
      <p:sp>
        <p:nvSpPr>
          <p:cNvPr id="10" name="value of all MEP design effort; on the order of $600K of engineering per project"/>
          <p:cNvSpPr txBox="1"/>
          <p:nvPr/>
        </p:nvSpPr>
        <p:spPr>
          <a:xfrm>
            <a:off x="749808" y="4526280"/>
            <a:ext cx="3163824" cy="685800"/>
          </a:xfrm>
          <a:prstGeom prst="rect">
            <a:avLst/>
          </a:prstGeom>
          <a:noFill/>
          <a:ln/>
        </p:spPr>
        <p:txBody>
          <a:bodyPr wrap="square" lIns="0" tIns="0" rIns="0" bIns="0" rtlCol="0" anchor="ctr"/>
          <a:lstStyle/>
          <a:p>
            <a:pPr indent="0" marL="0">
              <a:buNone/>
            </a:pPr>
            <a:r>
              <a:rPr lang="en-US" sz="3200" b="1" dirty="0">
                <a:solidFill>
                  <a:schemeClr val="accent1"/>
                </a:solidFill>
              </a:rPr>
              <a:t>≈ ¼</a:t>
            </a:r>
            <a:endParaRPr lang="en-US" sz="3200" dirty="0"/>
          </a:p>
        </p:txBody>
      </p:sp>
      <p:sp>
        <p:nvSpPr>
          <p:cNvPr id="11" name="label of all MEP design effort; on the order of $600K of engineering per project"/>
          <p:cNvSpPr txBox="1"/>
          <p:nvPr/>
        </p:nvSpPr>
        <p:spPr>
          <a:xfrm>
            <a:off x="749808" y="5230368"/>
            <a:ext cx="3163824" cy="521208"/>
          </a:xfrm>
          <a:prstGeom prst="rect">
            <a:avLst/>
          </a:prstGeom>
          <a:noFill/>
          <a:ln/>
        </p:spPr>
        <p:txBody>
          <a:bodyPr wrap="square" lIns="0" tIns="0" rIns="0" bIns="0" rtlCol="0" anchor="t"/>
          <a:lstStyle/>
          <a:p>
            <a:pPr indent="0" marL="0">
              <a:buNone/>
            </a:pPr>
            <a:r>
              <a:rPr lang="en-US" sz="1200" dirty="0">
                <a:solidFill>
                  <a:srgbClr val="52514E"/>
                </a:solidFill>
              </a:rPr>
              <a:t>of all MEP design effort; on the order of $600K of engineering per project</a:t>
            </a:r>
            <a:endParaRPr lang="en-US" sz="1200" dirty="0"/>
          </a:p>
        </p:txBody>
      </p:sp>
      <p:sp>
        <p:nvSpPr>
          <p:cNvPr id="12" name="estimates note"/>
          <p:cNvSpPr txBox="1"/>
          <p:nvPr/>
        </p:nvSpPr>
        <p:spPr>
          <a:xfrm>
            <a:off x="548640" y="5897880"/>
            <a:ext cx="3566160" cy="274320"/>
          </a:xfrm>
          <a:prstGeom prst="rect">
            <a:avLst/>
          </a:prstGeom>
          <a:noFill/>
          <a:ln/>
        </p:spPr>
        <p:txBody>
          <a:bodyPr wrap="square" lIns="0" tIns="0" rIns="0" bIns="0" rtlCol="0" anchor="t"/>
          <a:lstStyle/>
          <a:p>
            <a:pPr indent="0" marL="0">
              <a:buNone/>
            </a:pPr>
            <a:r>
              <a:rPr lang="en-US" sz="1100" dirty="0">
                <a:solidFill>
                  <a:srgbClr val="52514E"/>
                </a:solidFill>
              </a:rPr>
              <a:t>Approximate practitioner estimates.</a:t>
            </a:r>
            <a:endParaRPr lang="en-US" sz="1100" dirty="0"/>
          </a:p>
        </p:txBody>
      </p:sp>
      <p:pic>
        <p:nvPicPr>
          <p:cNvPr id="13" name="route to section" descr="/home/user/crossmep_dataset/docs/figures/paper_fig1_route_to_section.png">    </p:cNvPr>
          <p:cNvPicPr>
            <a:picLocks noChangeAspect="1"/>
          </p:cNvPicPr>
          <p:nvPr/>
        </p:nvPicPr>
        <p:blipFill>
          <a:blip r:embed="rId1"/>
          <a:stretch>
            <a:fillRect/>
          </a:stretch>
        </p:blipFill>
        <p:spPr>
          <a:xfrm>
            <a:off x="4480560" y="1525290"/>
            <a:ext cx="7159752" cy="1978621"/>
          </a:xfrm>
          <a:prstGeom prst="rect">
            <a:avLst/>
          </a:prstGeom>
        </p:spPr>
      </p:pic>
      <p:sp>
        <p:nvSpPr>
          <p:cNvPr id="14" name="fig1 caption"/>
          <p:cNvSpPr txBox="1"/>
          <p:nvPr/>
        </p:nvSpPr>
        <p:spPr>
          <a:xfrm>
            <a:off x="4480560" y="3641070"/>
            <a:ext cx="7159752" cy="685800"/>
          </a:xfrm>
          <a:prstGeom prst="rect">
            <a:avLst/>
          </a:prstGeom>
          <a:noFill/>
          <a:ln/>
        </p:spPr>
        <p:txBody>
          <a:bodyPr wrap="square" lIns="0" tIns="0" rIns="0" bIns="0" rtlCol="0" anchor="t"/>
          <a:lstStyle/>
          <a:p>
            <a:pPr indent="0" marL="0">
              <a:buNone/>
            </a:pPr>
            <a:r>
              <a:rPr lang="en-US" sz="1100" dirty="0">
                <a:solidFill>
                  <a:srgbClr val="52514E"/>
                </a:solidFill>
              </a:rPr>
              <a:t>Support design starts after coordination. At each hanger location the designer works from the section across the run: what passes, how big, how heavy, how far apart, what it hangs from.</a:t>
            </a:r>
            <a:endParaRPr lang="en-US" sz="1100" dirty="0"/>
          </a:p>
        </p:txBody>
      </p:sp>
      <p:sp>
        <p:nvSpPr>
          <p:cNvPr id="15" name="quote card"/>
          <p:cNvSpPr/>
          <p:nvPr/>
        </p:nvSpPr>
        <p:spPr>
          <a:xfrm>
            <a:off x="4480560" y="4434840"/>
            <a:ext cx="7159752" cy="1371600"/>
          </a:xfrm>
          <a:prstGeom prst="roundRect">
            <a:avLst>
              <a:gd name="adj" fmla="val 4667"/>
            </a:avLst>
          </a:prstGeom>
          <a:solidFill>
            <a:schemeClr val="bg2"/>
          </a:solidFill>
          <a:ln/>
        </p:spPr>
      </p:sp>
      <p:sp>
        <p:nvSpPr>
          <p:cNvPr id="16" name="quote"/>
          <p:cNvSpPr txBox="1"/>
          <p:nvPr/>
        </p:nvSpPr>
        <p:spPr>
          <a:xfrm>
            <a:off x="4754880" y="4572000"/>
            <a:ext cx="6611112" cy="1097280"/>
          </a:xfrm>
          <a:prstGeom prst="rect">
            <a:avLst/>
          </a:prstGeom>
          <a:noFill/>
          <a:ln/>
        </p:spPr>
        <p:txBody>
          <a:bodyPr wrap="square" lIns="0" tIns="0" rIns="0" bIns="0" rtlCol="0" anchor="ctr"/>
          <a:lstStyle/>
          <a:p>
            <a:pPr indent="0" marL="0">
              <a:buNone/>
            </a:pPr>
            <a:r>
              <a:rPr lang="en-US" sz="1500" i="1" dirty="0">
                <a:solidFill>
                  <a:schemeClr val="tx1"/>
                </a:solidFill>
              </a:rPr>
              <a:t>Nobody designs a support from the whole model; it is designed from the section at that hanger.</a:t>
            </a:r>
            <a:endParaRPr lang="en-US" sz="1500" dirty="0"/>
          </a:p>
          <a:p>
            <a:pPr indent="0" marL="0">
              <a:buNone/>
            </a:pPr>
            <a:r>
              <a:rPr lang="en-US" sz="1500" b="1" dirty="0">
                <a:solidFill>
                  <a:schemeClr val="tx1"/>
                </a:solidFill>
              </a:rPr>
              <a:t>That section is the unit of work — and the unit of CrossMEP.</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There was no public dataset of support-design problems</a:t>
            </a:r>
            <a:endParaRPr lang="en-US" sz="2600" dirty="0"/>
          </a:p>
        </p:txBody>
      </p:sp>
      <p:sp>
        <p:nvSpPr>
          <p:cNvPr id="3" name="why heading"/>
          <p:cNvSpPr txBox="1"/>
          <p:nvPr/>
        </p:nvSpPr>
        <p:spPr>
          <a:xfrm>
            <a:off x="548640" y="1371600"/>
            <a:ext cx="4937760" cy="365760"/>
          </a:xfrm>
          <a:prstGeom prst="rect">
            <a:avLst/>
          </a:prstGeom>
          <a:noFill/>
          <a:ln/>
        </p:spPr>
        <p:txBody>
          <a:bodyPr wrap="square" lIns="0" tIns="0" rIns="0" bIns="0" rtlCol="0" anchor="ctr"/>
          <a:lstStyle/>
          <a:p>
            <a:pPr indent="0" marL="0">
              <a:buNone/>
            </a:pPr>
            <a:r>
              <a:rPr lang="en-US" sz="1600" b="1" dirty="0">
                <a:solidFill>
                  <a:schemeClr val="tx1"/>
                </a:solidFill>
              </a:rPr>
              <a:t>Why it has to be synthetic</a:t>
            </a:r>
            <a:endParaRPr lang="en-US" sz="1600" dirty="0"/>
          </a:p>
        </p:txBody>
      </p:sp>
      <p:sp>
        <p:nvSpPr>
          <p:cNvPr id="4" name="icon ring Scarcity"/>
          <p:cNvSpPr/>
          <p:nvPr/>
        </p:nvSpPr>
        <p:spPr>
          <a:xfrm>
            <a:off x="548640" y="1874520"/>
            <a:ext cx="530352" cy="530352"/>
          </a:xfrm>
          <a:prstGeom prst="ellipse">
            <a:avLst/>
          </a:prstGeom>
          <a:solidFill>
            <a:schemeClr val="accent1"/>
          </a:solidFill>
          <a:ln/>
        </p:spPr>
      </p:sp>
      <p:pic>
        <p:nvPicPr>
          <p:cNvPr id="5" name="icon Scarcity" descr="preencoded.png">    </p:cNvPr>
          <p:cNvPicPr>
            <a:picLocks noChangeAspect="1"/>
          </p:cNvPicPr>
          <p:nvPr/>
        </p:nvPicPr>
        <p:blipFill>
          <a:blip r:embed="rId1"/>
          <a:stretch>
            <a:fillRect/>
          </a:stretch>
        </p:blipFill>
        <p:spPr>
          <a:xfrm>
            <a:off x="660014" y="1985894"/>
            <a:ext cx="307604" cy="307604"/>
          </a:xfrm>
          <a:prstGeom prst="rect">
            <a:avLst/>
          </a:prstGeom>
        </p:spPr>
      </p:pic>
      <p:sp>
        <p:nvSpPr>
          <p:cNvPr id="6" name="reason Scarcity"/>
          <p:cNvSpPr txBox="1"/>
          <p:nvPr/>
        </p:nvSpPr>
        <p:spPr>
          <a:xfrm>
            <a:off x="1280160" y="18562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Scarcity</a:t>
            </a:r>
            <a:endParaRPr lang="en-US" sz="1500" dirty="0"/>
          </a:p>
        </p:txBody>
      </p:sp>
      <p:sp>
        <p:nvSpPr>
          <p:cNvPr id="7" name="reason text Scarcity"/>
          <p:cNvSpPr txBox="1"/>
          <p:nvPr/>
        </p:nvSpPr>
        <p:spPr>
          <a:xfrm>
            <a:off x="1280160" y="2221992"/>
            <a:ext cx="4206240" cy="868680"/>
          </a:xfrm>
          <a:prstGeom prst="rect">
            <a:avLst/>
          </a:prstGeom>
          <a:noFill/>
          <a:ln/>
        </p:spPr>
        <p:txBody>
          <a:bodyPr wrap="square" lIns="0" tIns="0" rIns="0" bIns="0" rtlCol="0" anchor="t"/>
          <a:lstStyle/>
          <a:p>
            <a:pPr indent="0" marL="0">
              <a:buNone/>
            </a:pPr>
            <a:r>
              <a:rPr lang="en-US" sz="1250" dirty="0">
                <a:solidFill>
                  <a:schemeClr val="tx1"/>
                </a:solidFill>
              </a:rPr>
              <a:t>Project models are proprietary; the few open ones are not organised around supports and often export no element sizes.</a:t>
            </a:r>
            <a:endParaRPr lang="en-US" sz="1250" dirty="0"/>
          </a:p>
        </p:txBody>
      </p:sp>
      <p:sp>
        <p:nvSpPr>
          <p:cNvPr id="8" name="icon ring Coverage"/>
          <p:cNvSpPr/>
          <p:nvPr/>
        </p:nvSpPr>
        <p:spPr>
          <a:xfrm>
            <a:off x="548640" y="3246120"/>
            <a:ext cx="530352" cy="530352"/>
          </a:xfrm>
          <a:prstGeom prst="ellipse">
            <a:avLst/>
          </a:prstGeom>
          <a:solidFill>
            <a:schemeClr val="accent1"/>
          </a:solidFill>
          <a:ln/>
        </p:spPr>
      </p:sp>
      <p:pic>
        <p:nvPicPr>
          <p:cNvPr id="9" name="icon Coverage" descr="preencoded.png">    </p:cNvPr>
          <p:cNvPicPr>
            <a:picLocks noChangeAspect="1"/>
          </p:cNvPicPr>
          <p:nvPr/>
        </p:nvPicPr>
        <p:blipFill>
          <a:blip r:embed="rId2"/>
          <a:stretch>
            <a:fillRect/>
          </a:stretch>
        </p:blipFill>
        <p:spPr>
          <a:xfrm>
            <a:off x="660014" y="3357494"/>
            <a:ext cx="307604" cy="307604"/>
          </a:xfrm>
          <a:prstGeom prst="rect">
            <a:avLst/>
          </a:prstGeom>
        </p:spPr>
      </p:pic>
      <p:sp>
        <p:nvSpPr>
          <p:cNvPr id="10" name="reason Coverage"/>
          <p:cNvSpPr txBox="1"/>
          <p:nvPr/>
        </p:nvSpPr>
        <p:spPr>
          <a:xfrm>
            <a:off x="1280160" y="32278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Coverage</a:t>
            </a:r>
            <a:endParaRPr lang="en-US" sz="1500" dirty="0"/>
          </a:p>
        </p:txBody>
      </p:sp>
      <p:sp>
        <p:nvSpPr>
          <p:cNvPr id="11" name="reason text Coverage"/>
          <p:cNvSpPr txBox="1"/>
          <p:nvPr/>
        </p:nvSpPr>
        <p:spPr>
          <a:xfrm>
            <a:off x="1280160" y="3593592"/>
            <a:ext cx="4206240" cy="868680"/>
          </a:xfrm>
          <a:prstGeom prst="rect">
            <a:avLst/>
          </a:prstGeom>
          <a:noFill/>
          <a:ln/>
        </p:spPr>
        <p:txBody>
          <a:bodyPr wrap="square" lIns="0" tIns="0" rIns="0" bIns="0" rtlCol="0" anchor="t"/>
          <a:lstStyle/>
          <a:p>
            <a:pPr indent="0" marL="0">
              <a:buNone/>
            </a:pPr>
            <a:r>
              <a:rPr lang="en-US" sz="1250" dirty="0">
                <a:solidFill>
                  <a:schemeClr val="tx1"/>
                </a:solidFill>
              </a:rPr>
              <a:t>One project is one narrow slice: one building type, one trade mix. A method tuned to it measures fit to that project.</a:t>
            </a:r>
            <a:endParaRPr lang="en-US" sz="1250" dirty="0"/>
          </a:p>
        </p:txBody>
      </p:sp>
      <p:sp>
        <p:nvSpPr>
          <p:cNvPr id="12" name="icon ring Control"/>
          <p:cNvSpPr/>
          <p:nvPr/>
        </p:nvSpPr>
        <p:spPr>
          <a:xfrm>
            <a:off x="548640" y="4617720"/>
            <a:ext cx="530352" cy="530352"/>
          </a:xfrm>
          <a:prstGeom prst="ellipse">
            <a:avLst/>
          </a:prstGeom>
          <a:solidFill>
            <a:schemeClr val="accent1"/>
          </a:solidFill>
          <a:ln/>
        </p:spPr>
      </p:sp>
      <p:pic>
        <p:nvPicPr>
          <p:cNvPr id="13" name="icon Control" descr="preencoded.png">    </p:cNvPr>
          <p:cNvPicPr>
            <a:picLocks noChangeAspect="1"/>
          </p:cNvPicPr>
          <p:nvPr/>
        </p:nvPicPr>
        <p:blipFill>
          <a:blip r:embed="rId3"/>
          <a:stretch>
            <a:fillRect/>
          </a:stretch>
        </p:blipFill>
        <p:spPr>
          <a:xfrm>
            <a:off x="660014" y="4729094"/>
            <a:ext cx="307604" cy="307604"/>
          </a:xfrm>
          <a:prstGeom prst="rect">
            <a:avLst/>
          </a:prstGeom>
        </p:spPr>
      </p:pic>
      <p:sp>
        <p:nvSpPr>
          <p:cNvPr id="14" name="reason Control"/>
          <p:cNvSpPr txBox="1"/>
          <p:nvPr/>
        </p:nvSpPr>
        <p:spPr>
          <a:xfrm>
            <a:off x="1280160" y="4599432"/>
            <a:ext cx="4206240" cy="329184"/>
          </a:xfrm>
          <a:prstGeom prst="rect">
            <a:avLst/>
          </a:prstGeom>
          <a:noFill/>
          <a:ln/>
        </p:spPr>
        <p:txBody>
          <a:bodyPr wrap="square" lIns="0" tIns="0" rIns="0" bIns="0" rtlCol="0" anchor="ctr"/>
          <a:lstStyle/>
          <a:p>
            <a:pPr indent="0" marL="0">
              <a:buNone/>
            </a:pPr>
            <a:r>
              <a:rPr lang="en-US" sz="1500" b="1" dirty="0">
                <a:solidFill>
                  <a:schemeClr val="tx1"/>
                </a:solidFill>
              </a:rPr>
              <a:t>Control</a:t>
            </a:r>
            <a:endParaRPr lang="en-US" sz="1500" dirty="0"/>
          </a:p>
        </p:txBody>
      </p:sp>
      <p:sp>
        <p:nvSpPr>
          <p:cNvPr id="15" name="reason text Control"/>
          <p:cNvSpPr txBox="1"/>
          <p:nvPr/>
        </p:nvSpPr>
        <p:spPr>
          <a:xfrm>
            <a:off x="1280160" y="4965192"/>
            <a:ext cx="4206240" cy="868680"/>
          </a:xfrm>
          <a:prstGeom prst="rect">
            <a:avLst/>
          </a:prstGeom>
          <a:noFill/>
          <a:ln/>
        </p:spPr>
        <p:txBody>
          <a:bodyPr wrap="square" lIns="0" tIns="0" rIns="0" bIns="0" rtlCol="0" anchor="t"/>
          <a:lstStyle/>
          <a:p>
            <a:pPr indent="0" marL="0">
              <a:buNone/>
            </a:pPr>
            <a:r>
              <a:rPr lang="en-US" sz="1250" dirty="0">
                <a:solidFill>
                  <a:schemeClr val="tx1"/>
                </a:solidFill>
              </a:rPr>
              <a:t>A seeded generator gives unlimited problems with a known distribution, difficulty by construction and held-out seeds.</a:t>
            </a:r>
            <a:endParaRPr lang="en-US" sz="1250" dirty="0"/>
          </a:p>
        </p:txBody>
      </p:sp>
      <p:sp>
        <p:nvSpPr>
          <p:cNvPr id="16" name="glance heading"/>
          <p:cNvSpPr txBox="1"/>
          <p:nvPr/>
        </p:nvSpPr>
        <p:spPr>
          <a:xfrm>
            <a:off x="5806440" y="1371600"/>
            <a:ext cx="5833872" cy="365760"/>
          </a:xfrm>
          <a:prstGeom prst="rect">
            <a:avLst/>
          </a:prstGeom>
          <a:noFill/>
          <a:ln/>
        </p:spPr>
        <p:txBody>
          <a:bodyPr wrap="square" lIns="0" tIns="0" rIns="0" bIns="0" rtlCol="0" anchor="ctr"/>
          <a:lstStyle/>
          <a:p>
            <a:pPr indent="0" marL="0">
              <a:buNone/>
            </a:pPr>
            <a:r>
              <a:rPr lang="en-US" sz="1600" b="1" dirty="0">
                <a:solidFill>
                  <a:schemeClr val="tx1"/>
                </a:solidFill>
              </a:rPr>
              <a:t>CrossMEP at a glance</a:t>
            </a:r>
            <a:endParaRPr lang="en-US" sz="1600" dirty="0"/>
          </a:p>
        </p:txBody>
      </p:sp>
      <p:sp>
        <p:nvSpPr>
          <p:cNvPr id="17" name="tile contexts in four splits on disjoint seeds"/>
          <p:cNvSpPr/>
          <p:nvPr/>
        </p:nvSpPr>
        <p:spPr>
          <a:xfrm>
            <a:off x="5806440" y="1874520"/>
            <a:ext cx="1822704" cy="1965960"/>
          </a:xfrm>
          <a:prstGeom prst="roundRect">
            <a:avLst>
              <a:gd name="adj" fmla="val 3512"/>
            </a:avLst>
          </a:prstGeom>
          <a:solidFill>
            <a:schemeClr val="bg2"/>
          </a:solidFill>
          <a:ln/>
        </p:spPr>
      </p:sp>
      <p:sp>
        <p:nvSpPr>
          <p:cNvPr id="18" name="value contexts in four splits on disjoint seeds"/>
          <p:cNvSpPr txBox="1"/>
          <p:nvPr/>
        </p:nvSpPr>
        <p:spPr>
          <a:xfrm>
            <a:off x="6007608"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7,000</a:t>
            </a:r>
            <a:endParaRPr lang="en-US" sz="2600" dirty="0"/>
          </a:p>
        </p:txBody>
      </p:sp>
      <p:sp>
        <p:nvSpPr>
          <p:cNvPr id="19" name="label contexts in four splits on disjoint seeds"/>
          <p:cNvSpPr txBox="1"/>
          <p:nvPr/>
        </p:nvSpPr>
        <p:spPr>
          <a:xfrm>
            <a:off x="6007608"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contexts in four splits on disjoint seeds</a:t>
            </a:r>
            <a:endParaRPr lang="en-US" sz="1150" dirty="0"/>
          </a:p>
        </p:txBody>
      </p:sp>
      <p:sp>
        <p:nvSpPr>
          <p:cNvPr id="20" name="tile elements: pipes, cable trays, ducts and conduits; six trades"/>
          <p:cNvSpPr/>
          <p:nvPr/>
        </p:nvSpPr>
        <p:spPr>
          <a:xfrm>
            <a:off x="7812024" y="1874520"/>
            <a:ext cx="1822704" cy="1965960"/>
          </a:xfrm>
          <a:prstGeom prst="roundRect">
            <a:avLst>
              <a:gd name="adj" fmla="val 3512"/>
            </a:avLst>
          </a:prstGeom>
          <a:solidFill>
            <a:schemeClr val="bg2"/>
          </a:solidFill>
          <a:ln/>
        </p:spPr>
      </p:sp>
      <p:sp>
        <p:nvSpPr>
          <p:cNvPr id="21" name="value elements: pipes, cable trays, ducts and conduits; six trades"/>
          <p:cNvSpPr txBox="1"/>
          <p:nvPr/>
        </p:nvSpPr>
        <p:spPr>
          <a:xfrm>
            <a:off x="8013192"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31,484</a:t>
            </a:r>
            <a:endParaRPr lang="en-US" sz="2600" dirty="0"/>
          </a:p>
        </p:txBody>
      </p:sp>
      <p:sp>
        <p:nvSpPr>
          <p:cNvPr id="22" name="label elements: pipes, cable trays, ducts and conduits; six trades"/>
          <p:cNvSpPr txBox="1"/>
          <p:nvPr/>
        </p:nvSpPr>
        <p:spPr>
          <a:xfrm>
            <a:off x="8013192"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elements: pipes, cable trays, ducts and conduits; six trades</a:t>
            </a:r>
            <a:endParaRPr lang="en-US" sz="1150" dirty="0"/>
          </a:p>
        </p:txBody>
      </p:sp>
      <p:sp>
        <p:nvSpPr>
          <p:cNvPr id="23" name="tile eight difficulty tiers by exact element count"/>
          <p:cNvSpPr/>
          <p:nvPr/>
        </p:nvSpPr>
        <p:spPr>
          <a:xfrm>
            <a:off x="9817608" y="1874520"/>
            <a:ext cx="1822704" cy="1965960"/>
          </a:xfrm>
          <a:prstGeom prst="roundRect">
            <a:avLst>
              <a:gd name="adj" fmla="val 3512"/>
            </a:avLst>
          </a:prstGeom>
          <a:solidFill>
            <a:schemeClr val="bg2"/>
          </a:solidFill>
          <a:ln/>
        </p:spPr>
      </p:sp>
      <p:sp>
        <p:nvSpPr>
          <p:cNvPr id="24" name="value eight difficulty tiers by exact element count"/>
          <p:cNvSpPr txBox="1"/>
          <p:nvPr/>
        </p:nvSpPr>
        <p:spPr>
          <a:xfrm>
            <a:off x="10018776" y="196596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C1–C8</a:t>
            </a:r>
            <a:endParaRPr lang="en-US" sz="2600" dirty="0"/>
          </a:p>
        </p:txBody>
      </p:sp>
      <p:sp>
        <p:nvSpPr>
          <p:cNvPr id="25" name="label eight difficulty tiers by exact element count"/>
          <p:cNvSpPr txBox="1"/>
          <p:nvPr/>
        </p:nvSpPr>
        <p:spPr>
          <a:xfrm>
            <a:off x="10018776" y="3014777"/>
            <a:ext cx="1420368" cy="747065"/>
          </a:xfrm>
          <a:prstGeom prst="rect">
            <a:avLst/>
          </a:prstGeom>
          <a:noFill/>
          <a:ln/>
        </p:spPr>
        <p:txBody>
          <a:bodyPr wrap="square" lIns="0" tIns="0" rIns="0" bIns="0" rtlCol="0" anchor="t"/>
          <a:lstStyle/>
          <a:p>
            <a:pPr indent="0" marL="0">
              <a:buNone/>
            </a:pPr>
            <a:r>
              <a:rPr lang="en-US" sz="1150" dirty="0">
                <a:solidFill>
                  <a:srgbClr val="52514E"/>
                </a:solidFill>
              </a:rPr>
              <a:t>eight difficulty tiers by exact element count</a:t>
            </a:r>
            <a:endParaRPr lang="en-US" sz="1150" dirty="0"/>
          </a:p>
        </p:txBody>
      </p:sp>
      <p:sp>
        <p:nvSpPr>
          <p:cNvPr id="26" name="tile the brief, not the answer: no support-assembly information"/>
          <p:cNvSpPr/>
          <p:nvPr/>
        </p:nvSpPr>
        <p:spPr>
          <a:xfrm>
            <a:off x="5806440" y="4023360"/>
            <a:ext cx="1822704" cy="1965960"/>
          </a:xfrm>
          <a:prstGeom prst="roundRect">
            <a:avLst>
              <a:gd name="adj" fmla="val 3512"/>
            </a:avLst>
          </a:prstGeom>
          <a:solidFill>
            <a:schemeClr val="bg2"/>
          </a:solidFill>
          <a:ln/>
        </p:spPr>
      </p:sp>
      <p:sp>
        <p:nvSpPr>
          <p:cNvPr id="27" name="value the brief, not the answer: no support-assembly information"/>
          <p:cNvSpPr txBox="1"/>
          <p:nvPr/>
        </p:nvSpPr>
        <p:spPr>
          <a:xfrm>
            <a:off x="6007608"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0 labels</a:t>
            </a:r>
            <a:endParaRPr lang="en-US" sz="2600" dirty="0"/>
          </a:p>
        </p:txBody>
      </p:sp>
      <p:sp>
        <p:nvSpPr>
          <p:cNvPr id="28" name="label the brief, not the answer: no support-assembly information"/>
          <p:cNvSpPr txBox="1"/>
          <p:nvPr/>
        </p:nvSpPr>
        <p:spPr>
          <a:xfrm>
            <a:off x="6007608"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the brief, not the answer: no support-assembly information</a:t>
            </a:r>
            <a:endParaRPr lang="en-US" sz="1150" dirty="0"/>
          </a:p>
        </p:txBody>
      </p:sp>
      <p:sp>
        <p:nvSpPr>
          <p:cNvPr id="29" name="tile every constant from a standard, a manufacturer table or a measurement"/>
          <p:cNvSpPr/>
          <p:nvPr/>
        </p:nvSpPr>
        <p:spPr>
          <a:xfrm>
            <a:off x="7812024" y="4023360"/>
            <a:ext cx="1822704" cy="1965960"/>
          </a:xfrm>
          <a:prstGeom prst="roundRect">
            <a:avLst>
              <a:gd name="adj" fmla="val 3512"/>
            </a:avLst>
          </a:prstGeom>
          <a:solidFill>
            <a:schemeClr val="bg2"/>
          </a:solidFill>
          <a:ln/>
        </p:spPr>
      </p:sp>
      <p:sp>
        <p:nvSpPr>
          <p:cNvPr id="30" name="value every constant from a standard, a manufacturer table or a measurement"/>
          <p:cNvSpPr txBox="1"/>
          <p:nvPr/>
        </p:nvSpPr>
        <p:spPr>
          <a:xfrm>
            <a:off x="8013192"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Traced</a:t>
            </a:r>
            <a:endParaRPr lang="en-US" sz="2600" dirty="0"/>
          </a:p>
        </p:txBody>
      </p:sp>
      <p:sp>
        <p:nvSpPr>
          <p:cNvPr id="31" name="label every constant from a standard, a manufacturer table or a measurement"/>
          <p:cNvSpPr txBox="1"/>
          <p:nvPr/>
        </p:nvSpPr>
        <p:spPr>
          <a:xfrm>
            <a:off x="8013192"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every constant from a standard, a manufacturer table or a measurement</a:t>
            </a:r>
            <a:endParaRPr lang="en-US" sz="1150" dirty="0"/>
          </a:p>
        </p:txBody>
      </p:sp>
      <p:sp>
        <p:nvSpPr>
          <p:cNvPr id="32" name="tile data CC BY 4.0, code MIT; a seeded, deterministic generator"/>
          <p:cNvSpPr/>
          <p:nvPr/>
        </p:nvSpPr>
        <p:spPr>
          <a:xfrm>
            <a:off x="9817608" y="4023360"/>
            <a:ext cx="1822704" cy="1965960"/>
          </a:xfrm>
          <a:prstGeom prst="roundRect">
            <a:avLst>
              <a:gd name="adj" fmla="val 3512"/>
            </a:avLst>
          </a:prstGeom>
          <a:solidFill>
            <a:schemeClr val="bg2"/>
          </a:solidFill>
          <a:ln/>
        </p:spPr>
      </p:sp>
      <p:sp>
        <p:nvSpPr>
          <p:cNvPr id="33" name="value data CC BY 4.0, code MIT; a seeded, deterministic generator"/>
          <p:cNvSpPr txBox="1"/>
          <p:nvPr/>
        </p:nvSpPr>
        <p:spPr>
          <a:xfrm>
            <a:off x="10018776" y="4114800"/>
            <a:ext cx="1420368" cy="982980"/>
          </a:xfrm>
          <a:prstGeom prst="rect">
            <a:avLst/>
          </a:prstGeom>
          <a:noFill/>
          <a:ln/>
        </p:spPr>
        <p:txBody>
          <a:bodyPr wrap="square" lIns="0" tIns="0" rIns="0" bIns="0" rtlCol="0" anchor="ctr"/>
          <a:lstStyle/>
          <a:p>
            <a:pPr indent="0" marL="0">
              <a:buNone/>
            </a:pPr>
            <a:r>
              <a:rPr lang="en-US" sz="2600" b="1" dirty="0">
                <a:solidFill>
                  <a:schemeClr val="accent1"/>
                </a:solidFill>
              </a:rPr>
              <a:t>Open</a:t>
            </a:r>
            <a:endParaRPr lang="en-US" sz="2600" dirty="0"/>
          </a:p>
        </p:txBody>
      </p:sp>
      <p:sp>
        <p:nvSpPr>
          <p:cNvPr id="34" name="label data CC BY 4.0, code MIT; a seeded, deterministic generator"/>
          <p:cNvSpPr txBox="1"/>
          <p:nvPr/>
        </p:nvSpPr>
        <p:spPr>
          <a:xfrm>
            <a:off x="10018776" y="5163617"/>
            <a:ext cx="1420368" cy="747065"/>
          </a:xfrm>
          <a:prstGeom prst="rect">
            <a:avLst/>
          </a:prstGeom>
          <a:noFill/>
          <a:ln/>
        </p:spPr>
        <p:txBody>
          <a:bodyPr wrap="square" lIns="0" tIns="0" rIns="0" bIns="0" rtlCol="0" anchor="t"/>
          <a:lstStyle/>
          <a:p>
            <a:pPr indent="0" marL="0">
              <a:buNone/>
            </a:pPr>
            <a:r>
              <a:rPr lang="en-US" sz="1150" dirty="0">
                <a:solidFill>
                  <a:srgbClr val="52514E"/>
                </a:solidFill>
              </a:rPr>
              <a:t>data CC BY 4.0, code MIT; a seeded, deterministic generator</a:t>
            </a:r>
            <a:endParaRPr lang="en-US" sz="11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 context is the section at one hanger: the brief, not the answer</a:t>
            </a:r>
            <a:endParaRPr lang="en-US" sz="2600" dirty="0"/>
          </a:p>
        </p:txBody>
      </p:sp>
      <p:pic>
        <p:nvPicPr>
          <p:cNvPr id="3" name="context figure" descr="/home/user/crossmep_dataset/docs/figures/01_what_a_context_is.png">    </p:cNvPr>
          <p:cNvPicPr>
            <a:picLocks noChangeAspect="1"/>
          </p:cNvPicPr>
          <p:nvPr/>
        </p:nvPicPr>
        <p:blipFill>
          <a:blip r:embed="rId1"/>
          <a:stretch>
            <a:fillRect/>
          </a:stretch>
        </p:blipFill>
        <p:spPr>
          <a:xfrm>
            <a:off x="1174606" y="1325880"/>
            <a:ext cx="9839739" cy="4526280"/>
          </a:xfrm>
          <a:prstGeom prst="rect">
            <a:avLst/>
          </a:prstGeom>
        </p:spPr>
      </p:pic>
      <p:sp>
        <p:nvSpPr>
          <p:cNvPr id="4" name="context caption"/>
          <p:cNvSpPr txBox="1"/>
          <p:nvPr/>
        </p:nvSpPr>
        <p:spPr>
          <a:xfrm>
            <a:off x="548640" y="5943600"/>
            <a:ext cx="11091672" cy="502920"/>
          </a:xfrm>
          <a:prstGeom prst="rect">
            <a:avLst/>
          </a:prstGeom>
          <a:noFill/>
          <a:ln/>
        </p:spPr>
        <p:txBody>
          <a:bodyPr wrap="square" lIns="0" tIns="0" rIns="0" bIns="0" rtlCol="0" anchor="t"/>
          <a:lstStyle/>
          <a:p>
            <a:pPr indent="0" marL="0">
              <a:buNone/>
            </a:pPr>
            <a:r>
              <a:rPr lang="en-US" sz="1100" dirty="0">
                <a:solidFill>
                  <a:srgbClr val="52514E"/>
                </a:solidFill>
              </a:rPr>
              <a:t>Per element: kind, service and trade · bare size · insulation per side · load per metre × the span it was sized at = load at the support · position along and out from the surface. Per context: slab or wall, substrate, thickness. Absent by design: channel, rods, clamps, anchors — and any “correct” answer, since a feasible support depends on the catalog you build from.</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How a context is generated: rules, not free randomness</a:t>
            </a:r>
            <a:endParaRPr lang="en-US" sz="2600" dirty="0"/>
          </a:p>
        </p:txBody>
      </p:sp>
      <p:sp>
        <p:nvSpPr>
          <p:cNvPr id="3" name="step circle 1"/>
          <p:cNvSpPr/>
          <p:nvPr/>
        </p:nvSpPr>
        <p:spPr>
          <a:xfrm>
            <a:off x="548640" y="1453896"/>
            <a:ext cx="402336" cy="402336"/>
          </a:xfrm>
          <a:prstGeom prst="ellipse">
            <a:avLst/>
          </a:prstGeom>
          <a:solidFill>
            <a:schemeClr val="accent1"/>
          </a:solidFill>
          <a:ln/>
        </p:spPr>
      </p:sp>
      <p:sp>
        <p:nvSpPr>
          <p:cNvPr id="4" name="step number 1"/>
          <p:cNvSpPr txBox="1"/>
          <p:nvPr/>
        </p:nvSpPr>
        <p:spPr>
          <a:xfrm>
            <a:off x="548640" y="14538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tep 1"/>
          <p:cNvSpPr txBox="1"/>
          <p:nvPr/>
        </p:nvSpPr>
        <p:spPr>
          <a:xfrm>
            <a:off x="1143000" y="132588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Tier. </a:t>
            </a:r>
            <a:pPr indent="0" marL="0">
              <a:buNone/>
            </a:pPr>
            <a:r>
              <a:rPr lang="en-US" sz="1300" dirty="0">
                <a:solidFill>
                  <a:schemeClr val="tx1"/>
                </a:solidFill>
              </a:rPr>
              <a:t>Cn fixes the exact element count, n = 1 … 8.</a:t>
            </a:r>
            <a:endParaRPr lang="en-US" sz="1300" dirty="0"/>
          </a:p>
        </p:txBody>
      </p:sp>
      <p:sp>
        <p:nvSpPr>
          <p:cNvPr id="6" name="step circle 2"/>
          <p:cNvSpPr/>
          <p:nvPr/>
        </p:nvSpPr>
        <p:spPr>
          <a:xfrm>
            <a:off x="548640" y="2240280"/>
            <a:ext cx="402336" cy="402336"/>
          </a:xfrm>
          <a:prstGeom prst="ellipse">
            <a:avLst/>
          </a:prstGeom>
          <a:solidFill>
            <a:schemeClr val="accent1"/>
          </a:solidFill>
          <a:ln/>
        </p:spPr>
      </p:sp>
      <p:sp>
        <p:nvSpPr>
          <p:cNvPr id="7" name="step number 2"/>
          <p:cNvSpPr txBox="1"/>
          <p:nvPr/>
        </p:nvSpPr>
        <p:spPr>
          <a:xfrm>
            <a:off x="548640" y="22402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tep 2"/>
          <p:cNvSpPr txBox="1"/>
          <p:nvPr/>
        </p:nvSpPr>
        <p:spPr>
          <a:xfrm>
            <a:off x="1143000" y="2112264"/>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Surface. </a:t>
            </a:r>
            <a:pPr indent="0" marL="0">
              <a:buNone/>
            </a:pPr>
            <a:r>
              <a:rPr lang="en-US" sz="1300" dirty="0">
                <a:solidFill>
                  <a:schemeClr val="tx1"/>
                </a:solidFill>
              </a:rPr>
              <a:t>Ceiling or wall (78 / 22 %); concrete slab or wall, 150–300 mm thick.</a:t>
            </a:r>
            <a:endParaRPr lang="en-US" sz="1300" dirty="0"/>
          </a:p>
        </p:txBody>
      </p:sp>
      <p:sp>
        <p:nvSpPr>
          <p:cNvPr id="9" name="step circle 3"/>
          <p:cNvSpPr/>
          <p:nvPr/>
        </p:nvSpPr>
        <p:spPr>
          <a:xfrm>
            <a:off x="548640" y="3026664"/>
            <a:ext cx="402336" cy="402336"/>
          </a:xfrm>
          <a:prstGeom prst="ellipse">
            <a:avLst/>
          </a:prstGeom>
          <a:solidFill>
            <a:schemeClr val="accent1"/>
          </a:solidFill>
          <a:ln/>
        </p:spPr>
      </p:sp>
      <p:sp>
        <p:nvSpPr>
          <p:cNvPr id="10" name="step number 3"/>
          <p:cNvSpPr txBox="1"/>
          <p:nvPr/>
        </p:nvSpPr>
        <p:spPr>
          <a:xfrm>
            <a:off x="548640" y="3026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tep 3"/>
          <p:cNvSpPr txBox="1"/>
          <p:nvPr/>
        </p:nvSpPr>
        <p:spPr>
          <a:xfrm>
            <a:off x="1143000" y="2898648"/>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Services. </a:t>
            </a:r>
            <a:pPr indent="0" marL="0">
              <a:buNone/>
            </a:pPr>
            <a:r>
              <a:rPr lang="en-US" sz="1300" dirty="0">
                <a:solidFill>
                  <a:schemeClr val="tx1"/>
                </a:solidFill>
              </a:rPr>
              <a:t>Grouped as trades run: hot + cold pairs, flow + return, chilled banks, sprinkler mains, 1–2 trays, ducts, conduit groups of 2–6.</a:t>
            </a:r>
            <a:endParaRPr lang="en-US" sz="1300" dirty="0"/>
          </a:p>
        </p:txBody>
      </p:sp>
      <p:sp>
        <p:nvSpPr>
          <p:cNvPr id="12" name="step circle 4"/>
          <p:cNvSpPr/>
          <p:nvPr/>
        </p:nvSpPr>
        <p:spPr>
          <a:xfrm>
            <a:off x="548640" y="3813048"/>
            <a:ext cx="402336" cy="402336"/>
          </a:xfrm>
          <a:prstGeom prst="ellipse">
            <a:avLst/>
          </a:prstGeom>
          <a:solidFill>
            <a:schemeClr val="accent1"/>
          </a:solidFill>
          <a:ln/>
        </p:spPr>
      </p:sp>
      <p:sp>
        <p:nvSpPr>
          <p:cNvPr id="13" name="step number 4"/>
          <p:cNvSpPr txBox="1"/>
          <p:nvPr/>
        </p:nvSpPr>
        <p:spPr>
          <a:xfrm>
            <a:off x="548640" y="38130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step 4"/>
          <p:cNvSpPr txBox="1"/>
          <p:nvPr/>
        </p:nvSpPr>
        <p:spPr>
          <a:xfrm>
            <a:off x="1143000" y="3685032"/>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Rows. </a:t>
            </a:r>
            <a:pPr indent="0" marL="0">
              <a:buNone/>
            </a:pPr>
            <a:r>
              <a:rPr lang="en-US" sz="1300" dirty="0">
                <a:solidFill>
                  <a:schemeClr val="tx1"/>
                </a:solidFill>
              </a:rPr>
              <a:t>Bulky first: ducts nearest the surface, then trays and conduits, then pipes.</a:t>
            </a:r>
            <a:endParaRPr lang="en-US" sz="1300" dirty="0"/>
          </a:p>
        </p:txBody>
      </p:sp>
      <p:sp>
        <p:nvSpPr>
          <p:cNvPr id="15" name="step circle 5"/>
          <p:cNvSpPr/>
          <p:nvPr/>
        </p:nvSpPr>
        <p:spPr>
          <a:xfrm>
            <a:off x="548640" y="4599432"/>
            <a:ext cx="402336" cy="402336"/>
          </a:xfrm>
          <a:prstGeom prst="ellipse">
            <a:avLst/>
          </a:prstGeom>
          <a:solidFill>
            <a:schemeClr val="accent1"/>
          </a:solidFill>
          <a:ln/>
        </p:spPr>
      </p:sp>
      <p:sp>
        <p:nvSpPr>
          <p:cNvPr id="16" name="step number 5"/>
          <p:cNvSpPr txBox="1"/>
          <p:nvPr/>
        </p:nvSpPr>
        <p:spPr>
          <a:xfrm>
            <a:off x="548640" y="459943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7" name="step 5"/>
          <p:cNvSpPr txBox="1"/>
          <p:nvPr/>
        </p:nvSpPr>
        <p:spPr>
          <a:xfrm>
            <a:off x="1143000" y="4471416"/>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Spacing. </a:t>
            </a:r>
            <a:pPr indent="0" marL="0">
              <a:buNone/>
            </a:pPr>
            <a:r>
              <a:rPr lang="en-US" sz="1300" dirty="0">
                <a:solidFill>
                  <a:schemeClr val="tx1"/>
                </a:solidFill>
              </a:rPr>
              <a:t>Gaps drawn from gaps measured on a built project (at least 25 mm); stagger within rows; electrical above wet on walls.</a:t>
            </a:r>
            <a:endParaRPr lang="en-US" sz="1300" dirty="0"/>
          </a:p>
        </p:txBody>
      </p:sp>
      <p:sp>
        <p:nvSpPr>
          <p:cNvPr id="18" name="step circle 6"/>
          <p:cNvSpPr/>
          <p:nvPr/>
        </p:nvSpPr>
        <p:spPr>
          <a:xfrm>
            <a:off x="548640" y="5385816"/>
            <a:ext cx="402336" cy="402336"/>
          </a:xfrm>
          <a:prstGeom prst="ellipse">
            <a:avLst/>
          </a:prstGeom>
          <a:solidFill>
            <a:schemeClr val="accent1"/>
          </a:solidFill>
          <a:ln/>
        </p:spPr>
      </p:sp>
      <p:sp>
        <p:nvSpPr>
          <p:cNvPr id="19" name="step number 6"/>
          <p:cNvSpPr txBox="1"/>
          <p:nvPr/>
        </p:nvSpPr>
        <p:spPr>
          <a:xfrm>
            <a:off x="548640" y="538581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0" name="step 6"/>
          <p:cNvSpPr txBox="1"/>
          <p:nvPr/>
        </p:nvSpPr>
        <p:spPr>
          <a:xfrm>
            <a:off x="1143000" y="5257800"/>
            <a:ext cx="4983480" cy="658368"/>
          </a:xfrm>
          <a:prstGeom prst="rect">
            <a:avLst/>
          </a:prstGeom>
          <a:noFill/>
          <a:ln/>
        </p:spPr>
        <p:txBody>
          <a:bodyPr wrap="square" lIns="0" tIns="0" rIns="0" bIns="0" rtlCol="0" anchor="ctr"/>
          <a:lstStyle/>
          <a:p>
            <a:pPr indent="0" marL="0">
              <a:buNone/>
            </a:pPr>
            <a:r>
              <a:rPr lang="en-US" sz="1300" b="1" dirty="0">
                <a:solidFill>
                  <a:schemeClr val="tx1"/>
                </a:solidFill>
              </a:rPr>
              <a:t>Check. </a:t>
            </a:r>
            <a:pPr indent="0" marL="0">
              <a:buNone/>
            </a:pPr>
            <a:r>
              <a:rPr lang="en-US" sz="1300" dirty="0">
                <a:solidFill>
                  <a:schemeClr val="tx1"/>
                </a:solidFill>
              </a:rPr>
              <a:t>Every pair at least 25 mm clear; rows centred; sizes, insulation, loads and positions recorded.</a:t>
            </a:r>
            <a:endParaRPr lang="en-US" sz="1300" dirty="0"/>
          </a:p>
        </p:txBody>
      </p:sp>
      <p:pic>
        <p:nvPicPr>
          <p:cNvPr id="21" name="generation example" descr="/home/user/crossmep_dataset/docs/figures/05_generation_example.png">    </p:cNvPr>
          <p:cNvPicPr>
            <a:picLocks noChangeAspect="1"/>
          </p:cNvPicPr>
          <p:nvPr/>
        </p:nvPicPr>
        <p:blipFill>
          <a:blip r:embed="rId1"/>
          <a:stretch>
            <a:fillRect/>
          </a:stretch>
        </p:blipFill>
        <p:spPr>
          <a:xfrm>
            <a:off x="6309360" y="1582022"/>
            <a:ext cx="5330952" cy="3511075"/>
          </a:xfrm>
          <a:prstGeom prst="rect">
            <a:avLst/>
          </a:prstGeom>
        </p:spPr>
      </p:pic>
      <p:sp>
        <p:nvSpPr>
          <p:cNvPr id="22" name="generation caption"/>
          <p:cNvSpPr txBox="1"/>
          <p:nvPr/>
        </p:nvSpPr>
        <p:spPr>
          <a:xfrm>
            <a:off x="6309360" y="5202826"/>
            <a:ext cx="5330952" cy="685800"/>
          </a:xfrm>
          <a:prstGeom prst="rect">
            <a:avLst/>
          </a:prstGeom>
          <a:noFill/>
          <a:ln/>
        </p:spPr>
        <p:txBody>
          <a:bodyPr wrap="square" lIns="0" tIns="0" rIns="0" bIns="0" rtlCol="0" anchor="t"/>
          <a:lstStyle/>
          <a:p>
            <a:pPr indent="0" marL="0">
              <a:buNone/>
            </a:pPr>
            <a:r>
              <a:rPr lang="en-US" sz="1100" dirty="0">
                <a:solidFill>
                  <a:srgbClr val="52514E"/>
                </a:solidFill>
              </a:rPr>
              <a:t>One generated benchmark context, three rows by priority; the gap marked is one draw from the measured distribution. Every context is seeded: the same seed gives the same file, byte for byte.</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Every number has a source, and every load is computed from it</a:t>
            </a:r>
            <a:endParaRPr lang="en-US" sz="2600" dirty="0"/>
          </a:p>
        </p:txBody>
      </p:sp>
      <p:graphicFrame>
        <p:nvGraphicFramePr>
          <p:cNvPr id="7" name="sources table"/>
          <p:cNvGraphicFramePr>
            <a:graphicFrameLocks noGrp="1"/>
          </p:cNvGraphicFramePr>
          <p:nvPr>
            <p:extLst>
              <p:ext uri="{D42A27DB-BD31-4B8C-83A1-F6EECF244321}">
                <p14:modId xmlns:p14="http://schemas.microsoft.com/office/powerpoint/2010/main" val="1579011935"/>
              </p:ext>
            </p:extLst>
          </p:nvPr>
        </p:nvGraphicFramePr>
        <p:xfrm>
          <a:off x="548640" y="1417320"/>
          <a:ext cx="7223760" cy="914400"/>
        </p:xfrm>
        <a:graphic>
          <a:graphicData uri="http://schemas.openxmlformats.org/drawingml/2006/table">
            <a:tbl>
              <a:tblPr/>
              <a:tblGrid>
                <a:gridCol w="1737360"/>
                <a:gridCol w="2560320"/>
                <a:gridCol w="29260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Sizes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Load basis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Pipes DN15–100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10220 / EN 10255 medium series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 water × ASME B31.1 water-service span (published points only)</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713232">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Insulation</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GEG Anlage 8 (heated); 30/50 mm condensation control (chilled)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Cable trays 150–600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61537 systems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full tray: 50 kg/m at 300 mm datum,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Ducts</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EN 1505 rectangular; EN 1506 round</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manufacturer duct-weight table incl. flanges, × 2.4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548640">
                <a:tc>
                  <a:txBody>
                    <a:bodyPr/>
                    <a:lstStyle/>
                    <a:p>
                      <a:pPr indent="0" marL="0">
                        <a:buNone/>
                      </a:pPr>
                      <a:r>
                        <a:rPr lang="en-US" sz="1200" b="1" dirty="0">
                          <a:solidFill>
                            <a:srgbClr val="0B0B0B"/>
                          </a:solidFill>
                          <a:latin typeface="Calibri" pitchFamily="34" charset="0"/>
                          <a:ea typeface="Calibri" pitchFamily="34" charset="-122"/>
                          <a:cs typeface="Calibri" pitchFamily="34" charset="-120"/>
                        </a:rPr>
                        <a:t>Conduits Ø20–50</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IEC 61386-1, parallel groups of 2–6</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steel tube + 40 %-of-bore cable fill, × 2.0 m</a:t>
                      </a:r>
                      <a:endParaRPr lang="en-US" sz="1200" dirty="0">
                        <a:latin typeface="Calibri" charset="0"/>
                        <a:ea typeface="Calibri" charset="0"/>
                        <a:cs typeface="Calibri" charset="0"/>
                      </a:endParaRPr>
                    </a:p>
                  </a:txBody>
                  <a:tcPr marL="64008" marR="64008" marT="64008" marB="64008"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conventions heading"/>
          <p:cNvSpPr txBox="1"/>
          <p:nvPr/>
        </p:nvSpPr>
        <p:spPr>
          <a:xfrm>
            <a:off x="8092440" y="1417320"/>
            <a:ext cx="3566160" cy="411480"/>
          </a:xfrm>
          <a:prstGeom prst="rect">
            <a:avLst/>
          </a:prstGeom>
          <a:noFill/>
          <a:ln/>
        </p:spPr>
        <p:txBody>
          <a:bodyPr wrap="square" lIns="0" tIns="0" rIns="0" bIns="0" rtlCol="0" anchor="ctr"/>
          <a:lstStyle/>
          <a:p>
            <a:pPr indent="0" marL="0">
              <a:buNone/>
            </a:pPr>
            <a:r>
              <a:rPr lang="en-US" sz="1800" b="1" dirty="0">
                <a:solidFill>
                  <a:schemeClr val="tx1"/>
                </a:solidFill>
              </a:rPr>
              <a:t>Layout conventions</a:t>
            </a:r>
            <a:endParaRPr lang="en-US" sz="1800" dirty="0"/>
          </a:p>
        </p:txBody>
      </p:sp>
      <p:sp>
        <p:nvSpPr>
          <p:cNvPr id="5" name="conventions"/>
          <p:cNvSpPr txBox="1"/>
          <p:nvPr/>
        </p:nvSpPr>
        <p:spPr>
          <a:xfrm>
            <a:off x="8092440" y="1920240"/>
            <a:ext cx="3566160"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Bulky services nearest the slab: ducts, then containment, then pipes</a:t>
            </a:r>
            <a:endParaRPr lang="en-US" sz="1300" dirty="0"/>
          </a:p>
          <a:p>
            <a:pPr marL="342900" indent="-342900">
              <a:spcAft>
                <a:spcPts val="600"/>
              </a:spcAft>
              <a:buSzPct val="100000"/>
              <a:buChar char="•"/>
            </a:pPr>
            <a:r>
              <a:rPr lang="en-US" sz="1300" dirty="0">
                <a:solidFill>
                  <a:schemeClr val="tx1"/>
                </a:solidFill>
              </a:rPr>
              <a:t>Trades run in banks: hot + cold pairs, flow + return, conduit groups</a:t>
            </a:r>
            <a:endParaRPr lang="en-US" sz="1300" dirty="0"/>
          </a:p>
          <a:p>
            <a:pPr marL="342900" indent="-342900">
              <a:spcAft>
                <a:spcPts val="600"/>
              </a:spcAft>
              <a:buSzPct val="100000"/>
              <a:buChar char="•"/>
            </a:pPr>
            <a:r>
              <a:rPr lang="en-US" sz="1300" dirty="0">
                <a:solidFill>
                  <a:schemeClr val="tx1"/>
                </a:solidFill>
              </a:rPr>
              <a:t>Electrical kept above wet services on walls (drip)</a:t>
            </a:r>
            <a:endParaRPr lang="en-US" sz="1300" dirty="0"/>
          </a:p>
          <a:p>
            <a:pPr marL="342900" indent="-342900">
              <a:spcAft>
                <a:spcPts val="600"/>
              </a:spcAft>
              <a:buSzPct val="100000"/>
              <a:buChar char="•"/>
            </a:pPr>
            <a:r>
              <a:rPr lang="en-US" sz="1300" dirty="0">
                <a:solidFill>
                  <a:schemeClr val="tx1"/>
                </a:solidFill>
              </a:rPr>
              <a:t>Clear gaps drawn from a distribution measured on a built project; 25 mm minimum</a:t>
            </a:r>
            <a:endParaRPr lang="en-US" sz="1300" dirty="0"/>
          </a:p>
          <a:p>
            <a:pPr marL="342900" indent="-342900">
              <a:spcAft>
                <a:spcPts val="600"/>
              </a:spcAft>
              <a:buSzPct val="100000"/>
              <a:buChar char="•"/>
            </a:pPr>
            <a:r>
              <a:rPr lang="en-US" sz="1300" dirty="0">
                <a:solidFill>
                  <a:schemeClr val="tx1"/>
                </a:solidFill>
              </a:rPr>
              <a:t>Within-row stagger calibrated to measured elevation spread</a:t>
            </a:r>
            <a:endParaRPr lang="en-US" sz="1300" dirty="0"/>
          </a:p>
        </p:txBody>
      </p:sp>
      <p:sp>
        <p:nvSpPr>
          <p:cNvPr id="6" name="sources note card"/>
          <p:cNvSpPr/>
          <p:nvPr/>
        </p:nvSpPr>
        <p:spPr>
          <a:xfrm>
            <a:off x="548640" y="5257800"/>
            <a:ext cx="11091672" cy="777240"/>
          </a:xfrm>
          <a:prstGeom prst="roundRect">
            <a:avLst>
              <a:gd name="adj" fmla="val 8235"/>
            </a:avLst>
          </a:prstGeom>
          <a:solidFill>
            <a:schemeClr val="bg2"/>
          </a:solidFill>
          <a:ln/>
        </p:spPr>
      </p:sp>
      <p:sp>
        <p:nvSpPr>
          <p:cNvPr id="7" name="sources note"/>
          <p:cNvSpPr txBox="1"/>
          <p:nvPr/>
        </p:nvSpPr>
        <p:spPr>
          <a:xfrm>
            <a:off x="822960" y="5303520"/>
            <a:ext cx="10515600" cy="685800"/>
          </a:xfrm>
          <a:prstGeom prst="rect">
            <a:avLst/>
          </a:prstGeom>
          <a:noFill/>
          <a:ln/>
        </p:spPr>
        <p:txBody>
          <a:bodyPr wrap="square" lIns="0" tIns="0" rIns="0" bIns="0" rtlCol="0" anchor="ctr"/>
          <a:lstStyle/>
          <a:p>
            <a:pPr indent="0" marL="0">
              <a:buNone/>
            </a:pPr>
            <a:r>
              <a:rPr lang="en-US" sz="1300" dirty="0">
                <a:solidFill>
                  <a:schemeClr val="tx1"/>
                </a:solidFill>
              </a:rPr>
              <a:t>Every constant carries a source and a status (verified, practice-cited, or a declared design choice) in the repository. Loads are derived in code from those sources, so each number can be traced and checked.</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The release: 7,000 contexts in four splits on disjoint seeds</a:t>
            </a:r>
            <a:endParaRPr lang="en-US" sz="2600" dirty="0"/>
          </a:p>
        </p:txBody>
      </p:sp>
      <p:graphicFrame>
        <p:nvGraphicFramePr>
          <p:cNvPr id="8" name="splits table"/>
          <p:cNvGraphicFramePr>
            <a:graphicFrameLocks noGrp="1"/>
          </p:cNvGraphicFramePr>
          <p:nvPr>
            <p:extLst>
              <p:ext uri="{D42A27DB-BD31-4B8C-83A1-F6EECF244321}">
                <p14:modId xmlns:p14="http://schemas.microsoft.com/office/powerpoint/2010/main" val="1579011935"/>
              </p:ext>
            </p:extLst>
          </p:nvPr>
        </p:nvGraphicFramePr>
        <p:xfrm>
          <a:off x="548640" y="1417320"/>
          <a:ext cx="5120640" cy="914400"/>
        </p:xfrm>
        <a:graphic>
          <a:graphicData uri="http://schemas.openxmlformats.org/drawingml/2006/table">
            <a:tbl>
              <a:tblPr/>
              <a:tblGrid>
                <a:gridCol w="1554480"/>
                <a:gridCol w="1188720"/>
                <a:gridCol w="1280160"/>
                <a:gridCol w="1097280"/>
              </a:tblGrid>
              <a:tr h="384048">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split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elements</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seed</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train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test</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2,242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3000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dirty="0">
                          <a:solidFill>
                            <a:srgbClr val="0B0B0B"/>
                          </a:solidFill>
                          <a:latin typeface="Calibri" pitchFamily="34" charset="0"/>
                          <a:ea typeface="Calibri" pitchFamily="34" charset="-122"/>
                          <a:cs typeface="Calibri" pitchFamily="34" charset="-120"/>
                        </a:rPr>
                        <a:t>benchmark</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1,000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4,500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dirty="0">
                          <a:solidFill>
                            <a:srgbClr val="0B0B0B"/>
                          </a:solidFill>
                          <a:latin typeface="Calibri" pitchFamily="34" charset="0"/>
                          <a:ea typeface="Calibri" pitchFamily="34" charset="-122"/>
                          <a:cs typeface="Calibri" pitchFamily="34" charset="-120"/>
                        </a:rPr>
                        <a:t>42</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l" indent="0" marL="0">
                        <a:buNone/>
                      </a:pPr>
                      <a:r>
                        <a:rPr lang="en-US" sz="1200" b="1" dirty="0">
                          <a:solidFill>
                            <a:srgbClr val="0B0B0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7,000</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r>
                        <a:rPr lang="en-US" sz="1200" b="1" dirty="0">
                          <a:solidFill>
                            <a:srgbClr val="0B0B0B"/>
                          </a:solidFill>
                          <a:latin typeface="Calibri" pitchFamily="34" charset="0"/>
                          <a:ea typeface="Calibri" pitchFamily="34" charset="-122"/>
                          <a:cs typeface="Calibri" pitchFamily="34" charset="-120"/>
                        </a:rPr>
                        <a:t>31,484</a:t>
                      </a: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r" indent="0" marL="0">
                        <a:buNone/>
                      </a:pPr>
                      <a:endParaRPr lang="en-US" sz="1200" dirty="0">
                        <a:latin typeface="Calibri" charset="0"/>
                        <a:ea typeface="Calibri" charset="0"/>
                        <a:cs typeface="Calibri" charset="0"/>
                      </a:endParaRPr>
                    </a:p>
                  </a:txBody>
                  <a:tcPr marL="73152" marR="73152" marT="73152" marB="73152"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release facts"/>
          <p:cNvSpPr txBox="1"/>
          <p:nvPr/>
        </p:nvSpPr>
        <p:spPr>
          <a:xfrm>
            <a:off x="548640" y="3977640"/>
            <a:ext cx="5120640" cy="2148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Tiers assigned round-robin: 625 per tier in train, 125 in the benchmark</a:t>
            </a:r>
            <a:endParaRPr lang="en-US" sz="1300" dirty="0"/>
          </a:p>
          <a:p>
            <a:pPr marL="342900" indent="-342900">
              <a:spcAft>
                <a:spcPts val="600"/>
              </a:spcAft>
              <a:buSzPct val="100000"/>
              <a:buChar char="•"/>
            </a:pPr>
            <a:r>
              <a:rPr lang="en-US" sz="1300" dirty="0">
                <a:solidFill>
                  <a:schemeClr val="tx1"/>
                </a:solidFill>
              </a:rPr>
              <a:t>Four in five contexts hang from a ceiling, one in five from a wall</a:t>
            </a:r>
            <a:endParaRPr lang="en-US" sz="1300" dirty="0"/>
          </a:p>
          <a:p>
            <a:pPr marL="342900" indent="-342900">
              <a:spcAft>
                <a:spcPts val="600"/>
              </a:spcAft>
              <a:buSzPct val="100000"/>
              <a:buChar char="•"/>
            </a:pPr>
            <a:r>
              <a:rPr lang="en-US" sz="1300" dirty="0">
                <a:solidFill>
                  <a:schemeClr val="tx1"/>
                </a:solidFill>
              </a:rPr>
              <a:t>Six trades: electrical 11,592, domestic water 5,889, heating 5,766, chilled water 4,129, sprinkler 2,200, ventilation 1,908 elements</a:t>
            </a:r>
            <a:endParaRPr lang="en-US" sz="1300" dirty="0"/>
          </a:p>
          <a:p>
            <a:pPr marL="342900" indent="-342900">
              <a:spcAft>
                <a:spcPts val="600"/>
              </a:spcAft>
              <a:buSzPct val="100000"/>
              <a:buChar char="•"/>
            </a:pPr>
            <a:r>
              <a:rPr lang="en-US" sz="1300" dirty="0">
                <a:solidFill>
                  <a:schemeClr val="tx1"/>
                </a:solidFill>
              </a:rPr>
              <a:t>Plain JSON, with a JSON Schema, Croissant metadata and a datasheet</a:t>
            </a:r>
            <a:endParaRPr lang="en-US" sz="1300" dirty="0"/>
          </a:p>
        </p:txBody>
      </p:sp>
      <p:graphicFrame>
        <p:nvGraphicFramePr>
          <p:cNvPr id="5" name="kinds chart" descr=""/>
          <p:cNvGraphicFramePr/>
          <p:nvPr/>
        </p:nvGraphicFramePr>
        <p:xfrm>
          <a:off x="5989320" y="1371600"/>
          <a:ext cx="5650992" cy="22402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dn chart" descr=""/>
          <p:cNvGraphicFramePr/>
          <p:nvPr/>
        </p:nvGraphicFramePr>
        <p:xfrm>
          <a:off x="5989320" y="3749040"/>
          <a:ext cx="5650992" cy="237744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Eight difficulty tiers: tier Cn holds exactly n elements</a:t>
            </a:r>
            <a:endParaRPr lang="en-US" sz="2600" dirty="0"/>
          </a:p>
        </p:txBody>
      </p:sp>
      <p:pic>
        <p:nvPicPr>
          <p:cNvPr id="3" name="tier gallery" descr="/home/user/crossmep_dataset/docs/figures/02_tier_gallery.png">    </p:cNvPr>
          <p:cNvPicPr>
            <a:picLocks noChangeAspect="1"/>
          </p:cNvPicPr>
          <p:nvPr/>
        </p:nvPicPr>
        <p:blipFill>
          <a:blip r:embed="rId1"/>
          <a:stretch>
            <a:fillRect/>
          </a:stretch>
        </p:blipFill>
        <p:spPr>
          <a:xfrm>
            <a:off x="1244890" y="1280160"/>
            <a:ext cx="9699171" cy="4526280"/>
          </a:xfrm>
          <a:prstGeom prst="rect">
            <a:avLst/>
          </a:prstGeom>
        </p:spPr>
      </p:pic>
      <p:sp>
        <p:nvSpPr>
          <p:cNvPr id="4" name="gallery caption"/>
          <p:cNvSpPr txBox="1"/>
          <p:nvPr/>
        </p:nvSpPr>
        <p:spPr>
          <a:xfrm>
            <a:off x="548640" y="5897880"/>
            <a:ext cx="11091672" cy="502920"/>
          </a:xfrm>
          <a:prstGeom prst="rect">
            <a:avLst/>
          </a:prstGeom>
          <a:noFill/>
          <a:ln/>
        </p:spPr>
        <p:txBody>
          <a:bodyPr wrap="square" lIns="0" tIns="0" rIns="0" bIns="0" rtlCol="0" anchor="t"/>
          <a:lstStyle/>
          <a:p>
            <a:pPr indent="0" marL="0">
              <a:buNone/>
            </a:pPr>
            <a:r>
              <a:rPr lang="en-US" sz="1100" dirty="0">
                <a:solidFill>
                  <a:srgbClr val="52514E"/>
                </a:solidFill>
              </a:rPr>
              <a:t>One benchmark context per tier; dashed rings are insulation. Within a tier, kinds, trades, services, surfaces and stacking all vary, so element count is the one controlled difficulty axis. C1 is the most common support in any building; C8 is a congested rack.</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Experiment 1: as the count rises, scenes get tighter and heavier</a:t>
            </a:r>
            <a:endParaRPr lang="en-US" sz="2600" dirty="0"/>
          </a:p>
        </p:txBody>
      </p:sp>
      <p:pic>
        <p:nvPicPr>
          <p:cNvPr id="3" name="tier statistics" descr="/home/user/crossmep_dataset/docs/figures/03_tiers_stats.png">    </p:cNvPr>
          <p:cNvPicPr>
            <a:picLocks noChangeAspect="1"/>
          </p:cNvPicPr>
          <p:nvPr/>
        </p:nvPicPr>
        <p:blipFill>
          <a:blip r:embed="rId1"/>
          <a:stretch>
            <a:fillRect/>
          </a:stretch>
        </p:blipFill>
        <p:spPr>
          <a:xfrm>
            <a:off x="548640" y="1390162"/>
            <a:ext cx="11091672" cy="4214835"/>
          </a:xfrm>
          <a:prstGeom prst="rect">
            <a:avLst/>
          </a:prstGeom>
        </p:spPr>
      </p:pic>
      <p:sp>
        <p:nvSpPr>
          <p:cNvPr id="4" name="experiment 1 caption"/>
          <p:cNvSpPr txBox="1"/>
          <p:nvPr/>
        </p:nvSpPr>
        <p:spPr>
          <a:xfrm>
            <a:off x="548640" y="5696438"/>
            <a:ext cx="11091672" cy="548640"/>
          </a:xfrm>
          <a:prstGeom prst="rect">
            <a:avLst/>
          </a:prstGeom>
          <a:noFill/>
          <a:ln/>
        </p:spPr>
        <p:txBody>
          <a:bodyPr wrap="square" lIns="0" tIns="0" rIns="0" bIns="0" rtlCol="0" anchor="t"/>
          <a:lstStyle/>
          <a:p>
            <a:pPr indent="0" marL="0">
              <a:buNone/>
            </a:pPr>
            <a:r>
              <a:rPr lang="en-US" sz="1100" dirty="0">
                <a:solidFill>
                  <a:srgbClr val="52514E"/>
                </a:solidFill>
              </a:rPr>
              <a:t>Element count is exact by construction, so ordering is checked on congestion: the median closest gap falls from 120 mm (C2) to 62 mm (C8) and the median load at the support rises from 0.10 to 1.71 kN. The trends are near-monotone; with 125 contexts per tier, neighbouring tiers can swap.</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Experiment 2: generated spacing follows a built project</a:t>
            </a:r>
            <a:endParaRPr lang="en-US" sz="2600" dirty="0"/>
          </a:p>
        </p:txBody>
      </p:sp>
      <p:pic>
        <p:nvPicPr>
          <p:cNvPr id="3" name="gap distributions" descr="/home/user/crossmep_dataset/docs/figures/04_gaps_vs_measured.png">    </p:cNvPr>
          <p:cNvPicPr>
            <a:picLocks noChangeAspect="1"/>
          </p:cNvPicPr>
          <p:nvPr/>
        </p:nvPicPr>
        <p:blipFill>
          <a:blip r:embed="rId1"/>
          <a:stretch>
            <a:fillRect/>
          </a:stretch>
        </p:blipFill>
        <p:spPr>
          <a:xfrm>
            <a:off x="1158794" y="1325880"/>
            <a:ext cx="9871364" cy="4343400"/>
          </a:xfrm>
          <a:prstGeom prst="rect">
            <a:avLst/>
          </a:prstGeom>
        </p:spPr>
      </p:pic>
      <p:sp>
        <p:nvSpPr>
          <p:cNvPr id="4" name="experiment 2 caption"/>
          <p:cNvSpPr txBox="1"/>
          <p:nvPr/>
        </p:nvSpPr>
        <p:spPr>
          <a:xfrm>
            <a:off x="548640" y="5760720"/>
            <a:ext cx="11091672" cy="548640"/>
          </a:xfrm>
          <a:prstGeom prst="rect">
            <a:avLst/>
          </a:prstGeom>
          <a:noFill/>
          <a:ln/>
        </p:spPr>
        <p:txBody>
          <a:bodyPr wrap="square" lIns="0" tIns="0" rIns="0" bIns="0" rtlCol="0" anchor="t"/>
          <a:lstStyle/>
          <a:p>
            <a:pPr indent="0" marL="0">
              <a:buNone/>
            </a:pPr>
            <a:r>
              <a:rPr lang="en-US" sz="1100" dirty="0">
                <a:solidFill>
                  <a:srgbClr val="52514E"/>
                </a:solidFill>
              </a:rPr>
              <a:t>buildingSMART Duplex Apartment (open IFC): MEP and Plumbing discipline models parsed with IfcOpenShell, 427 and 231 segments. Measured gaps are irregular, not modular. The two discipline models of the same building are 50 mm apart; the generated gaps are 41 mm from the measured ones between insulation surfaces (68 mm between pipe surfaces); a fixed modular gap would be 139 mm away.</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Experiment 3: a two-size clamp catalog attaches 1 pipe in 9</a:t>
            </a:r>
            <a:endParaRPr lang="en-US" sz="2600" dirty="0"/>
          </a:p>
        </p:txBody>
      </p:sp>
      <p:graphicFrame>
        <p:nvGraphicFramePr>
          <p:cNvPr id="3" name="attach by size chart" descr=""/>
          <p:cNvGraphicFramePr/>
          <p:nvPr/>
        </p:nvGraphicFramePr>
        <p:xfrm>
          <a:off x="548640" y="1325880"/>
          <a:ext cx="5486400" cy="32461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demand chart" descr=""/>
          <p:cNvGraphicFramePr/>
          <p:nvPr/>
        </p:nvGraphicFramePr>
        <p:xfrm>
          <a:off x="6172200" y="1325880"/>
          <a:ext cx="5468112" cy="3246120"/>
        </p:xfrm>
        <a:graphic xmlns:a="http://schemas.openxmlformats.org/drawingml/2006/main">
          <a:graphicData uri="http://schemas.openxmlformats.org/drawingml/2006/chart">
            <c:chart xmlns:c="http://schemas.openxmlformats.org/drawingml/2006/chart" r:id="rId2"/>
          </a:graphicData>
        </a:graphic>
      </p:graphicFrame>
      <p:sp>
        <p:nvSpPr>
          <p:cNvPr id="5" name="tile of benchmark pipes attachable with the paper’s two sizes (95 % CI 10.1–13.0); every one is DN40"/>
          <p:cNvSpPr/>
          <p:nvPr/>
        </p:nvSpPr>
        <p:spPr>
          <a:xfrm>
            <a:off x="548640" y="4663440"/>
            <a:ext cx="3575304" cy="1463040"/>
          </a:xfrm>
          <a:prstGeom prst="roundRect">
            <a:avLst>
              <a:gd name="adj" fmla="val 4375"/>
            </a:avLst>
          </a:prstGeom>
          <a:solidFill>
            <a:schemeClr val="bg2"/>
          </a:solidFill>
          <a:ln/>
        </p:spPr>
      </p:sp>
      <p:sp>
        <p:nvSpPr>
          <p:cNvPr id="6" name="value of benchmark pipes attachable with the paper’s two sizes (95 % CI 10.1–13.0); every one is DN40"/>
          <p:cNvSpPr txBox="1"/>
          <p:nvPr/>
        </p:nvSpPr>
        <p:spPr>
          <a:xfrm>
            <a:off x="749808"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11.6 %</a:t>
            </a:r>
            <a:endParaRPr lang="en-US" sz="3200" dirty="0"/>
          </a:p>
        </p:txBody>
      </p:sp>
      <p:sp>
        <p:nvSpPr>
          <p:cNvPr id="7" name="label of benchmark pipes attachable with the paper’s two sizes (95 % CI 10.1–13.0); every one is DN40"/>
          <p:cNvSpPr txBox="1"/>
          <p:nvPr/>
        </p:nvSpPr>
        <p:spPr>
          <a:xfrm>
            <a:off x="749808"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of benchmark pipes attachable with the paper’s two sizes (95 % CI 10.1–13.0); every one is DN40</a:t>
            </a:r>
            <a:endParaRPr lang="en-US" sz="1100" dirty="0"/>
          </a:p>
        </p:txBody>
      </p:sp>
      <p:sp>
        <p:nvSpPr>
          <p:cNvPr id="8" name="tile with two sizes placed where the pipes are; 80 % with six, and every pipe with 12"/>
          <p:cNvSpPr/>
          <p:nvPr/>
        </p:nvSpPr>
        <p:spPr>
          <a:xfrm>
            <a:off x="4306824" y="4663440"/>
            <a:ext cx="3575304" cy="1463040"/>
          </a:xfrm>
          <a:prstGeom prst="roundRect">
            <a:avLst>
              <a:gd name="adj" fmla="val 4375"/>
            </a:avLst>
          </a:prstGeom>
          <a:solidFill>
            <a:schemeClr val="bg2"/>
          </a:solidFill>
          <a:ln/>
        </p:spPr>
      </p:sp>
      <p:sp>
        <p:nvSpPr>
          <p:cNvPr id="9" name="value with two sizes placed where the pipes are; 80 % with six, and every pipe with 12"/>
          <p:cNvSpPr txBox="1"/>
          <p:nvPr/>
        </p:nvSpPr>
        <p:spPr>
          <a:xfrm>
            <a:off x="4507992"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43.0 %</a:t>
            </a:r>
            <a:endParaRPr lang="en-US" sz="3200" dirty="0"/>
          </a:p>
        </p:txBody>
      </p:sp>
      <p:sp>
        <p:nvSpPr>
          <p:cNvPr id="10" name="label with two sizes placed where the pipes are; 80 % with six, and every pipe with 12"/>
          <p:cNvSpPr txBox="1"/>
          <p:nvPr/>
        </p:nvSpPr>
        <p:spPr>
          <a:xfrm>
            <a:off x="4507992"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with two sizes placed where the pipes are; 80 % with six, and every pipe with 12</a:t>
            </a:r>
            <a:endParaRPr lang="en-US" sz="1100" dirty="0"/>
          </a:p>
        </p:txBody>
      </p:sp>
      <p:sp>
        <p:nvSpPr>
          <p:cNvPr id="11" name="tile trays, ducts and conduits: a pipe-clamp catalog defines no attachment. Load never binds (0.88 vs 2.5 kN)"/>
          <p:cNvSpPr/>
          <p:nvPr/>
        </p:nvSpPr>
        <p:spPr>
          <a:xfrm>
            <a:off x="8065008" y="4663440"/>
            <a:ext cx="3575304" cy="1463040"/>
          </a:xfrm>
          <a:prstGeom prst="roundRect">
            <a:avLst>
              <a:gd name="adj" fmla="val 4375"/>
            </a:avLst>
          </a:prstGeom>
          <a:solidFill>
            <a:schemeClr val="bg2"/>
          </a:solidFill>
          <a:ln/>
        </p:spPr>
      </p:sp>
      <p:sp>
        <p:nvSpPr>
          <p:cNvPr id="12" name="value trays, ducts and conduits: a pipe-clamp catalog defines no attachment. Load never binds (0.88 vs 2.5 kN)"/>
          <p:cNvSpPr txBox="1"/>
          <p:nvPr/>
        </p:nvSpPr>
        <p:spPr>
          <a:xfrm>
            <a:off x="8266176" y="4754880"/>
            <a:ext cx="3172968" cy="731520"/>
          </a:xfrm>
          <a:prstGeom prst="rect">
            <a:avLst/>
          </a:prstGeom>
          <a:noFill/>
          <a:ln/>
        </p:spPr>
        <p:txBody>
          <a:bodyPr wrap="square" lIns="0" tIns="0" rIns="0" bIns="0" rtlCol="0" anchor="ctr"/>
          <a:lstStyle/>
          <a:p>
            <a:pPr indent="0" marL="0">
              <a:buNone/>
            </a:pPr>
            <a:r>
              <a:rPr lang="en-US" sz="3200" b="1" dirty="0">
                <a:solidFill>
                  <a:schemeClr val="accent1"/>
                </a:solidFill>
              </a:rPr>
              <a:t>0 of 1,971</a:t>
            </a:r>
            <a:endParaRPr lang="en-US" sz="3200" dirty="0"/>
          </a:p>
        </p:txBody>
      </p:sp>
      <p:sp>
        <p:nvSpPr>
          <p:cNvPr id="13" name="label trays, ducts and conduits: a pipe-clamp catalog defines no attachment. Load never binds (0.88 vs 2.5 kN)"/>
          <p:cNvSpPr txBox="1"/>
          <p:nvPr/>
        </p:nvSpPr>
        <p:spPr>
          <a:xfrm>
            <a:off x="8266176" y="5512003"/>
            <a:ext cx="3172968" cy="555955"/>
          </a:xfrm>
          <a:prstGeom prst="rect">
            <a:avLst/>
          </a:prstGeom>
          <a:noFill/>
          <a:ln/>
        </p:spPr>
        <p:txBody>
          <a:bodyPr wrap="square" lIns="0" tIns="0" rIns="0" bIns="0" rtlCol="0" anchor="t"/>
          <a:lstStyle/>
          <a:p>
            <a:pPr indent="0" marL="0">
              <a:buNone/>
            </a:pPr>
            <a:r>
              <a:rPr lang="en-US" sz="1100" dirty="0">
                <a:solidFill>
                  <a:srgbClr val="52514E"/>
                </a:solidFill>
              </a:rPr>
              <a:t>trays, ducts and conduits: a pipe-clamp catalog defines no attachment. Load never binds (0.88 vs 2.5 kN)</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Using CrossMEP: load, filter, generate, inspect</a:t>
            </a:r>
            <a:endParaRPr lang="en-US" sz="2600" dirty="0"/>
          </a:p>
        </p:txBody>
      </p:sp>
      <p:sp>
        <p:nvSpPr>
          <p:cNvPr id="3" name="code card"/>
          <p:cNvSpPr/>
          <p:nvPr/>
        </p:nvSpPr>
        <p:spPr>
          <a:xfrm>
            <a:off x="548640" y="1417320"/>
            <a:ext cx="5486400" cy="1874520"/>
          </a:xfrm>
          <a:prstGeom prst="roundRect">
            <a:avLst>
              <a:gd name="adj" fmla="val 3415"/>
            </a:avLst>
          </a:prstGeom>
          <a:solidFill>
            <a:schemeClr val="tx2"/>
          </a:solidFill>
          <a:ln/>
        </p:spPr>
      </p:sp>
      <p:sp>
        <p:nvSpPr>
          <p:cNvPr id="4" name="code"/>
          <p:cNvSpPr txBox="1"/>
          <p:nvPr/>
        </p:nvSpPr>
        <p:spPr>
          <a:xfrm>
            <a:off x="777240" y="1600200"/>
            <a:ext cx="5029200" cy="15087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import crossmep.tasks as cm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data = cm.load("benchmark")</a:t>
            </a:r>
            <a:pPr indent="0" marL="0">
              <a:buNone/>
            </a:pPr>
            <a:r>
              <a:rPr lang="en-US" sz="1300" dirty="0">
                <a:solidFill>
                  <a:srgbClr val="CADCFC"/>
                </a:solidFill>
                <a:latin typeface="Courier New" pitchFamily="34" charset="0"/>
                <a:ea typeface="Courier New" pitchFamily="34" charset="-122"/>
                <a:cs typeface="Courier New" pitchFamily="34" charset="-120"/>
              </a:rPr>
              <a:t>  # 1,000 contexts</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cm.filter_contexts(data, pipes=2, trays=1)</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cm.catalog_coverage(data, my_catalog)</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from crossmep import generate_custom</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generate_custom(100, pipes=(2, 4), trays=1)</a:t>
            </a:r>
            <a:endParaRPr lang="en-US" sz="1300" dirty="0"/>
          </a:p>
        </p:txBody>
      </p:sp>
      <p:sp>
        <p:nvSpPr>
          <p:cNvPr id="5" name="code caption"/>
          <p:cNvSpPr txBox="1"/>
          <p:nvPr/>
        </p:nvSpPr>
        <p:spPr>
          <a:xfrm>
            <a:off x="548640" y="3429000"/>
            <a:ext cx="5486400" cy="548640"/>
          </a:xfrm>
          <a:prstGeom prst="rect">
            <a:avLst/>
          </a:prstGeom>
          <a:noFill/>
          <a:ln/>
        </p:spPr>
        <p:txBody>
          <a:bodyPr wrap="square" lIns="0" tIns="0" rIns="0" bIns="0" rtlCol="0" anchor="t"/>
          <a:lstStyle/>
          <a:p>
            <a:pPr indent="0" marL="0">
              <a:buNone/>
            </a:pPr>
            <a:r>
              <a:rPr lang="en-US" sz="1100" dirty="0">
                <a:solidFill>
                  <a:srgbClr val="52514E"/>
                </a:solidFill>
              </a:rPr>
              <a:t>The loader and metrics need only the Python standard library; the generator needs NumPy. Command line: python -m crossmep.</a:t>
            </a:r>
            <a:endParaRPr lang="en-US" sz="1100" dirty="0"/>
          </a:p>
        </p:txBody>
      </p:sp>
      <p:pic>
        <p:nvPicPr>
          <p:cNvPr id="6" name="gallery screenshot" descr="/home/user/crossmep_dataset/docs/figures/07_gallery_screenshot.png">    </p:cNvPr>
          <p:cNvPicPr>
            <a:picLocks noChangeAspect="1"/>
          </p:cNvPicPr>
          <p:nvPr/>
        </p:nvPicPr>
        <p:blipFill>
          <a:blip r:embed="rId1"/>
          <a:stretch>
            <a:fillRect/>
          </a:stretch>
        </p:blipFill>
        <p:spPr>
          <a:xfrm>
            <a:off x="6812259" y="1417320"/>
            <a:ext cx="4370873" cy="2834640"/>
          </a:xfrm>
          <a:prstGeom prst="rect">
            <a:avLst/>
          </a:prstGeom>
        </p:spPr>
      </p:pic>
      <p:sp>
        <p:nvSpPr>
          <p:cNvPr id="7" name="gallery screenshot caption"/>
          <p:cNvSpPr txBox="1"/>
          <p:nvPr/>
        </p:nvSpPr>
        <p:spPr>
          <a:xfrm>
            <a:off x="6355080" y="4325112"/>
            <a:ext cx="5285232" cy="274320"/>
          </a:xfrm>
          <a:prstGeom prst="rect">
            <a:avLst/>
          </a:prstGeom>
          <a:noFill/>
          <a:ln/>
        </p:spPr>
        <p:txBody>
          <a:bodyPr wrap="square" lIns="0" tIns="0" rIns="0" bIns="0" rtlCol="0" anchor="t"/>
          <a:lstStyle/>
          <a:p>
            <a:pPr indent="0" marL="0">
              <a:buNone/>
            </a:pPr>
            <a:r>
              <a:rPr lang="en-US" sz="1100" dirty="0">
                <a:solidFill>
                  <a:srgbClr val="52514E"/>
                </a:solidFill>
              </a:rPr>
              <a:t>Interactive gallery: filter the benchmark by tier, kind, trade and surface.</a:t>
            </a:r>
            <a:endParaRPr lang="en-US" sz="1100" dirty="0"/>
          </a:p>
        </p:txBody>
      </p:sp>
      <p:sp>
        <p:nvSpPr>
          <p:cNvPr id="8" name="use Curriculum"/>
          <p:cNvSpPr/>
          <p:nvPr/>
        </p:nvSpPr>
        <p:spPr>
          <a:xfrm>
            <a:off x="548640" y="4754880"/>
            <a:ext cx="3575304" cy="1280160"/>
          </a:xfrm>
          <a:prstGeom prst="roundRect">
            <a:avLst>
              <a:gd name="adj" fmla="val 5000"/>
            </a:avLst>
          </a:prstGeom>
          <a:solidFill>
            <a:schemeClr val="bg2"/>
          </a:solidFill>
          <a:ln/>
        </p:spPr>
      </p:sp>
      <p:sp>
        <p:nvSpPr>
          <p:cNvPr id="9" name="use head Curriculum"/>
          <p:cNvSpPr txBox="1"/>
          <p:nvPr/>
        </p:nvSpPr>
        <p:spPr>
          <a:xfrm>
            <a:off x="777240"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Curriculum</a:t>
            </a:r>
            <a:endParaRPr lang="en-US" sz="1500" dirty="0"/>
          </a:p>
        </p:txBody>
      </p:sp>
      <p:sp>
        <p:nvSpPr>
          <p:cNvPr id="10" name="use text Curriculum"/>
          <p:cNvSpPr txBox="1"/>
          <p:nvPr/>
        </p:nvSpPr>
        <p:spPr>
          <a:xfrm>
            <a:off x="777240"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train from C1 to C8, one element at a time</a:t>
            </a:r>
            <a:endParaRPr lang="en-US" sz="1250" dirty="0"/>
          </a:p>
        </p:txBody>
      </p:sp>
      <p:sp>
        <p:nvSpPr>
          <p:cNvPr id="11" name="use Stratified evaluation"/>
          <p:cNvSpPr/>
          <p:nvPr/>
        </p:nvSpPr>
        <p:spPr>
          <a:xfrm>
            <a:off x="4306824" y="4754880"/>
            <a:ext cx="3575304" cy="1280160"/>
          </a:xfrm>
          <a:prstGeom prst="roundRect">
            <a:avLst>
              <a:gd name="adj" fmla="val 5000"/>
            </a:avLst>
          </a:prstGeom>
          <a:solidFill>
            <a:schemeClr val="bg2"/>
          </a:solidFill>
          <a:ln/>
        </p:spPr>
      </p:sp>
      <p:sp>
        <p:nvSpPr>
          <p:cNvPr id="12" name="use head Stratified evaluation"/>
          <p:cNvSpPr txBox="1"/>
          <p:nvPr/>
        </p:nvSpPr>
        <p:spPr>
          <a:xfrm>
            <a:off x="4535424"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Stratified evaluation</a:t>
            </a:r>
            <a:endParaRPr lang="en-US" sz="1500" dirty="0"/>
          </a:p>
        </p:txBody>
      </p:sp>
      <p:sp>
        <p:nvSpPr>
          <p:cNvPr id="13" name="use text Stratified evaluation"/>
          <p:cNvSpPr txBox="1"/>
          <p:nvPr/>
        </p:nvSpPr>
        <p:spPr>
          <a:xfrm>
            <a:off x="4535424"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success and feasibility-collapse rate per tier</a:t>
            </a:r>
            <a:endParaRPr lang="en-US" sz="1250" dirty="0"/>
          </a:p>
        </p:txBody>
      </p:sp>
      <p:sp>
        <p:nvSpPr>
          <p:cNvPr id="14" name="use Probes"/>
          <p:cNvSpPr/>
          <p:nvPr/>
        </p:nvSpPr>
        <p:spPr>
          <a:xfrm>
            <a:off x="8065008" y="4754880"/>
            <a:ext cx="3575304" cy="1280160"/>
          </a:xfrm>
          <a:prstGeom prst="roundRect">
            <a:avLst>
              <a:gd name="adj" fmla="val 5000"/>
            </a:avLst>
          </a:prstGeom>
          <a:solidFill>
            <a:schemeClr val="bg2"/>
          </a:solidFill>
          <a:ln/>
        </p:spPr>
      </p:sp>
      <p:sp>
        <p:nvSpPr>
          <p:cNvPr id="15" name="use head Probes"/>
          <p:cNvSpPr txBox="1"/>
          <p:nvPr/>
        </p:nvSpPr>
        <p:spPr>
          <a:xfrm>
            <a:off x="8293608" y="4864608"/>
            <a:ext cx="3118104" cy="365760"/>
          </a:xfrm>
          <a:prstGeom prst="rect">
            <a:avLst/>
          </a:prstGeom>
          <a:noFill/>
          <a:ln/>
        </p:spPr>
        <p:txBody>
          <a:bodyPr wrap="square" lIns="0" tIns="0" rIns="0" bIns="0" rtlCol="0" anchor="ctr"/>
          <a:lstStyle/>
          <a:p>
            <a:pPr indent="0" marL="0">
              <a:buNone/>
            </a:pPr>
            <a:r>
              <a:rPr lang="en-US" sz="1500" b="1" dirty="0">
                <a:solidFill>
                  <a:schemeClr val="tx1"/>
                </a:solidFill>
              </a:rPr>
              <a:t>Probes</a:t>
            </a:r>
            <a:endParaRPr lang="en-US" sz="1500" dirty="0"/>
          </a:p>
        </p:txBody>
      </p:sp>
      <p:sp>
        <p:nvSpPr>
          <p:cNvPr id="16" name="use text Probes"/>
          <p:cNvSpPr txBox="1"/>
          <p:nvPr/>
        </p:nvSpPr>
        <p:spPr>
          <a:xfrm>
            <a:off x="8293608" y="5257800"/>
            <a:ext cx="3118104" cy="640080"/>
          </a:xfrm>
          <a:prstGeom prst="rect">
            <a:avLst/>
          </a:prstGeom>
          <a:noFill/>
          <a:ln/>
        </p:spPr>
        <p:txBody>
          <a:bodyPr wrap="square" lIns="0" tIns="0" rIns="0" bIns="0" rtlCol="0" anchor="t"/>
          <a:lstStyle/>
          <a:p>
            <a:pPr indent="0" marL="0">
              <a:buNone/>
            </a:pPr>
            <a:r>
              <a:rPr lang="en-US" sz="1250" dirty="0">
                <a:solidFill>
                  <a:schemeClr val="tx1"/>
                </a:solidFill>
              </a:rPr>
              <a:t>held-out seeds and custom compositions</a:t>
            </a:r>
            <a:endParaRPr lang="en-US" sz="125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Scope, and what comes next</a:t>
            </a:r>
            <a:endParaRPr lang="en-US" sz="2600" dirty="0"/>
          </a:p>
        </p:txBody>
      </p:sp>
      <p:sp>
        <p:nvSpPr>
          <p:cNvPr id="3" name="scope card"/>
          <p:cNvSpPr/>
          <p:nvPr/>
        </p:nvSpPr>
        <p:spPr>
          <a:xfrm>
            <a:off x="548640" y="1371600"/>
            <a:ext cx="5431536" cy="3246120"/>
          </a:xfrm>
          <a:prstGeom prst="roundRect">
            <a:avLst>
              <a:gd name="adj" fmla="val 1972"/>
            </a:avLst>
          </a:prstGeom>
          <a:solidFill>
            <a:schemeClr val="bg2"/>
          </a:solidFill>
          <a:ln/>
        </p:spPr>
      </p:sp>
      <p:sp>
        <p:nvSpPr>
          <p:cNvPr id="4" name="scope heading"/>
          <p:cNvSpPr txBox="1"/>
          <p:nvPr/>
        </p:nvSpPr>
        <p:spPr>
          <a:xfrm>
            <a:off x="822960"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Scope</a:t>
            </a:r>
            <a:endParaRPr lang="en-US" sz="1800" dirty="0"/>
          </a:p>
        </p:txBody>
      </p:sp>
      <p:sp>
        <p:nvSpPr>
          <p:cNvPr id="5" name="scope bullets"/>
          <p:cNvSpPr txBox="1"/>
          <p:nvPr/>
        </p:nvSpPr>
        <p:spPr>
          <a:xfrm>
            <a:off x="822960"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One cross-section at one support: routing, branches and elevation changes are outside it; so is support spacing — the span is recorded per element, so a method can vary it</a:t>
            </a:r>
            <a:endParaRPr lang="en-US" sz="1400" dirty="0"/>
          </a:p>
          <a:p>
            <a:pPr marL="342900" indent="-342900">
              <a:spcAft>
                <a:spcPts val="600"/>
              </a:spcAft>
              <a:buSzPct val="100000"/>
              <a:buChar char="•"/>
            </a:pPr>
            <a:r>
              <a:rPr lang="en-US" sz="1400" dirty="0">
                <a:solidFill>
                  <a:schemeClr val="tx1"/>
                </a:solidFill>
              </a:rPr>
              <a:t>Realism checked on two discipline models of one open residential project; congested racks rest on coordination practice and standards</a:t>
            </a:r>
            <a:endParaRPr lang="en-US" sz="1400" dirty="0"/>
          </a:p>
          <a:p>
            <a:pPr marL="342900" indent="-342900">
              <a:spcAft>
                <a:spcPts val="600"/>
              </a:spcAft>
              <a:buSzPct val="100000"/>
              <a:buChar char="•"/>
            </a:pPr>
            <a:r>
              <a:rPr lang="en-US" sz="1400" dirty="0">
                <a:solidFill>
                  <a:schemeClr val="tx1"/>
                </a:solidFill>
              </a:rPr>
              <a:t>Trade mix and tier composition are design choices, not survey results</a:t>
            </a:r>
            <a:endParaRPr lang="en-US" sz="1400" dirty="0"/>
          </a:p>
          <a:p>
            <a:pPr marL="342900" indent="-342900">
              <a:spcAft>
                <a:spcPts val="600"/>
              </a:spcAft>
              <a:buSzPct val="100000"/>
              <a:buChar char="•"/>
            </a:pPr>
            <a:r>
              <a:rPr lang="en-US" sz="1400" dirty="0">
                <a:solidFill>
                  <a:schemeClr val="tx1"/>
                </a:solidFill>
              </a:rPr>
              <a:t>Synthetic: not for the structural design of real installations</a:t>
            </a:r>
            <a:endParaRPr lang="en-US" sz="1400" dirty="0"/>
          </a:p>
        </p:txBody>
      </p:sp>
      <p:sp>
        <p:nvSpPr>
          <p:cNvPr id="6" name="next card"/>
          <p:cNvSpPr/>
          <p:nvPr/>
        </p:nvSpPr>
        <p:spPr>
          <a:xfrm>
            <a:off x="6208776" y="1371600"/>
            <a:ext cx="5431536" cy="3246120"/>
          </a:xfrm>
          <a:prstGeom prst="roundRect">
            <a:avLst>
              <a:gd name="adj" fmla="val 1972"/>
            </a:avLst>
          </a:prstGeom>
          <a:solidFill>
            <a:schemeClr val="bg2"/>
          </a:solidFill>
          <a:ln/>
        </p:spPr>
      </p:sp>
      <p:sp>
        <p:nvSpPr>
          <p:cNvPr id="7" name="next heading"/>
          <p:cNvSpPr txBox="1"/>
          <p:nvPr/>
        </p:nvSpPr>
        <p:spPr>
          <a:xfrm>
            <a:off x="6483096" y="1508760"/>
            <a:ext cx="4882896" cy="41148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8" name="next bullets"/>
          <p:cNvSpPr txBox="1"/>
          <p:nvPr/>
        </p:nvSpPr>
        <p:spPr>
          <a:xfrm>
            <a:off x="6483096" y="2011680"/>
            <a:ext cx="4882896" cy="2514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Per-tier feasibility-collapse measurement in a multi-element synthesis environment</a:t>
            </a:r>
            <a:endParaRPr lang="en-US" sz="1400" dirty="0"/>
          </a:p>
          <a:p>
            <a:pPr marL="342900" indent="-342900">
              <a:spcAft>
                <a:spcPts val="600"/>
              </a:spcAft>
              <a:buSzPct val="100000"/>
              <a:buChar char="•"/>
            </a:pPr>
            <a:r>
              <a:rPr lang="en-US" sz="1400" dirty="0">
                <a:solidFill>
                  <a:schemeClr val="tx1"/>
                </a:solidFill>
              </a:rPr>
              <a:t>Verification against commercial corridor models</a:t>
            </a:r>
            <a:endParaRPr lang="en-US" sz="1400" dirty="0"/>
          </a:p>
          <a:p>
            <a:pPr marL="342900" indent="-342900">
              <a:spcAft>
                <a:spcPts val="600"/>
              </a:spcAft>
              <a:buSzPct val="100000"/>
              <a:buChar char="•"/>
            </a:pPr>
            <a:r>
              <a:rPr lang="en-US" sz="1400" dirty="0">
                <a:solidFill>
                  <a:schemeClr val="tx1"/>
                </a:solidFill>
              </a:rPr>
              <a:t>An expert plausibility review of generated scenes, and a curated expert reference set for evaluation</a:t>
            </a:r>
            <a:endParaRPr lang="en-US" sz="1400" dirty="0"/>
          </a:p>
        </p:txBody>
      </p:sp>
      <p:sp>
        <p:nvSpPr>
          <p:cNvPr id="9" name="ask band"/>
          <p:cNvSpPr/>
          <p:nvPr/>
        </p:nvSpPr>
        <p:spPr>
          <a:xfrm>
            <a:off x="548640" y="4846320"/>
            <a:ext cx="11091672" cy="1234440"/>
          </a:xfrm>
          <a:prstGeom prst="roundRect">
            <a:avLst>
              <a:gd name="adj" fmla="val 5185"/>
            </a:avLst>
          </a:prstGeom>
          <a:solidFill>
            <a:schemeClr val="tx2"/>
          </a:solidFill>
          <a:ln/>
        </p:spPr>
      </p:sp>
      <p:sp>
        <p:nvSpPr>
          <p:cNvPr id="10" name="ask"/>
          <p:cNvSpPr txBox="1"/>
          <p:nvPr/>
        </p:nvSpPr>
        <p:spPr>
          <a:xfrm>
            <a:off x="868680" y="4937760"/>
            <a:ext cx="9144000" cy="1051560"/>
          </a:xfrm>
          <a:prstGeom prst="rect">
            <a:avLst/>
          </a:prstGeom>
          <a:noFill/>
          <a:ln/>
        </p:spPr>
        <p:txBody>
          <a:bodyPr wrap="square" lIns="0" tIns="0" rIns="0" bIns="0" rtlCol="0" anchor="ctr"/>
          <a:lstStyle/>
          <a:p>
            <a:pPr indent="0" marL="0">
              <a:buNone/>
            </a:pPr>
            <a:r>
              <a:rPr lang="en-US" sz="1500" b="1" dirty="0">
                <a:solidFill>
                  <a:schemeClr val="bg1"/>
                </a:solidFill>
              </a:rPr>
              <a:t>If you coordinate services or design supports, </a:t>
            </a:r>
            <a:pPr indent="0" marL="0">
              <a:buNone/>
            </a:pPr>
            <a:r>
              <a:rPr lang="en-US" sz="1500" dirty="0">
                <a:solidFill>
                  <a:schemeClr val="bg1"/>
                </a:solidFill>
              </a:rPr>
              <a:t>open the gallery, filter for the scenes you know, and tell us what looks wrong. Every rule is one documented constant away from being changed.</a:t>
            </a:r>
            <a:endParaRPr lang="en-US" sz="1500" dirty="0"/>
          </a:p>
        </p:txBody>
      </p:sp>
      <p:pic>
        <p:nvPicPr>
          <p:cNvPr id="11" name="qr ask" descr="/home/user/crossmep_dataset/docs/figures/qr_repo.png">    </p:cNvPr>
          <p:cNvPicPr>
            <a:picLocks noChangeAspect="1"/>
          </p:cNvPicPr>
          <p:nvPr/>
        </p:nvPicPr>
        <p:blipFill>
          <a:blip r:embed="rId1"/>
          <a:stretch>
            <a:fillRect/>
          </a:stretch>
        </p:blipFill>
        <p:spPr>
          <a:xfrm>
            <a:off x="10561320" y="4956048"/>
            <a:ext cx="1005840" cy="1005840"/>
          </a:xfrm>
          <a:prstGeom prst="rect">
            <a:avLst/>
          </a:prstGeom>
        </p:spPr>
      </p:pic>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1828800"/>
            <a:ext cx="7498080" cy="1737360"/>
          </a:xfrm>
          <a:prstGeom prst="rect">
            <a:avLst/>
          </a:prstGeom>
          <a:noFill/>
          <a:ln/>
        </p:spPr>
        <p:txBody>
          <a:bodyPr wrap="square" lIns="0" tIns="0" rIns="0" bIns="0" rtlCol="0" anchor="b"/>
          <a:lstStyle/>
          <a:p>
            <a:pPr algn="l" indent="0" marL="0">
              <a:buNone/>
            </a:pPr>
            <a:r>
              <a:rPr lang="en-US" sz="3600" b="1" dirty="0">
                <a:solidFill>
                  <a:schemeClr val="bg1"/>
                </a:solidFill>
              </a:rPr>
              <a:t>CrossMEP: the brief, not the answer</a:t>
            </a:r>
            <a:endParaRPr lang="en-US" sz="3600" dirty="0"/>
          </a:p>
        </p:txBody>
      </p:sp>
      <p:sp>
        <p:nvSpPr>
          <p:cNvPr id="3" name="Text 0"/>
          <p:cNvSpPr/>
          <p:nvPr>
            <p:ph idx="101" type="body" hasCustomPrompt="1"/>
          </p:nvPr>
        </p:nvSpPr>
        <p:spPr>
          <a:xfrm>
            <a:off x="640080" y="3794760"/>
            <a:ext cx="7498080" cy="2011680"/>
          </a:xfrm>
          <a:prstGeom prst="rect">
            <a:avLst/>
          </a:prstGeom>
          <a:noFill/>
          <a:ln/>
        </p:spPr>
        <p:txBody>
          <a:bodyPr wrap="square" lIns="0" tIns="0" rIns="0" bIns="0" rtlCol="0" anchor="t"/>
          <a:lstStyle/>
          <a:p>
            <a:pPr indent="0" marL="0">
              <a:buNone/>
            </a:pPr>
            <a:r>
              <a:rPr lang="en-US" sz="1600" dirty="0">
                <a:solidFill>
                  <a:srgbClr val="CADCFC"/>
                </a:solidFill>
              </a:rPr>
              <a:t>7,000 support-design problems  ·  every number traced  ·  checked against a built project  ·  open data and code</a:t>
            </a:r>
            <a:endParaRPr lang="en-US" sz="1600" dirty="0"/>
          </a:p>
          <a:p>
            <a:pPr indent="0" marL="0">
              <a:buNone/>
            </a:pPr>
            <a:r>
              <a:rPr lang="en-US" sz="800" dirty="0">
                <a:solidFill>
                  <a:srgbClr val="CADCFC"/>
                </a:solidFill>
              </a:rPr>
              <a:t> </a:t>
            </a:r>
            <a:endParaRPr lang="en-US" sz="1600" dirty="0"/>
          </a:p>
          <a:p>
            <a:pPr indent="0" marL="0">
              <a:buNone/>
            </a:pPr>
            <a:r>
              <a:rPr lang="en-US" sz="1300" dirty="0">
                <a:solidFill>
                  <a:srgbClr val="CADCFC"/>
                </a:solidFill>
              </a:rPr>
              <a:t>Data CC BY 4.0, code MIT.  Not for the structural design of real installations.</a:t>
            </a:r>
            <a:endParaRPr lang="en-US" sz="1600" dirty="0"/>
          </a:p>
        </p:txBody>
      </p:sp>
      <p:pic>
        <p:nvPicPr>
          <p:cNvPr id="4" name="qr closing" descr="/home/user/crossmep_dataset/docs/figures/qr_repo.png">    </p:cNvPr>
          <p:cNvPicPr>
            <a:picLocks noChangeAspect="1"/>
          </p:cNvPicPr>
          <p:nvPr/>
        </p:nvPicPr>
        <p:blipFill>
          <a:blip r:embed="rId1"/>
          <a:stretch>
            <a:fillRect/>
          </a:stretch>
        </p:blipFill>
        <p:spPr>
          <a:xfrm>
            <a:off x="8778240" y="2286000"/>
            <a:ext cx="2103120" cy="2103120"/>
          </a:xfrm>
          <a:prstGeom prst="rect">
            <a:avLst/>
          </a:prstGeom>
        </p:spPr>
      </p:pic>
      <p:sp>
        <p:nvSpPr>
          <p:cNvPr id="5" name="closing link"/>
          <p:cNvSpPr txBox="1"/>
          <p:nvPr/>
        </p:nvSpPr>
        <p:spPr>
          <a:xfrm>
            <a:off x="8503920" y="4480560"/>
            <a:ext cx="3108960" cy="731520"/>
          </a:xfrm>
          <a:prstGeom prst="rect">
            <a:avLst/>
          </a:prstGeom>
          <a:noFill/>
          <a:ln/>
        </p:spPr>
        <p:txBody>
          <a:bodyPr wrap="square" lIns="0" tIns="0" rIns="0" bIns="0" rtlCol="0" anchor="t"/>
          <a:lstStyle/>
          <a:p>
            <a:pPr algn="ctr" indent="0" marL="0">
              <a:buNone/>
            </a:pPr>
            <a:r>
              <a:rPr lang="en-US" sz="1200" b="1" dirty="0">
                <a:solidFill>
                  <a:schemeClr val="bg1"/>
                </a:solidFill>
              </a:rPr>
              <a:t>github.com/lavinia-ped/CrossMEP_Dataset</a:t>
            </a:r>
            <a:endParaRPr lang="en-US" sz="1200" dirty="0"/>
          </a:p>
          <a:p>
            <a:pPr algn="ctr" indent="0" marL="0">
              <a:buNone/>
            </a:pPr>
            <a:r>
              <a:rPr lang="en-US" sz="1200" dirty="0">
                <a:solidFill>
                  <a:schemeClr val="bg1"/>
                </a:solidFill>
              </a:rPr>
              <a:t>laviniap@stanford.edu</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per-tier statistics, benchmark split</a:t>
            </a:r>
            <a:endParaRPr lang="en-US" sz="2600" dirty="0"/>
          </a:p>
        </p:txBody>
      </p:sp>
      <p:graphicFrame>
        <p:nvGraphicFramePr>
          <p:cNvPr id="16" name="tier table"/>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822960"/>
                <a:gridCol w="1097280"/>
                <a:gridCol w="1828800"/>
                <a:gridCol w="1554480"/>
                <a:gridCol w="164592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contexts</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clear gap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load (kN)</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median width (mm)</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0.10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0.23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344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0.44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613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C4</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0.55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728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0.78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1027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76</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993</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C7</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1.49</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1138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84048">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C8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62</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200" dirty="0">
                          <a:solidFill>
                            <a:srgbClr val="0B0B0B"/>
                          </a:solidFill>
                          <a:latin typeface="Calibri" pitchFamily="34" charset="0"/>
                          <a:ea typeface="Calibri" pitchFamily="34" charset="-122"/>
                          <a:cs typeface="Calibri" pitchFamily="34" charset="-120"/>
                        </a:rPr>
                        <a:t>1448</a:t>
                      </a:r>
                      <a:endParaRPr lang="en-US" sz="1200" dirty="0">
                        <a:latin typeface="Calibri" charset="0"/>
                        <a:ea typeface="Calibri" charset="0"/>
                        <a:cs typeface="Calibri" charset="0"/>
                      </a:endParaRPr>
                    </a:p>
                  </a:txBody>
                  <a:tcPr marL="45720" marR="4572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4" name="tile 2,529 pipes · 1,141 conduits · 569 trays · 261 ducts"/>
          <p:cNvSpPr/>
          <p:nvPr/>
        </p:nvSpPr>
        <p:spPr>
          <a:xfrm>
            <a:off x="7772400" y="1417320"/>
            <a:ext cx="3867912" cy="1097280"/>
          </a:xfrm>
          <a:prstGeom prst="roundRect">
            <a:avLst>
              <a:gd name="adj" fmla="val 5833"/>
            </a:avLst>
          </a:prstGeom>
          <a:solidFill>
            <a:schemeClr val="bg2"/>
          </a:solidFill>
          <a:ln/>
        </p:spPr>
      </p:sp>
      <p:sp>
        <p:nvSpPr>
          <p:cNvPr id="5" name="value 2,529 pipes · 1,141 conduits · 569 trays · 261 ducts"/>
          <p:cNvSpPr txBox="1"/>
          <p:nvPr/>
        </p:nvSpPr>
        <p:spPr>
          <a:xfrm>
            <a:off x="7973568" y="150876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4,500 elements</a:t>
            </a:r>
            <a:endParaRPr lang="en-US" sz="2400" dirty="0"/>
          </a:p>
        </p:txBody>
      </p:sp>
      <p:sp>
        <p:nvSpPr>
          <p:cNvPr id="6" name="label 2,529 pipes · 1,141 conduits · 569 trays · 261 ducts"/>
          <p:cNvSpPr txBox="1"/>
          <p:nvPr/>
        </p:nvSpPr>
        <p:spPr>
          <a:xfrm>
            <a:off x="7973568" y="2053742"/>
            <a:ext cx="3465576" cy="416966"/>
          </a:xfrm>
          <a:prstGeom prst="rect">
            <a:avLst/>
          </a:prstGeom>
          <a:noFill/>
          <a:ln/>
        </p:spPr>
        <p:txBody>
          <a:bodyPr wrap="square" lIns="0" tIns="0" rIns="0" bIns="0" rtlCol="0" anchor="t"/>
          <a:lstStyle/>
          <a:p>
            <a:pPr indent="0" marL="0">
              <a:buNone/>
            </a:pPr>
            <a:r>
              <a:rPr lang="en-US" sz="1100" dirty="0">
                <a:solidFill>
                  <a:srgbClr val="52514E"/>
                </a:solidFill>
              </a:rPr>
              <a:t>2,529 pipes · 1,141 conduits · 569 trays · 261 ducts</a:t>
            </a:r>
            <a:endParaRPr lang="en-US" sz="1100" dirty="0"/>
          </a:p>
        </p:txBody>
      </p:sp>
      <p:sp>
        <p:nvSpPr>
          <p:cNvPr id="7" name="tile Wasserstein-1, generated to measured gaps: insulation / pipe surfaces"/>
          <p:cNvSpPr/>
          <p:nvPr/>
        </p:nvSpPr>
        <p:spPr>
          <a:xfrm>
            <a:off x="7772400" y="2697480"/>
            <a:ext cx="3867912" cy="1097280"/>
          </a:xfrm>
          <a:prstGeom prst="roundRect">
            <a:avLst>
              <a:gd name="adj" fmla="val 5833"/>
            </a:avLst>
          </a:prstGeom>
          <a:solidFill>
            <a:schemeClr val="bg2"/>
          </a:solidFill>
          <a:ln/>
        </p:spPr>
      </p:sp>
      <p:sp>
        <p:nvSpPr>
          <p:cNvPr id="8" name="value Wasserstein-1, generated to measured gaps: insulation / pipe surfaces"/>
          <p:cNvSpPr txBox="1"/>
          <p:nvPr/>
        </p:nvSpPr>
        <p:spPr>
          <a:xfrm>
            <a:off x="7973568" y="278892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41 / 68 mm</a:t>
            </a:r>
            <a:endParaRPr lang="en-US" sz="2400" dirty="0"/>
          </a:p>
        </p:txBody>
      </p:sp>
      <p:sp>
        <p:nvSpPr>
          <p:cNvPr id="9" name="label Wasserstein-1, generated to measured gaps: insulation / pipe surfaces"/>
          <p:cNvSpPr txBox="1"/>
          <p:nvPr/>
        </p:nvSpPr>
        <p:spPr>
          <a:xfrm>
            <a:off x="7973568" y="3333902"/>
            <a:ext cx="3465576" cy="416966"/>
          </a:xfrm>
          <a:prstGeom prst="rect">
            <a:avLst/>
          </a:prstGeom>
          <a:noFill/>
          <a:ln/>
        </p:spPr>
        <p:txBody>
          <a:bodyPr wrap="square" lIns="0" tIns="0" rIns="0" bIns="0" rtlCol="0" anchor="t"/>
          <a:lstStyle/>
          <a:p>
            <a:pPr indent="0" marL="0">
              <a:buNone/>
            </a:pPr>
            <a:r>
              <a:rPr lang="en-US" sz="1100" dirty="0">
                <a:solidFill>
                  <a:srgbClr val="52514E"/>
                </a:solidFill>
              </a:rPr>
              <a:t>Wasserstein-1, generated to measured gaps: insulation / pipe surfaces</a:t>
            </a:r>
            <a:endParaRPr lang="en-US" sz="1100" dirty="0"/>
          </a:p>
        </p:txBody>
      </p:sp>
      <p:sp>
        <p:nvSpPr>
          <p:cNvPr id="10" name="tile lognormal fit to the measured gaps above 25 mm (n = 73)"/>
          <p:cNvSpPr/>
          <p:nvPr/>
        </p:nvSpPr>
        <p:spPr>
          <a:xfrm>
            <a:off x="7772400" y="3977640"/>
            <a:ext cx="3867912" cy="1097280"/>
          </a:xfrm>
          <a:prstGeom prst="roundRect">
            <a:avLst>
              <a:gd name="adj" fmla="val 5833"/>
            </a:avLst>
          </a:prstGeom>
          <a:solidFill>
            <a:schemeClr val="bg2"/>
          </a:solidFill>
          <a:ln/>
        </p:spPr>
      </p:sp>
      <p:sp>
        <p:nvSpPr>
          <p:cNvPr id="11" name="value lognormal fit to the measured gaps above 25 mm (n = 73)"/>
          <p:cNvSpPr txBox="1"/>
          <p:nvPr/>
        </p:nvSpPr>
        <p:spPr>
          <a:xfrm>
            <a:off x="7973568" y="4069080"/>
            <a:ext cx="3465576" cy="548640"/>
          </a:xfrm>
          <a:prstGeom prst="rect">
            <a:avLst/>
          </a:prstGeom>
          <a:noFill/>
          <a:ln/>
        </p:spPr>
        <p:txBody>
          <a:bodyPr wrap="square" lIns="0" tIns="0" rIns="0" bIns="0" rtlCol="0" anchor="ctr"/>
          <a:lstStyle/>
          <a:p>
            <a:pPr indent="0" marL="0">
              <a:buNone/>
            </a:pPr>
            <a:r>
              <a:rPr lang="en-US" sz="2400" b="1" dirty="0">
                <a:solidFill>
                  <a:schemeClr val="accent1"/>
                </a:solidFill>
              </a:rPr>
              <a:t>KS p = 0.53</a:t>
            </a:r>
            <a:endParaRPr lang="en-US" sz="2400" dirty="0"/>
          </a:p>
        </p:txBody>
      </p:sp>
      <p:sp>
        <p:nvSpPr>
          <p:cNvPr id="12" name="label lognormal fit to the measured gaps above 25 mm (n = 73)"/>
          <p:cNvSpPr txBox="1"/>
          <p:nvPr/>
        </p:nvSpPr>
        <p:spPr>
          <a:xfrm>
            <a:off x="7973568" y="4614062"/>
            <a:ext cx="3465576" cy="416966"/>
          </a:xfrm>
          <a:prstGeom prst="rect">
            <a:avLst/>
          </a:prstGeom>
          <a:noFill/>
          <a:ln/>
        </p:spPr>
        <p:txBody>
          <a:bodyPr wrap="square" lIns="0" tIns="0" rIns="0" bIns="0" rtlCol="0" anchor="t"/>
          <a:lstStyle/>
          <a:p>
            <a:pPr indent="0" marL="0">
              <a:buNone/>
            </a:pPr>
            <a:r>
              <a:rPr lang="en-US" sz="1100" dirty="0">
                <a:solidFill>
                  <a:srgbClr val="52514E"/>
                </a:solidFill>
              </a:rPr>
              <a:t>lognormal fit to the measured gaps above 25 mm (n = 73)</a:t>
            </a:r>
            <a:endParaRPr lang="en-US" sz="11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the catalog stress test, with error bars</a:t>
            </a:r>
            <a:endParaRPr lang="en-US" sz="2600" dirty="0"/>
          </a:p>
        </p:txBody>
      </p:sp>
      <p:graphicFrame>
        <p:nvGraphicFramePr>
          <p:cNvPr id="17" name="per tier catalog table"/>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731520"/>
                <a:gridCol w="822960"/>
                <a:gridCol w="2148840"/>
                <a:gridCol w="214884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benchmark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population %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11.3 (4.1–19.1)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11.4 (9.6–13.3)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147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12.2 (6.5–18.8)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10.9 (9.4–12.5)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10.3 (5.7–15.6)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(9.6–12.0)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13.6 (8.4–19.3)</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10.4 (9.4–11.4)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391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9.2 (6.1–12.6)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10.5 (9.6–11.5)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11.5 (7.9–15.4)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(9.9–11.8)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C7</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465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(7.5–14.1)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11.0 (10.1–11.8)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C8</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585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13.3 (9.8–17.1)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11.2 (10.4–12.0)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graphicFrame>
        <p:nvGraphicFramePr>
          <p:cNvPr id="33" name="sensitivity table"/>
          <p:cNvGraphicFramePr>
            <a:graphicFrameLocks noGrp="1"/>
          </p:cNvGraphicFramePr>
          <p:nvPr>
            <p:extLst>
              <p:ext uri="{D42A27DB-BD31-4B8C-83A1-F6EECF244321}">
                <p14:modId xmlns:p14="http://schemas.microsoft.com/office/powerpoint/2010/main" val="1579011935"/>
              </p:ext>
            </p:extLst>
          </p:nvPr>
        </p:nvGraphicFramePr>
        <p:xfrm>
          <a:off x="548640" y="4434840"/>
          <a:ext cx="5852160" cy="914400"/>
        </p:xfrm>
        <a:graphic>
          <a:graphicData uri="http://schemas.openxmlformats.org/drawingml/2006/table">
            <a:tbl>
              <a:tblPr/>
              <a:tblGrid>
                <a:gridCol w="2011680"/>
                <a:gridCol w="1280160"/>
                <a:gridCol w="1280160"/>
                <a:gridCol w="1280160"/>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attach diameter rule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±0.5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bins ±1 mm</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b="1" dirty="0">
                          <a:solidFill>
                            <a:srgbClr val="0B0B0B"/>
                          </a:solidFill>
                          <a:latin typeface="Calibri" pitchFamily="34" charset="0"/>
                          <a:ea typeface="Calibri" pitchFamily="34" charset="-122"/>
                          <a:cs typeface="Calibri" pitchFamily="34" charset="-120"/>
                        </a:rPr>
                        <a:t>service (paper)</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bare</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insulated</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6.2</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5" name="sensitivity caption"/>
          <p:cNvSpPr txBox="1"/>
          <p:nvPr/>
        </p:nvSpPr>
        <p:spPr>
          <a:xfrm>
            <a:off x="548640" y="5715000"/>
            <a:ext cx="5852160" cy="502920"/>
          </a:xfrm>
          <a:prstGeom prst="rect">
            <a:avLst/>
          </a:prstGeom>
          <a:noFill/>
          <a:ln/>
        </p:spPr>
        <p:txBody>
          <a:bodyPr wrap="square" lIns="0" tIns="0" rIns="0" bIns="0" rtlCol="0" anchor="t"/>
          <a:lstStyle/>
          <a:p>
            <a:pPr indent="0" marL="0">
              <a:buNone/>
            </a:pPr>
            <a:r>
              <a:rPr lang="en-US" sz="1100" dirty="0">
                <a:solidFill>
                  <a:srgbClr val="52514E"/>
                </a:solidFill>
              </a:rPr>
              <a:t>% of benchmark pipes attachable when both bin edges are widened by the stated amount. DN100 (114.3 mm) lies 0.3 mm above the 108–114 mm bin, so the headline moves with the diameter rule and the edge tolerance.</a:t>
            </a:r>
            <a:endParaRPr lang="en-US" sz="1100" dirty="0"/>
          </a:p>
        </p:txBody>
      </p:sp>
      <p:graphicFrame>
        <p:nvGraphicFramePr>
          <p:cNvPr id="49" name="split catalog table"/>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1280160"/>
                <a:gridCol w="1097280"/>
                <a:gridCol w="2587752"/>
              </a:tblGrid>
              <a:tr h="30175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split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pipes</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 attachable (95 % CI)</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F2933"/>
                    </a:solidFill>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train</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12,930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10.8 (10.2–11.5)</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val</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1,254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9.4 (7.4–11.4)</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test</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1,271</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9.0 (7.2–11.0)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r h="301752">
                <a:tc>
                  <a:txBody>
                    <a:bodyPr/>
                    <a:lstStyle/>
                    <a:p>
                      <a:pPr algn="l" indent="0" marL="0">
                        <a:buNone/>
                      </a:pPr>
                      <a:r>
                        <a:rPr lang="en-US" sz="1100" dirty="0">
                          <a:solidFill>
                            <a:srgbClr val="0B0B0B"/>
                          </a:solidFill>
                          <a:latin typeface="Calibri" pitchFamily="34" charset="0"/>
                          <a:ea typeface="Calibri" pitchFamily="34" charset="-122"/>
                          <a:cs typeface="Calibri" pitchFamily="34" charset="-120"/>
                        </a:rPr>
                        <a:t>benchmark</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2,529</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c>
                  <a:txBody>
                    <a:bodyPr/>
                    <a:lstStyle/>
                    <a:p>
                      <a:pPr algn="ctr" indent="0" marL="0">
                        <a:buNone/>
                      </a:pPr>
                      <a:r>
                        <a:rPr lang="en-US" sz="1100" dirty="0">
                          <a:solidFill>
                            <a:srgbClr val="0B0B0B"/>
                          </a:solidFill>
                          <a:latin typeface="Calibri" pitchFamily="34" charset="0"/>
                          <a:ea typeface="Calibri" pitchFamily="34" charset="-122"/>
                          <a:cs typeface="Calibri" pitchFamily="34" charset="-120"/>
                        </a:rPr>
                        <a:t>11.6 (10.1–13.0)</a:t>
                      </a:r>
                      <a:endParaRPr lang="en-US" sz="1100" dirty="0">
                        <a:latin typeface="Calibri" charset="0"/>
                        <a:ea typeface="Calibri" charset="0"/>
                        <a:cs typeface="Calibri" charset="0"/>
                      </a:endParaRPr>
                    </a:p>
                  </a:txBody>
                  <a:tcPr marL="36576" marR="36576" marT="36576" marB="36576"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tcPr>
                </a:tc>
              </a:tr>
            </a:tbl>
          </a:graphicData>
        </a:graphic>
      </p:graphicFrame>
      <p:sp>
        <p:nvSpPr>
          <p:cNvPr id="7" name="stress method bullets"/>
          <p:cNvSpPr txBox="1"/>
          <p:nvPr/>
        </p:nvSpPr>
        <p:spPr>
          <a:xfrm>
            <a:off x="6675120" y="3108960"/>
            <a:ext cx="4965192" cy="30175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Intervals: cluster bootstrap over contexts (2,000 resamples), because the elements of one context are correlated</a:t>
            </a:r>
            <a:endParaRPr lang="en-US" sz="1200" dirty="0"/>
          </a:p>
          <a:p>
            <a:pPr marL="342900" indent="-342900">
              <a:spcAft>
                <a:spcPts val="600"/>
              </a:spcAft>
              <a:buSzPct val="100000"/>
              <a:buChar char="•"/>
            </a:pPr>
            <a:r>
              <a:rPr lang="en-US" sz="1200" dirty="0">
                <a:solidFill>
                  <a:schemeClr val="tx1"/>
                </a:solidFill>
              </a:rPr>
              <a:t>Population: 2,000 freshly generated contexts per tier; overall 10.8 % (95 % CI 10.5–11.2)</a:t>
            </a:r>
            <a:endParaRPr lang="en-US" sz="1200" dirty="0"/>
          </a:p>
          <a:p>
            <a:pPr marL="342900" indent="-342900">
              <a:spcAft>
                <a:spcPts val="600"/>
              </a:spcAft>
              <a:buSzPct val="100000"/>
              <a:buChar char="•"/>
            </a:pPr>
            <a:r>
              <a:rPr lang="en-US" sz="1200" dirty="0">
                <a:solidFill>
                  <a:schemeClr val="tx1"/>
                </a:solidFill>
              </a:rPr>
              <a:t>Only size and capacity are tested, so coverage is an upper bound on what can be installed</a:t>
            </a:r>
            <a:endParaRPr lang="en-US" sz="1200" dirty="0"/>
          </a:p>
          <a:p>
            <a:pPr marL="342900" indent="-342900">
              <a:spcAft>
                <a:spcPts val="600"/>
              </a:spcAft>
              <a:buSzPct val="100000"/>
              <a:buChar char="•"/>
            </a:pPr>
            <a:r>
              <a:rPr lang="en-US" sz="1200" dirty="0">
                <a:solidFill>
                  <a:schemeClr val="tx1"/>
                </a:solidFill>
              </a:rPr>
              <a:t>Best possible share with k sizes: exact optimum over the distinct attach diameters</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91672" cy="960120"/>
          </a:xfrm>
          <a:prstGeom prst="rect">
            <a:avLst/>
          </a:prstGeom>
          <a:noFill/>
          <a:ln/>
        </p:spPr>
        <p:txBody>
          <a:bodyPr wrap="square" lIns="0" tIns="0" rIns="0" bIns="0" rtlCol="0" anchor="ctr"/>
          <a:lstStyle/>
          <a:p>
            <a:pPr algn="l" indent="0" marL="0">
              <a:buNone/>
            </a:pPr>
            <a:r>
              <a:rPr lang="en-US" sz="2600" b="1" dirty="0">
                <a:solidFill>
                  <a:schemeClr val="tx1"/>
                </a:solidFill>
              </a:rPr>
              <a:t>Appendix: one record, as stored</a:t>
            </a:r>
            <a:endParaRPr lang="en-US" sz="2600" dirty="0"/>
          </a:p>
        </p:txBody>
      </p:sp>
      <p:sp>
        <p:nvSpPr>
          <p:cNvPr id="3" name="record card"/>
          <p:cNvSpPr/>
          <p:nvPr/>
        </p:nvSpPr>
        <p:spPr>
          <a:xfrm>
            <a:off x="548640" y="1417320"/>
            <a:ext cx="7818120" cy="2560320"/>
          </a:xfrm>
          <a:prstGeom prst="roundRect">
            <a:avLst>
              <a:gd name="adj" fmla="val 2500"/>
            </a:avLst>
          </a:prstGeom>
          <a:solidFill>
            <a:schemeClr val="tx2"/>
          </a:solidFill>
          <a:ln/>
        </p:spPr>
      </p:sp>
      <p:sp>
        <p:nvSpPr>
          <p:cNvPr id="4" name="record"/>
          <p:cNvSpPr txBox="1"/>
          <p:nvPr/>
        </p:nvSpPr>
        <p:spPr>
          <a:xfrm>
            <a:off x="777240" y="1600200"/>
            <a:ext cx="7360920" cy="2194560"/>
          </a:xfrm>
          <a:prstGeom prst="rect">
            <a:avLst/>
          </a:prstGeom>
          <a:noFill/>
          <a:ln/>
        </p:spPr>
        <p:txBody>
          <a:bodyPr wrap="square" lIns="0" tIns="0" rIns="0" bIns="0" rtlCol="0" anchor="t"/>
          <a:lstStyle/>
          <a:p>
            <a:pPr indent="0" marL="0">
              <a:buNone/>
            </a:pPr>
            <a:r>
              <a:rPr lang="en-US" sz="1050" dirty="0">
                <a:solidFill>
                  <a:srgbClr val="FFFFFF"/>
                </a:solidFill>
                <a:latin typeface="Courier New" pitchFamily="34" charset="0"/>
                <a:ea typeface="Courier New" pitchFamily="34" charset="-122"/>
                <a:cs typeface="Courier New" pitchFamily="34" charset="-120"/>
              </a:rPr>
              <a:t>{"context_id": "mep_57", "tier": "C2",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"surface": {"kind": "ceiling", "substrate": "concrete_C25", "thickness_mm": 200.0},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"n_elements": 2, "n_levels": 1, "total_load_kN": 1.12, "bundle_width_mm": 588.0,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"elements": [</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"cable_tray", "service": "tray", "trade": "electrical", "shape": "rect",</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"300 tray", "width_mm": 300.0, "height_mm": 60.0, "insulation_mm": 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1.08, "span_m": 2.0, "load_kN_per_m": 0.5396,</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-144.0, "out_mm": 120.0},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{"kind": "pipe", "service": "heating", "trade": "heating", "shape": "round",</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"label": "DN20", "width_mm": 26.9, "height_mm": 26.9, "insulation_mm": 20.0,</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"load_kN": 0.04, "span_m": 2.1, "load_kN_per_m": 0.0189,</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"level": 0, "along_mm": 260.5, "out_mm": 156.2}</a:t>
            </a:r>
            <a:endParaRPr lang="en-US" sz="1050" dirty="0"/>
          </a:p>
          <a:p>
            <a:pPr indent="0" marL="0">
              <a:buNone/>
            </a:pPr>
            <a:r>
              <a:rPr lang="en-US" sz="1050" dirty="0">
                <a:solidFill>
                  <a:srgbClr val="FFFFFF"/>
                </a:solidFill>
                <a:latin typeface="Courier New" pitchFamily="34" charset="0"/>
                <a:ea typeface="Courier New" pitchFamily="34" charset="-122"/>
                <a:cs typeface="Courier New" pitchFamily="34" charset="-120"/>
              </a:rPr>
              <a:t> ]}</a:t>
            </a:r>
            <a:endParaRPr lang="en-US" sz="1050" dirty="0"/>
          </a:p>
        </p:txBody>
      </p:sp>
      <p:sp>
        <p:nvSpPr>
          <p:cNvPr id="5" name="record notes"/>
          <p:cNvSpPr txBox="1"/>
          <p:nvPr/>
        </p:nvSpPr>
        <p:spPr>
          <a:xfrm>
            <a:off x="8641080" y="1463040"/>
            <a:ext cx="2999232"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Units: millimetres, kilonewtons, metres (span)</a:t>
            </a:r>
            <a:endParaRPr lang="en-US" sz="1300" dirty="0"/>
          </a:p>
          <a:p>
            <a:pPr marL="342900" indent="-342900">
              <a:spcAft>
                <a:spcPts val="600"/>
              </a:spcAft>
              <a:buSzPct val="100000"/>
              <a:buChar char="•"/>
            </a:pPr>
            <a:r>
              <a:rPr lang="en-US" sz="1300" dirty="0">
                <a:solidFill>
                  <a:schemeClr val="tx1"/>
                </a:solidFill>
              </a:rPr>
              <a:t>Widths are bare; insulation_mm is per side</a:t>
            </a:r>
            <a:endParaRPr lang="en-US" sz="1300" dirty="0"/>
          </a:p>
          <a:p>
            <a:pPr marL="342900" indent="-342900">
              <a:spcAft>
                <a:spcPts val="600"/>
              </a:spcAft>
              <a:buSzPct val="100000"/>
              <a:buChar char="•"/>
            </a:pPr>
            <a:r>
              <a:rPr lang="en-US" sz="1300" dirty="0">
                <a:solidFill>
                  <a:schemeClr val="tx1"/>
                </a:solidFill>
              </a:rPr>
              <a:t>load_kN = load_kN_per_m × span_m</a:t>
            </a:r>
            <a:endParaRPr lang="en-US" sz="1300" dirty="0"/>
          </a:p>
          <a:p>
            <a:pPr marL="342900" indent="-342900">
              <a:spcAft>
                <a:spcPts val="600"/>
              </a:spcAft>
              <a:buSzPct val="100000"/>
              <a:buChar char="•"/>
            </a:pPr>
            <a:r>
              <a:rPr lang="en-US" sz="1300" dirty="0">
                <a:solidFill>
                  <a:schemeClr val="tx1"/>
                </a:solidFill>
              </a:rPr>
              <a:t>along_mm, out_mm: position along and out from the surface</a:t>
            </a:r>
            <a:endParaRPr lang="en-US" sz="1300" dirty="0"/>
          </a:p>
          <a:p>
            <a:pPr marL="342900" indent="-342900">
              <a:spcAft>
                <a:spcPts val="600"/>
              </a:spcAft>
              <a:buSzPct val="100000"/>
              <a:buChar char="•"/>
            </a:pPr>
            <a:r>
              <a:rPr lang="en-US" sz="1300" dirty="0">
                <a:solidFill>
                  <a:schemeClr val="tx1"/>
                </a:solidFill>
              </a:rPr>
              <a:t>level: the generative row (metadata)</a:t>
            </a:r>
            <a:endParaRPr lang="en-US" sz="13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98781"/>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CrossMEP">
      <a:dk1>
        <a:srgbClr val="0B0B0B"/>
      </a:dk1>
      <a:lt1>
        <a:srgbClr val="FFFFFF"/>
      </a:lt1>
      <a:dk2>
        <a:srgbClr val="1F2933"/>
      </a:dk2>
      <a:lt2>
        <a:srgbClr val="EEF1F4"/>
      </a:lt2>
      <a:accent1>
        <a:srgbClr val="2A78D6"/>
      </a:accent1>
      <a:accent2>
        <a:srgbClr val="EB6834"/>
      </a:accent2>
      <a:accent3>
        <a:srgbClr val="1BAF7A"/>
      </a:accent3>
      <a:accent4>
        <a:srgbClr val="4A3AA7"/>
      </a:accent4>
      <a:accent5>
        <a:srgbClr val="E34948"/>
      </a:accent5>
      <a:accent6>
        <a:srgbClr val="008300"/>
      </a:accent6>
      <a:hlink>
        <a:srgbClr val="2A78D6"/>
      </a:hlink>
      <a:folHlink>
        <a:srgbClr val="4A3AA7"/>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Stanford University, CIFE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CrossMEP: A Tiered Synthetic Dataset of Multi-Trade MEP Cross-Sections</dc:title>
  <dc:subject>43rd International CIB W78 Conference, New Delhi, 2026</dc:subject>
  <dc:creator>Lavinia Pedrollo</dc:creator>
  <cp:lastModifiedBy>Lavinia Pedrollo</cp:lastModifiedBy>
  <cp:revision>1</cp:revision>
  <dcterms:created xsi:type="dcterms:W3CDTF">2026-10-05T20:35:15Z</dcterms:created>
  <dcterms:modified xsi:type="dcterms:W3CDTF">2026-10-05T20:35:15Z</dcterms:modified>
</cp:coreProperties>
</file>