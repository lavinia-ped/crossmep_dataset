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a24993-b7be-168b-341f-823c9afa1797}">
          <p14:sldIdLst>
            <p14:sldId id="256"/>
          </p14:sldIdLst>
        </p14:section>
        <p14:section name="Motivation" id="{500c02aa-0e3c-d6fe-fb65-f3f158989fe2}">
          <p14:sldIdLst>
            <p14:sldId id="257"/>
            <p14:sldId id="258"/>
          </p14:sldIdLst>
        </p14:section>
        <p14:section name="The dataset" id="{558c0af5-6ebe-534f-3253-48219def04d5}">
          <p14:sldIdLst>
            <p14:sldId id="259"/>
            <p14:sldId id="260"/>
            <p14:sldId id="261"/>
            <p14:sldId id="262"/>
            <p14:sldId id="263"/>
          </p14:sldIdLst>
        </p14:section>
        <p14:section name="Experiments" id="{40898567-82b1-6663-a05c-8a2e1da4965f}">
          <p14:sldIdLst>
            <p14:sldId id="264"/>
            <p14:sldId id="265"/>
            <p14:sldId id="266"/>
          </p14:sldIdLst>
        </p14:section>
        <p14:section name="Use" id="{c7d2feb0-fcf7-e8f4-841d-d58bdb1f5dd2}">
          <p14:sldIdLst>
            <p14:sldId id="267"/>
            <p14:sldId id="268"/>
            <p14:sldId id="269"/>
          </p14:sldIdLst>
        </p14:section>
        <p14:section name="Appendix" id="{5eafb434-9fce-90fb-5d31-d6b14ce7f3e4}">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Share of pipes the catalog can attach, by tier (%)</a:t>
            </a:r>
          </a:p>
        </c:rich>
      </c:tx>
      <c:layout/>
      <c:overlay val="0"/>
    </c:title>
    <c:autoTitleDeleted val="0"/>
    <c:plotArea>
      <c:layout/>
      <c:barChart>
        <c:barDir val="col"/>
        <c:grouping val="clustered"/>
        <c:varyColors val="0"/>
        <c:ser>
          <c:idx val="0"/>
          <c:order val="0"/>
          <c:tx>
            <c:strRef>
              <c:f>Sheet1!$B$1</c:f>
              <c:strCache>
                <c:ptCount val="1"/>
                <c:pt idx="0">
                  <c:v>pipes the catalog can attach (%)</c:v>
                </c:pt>
              </c:strCache>
            </c:strRef>
          </c:tx>
          <c:spPr>
            <a:solidFill>
              <a:srgbClr val="2A78D6"/>
            </a:solidFill>
            <a:effectLst/>
          </c:spPr>
          <c:invertIfNegative val="0"/>
          <c:dLbls>
            <c:numFmt formatCode="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11.3</c:v>
                </c:pt>
                <c:pt idx="1">
                  <c:v>12.2</c:v>
                </c:pt>
                <c:pt idx="2">
                  <c:v>10.3</c:v>
                </c:pt>
                <c:pt idx="3">
                  <c:v>13.6</c:v>
                </c:pt>
                <c:pt idx="4">
                  <c:v>9.2</c:v>
                </c:pt>
                <c:pt idx="5">
                  <c:v>11.5</c:v>
                </c:pt>
                <c:pt idx="6">
                  <c:v>10.8</c:v>
                </c:pt>
                <c:pt idx="7">
                  <c:v>13.3</c:v>
                </c:pt>
              </c:numCache>
            </c:numRef>
          </c:val>
        </c:ser>
        <c:dLbls>
          <c:numFmt formatCode="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a support assembly: anchors, rods, channel, clamps. On a 200,000 square-foot hospital that is on the order of 10,000 assemblies, each taking 20 minutes to two hours by hand - together roughly a quarter of the MEP design effort. These are practitioner estimates. The work starts after coordination: at every hanger location the designer takes the section across the run and designs a support for exactly what passes through it. That section is the unit of work, and it is the unit of our dataset.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checked against an open IFC project, and released openly with the generator.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has a source. Pipe sizes and walls from EN 10220 and 10255, filled with water, at ASME B31.1 water-service spans. Insulation from the German GEG for heated lines and a condensation-control schedule for chilled water. Trays at IEC 61537 widths, loaded full. Ducts at the EN preferred sizes with a manufacturer weight table. Conduits at IEC 61386 sizes with 40 per cent cable fill. The loads are computed from these sources in the code, and every constant is documented with its source and status. Things that are choices - the trade mix, the tier composition - are labelled as design choices, not presented as measurements.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experiment: are the tiers actually ordered? The element count is exact by construction, so we look at congestion. The median closest gap between elements falls from 120 mm at C2 to about 60 mm at C8, and the median load at the support rises from 0.1 to 1.7 kilonewtons. The trend is near-monotone - with 125 contexts per tier, neighbouring tiers can swap - so difficulty is carried jointly by count, congestion and load, with count as the controlled axis.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experiment: is the spacing realistic? We parsed two discipline models of the open buildingSMART Duplex Apartment with IfcOpenShell and measured the gaps between parallel runs. They are irregular, not modular - the median is about 108 mm. The generator samples a lognormal fitted to those gaps. The distance between generated and measured distributions is 41 mm between insulation surfaces and 68 mm between pipe surfaces; the building's own two discipline models are 50 mm apart, and a fixed modular gap would be 139 mm away. So the generated spacing sits in the range of the variation between two real models of one building.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experiment connects the dataset to the task it serves. We take a released two-bin clamp catalog and ask which elements it can attach. 11.6 per cent of pipes, roughly uniform across tiers, and none of the trays, ducts and conduits. Load never binds; diameter and kind do. So the dataset turns 'generalise the catalog' into a measured requirement: small-bore clamps first, then tray, duct and conduit attachments.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 the loader needs only the Python standard library - filter by composition, test your own catalog against the benchmark, or generate your own mix with the same rules. There is an interactive gallery for inspection. And because there are no labels, the same files serve reinforcement learning, constraint-programming baselines and human benchmarking: a curriculum over the tiers, per-tier evaluation, and held-out seeds and custom compositions as probes.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one open residential project; congested racks rest on practice and standards. The trade mix is a design choice, and the data is not for structural design. Next: measuring per-tier feasibility collapse in a multi-element synthesis environment, verification on commercial corridor models, and an expert plausibility review - which is where we would value your eye. (8:40)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number traced to its source, checked against a built project, and open. The QR code takes you to the data, the code and the gallery.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and the fit statistics behind experiment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pipe, duct and tray hangs from a support designed by hand</a:t>
            </a:r>
            <a:endParaRPr lang="en-US" sz="2600" dirty="0"/>
          </a:p>
        </p:txBody>
      </p:sp>
      <p:sp>
        <p:nvSpPr>
          <p:cNvPr id="3" name="tile support assemblies in one 200,000 sq ft hospital"/>
          <p:cNvSpPr/>
          <p:nvPr/>
        </p:nvSpPr>
        <p:spPr>
          <a:xfrm>
            <a:off x="548640" y="141732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49808" y="150876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10,000</a:t>
            </a:r>
            <a:endParaRPr lang="en-US" sz="3200" dirty="0"/>
          </a:p>
        </p:txBody>
      </p:sp>
      <p:sp>
        <p:nvSpPr>
          <p:cNvPr id="5" name="label support assemblies in one 200,000 sq ft hospital"/>
          <p:cNvSpPr txBox="1"/>
          <p:nvPr/>
        </p:nvSpPr>
        <p:spPr>
          <a:xfrm>
            <a:off x="749808" y="2212848"/>
            <a:ext cx="3163824" cy="52120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292608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49808" y="301752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20 min – 2 h</a:t>
            </a:r>
            <a:endParaRPr lang="en-US" sz="3200" dirty="0"/>
          </a:p>
        </p:txBody>
      </p:sp>
      <p:sp>
        <p:nvSpPr>
          <p:cNvPr id="8" name="label to design each one by hand, from the coordinated model"/>
          <p:cNvSpPr txBox="1"/>
          <p:nvPr/>
        </p:nvSpPr>
        <p:spPr>
          <a:xfrm>
            <a:off x="749808" y="3721608"/>
            <a:ext cx="3163824" cy="52120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all MEP design effort; on the order of $600K of engineering per project"/>
          <p:cNvSpPr/>
          <p:nvPr/>
        </p:nvSpPr>
        <p:spPr>
          <a:xfrm>
            <a:off x="548640" y="4434840"/>
            <a:ext cx="3566160" cy="1371600"/>
          </a:xfrm>
          <a:prstGeom prst="roundRect">
            <a:avLst>
              <a:gd name="adj" fmla="val 4667"/>
            </a:avLst>
          </a:prstGeom>
          <a:solidFill>
            <a:schemeClr val="bg2"/>
          </a:solidFill>
          <a:ln/>
        </p:spPr>
      </p:sp>
      <p:sp>
        <p:nvSpPr>
          <p:cNvPr id="10" name="value of all MEP design effort; on the order of $600K of engineering per project"/>
          <p:cNvSpPr txBox="1"/>
          <p:nvPr/>
        </p:nvSpPr>
        <p:spPr>
          <a:xfrm>
            <a:off x="749808" y="452628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¼</a:t>
            </a:r>
            <a:endParaRPr lang="en-US" sz="3200" dirty="0"/>
          </a:p>
        </p:txBody>
      </p:sp>
      <p:sp>
        <p:nvSpPr>
          <p:cNvPr id="11" name="label of all MEP design effort; on the order of $600K of engineering per project"/>
          <p:cNvSpPr txBox="1"/>
          <p:nvPr/>
        </p:nvSpPr>
        <p:spPr>
          <a:xfrm>
            <a:off x="749808" y="5230368"/>
            <a:ext cx="3163824" cy="521208"/>
          </a:xfrm>
          <a:prstGeom prst="rect">
            <a:avLst/>
          </a:prstGeom>
          <a:noFill/>
          <a:ln/>
        </p:spPr>
        <p:txBody>
          <a:bodyPr wrap="square" lIns="0" tIns="0" rIns="0" bIns="0" rtlCol="0" anchor="t"/>
          <a:lstStyle/>
          <a:p>
            <a:pPr indent="0" marL="0">
              <a:buNone/>
            </a:pPr>
            <a:r>
              <a:rPr lang="en-US" sz="1200" dirty="0">
                <a:solidFill>
                  <a:srgbClr val="52514E"/>
                </a:solidFill>
              </a:rPr>
              <a:t>of all MEP design effort; on the order of $600K of engineering per project</a:t>
            </a:r>
            <a:endParaRPr lang="en-US" sz="1200" dirty="0"/>
          </a:p>
        </p:txBody>
      </p:sp>
      <p:sp>
        <p:nvSpPr>
          <p:cNvPr id="12" name="estimates note"/>
          <p:cNvSpPr txBox="1"/>
          <p:nvPr/>
        </p:nvSpPr>
        <p:spPr>
          <a:xfrm>
            <a:off x="548640" y="5897880"/>
            <a:ext cx="3566160" cy="27432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pic>
        <p:nvPicPr>
          <p:cNvPr id="13" name="route to section" descr="/home/user/crossmep_dataset/docs/figures/paper_fig1_route_to_section.png">    </p:cNvPr>
          <p:cNvPicPr>
            <a:picLocks noChangeAspect="1"/>
          </p:cNvPicPr>
          <p:nvPr/>
        </p:nvPicPr>
        <p:blipFill>
          <a:blip r:embed="rId1"/>
          <a:stretch>
            <a:fillRect/>
          </a:stretch>
        </p:blipFill>
        <p:spPr>
          <a:xfrm>
            <a:off x="4480560" y="1525290"/>
            <a:ext cx="7159752" cy="1978621"/>
          </a:xfrm>
          <a:prstGeom prst="rect">
            <a:avLst/>
          </a:prstGeom>
        </p:spPr>
      </p:pic>
      <p:sp>
        <p:nvSpPr>
          <p:cNvPr id="14" name="fig1 caption"/>
          <p:cNvSpPr txBox="1"/>
          <p:nvPr/>
        </p:nvSpPr>
        <p:spPr>
          <a:xfrm>
            <a:off x="4480560" y="3641070"/>
            <a:ext cx="7159752"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location the designer works from the section across the run: what passes, how big, how heavy, how far apart, what it hangs from.</a:t>
            </a:r>
            <a:endParaRPr lang="en-US" sz="1100" dirty="0"/>
          </a:p>
        </p:txBody>
      </p:sp>
      <p:sp>
        <p:nvSpPr>
          <p:cNvPr id="15" name="quote card"/>
          <p:cNvSpPr/>
          <p:nvPr/>
        </p:nvSpPr>
        <p:spPr>
          <a:xfrm>
            <a:off x="4480560" y="4434840"/>
            <a:ext cx="7159752" cy="1371600"/>
          </a:xfrm>
          <a:prstGeom prst="roundRect">
            <a:avLst>
              <a:gd name="adj" fmla="val 4667"/>
            </a:avLst>
          </a:prstGeom>
          <a:solidFill>
            <a:schemeClr val="bg2"/>
          </a:solidFill>
          <a:ln/>
        </p:spPr>
      </p:sp>
      <p:sp>
        <p:nvSpPr>
          <p:cNvPr id="16" name="quote"/>
          <p:cNvSpPr txBox="1"/>
          <p:nvPr/>
        </p:nvSpPr>
        <p:spPr>
          <a:xfrm>
            <a:off x="4754880" y="4572000"/>
            <a:ext cx="6611112"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it is designed from the section at that hanger.</a:t>
            </a:r>
            <a:endParaRPr lang="en-US" sz="1500" dirty="0"/>
          </a:p>
          <a:p>
            <a:pPr indent="0" marL="0">
              <a:buNone/>
            </a:pPr>
            <a:r>
              <a:rPr lang="en-US" sz="1500" b="1" dirty="0">
                <a:solidFill>
                  <a:schemeClr val="tx1"/>
                </a:solidFill>
              </a:rPr>
              <a:t>That section is the unit of work — and the unit of CrossMEP.</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There was no public dataset of support-design problems</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from a standard, a manufacturer table or a measurement"/>
          <p:cNvSpPr/>
          <p:nvPr/>
        </p:nvSpPr>
        <p:spPr>
          <a:xfrm>
            <a:off x="7812024" y="4023360"/>
            <a:ext cx="1822704" cy="1965960"/>
          </a:xfrm>
          <a:prstGeom prst="roundRect">
            <a:avLst>
              <a:gd name="adj" fmla="val 3512"/>
            </a:avLst>
          </a:prstGeom>
          <a:solidFill>
            <a:schemeClr val="bg2"/>
          </a:solidFill>
          <a:ln/>
        </p:spPr>
      </p:sp>
      <p:sp>
        <p:nvSpPr>
          <p:cNvPr id="30" name="value every constant from a standard, a manufacturer table or a measurement"/>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from a standard, a manufacturer table or a measurement"/>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from a standard, a manufacturer table or a measurement</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the section at one hanger: the brief, not the answer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How a context is generated: rules, not free randomness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has a source, and every load is computed from it</a:t>
            </a:r>
            <a:endParaRPr lang="en-US" sz="26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release: 7,000 contexts in four splits on disjoint seeds</a:t>
            </a:r>
            <a:endParaRPr lang="en-US" sz="2600" dirty="0"/>
          </a:p>
        </p:txBody>
      </p:sp>
      <p:graphicFrame>
        <p:nvGraphicFramePr>
          <p:cNvPr id="8"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Eight difficulty tiers: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1: as the count rises, scenes get tighter and heavier</a:t>
            </a:r>
            <a:endParaRPr lang="en-US" sz="2600" dirty="0"/>
          </a:p>
        </p:txBody>
      </p:sp>
      <p:pic>
        <p:nvPicPr>
          <p:cNvPr id="3" name="tier statistics" descr="/home/user/crossmep_dataset/docs/figures/03_tiers_stats.png">    </p:cNvPr>
          <p:cNvPicPr>
            <a:picLocks noChangeAspect="1"/>
          </p:cNvPicPr>
          <p:nvPr/>
        </p:nvPicPr>
        <p:blipFill>
          <a:blip r:embed="rId1"/>
          <a:stretch>
            <a:fillRect/>
          </a:stretch>
        </p:blipFill>
        <p:spPr>
          <a:xfrm>
            <a:off x="548640" y="1390162"/>
            <a:ext cx="11091672" cy="4214835"/>
          </a:xfrm>
          <a:prstGeom prst="rect">
            <a:avLst/>
          </a:prstGeom>
        </p:spPr>
      </p:pic>
      <p:sp>
        <p:nvSpPr>
          <p:cNvPr id="4" name="experiment 1 caption"/>
          <p:cNvSpPr txBox="1"/>
          <p:nvPr/>
        </p:nvSpPr>
        <p:spPr>
          <a:xfrm>
            <a:off x="548640" y="5696438"/>
            <a:ext cx="11091672" cy="548640"/>
          </a:xfrm>
          <a:prstGeom prst="rect">
            <a:avLst/>
          </a:prstGeom>
          <a:noFill/>
          <a:ln/>
        </p:spPr>
        <p:txBody>
          <a:bodyPr wrap="square" lIns="0" tIns="0" rIns="0" bIns="0" rtlCol="0" anchor="t"/>
          <a:lstStyle/>
          <a:p>
            <a:pPr indent="0" marL="0">
              <a:buNone/>
            </a:pPr>
            <a:r>
              <a:rPr lang="en-US" sz="1100" dirty="0">
                <a:solidFill>
                  <a:srgbClr val="52514E"/>
                </a:solidFill>
              </a:rPr>
              <a:t>Element count is exact by construction, so ordering is checked on congestion: the median closest gap falls from 120 mm (C2) to 62 mm (C8) and the median load at the support rises from 0.10 to 1.71 kN. The trends are near-monotone; with 125 contexts per tier, neighbouring tiers can swap.</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2: generated spacing follows a built project</a:t>
            </a:r>
            <a:endParaRPr lang="en-US" sz="2600" dirty="0"/>
          </a:p>
        </p:txBody>
      </p:sp>
      <p:pic>
        <p:nvPicPr>
          <p:cNvPr id="3" name="gap distributions" descr="/home/user/crossmep_dataset/docs/figures/04_gaps_vs_measured.png">    </p:cNvPr>
          <p:cNvPicPr>
            <a:picLocks noChangeAspect="1"/>
          </p:cNvPicPr>
          <p:nvPr/>
        </p:nvPicPr>
        <p:blipFill>
          <a:blip r:embed="rId1"/>
          <a:stretch>
            <a:fillRect/>
          </a:stretch>
        </p:blipFill>
        <p:spPr>
          <a:xfrm>
            <a:off x="1158794" y="1325880"/>
            <a:ext cx="9871364" cy="4343400"/>
          </a:xfrm>
          <a:prstGeom prst="rect">
            <a:avLst/>
          </a:prstGeom>
        </p:spPr>
      </p:pic>
      <p:sp>
        <p:nvSpPr>
          <p:cNvPr id="4" name="experiment 2 caption"/>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100" dirty="0">
                <a:solidFill>
                  <a:srgbClr val="52514E"/>
                </a:solidFill>
              </a:rPr>
              <a:t>buildingSMART Duplex Apartment (open IFC): MEP and Plumbing discipline models parsed with IfcOpenShell, 427 and 231 segments. Measured gaps are irregular, not modular. The two discipline models of the same building are 50 mm apart; the generated gaps are 41 mm from the measured ones between insulation surfaces (68 mm between pipe surfaces); a fixed modular gap would be 139 mm away.</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3: a two-bin clamp catalog covers 1 pipe in 9</a:t>
            </a:r>
            <a:endParaRPr lang="en-US" sz="2600" dirty="0"/>
          </a:p>
        </p:txBody>
      </p:sp>
      <p:graphicFrame>
        <p:nvGraphicFramePr>
          <p:cNvPr id="3" name="coverage chart" descr=""/>
          <p:cNvGraphicFramePr/>
          <p:nvPr/>
        </p:nvGraphicFramePr>
        <p:xfrm>
          <a:off x="548640" y="1371600"/>
          <a:ext cx="6949440" cy="4663440"/>
        </p:xfrm>
        <a:graphic xmlns:a="http://schemas.openxmlformats.org/drawingml/2006/main">
          <a:graphicData uri="http://schemas.openxmlformats.org/drawingml/2006/chart">
            <c:chart xmlns:c="http://schemas.openxmlformats.org/drawingml/2006/chart" r:id="rId1"/>
          </a:graphicData>
        </a:graphic>
      </p:graphicFrame>
      <p:sp>
        <p:nvSpPr>
          <p:cNvPr id="4" name="tile of the benchmark’s pipes can be attached with two clamp bins (48–54 mm at 2.5 kN; 108–114 mm at 4.0 kN)"/>
          <p:cNvSpPr/>
          <p:nvPr/>
        </p:nvSpPr>
        <p:spPr>
          <a:xfrm>
            <a:off x="7772400" y="1417320"/>
            <a:ext cx="3867912" cy="1417320"/>
          </a:xfrm>
          <a:prstGeom prst="roundRect">
            <a:avLst>
              <a:gd name="adj" fmla="val 4516"/>
            </a:avLst>
          </a:prstGeom>
          <a:solidFill>
            <a:schemeClr val="bg2"/>
          </a:solidFill>
          <a:ln/>
        </p:spPr>
      </p:sp>
      <p:sp>
        <p:nvSpPr>
          <p:cNvPr id="5" name="value of the benchmark’s pipes can be attached with two clamp bins (48–54 mm at 2.5 kN; 108–114 mm at 4.0 kN)"/>
          <p:cNvSpPr txBox="1"/>
          <p:nvPr/>
        </p:nvSpPr>
        <p:spPr>
          <a:xfrm>
            <a:off x="7973568" y="1508760"/>
            <a:ext cx="3465576" cy="70866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6" name="label of the benchmark’s pipes can be attached with two clamp bins (48–54 mm at 2.5 kN; 108–114 mm at 4.0 kN)"/>
          <p:cNvSpPr txBox="1"/>
          <p:nvPr/>
        </p:nvSpPr>
        <p:spPr>
          <a:xfrm>
            <a:off x="7973568" y="2239366"/>
            <a:ext cx="3465576" cy="538582"/>
          </a:xfrm>
          <a:prstGeom prst="rect">
            <a:avLst/>
          </a:prstGeom>
          <a:noFill/>
          <a:ln/>
        </p:spPr>
        <p:txBody>
          <a:bodyPr wrap="square" lIns="0" tIns="0" rIns="0" bIns="0" rtlCol="0" anchor="t"/>
          <a:lstStyle/>
          <a:p>
            <a:pPr indent="0" marL="0">
              <a:buNone/>
            </a:pPr>
            <a:r>
              <a:rPr lang="en-US" sz="1100" dirty="0">
                <a:solidFill>
                  <a:srgbClr val="52514E"/>
                </a:solidFill>
              </a:rPr>
              <a:t>of the benchmark’s pipes can be attached with two clamp bins (48–54 mm at 2.5 kN; 108–114 mm at 4.0 kN)</a:t>
            </a:r>
            <a:endParaRPr lang="en-US" sz="1100" dirty="0"/>
          </a:p>
        </p:txBody>
      </p:sp>
      <p:sp>
        <p:nvSpPr>
          <p:cNvPr id="7" name="tile trays, ducts and conduits: a clamp catalog defines no attachment for them"/>
          <p:cNvSpPr/>
          <p:nvPr/>
        </p:nvSpPr>
        <p:spPr>
          <a:xfrm>
            <a:off x="7772400" y="3017520"/>
            <a:ext cx="3867912" cy="1417320"/>
          </a:xfrm>
          <a:prstGeom prst="roundRect">
            <a:avLst>
              <a:gd name="adj" fmla="val 4516"/>
            </a:avLst>
          </a:prstGeom>
          <a:solidFill>
            <a:schemeClr val="bg2"/>
          </a:solidFill>
          <a:ln/>
        </p:spPr>
      </p:sp>
      <p:sp>
        <p:nvSpPr>
          <p:cNvPr id="8" name="value trays, ducts and conduits: a clamp catalog defines no attachment for them"/>
          <p:cNvSpPr txBox="1"/>
          <p:nvPr/>
        </p:nvSpPr>
        <p:spPr>
          <a:xfrm>
            <a:off x="7973568" y="3108960"/>
            <a:ext cx="3465576" cy="70866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9" name="label trays, ducts and conduits: a clamp catalog defines no attachment for them"/>
          <p:cNvSpPr txBox="1"/>
          <p:nvPr/>
        </p:nvSpPr>
        <p:spPr>
          <a:xfrm>
            <a:off x="7973568" y="3839566"/>
            <a:ext cx="3465576" cy="538582"/>
          </a:xfrm>
          <a:prstGeom prst="rect">
            <a:avLst/>
          </a:prstGeom>
          <a:noFill/>
          <a:ln/>
        </p:spPr>
        <p:txBody>
          <a:bodyPr wrap="square" lIns="0" tIns="0" rIns="0" bIns="0" rtlCol="0" anchor="t"/>
          <a:lstStyle/>
          <a:p>
            <a:pPr indent="0" marL="0">
              <a:buNone/>
            </a:pPr>
            <a:r>
              <a:rPr lang="en-US" sz="1100" dirty="0">
                <a:solidFill>
                  <a:srgbClr val="52514E"/>
                </a:solidFill>
              </a:rPr>
              <a:t>trays, ducts and conduits: a clamp catalog defines no attachment for them</a:t>
            </a:r>
            <a:endParaRPr lang="en-US" sz="1100" dirty="0"/>
          </a:p>
        </p:txBody>
      </p:sp>
      <p:sp>
        <p:nvSpPr>
          <p:cNvPr id="10" name="catalog note card"/>
          <p:cNvSpPr/>
          <p:nvPr/>
        </p:nvSpPr>
        <p:spPr>
          <a:xfrm>
            <a:off x="7772400" y="4617720"/>
            <a:ext cx="3867912" cy="1417320"/>
          </a:xfrm>
          <a:prstGeom prst="roundRect">
            <a:avLst>
              <a:gd name="adj" fmla="val 4516"/>
            </a:avLst>
          </a:prstGeom>
          <a:solidFill>
            <a:schemeClr val="bg2"/>
          </a:solidFill>
          <a:ln/>
        </p:spPr>
      </p:sp>
      <p:sp>
        <p:nvSpPr>
          <p:cNvPr id="11" name="catalog note"/>
          <p:cNvSpPr txBox="1"/>
          <p:nvPr/>
        </p:nvSpPr>
        <p:spPr>
          <a:xfrm>
            <a:off x="8001000" y="4709160"/>
            <a:ext cx="3429000" cy="1234440"/>
          </a:xfrm>
          <a:prstGeom prst="rect">
            <a:avLst/>
          </a:prstGeom>
          <a:noFill/>
          <a:ln/>
        </p:spPr>
        <p:txBody>
          <a:bodyPr wrap="square" lIns="0" tIns="0" rIns="0" bIns="0" rtlCol="0" anchor="ctr"/>
          <a:lstStyle/>
          <a:p>
            <a:pPr indent="0" marL="0">
              <a:buNone/>
            </a:pPr>
            <a:r>
              <a:rPr lang="en-US" sz="1250" b="1" dirty="0">
                <a:solidFill>
                  <a:schemeClr val="tx1"/>
                </a:solidFill>
              </a:rPr>
              <a:t>Loads never bind; diameter and kind do. </a:t>
            </a:r>
            <a:pPr indent="0" marL="0">
              <a:buNone/>
            </a:pPr>
            <a:r>
              <a:rPr lang="en-US" sz="1250" dirty="0">
                <a:solidFill>
                  <a:schemeClr val="tx1"/>
                </a:solidFill>
              </a:rPr>
              <a:t>“Generalise the catalog” becomes a measured requirement: small-bore clamps first, then tray, duct and conduit attachments.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Using CrossMEP: load, filter, generate, inspect</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cm.catalog_coverage(data, my_catalog)</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 import generate_custom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generate_custom(100, pipes=(2, 4), trays=1)</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The loader and metrics need only the Python standard library; the generator needs NumPy. Command line: python -m crossmep.</a:t>
            </a:r>
            <a:endParaRPr lang="en-US" sz="1100" dirty="0"/>
          </a:p>
        </p:txBody>
      </p:sp>
      <p:pic>
        <p:nvPicPr>
          <p:cNvPr id="6" name="gallery screenshot" descr="/home/user/crossmep_dataset/docs/figures/07_gallery_screenshot.png">    </p:cNvPr>
          <p:cNvPicPr>
            <a:picLocks noChangeAspect="1"/>
          </p:cNvPicPr>
          <p:nvPr/>
        </p:nvPicPr>
        <p:blipFill>
          <a:blip r:embed="rId1"/>
          <a:stretch>
            <a:fillRect/>
          </a:stretch>
        </p:blipFill>
        <p:spPr>
          <a:xfrm>
            <a:off x="6812259" y="1417320"/>
            <a:ext cx="4370873" cy="2834640"/>
          </a:xfrm>
          <a:prstGeom prst="rect">
            <a:avLst/>
          </a:prstGeom>
        </p:spPr>
      </p:pic>
      <p:sp>
        <p:nvSpPr>
          <p:cNvPr id="7" name="gallery screenshot caption"/>
          <p:cNvSpPr txBox="1"/>
          <p:nvPr/>
        </p:nvSpPr>
        <p:spPr>
          <a:xfrm>
            <a:off x="6355080" y="4325112"/>
            <a:ext cx="5285232"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Curriculum"/>
          <p:cNvSpPr/>
          <p:nvPr/>
        </p:nvSpPr>
        <p:spPr>
          <a:xfrm>
            <a:off x="548640" y="4754880"/>
            <a:ext cx="3575304" cy="1280160"/>
          </a:xfrm>
          <a:prstGeom prst="roundRect">
            <a:avLst>
              <a:gd name="adj" fmla="val 5000"/>
            </a:avLst>
          </a:prstGeom>
          <a:solidFill>
            <a:schemeClr val="bg2"/>
          </a:solidFill>
          <a:ln/>
        </p:spPr>
      </p:sp>
      <p:sp>
        <p:nvSpPr>
          <p:cNvPr id="9" name="use head Curriculum"/>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Curriculum</a:t>
            </a:r>
            <a:endParaRPr lang="en-US" sz="1500" dirty="0"/>
          </a:p>
        </p:txBody>
      </p:sp>
      <p:sp>
        <p:nvSpPr>
          <p:cNvPr id="10" name="use text Curriculum"/>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train from C1 to C8, one element at a time</a:t>
            </a:r>
            <a:endParaRPr lang="en-US" sz="1250" dirty="0"/>
          </a:p>
        </p:txBody>
      </p:sp>
      <p:sp>
        <p:nvSpPr>
          <p:cNvPr id="11" name="use Stratified evaluation"/>
          <p:cNvSpPr/>
          <p:nvPr/>
        </p:nvSpPr>
        <p:spPr>
          <a:xfrm>
            <a:off x="4306824" y="4754880"/>
            <a:ext cx="3575304" cy="1280160"/>
          </a:xfrm>
          <a:prstGeom prst="roundRect">
            <a:avLst>
              <a:gd name="adj" fmla="val 5000"/>
            </a:avLst>
          </a:prstGeom>
          <a:solidFill>
            <a:schemeClr val="bg2"/>
          </a:solidFill>
          <a:ln/>
        </p:spPr>
      </p:sp>
      <p:sp>
        <p:nvSpPr>
          <p:cNvPr id="12" name="use head Stratified evaluation"/>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Stratified evaluation</a:t>
            </a:r>
            <a:endParaRPr lang="en-US" sz="1500" dirty="0"/>
          </a:p>
        </p:txBody>
      </p:sp>
      <p:sp>
        <p:nvSpPr>
          <p:cNvPr id="13" name="use text Stratified evaluation"/>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success and feasibility-collapse rate per tier</a:t>
            </a:r>
            <a:endParaRPr lang="en-US" sz="1250" dirty="0"/>
          </a:p>
        </p:txBody>
      </p:sp>
      <p:sp>
        <p:nvSpPr>
          <p:cNvPr id="14" name="use Probes"/>
          <p:cNvSpPr/>
          <p:nvPr/>
        </p:nvSpPr>
        <p:spPr>
          <a:xfrm>
            <a:off x="8065008" y="4754880"/>
            <a:ext cx="3575304" cy="1280160"/>
          </a:xfrm>
          <a:prstGeom prst="roundRect">
            <a:avLst>
              <a:gd name="adj" fmla="val 5000"/>
            </a:avLst>
          </a:prstGeom>
          <a:solidFill>
            <a:schemeClr val="bg2"/>
          </a:solidFill>
          <a:ln/>
        </p:spPr>
      </p:sp>
      <p:sp>
        <p:nvSpPr>
          <p:cNvPr id="15" name="use head Probes"/>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Probes</a:t>
            </a:r>
            <a:endParaRPr lang="en-US" sz="1500" dirty="0"/>
          </a:p>
        </p:txBody>
      </p:sp>
      <p:sp>
        <p:nvSpPr>
          <p:cNvPr id="16" name="use text Probes"/>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held-out seeds and custom compositions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Scope, and what comes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two discipline models of one open residential project;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Per-tier feasibility-collapse measurement in a multi-element synthesis environment</a:t>
            </a:r>
            <a:endParaRPr lang="en-US" sz="1400" dirty="0"/>
          </a:p>
          <a:p>
            <a:pPr marL="342900" indent="-342900">
              <a:spcAft>
                <a:spcPts val="600"/>
              </a:spcAft>
              <a:buSzPct val="100000"/>
              <a:buChar char="•"/>
            </a:pPr>
            <a:r>
              <a:rPr lang="en-US" sz="1400" dirty="0">
                <a:solidFill>
                  <a:schemeClr val="tx1"/>
                </a:solidFill>
              </a:rPr>
              <a:t>Verification against commercial corridor models</a:t>
            </a:r>
            <a:endParaRPr lang="en-US" sz="1400" dirty="0"/>
          </a:p>
          <a:p>
            <a:pPr marL="342900" indent="-342900">
              <a:spcAft>
                <a:spcPts val="600"/>
              </a:spcAft>
              <a:buSzPct val="100000"/>
              <a:buChar char="•"/>
            </a:pPr>
            <a:r>
              <a:rPr lang="en-US" sz="1400" dirty="0">
                <a:solidFill>
                  <a:schemeClr val="tx1"/>
                </a:solidFill>
              </a:rPr>
              <a:t>An expert plausibility review of generated scenes, and a curated expert reference set for evaluation</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CrossMEP: the brief, not the answer</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number traced  ·  checked against a built project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per-tier statistics, benchmark split</a:t>
            </a:r>
            <a:endParaRPr lang="en-US" sz="2600" dirty="0"/>
          </a:p>
        </p:txBody>
      </p:sp>
      <p:graphicFrame>
        <p:nvGraphicFramePr>
          <p:cNvPr id="16"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gaps: insulation / pipe surfaces"/>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gaps: insulation / pipe surfaces"/>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41 / 68 mm</a:t>
            </a:r>
            <a:endParaRPr lang="en-US" sz="2400" dirty="0"/>
          </a:p>
        </p:txBody>
      </p:sp>
      <p:sp>
        <p:nvSpPr>
          <p:cNvPr id="9" name="label Wasserstein-1, generated to measured gaps: insulation / pipe surfaces"/>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gaps: insulation / pipe surfaces</a:t>
            </a:r>
            <a:endParaRPr lang="en-US" sz="1100" dirty="0"/>
          </a:p>
        </p:txBody>
      </p:sp>
      <p:sp>
        <p:nvSpPr>
          <p:cNvPr id="10" name="tile lognormal fit to the measured gaps above 25 mm (n = 73)"/>
          <p:cNvSpPr/>
          <p:nvPr/>
        </p:nvSpPr>
        <p:spPr>
          <a:xfrm>
            <a:off x="7772400" y="3977640"/>
            <a:ext cx="3867912" cy="1097280"/>
          </a:xfrm>
          <a:prstGeom prst="roundRect">
            <a:avLst>
              <a:gd name="adj" fmla="val 5833"/>
            </a:avLst>
          </a:prstGeom>
          <a:solidFill>
            <a:schemeClr val="bg2"/>
          </a:solidFill>
          <a:ln/>
        </p:spPr>
      </p:sp>
      <p:sp>
        <p:nvSpPr>
          <p:cNvPr id="11" name="value lognormal fit to the measured gaps above 25 mm (n = 73)"/>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KS p = 0.53</a:t>
            </a:r>
            <a:endParaRPr lang="en-US" sz="2400" dirty="0"/>
          </a:p>
        </p:txBody>
      </p:sp>
      <p:sp>
        <p:nvSpPr>
          <p:cNvPr id="12" name="label lognormal fit to the measured gaps above 25 mm (n = 73)"/>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lognormal fit to the measured gaps above 25 mm (n = 73)</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one record, as stored</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2026-10-04T23:57:28Z</dcterms:created>
  <dcterms:modified xsi:type="dcterms:W3CDTF">2026-10-04T23:57:28Z</dcterms:modified>
</cp:coreProperties>
</file>