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e1a0bb1-e135-bcf9-1d37-4438f98f4a5f}">
          <p14:sldIdLst>
            <p14:sldId id="256"/>
          </p14:sldIdLst>
        </p14:section>
        <p14:section name="Motivation" id="{9c2ad87b-976d-2c45-7593-b4687631057e}">
          <p14:sldIdLst>
            <p14:sldId id="257"/>
            <p14:sldId id="258"/>
            <p14:sldId id="259"/>
            <p14:sldId id="260"/>
            <p14:sldId id="261"/>
          </p14:sldIdLst>
        </p14:section>
        <p14:section name="The dataset" id="{076a7065-3628-f11e-8a37-ef315d3bb4cd}">
          <p14:sldIdLst>
            <p14:sldId id="262"/>
            <p14:sldId id="263"/>
            <p14:sldId id="264"/>
          </p14:sldIdLst>
        </p14:section>
        <p14:section name="Experiments" id="{04fe22f8-5c14-aa92-fc1e-2a8ade96a765}">
          <p14:sldIdLst>
            <p14:sldId id="265"/>
            <p14:sldId id="266"/>
            <p14:sldId id="267"/>
          </p14:sldIdLst>
        </p14:section>
        <p14:section name="Use" id="{852f3db9-35ab-ab00-e0d1-68e23b0e800d}">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tickLblSkip val="4"/>
        <c:noMultiLvlLbl val="1"/>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sp>
        <p:nvSpPr>
          <p:cNvPr id="5" name="title art panel"/>
          <p:cNvSpPr/>
          <p:nvPr/>
        </p:nvSpPr>
        <p:spPr>
          <a:xfrm>
            <a:off x="8479705" y="256032"/>
            <a:ext cx="3407495" cy="6345936"/>
          </a:xfrm>
          <a:prstGeom prst="roundRect">
            <a:avLst>
              <a:gd name="adj" fmla="val 2683"/>
            </a:avLst>
          </a:prstGeom>
          <a:solidFill>
            <a:srgbClr val="FFFFFF"/>
          </a:solidFill>
          <a:ln/>
        </p:spPr>
      </p:sp>
      <p:pic>
        <p:nvPicPr>
          <p:cNvPr id="6" name="title art" descr="/home/user/crossmep_dataset/docs/CrossMEP_title_art_idea_white.png">    </p:cNvPr>
          <p:cNvPicPr>
            <a:picLocks noChangeAspect="1"/>
          </p:cNvPicPr>
          <p:nvPr/>
        </p:nvPicPr>
        <p:blipFill>
          <a:blip r:embed="rId1"/>
          <a:stretch>
            <a:fillRect/>
          </a:stretch>
        </p:blipFill>
        <p:spPr>
          <a:xfrm>
            <a:off x="8589433" y="365760"/>
            <a:ext cx="3188039" cy="6126480"/>
          </a:xfrm>
          <a:prstGeom prst="rect">
            <a:avLst/>
          </a:prstGeom>
        </p:spPr>
      </p:pic>
      <p:sp>
        <p:nvSpPr>
          <p:cNvPr id="7" name="logo chip"/>
          <p:cNvSpPr/>
          <p:nvPr/>
        </p:nvSpPr>
        <p:spPr>
          <a:xfrm>
            <a:off x="640080" y="553212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22960" y="571855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3017520" y="600426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The synthesis of structural support assemblies (SSAs) takes 25% of MEP design effort because every assembly must be designed individually</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C00000"/>
            </a:solidFill>
            <a:prstDash val="solid"/>
          </a:ln>
        </p:spPr>
      </p:sp>
      <p:sp>
        <p:nvSpPr>
          <p:cNvPr id="5" name="zoom line top"/>
          <p:cNvSpPr/>
          <p:nvPr/>
        </p:nvSpPr>
        <p:spPr>
          <a:xfrm flipV="1">
            <a:off x="3897484" y="1783080"/>
            <a:ext cx="3051956" cy="1008636"/>
          </a:xfrm>
          <a:prstGeom prst="line">
            <a:avLst/>
          </a:prstGeom>
          <a:noFill/>
          <a:ln w="19050">
            <a:solidFill>
              <a:srgbClr val="C00000"/>
            </a:solidFill>
            <a:prstDash val="solid"/>
          </a:ln>
        </p:spPr>
      </p:sp>
      <p:sp>
        <p:nvSpPr>
          <p:cNvPr id="6" name="zoom line bottom"/>
          <p:cNvSpPr/>
          <p:nvPr/>
        </p:nvSpPr>
        <p:spPr>
          <a:xfrm>
            <a:off x="3897484" y="3265617"/>
            <a:ext cx="3051956" cy="1210645"/>
          </a:xfrm>
          <a:prstGeom prst="line">
            <a:avLst/>
          </a:prstGeom>
          <a:noFill/>
          <a:ln w="19050">
            <a:solidFill>
              <a:srgbClr val="C00000"/>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C00000"/>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model chip"/>
          <p:cNvSpPr/>
          <p:nvPr/>
        </p:nvSpPr>
        <p:spPr>
          <a:xfrm>
            <a:off x="685800" y="4245102"/>
            <a:ext cx="3429000" cy="329184"/>
          </a:xfrm>
          <a:prstGeom prst="roundRect">
            <a:avLst>
              <a:gd name="adj" fmla="val 50000"/>
            </a:avLst>
          </a:prstGeom>
          <a:solidFill>
            <a:srgbClr val="FFFFFF"/>
          </a:solidFill>
          <a:ln w="9525">
            <a:solidFill>
              <a:srgbClr val="E1E0D9"/>
            </a:solidFill>
            <a:prstDash val="solid"/>
          </a:ln>
        </p:spPr>
      </p:sp>
      <p:sp>
        <p:nvSpPr>
          <p:cNvPr id="11" name="model chip dot"/>
          <p:cNvSpPr/>
          <p:nvPr/>
        </p:nvSpPr>
        <p:spPr>
          <a:xfrm>
            <a:off x="822960" y="4336542"/>
            <a:ext cx="146304" cy="146304"/>
          </a:xfrm>
          <a:prstGeom prst="ellipse">
            <a:avLst/>
          </a:prstGeom>
          <a:solidFill>
            <a:srgbClr val="C00000"/>
          </a:solidFill>
          <a:ln/>
        </p:spPr>
      </p:sp>
      <p:sp>
        <p:nvSpPr>
          <p:cNvPr id="12" name="model chip text"/>
          <p:cNvSpPr txBox="1"/>
          <p:nvPr/>
        </p:nvSpPr>
        <p:spPr>
          <a:xfrm>
            <a:off x="1024128" y="4245102"/>
            <a:ext cx="3063240" cy="329184"/>
          </a:xfrm>
          <a:prstGeom prst="rect">
            <a:avLst/>
          </a:prstGeom>
          <a:noFill/>
          <a:ln/>
        </p:spPr>
        <p:txBody>
          <a:bodyPr wrap="square" lIns="0" tIns="0" rIns="0" bIns="0" rtlCol="0" anchor="ctr"/>
          <a:lstStyle/>
          <a:p>
            <a:pPr indent="0" marL="0">
              <a:buNone/>
            </a:pPr>
            <a:r>
              <a:rPr lang="en-US" sz="1050" dirty="0">
                <a:solidFill>
                  <a:schemeClr val="tx1"/>
                </a:solidFill>
              </a:rPr>
              <a:t>200,000 sq ft hospital · every red mark is one support</a:t>
            </a:r>
            <a:endParaRPr lang="en-US" sz="1050" dirty="0"/>
          </a:p>
        </p:txBody>
      </p:sp>
      <p:sp>
        <p:nvSpPr>
          <p:cNvPr id="13" name="tile assemblies"/>
          <p:cNvSpPr/>
          <p:nvPr/>
        </p:nvSpPr>
        <p:spPr>
          <a:xfrm>
            <a:off x="548640" y="4892040"/>
            <a:ext cx="3258312" cy="1188720"/>
          </a:xfrm>
          <a:prstGeom prst="roundRect">
            <a:avLst>
              <a:gd name="adj" fmla="val 5385"/>
            </a:avLst>
          </a:prstGeom>
          <a:solidFill>
            <a:schemeClr val="bg2"/>
          </a:solidFill>
          <a:ln/>
        </p:spPr>
      </p:sp>
      <p:sp>
        <p:nvSpPr>
          <p:cNvPr id="14" name="icon ring assemblies"/>
          <p:cNvSpPr/>
          <p:nvPr/>
        </p:nvSpPr>
        <p:spPr>
          <a:xfrm>
            <a:off x="777240" y="5193792"/>
            <a:ext cx="585216" cy="585216"/>
          </a:xfrm>
          <a:prstGeom prst="ellipse">
            <a:avLst/>
          </a:prstGeom>
          <a:solidFill>
            <a:srgbClr val="C00000"/>
          </a:solidFill>
          <a:ln/>
        </p:spPr>
      </p:sp>
      <p:pic>
        <p:nvPicPr>
          <p:cNvPr id="15"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6" name="value assemblies"/>
          <p:cNvSpPr txBox="1"/>
          <p:nvPr/>
        </p:nvSpPr>
        <p:spPr>
          <a:xfrm>
            <a:off x="155448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 10,000</a:t>
            </a:r>
            <a:endParaRPr lang="en-US" sz="2800" dirty="0"/>
          </a:p>
        </p:txBody>
      </p:sp>
      <p:sp>
        <p:nvSpPr>
          <p:cNvPr id="17" name="label assemblies"/>
          <p:cNvSpPr txBox="1"/>
          <p:nvPr/>
        </p:nvSpPr>
        <p:spPr>
          <a:xfrm>
            <a:off x="155448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support assemblies </a:t>
            </a:r>
            <a:r>
              <a:rPr lang="en-US" sz="1150" dirty="0">
                <a:solidFill>
                  <a:srgbClr val="52514E"/>
                </a:solidFill>
              </a:rPr>
              <a:t>in one hospital project, each one its own design</a:t>
            </a:r>
            <a:endParaRPr lang="en-US" sz="1150" dirty="0"/>
          </a:p>
        </p:txBody>
      </p:sp>
      <p:sp>
        <p:nvSpPr>
          <p:cNvPr id="18" name="op times"/>
          <p:cNvSpPr/>
          <p:nvPr/>
        </p:nvSpPr>
        <p:spPr>
          <a:xfrm>
            <a:off x="3944112" y="5294376"/>
            <a:ext cx="384048" cy="384048"/>
          </a:xfrm>
          <a:prstGeom prst="ellipse">
            <a:avLst/>
          </a:prstGeom>
          <a:solidFill>
            <a:srgbClr val="FFFFFF"/>
          </a:solidFill>
          <a:ln w="19050">
            <a:solidFill>
              <a:srgbClr val="C00000"/>
            </a:solidFill>
            <a:prstDash val="solid"/>
          </a:ln>
        </p:spPr>
      </p:sp>
      <p:sp>
        <p:nvSpPr>
          <p:cNvPr id="19" name="op text times"/>
          <p:cNvSpPr txBox="1"/>
          <p:nvPr/>
        </p:nvSpPr>
        <p:spPr>
          <a:xfrm>
            <a:off x="3944112" y="5294376"/>
            <a:ext cx="384048" cy="384048"/>
          </a:xfrm>
          <a:prstGeom prst="rect">
            <a:avLst/>
          </a:prstGeom>
          <a:noFill/>
          <a:ln/>
        </p:spPr>
        <p:txBody>
          <a:bodyPr wrap="square" lIns="0" tIns="0" rIns="0" bIns="0" rtlCol="0" anchor="ctr"/>
          <a:lstStyle/>
          <a:p>
            <a:pPr algn="ctr" indent="0" marL="0">
              <a:buNone/>
            </a:pPr>
            <a:r>
              <a:rPr lang="en-US" sz="1800" b="1" dirty="0">
                <a:solidFill>
                  <a:srgbClr val="C00000"/>
                </a:solidFill>
              </a:rPr>
              <a:t>×</a:t>
            </a:r>
            <a:endParaRPr lang="en-US" sz="1800" dirty="0"/>
          </a:p>
        </p:txBody>
      </p:sp>
      <p:sp>
        <p:nvSpPr>
          <p:cNvPr id="20" name="tile time"/>
          <p:cNvSpPr/>
          <p:nvPr/>
        </p:nvSpPr>
        <p:spPr>
          <a:xfrm>
            <a:off x="4465320" y="4892040"/>
            <a:ext cx="3258312" cy="1188720"/>
          </a:xfrm>
          <a:prstGeom prst="roundRect">
            <a:avLst>
              <a:gd name="adj" fmla="val 5385"/>
            </a:avLst>
          </a:prstGeom>
          <a:solidFill>
            <a:schemeClr val="bg2"/>
          </a:solidFill>
          <a:ln/>
        </p:spPr>
      </p:sp>
      <p:sp>
        <p:nvSpPr>
          <p:cNvPr id="21" name="icon ring time"/>
          <p:cNvSpPr/>
          <p:nvPr/>
        </p:nvSpPr>
        <p:spPr>
          <a:xfrm>
            <a:off x="4693920" y="5193792"/>
            <a:ext cx="585216" cy="585216"/>
          </a:xfrm>
          <a:prstGeom prst="ellipse">
            <a:avLst/>
          </a:prstGeom>
          <a:solidFill>
            <a:srgbClr val="C00000"/>
          </a:solidFill>
          <a:ln/>
        </p:spPr>
      </p:sp>
      <p:pic>
        <p:nvPicPr>
          <p:cNvPr id="22" name="icon time" descr="preencoded.png">    </p:cNvPr>
          <p:cNvPicPr>
            <a:picLocks noChangeAspect="1"/>
          </p:cNvPicPr>
          <p:nvPr/>
        </p:nvPicPr>
        <p:blipFill>
          <a:blip r:embed="rId4"/>
          <a:stretch>
            <a:fillRect/>
          </a:stretch>
        </p:blipFill>
        <p:spPr>
          <a:xfrm>
            <a:off x="4816815" y="5316687"/>
            <a:ext cx="339425" cy="339425"/>
          </a:xfrm>
          <a:prstGeom prst="rect">
            <a:avLst/>
          </a:prstGeom>
        </p:spPr>
      </p:pic>
      <p:sp>
        <p:nvSpPr>
          <p:cNvPr id="23" name="value time"/>
          <p:cNvSpPr txBox="1"/>
          <p:nvPr/>
        </p:nvSpPr>
        <p:spPr>
          <a:xfrm>
            <a:off x="547116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20 min – 2 h</a:t>
            </a:r>
            <a:endParaRPr lang="en-US" sz="2800" dirty="0"/>
          </a:p>
        </p:txBody>
      </p:sp>
      <p:sp>
        <p:nvSpPr>
          <p:cNvPr id="24" name="label time"/>
          <p:cNvSpPr txBox="1"/>
          <p:nvPr/>
        </p:nvSpPr>
        <p:spPr>
          <a:xfrm>
            <a:off x="547116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of engineering time </a:t>
            </a:r>
            <a:r>
              <a:rPr lang="en-US" sz="1150" dirty="0">
                <a:solidFill>
                  <a:srgbClr val="52514E"/>
                </a:solidFill>
              </a:rPr>
              <a:t>for each assembly, designed one by one</a:t>
            </a:r>
            <a:endParaRPr lang="en-US" sz="1150" dirty="0"/>
          </a:p>
        </p:txBody>
      </p:sp>
      <p:sp>
        <p:nvSpPr>
          <p:cNvPr id="25" name="op equals"/>
          <p:cNvSpPr/>
          <p:nvPr/>
        </p:nvSpPr>
        <p:spPr>
          <a:xfrm>
            <a:off x="7860792" y="5294376"/>
            <a:ext cx="384048" cy="384048"/>
          </a:xfrm>
          <a:prstGeom prst="ellipse">
            <a:avLst/>
          </a:prstGeom>
          <a:solidFill>
            <a:srgbClr val="FFFFFF"/>
          </a:solidFill>
          <a:ln w="19050">
            <a:solidFill>
              <a:srgbClr val="C00000"/>
            </a:solidFill>
            <a:prstDash val="solid"/>
          </a:ln>
        </p:spPr>
      </p:sp>
      <p:sp>
        <p:nvSpPr>
          <p:cNvPr id="26" name="op text equals"/>
          <p:cNvSpPr txBox="1"/>
          <p:nvPr/>
        </p:nvSpPr>
        <p:spPr>
          <a:xfrm>
            <a:off x="7860792" y="5294376"/>
            <a:ext cx="384048" cy="384048"/>
          </a:xfrm>
          <a:prstGeom prst="rect">
            <a:avLst/>
          </a:prstGeom>
          <a:noFill/>
          <a:ln/>
        </p:spPr>
        <p:txBody>
          <a:bodyPr wrap="square" lIns="0" tIns="0" rIns="0" bIns="0" rtlCol="0" anchor="ctr"/>
          <a:lstStyle/>
          <a:p>
            <a:pPr algn="ctr" indent="0" marL="0">
              <a:buNone/>
            </a:pPr>
            <a:r>
              <a:rPr lang="en-US" sz="1800" b="1" dirty="0">
                <a:solidFill>
                  <a:srgbClr val="C00000"/>
                </a:solidFill>
              </a:rPr>
              <a:t>=</a:t>
            </a:r>
            <a:endParaRPr lang="en-US" sz="1800" dirty="0"/>
          </a:p>
        </p:txBody>
      </p:sp>
      <p:sp>
        <p:nvSpPr>
          <p:cNvPr id="27" name="tile effort"/>
          <p:cNvSpPr/>
          <p:nvPr/>
        </p:nvSpPr>
        <p:spPr>
          <a:xfrm>
            <a:off x="8382000" y="4892040"/>
            <a:ext cx="3258312" cy="1188720"/>
          </a:xfrm>
          <a:prstGeom prst="roundRect">
            <a:avLst>
              <a:gd name="adj" fmla="val 5385"/>
            </a:avLst>
          </a:prstGeom>
          <a:solidFill>
            <a:schemeClr val="bg2"/>
          </a:solidFill>
          <a:ln/>
        </p:spPr>
      </p:sp>
      <p:sp>
        <p:nvSpPr>
          <p:cNvPr id="28" name="icon ring effort"/>
          <p:cNvSpPr/>
          <p:nvPr/>
        </p:nvSpPr>
        <p:spPr>
          <a:xfrm>
            <a:off x="8610600" y="5193792"/>
            <a:ext cx="585216" cy="585216"/>
          </a:xfrm>
          <a:prstGeom prst="ellipse">
            <a:avLst/>
          </a:prstGeom>
          <a:solidFill>
            <a:srgbClr val="C00000"/>
          </a:solidFill>
          <a:ln/>
        </p:spPr>
      </p:sp>
      <p:pic>
        <p:nvPicPr>
          <p:cNvPr id="29" name="icon effort" descr="preencoded.png">    </p:cNvPr>
          <p:cNvPicPr>
            <a:picLocks noChangeAspect="1"/>
          </p:cNvPicPr>
          <p:nvPr/>
        </p:nvPicPr>
        <p:blipFill>
          <a:blip r:embed="rId5"/>
          <a:stretch>
            <a:fillRect/>
          </a:stretch>
        </p:blipFill>
        <p:spPr>
          <a:xfrm>
            <a:off x="8733495" y="5316687"/>
            <a:ext cx="339425" cy="339425"/>
          </a:xfrm>
          <a:prstGeom prst="rect">
            <a:avLst/>
          </a:prstGeom>
        </p:spPr>
      </p:pic>
      <p:sp>
        <p:nvSpPr>
          <p:cNvPr id="30" name="value effort"/>
          <p:cNvSpPr txBox="1"/>
          <p:nvPr/>
        </p:nvSpPr>
        <p:spPr>
          <a:xfrm>
            <a:off x="938784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 25 %</a:t>
            </a:r>
            <a:endParaRPr lang="en-US" sz="2800" dirty="0"/>
          </a:p>
        </p:txBody>
      </p:sp>
      <p:sp>
        <p:nvSpPr>
          <p:cNvPr id="31" name="label effort"/>
          <p:cNvSpPr txBox="1"/>
          <p:nvPr/>
        </p:nvSpPr>
        <p:spPr>
          <a:xfrm>
            <a:off x="938784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of MEP design effort, </a:t>
            </a:r>
            <a:r>
              <a:rPr lang="en-US" sz="1150" dirty="0">
                <a:solidFill>
                  <a:srgbClr val="52514E"/>
                </a:solidFill>
              </a:rPr>
              <a:t>about $600k of engineering cost per project</a:t>
            </a:r>
            <a:endParaRPr lang="en-US" sz="1150" dirty="0"/>
          </a:p>
        </p:txBody>
      </p:sp>
      <p:sp>
        <p:nvSpPr>
          <p:cNvPr id="3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33"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frame in"/>
          <p:cNvSpPr/>
          <p:nvPr/>
        </p:nvSpPr>
        <p:spPr>
          <a:xfrm>
            <a:off x="548640" y="1600200"/>
            <a:ext cx="5029200" cy="3977640"/>
          </a:xfrm>
          <a:prstGeom prst="roundRect">
            <a:avLst>
              <a:gd name="adj" fmla="val 1379"/>
            </a:avLst>
          </a:prstGeom>
          <a:solidFill>
            <a:srgbClr val="FFFFFF"/>
          </a:solidFill>
          <a:ln w="15875">
            <a:solidFill>
              <a:schemeClr val="accent1"/>
            </a:solidFill>
            <a:prstDash val="solid"/>
          </a:ln>
        </p:spPr>
      </p:sp>
      <p:sp>
        <p:nvSpPr>
          <p:cNvPr id="4" name="tab context"/>
          <p:cNvSpPr/>
          <p:nvPr/>
        </p:nvSpPr>
        <p:spPr>
          <a:xfrm>
            <a:off x="777240" y="1444752"/>
            <a:ext cx="2377440" cy="310896"/>
          </a:xfrm>
          <a:prstGeom prst="roundRect">
            <a:avLst>
              <a:gd name="adj" fmla="val 50000"/>
            </a:avLst>
          </a:prstGeom>
          <a:solidFill>
            <a:schemeClr val="accent1"/>
          </a:solidFill>
          <a:ln/>
        </p:spPr>
      </p:sp>
      <p:sp>
        <p:nvSpPr>
          <p:cNvPr id="5" name="tab text context"/>
          <p:cNvSpPr txBox="1"/>
          <p:nvPr/>
        </p:nvSpPr>
        <p:spPr>
          <a:xfrm>
            <a:off x="777240" y="1444752"/>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rPr>
              <a:t>CONTEXT  ·  the brief</a:t>
            </a:r>
            <a:endParaRPr lang="en-US" sz="1100" dirty="0"/>
          </a:p>
        </p:txBody>
      </p:sp>
      <p:sp>
        <p:nvSpPr>
          <p:cNvPr id="6" name="ceiling in"/>
          <p:cNvSpPr/>
          <p:nvPr/>
        </p:nvSpPr>
        <p:spPr>
          <a:xfrm>
            <a:off x="777240" y="1965960"/>
            <a:ext cx="4572000" cy="384048"/>
          </a:xfrm>
          <a:prstGeom prst="rect">
            <a:avLst/>
          </a:prstGeom>
          <a:solidFill>
            <a:srgbClr val="EEF1F4"/>
          </a:solidFill>
          <a:ln w="9525">
            <a:solidFill>
              <a:srgbClr val="52514E"/>
            </a:solidFill>
            <a:prstDash val="solid"/>
          </a:ln>
        </p:spPr>
      </p:sp>
      <p:sp>
        <p:nvSpPr>
          <p:cNvPr id="7" name="hatch in 0.8"/>
          <p:cNvSpPr/>
          <p:nvPr/>
        </p:nvSpPr>
        <p:spPr>
          <a:xfrm flipV="1">
            <a:off x="777240" y="1965960"/>
            <a:ext cx="274320" cy="384048"/>
          </a:xfrm>
          <a:prstGeom prst="line">
            <a:avLst/>
          </a:prstGeom>
          <a:noFill/>
          <a:ln w="6350">
            <a:solidFill>
              <a:srgbClr val="898781"/>
            </a:solidFill>
            <a:prstDash val="solid"/>
          </a:ln>
        </p:spPr>
      </p:sp>
      <p:sp>
        <p:nvSpPr>
          <p:cNvPr id="8" name="hatch in 1.1"/>
          <p:cNvSpPr/>
          <p:nvPr/>
        </p:nvSpPr>
        <p:spPr>
          <a:xfrm flipV="1">
            <a:off x="1051560" y="1965960"/>
            <a:ext cx="274320" cy="384048"/>
          </a:xfrm>
          <a:prstGeom prst="line">
            <a:avLst/>
          </a:prstGeom>
          <a:noFill/>
          <a:ln w="6350">
            <a:solidFill>
              <a:srgbClr val="898781"/>
            </a:solidFill>
            <a:prstDash val="solid"/>
          </a:ln>
        </p:spPr>
      </p:sp>
      <p:sp>
        <p:nvSpPr>
          <p:cNvPr id="9" name="hatch in 1.4"/>
          <p:cNvSpPr/>
          <p:nvPr/>
        </p:nvSpPr>
        <p:spPr>
          <a:xfrm flipV="1">
            <a:off x="1325880" y="1965960"/>
            <a:ext cx="274320" cy="384048"/>
          </a:xfrm>
          <a:prstGeom prst="line">
            <a:avLst/>
          </a:prstGeom>
          <a:noFill/>
          <a:ln w="6350">
            <a:solidFill>
              <a:srgbClr val="898781"/>
            </a:solidFill>
            <a:prstDash val="solid"/>
          </a:ln>
        </p:spPr>
      </p:sp>
      <p:sp>
        <p:nvSpPr>
          <p:cNvPr id="10" name="hatch in 1.8"/>
          <p:cNvSpPr/>
          <p:nvPr/>
        </p:nvSpPr>
        <p:spPr>
          <a:xfrm flipV="1">
            <a:off x="1600200" y="1965960"/>
            <a:ext cx="274320" cy="384048"/>
          </a:xfrm>
          <a:prstGeom prst="line">
            <a:avLst/>
          </a:prstGeom>
          <a:noFill/>
          <a:ln w="6350">
            <a:solidFill>
              <a:srgbClr val="898781"/>
            </a:solidFill>
            <a:prstDash val="solid"/>
          </a:ln>
        </p:spPr>
      </p:sp>
      <p:sp>
        <p:nvSpPr>
          <p:cNvPr id="11" name="hatch in 2.0"/>
          <p:cNvSpPr/>
          <p:nvPr/>
        </p:nvSpPr>
        <p:spPr>
          <a:xfrm flipV="1">
            <a:off x="1874520" y="1965960"/>
            <a:ext cx="274320" cy="384048"/>
          </a:xfrm>
          <a:prstGeom prst="line">
            <a:avLst/>
          </a:prstGeom>
          <a:noFill/>
          <a:ln w="6350">
            <a:solidFill>
              <a:srgbClr val="898781"/>
            </a:solidFill>
            <a:prstDash val="solid"/>
          </a:ln>
        </p:spPr>
      </p:sp>
      <p:sp>
        <p:nvSpPr>
          <p:cNvPr id="12" name="hatch in 2.3"/>
          <p:cNvSpPr/>
          <p:nvPr/>
        </p:nvSpPr>
        <p:spPr>
          <a:xfrm flipV="1">
            <a:off x="2148840" y="1965960"/>
            <a:ext cx="274320" cy="384048"/>
          </a:xfrm>
          <a:prstGeom prst="line">
            <a:avLst/>
          </a:prstGeom>
          <a:noFill/>
          <a:ln w="6350">
            <a:solidFill>
              <a:srgbClr val="898781"/>
            </a:solidFill>
            <a:prstDash val="solid"/>
          </a:ln>
        </p:spPr>
      </p:sp>
      <p:sp>
        <p:nvSpPr>
          <p:cNvPr id="13" name="hatch in 2.6"/>
          <p:cNvSpPr/>
          <p:nvPr/>
        </p:nvSpPr>
        <p:spPr>
          <a:xfrm flipV="1">
            <a:off x="2423160" y="1965960"/>
            <a:ext cx="274320" cy="384048"/>
          </a:xfrm>
          <a:prstGeom prst="line">
            <a:avLst/>
          </a:prstGeom>
          <a:noFill/>
          <a:ln w="6350">
            <a:solidFill>
              <a:srgbClr val="898781"/>
            </a:solidFill>
            <a:prstDash val="solid"/>
          </a:ln>
        </p:spPr>
      </p:sp>
      <p:sp>
        <p:nvSpPr>
          <p:cNvPr id="14" name="hatch in 2.9"/>
          <p:cNvSpPr/>
          <p:nvPr/>
        </p:nvSpPr>
        <p:spPr>
          <a:xfrm flipV="1">
            <a:off x="2697480" y="1965960"/>
            <a:ext cx="274320" cy="384048"/>
          </a:xfrm>
          <a:prstGeom prst="line">
            <a:avLst/>
          </a:prstGeom>
          <a:noFill/>
          <a:ln w="6350">
            <a:solidFill>
              <a:srgbClr val="898781"/>
            </a:solidFill>
            <a:prstDash val="solid"/>
          </a:ln>
        </p:spPr>
      </p:sp>
      <p:sp>
        <p:nvSpPr>
          <p:cNvPr id="15" name="hatch in 3.2"/>
          <p:cNvSpPr/>
          <p:nvPr/>
        </p:nvSpPr>
        <p:spPr>
          <a:xfrm flipV="1">
            <a:off x="2971800" y="1965960"/>
            <a:ext cx="274320" cy="384048"/>
          </a:xfrm>
          <a:prstGeom prst="line">
            <a:avLst/>
          </a:prstGeom>
          <a:noFill/>
          <a:ln w="6350">
            <a:solidFill>
              <a:srgbClr val="898781"/>
            </a:solidFill>
            <a:prstDash val="solid"/>
          </a:ln>
        </p:spPr>
      </p:sp>
      <p:sp>
        <p:nvSpPr>
          <p:cNvPr id="16" name="hatch in 3.5"/>
          <p:cNvSpPr/>
          <p:nvPr/>
        </p:nvSpPr>
        <p:spPr>
          <a:xfrm flipV="1">
            <a:off x="3246120" y="1965960"/>
            <a:ext cx="274320" cy="384048"/>
          </a:xfrm>
          <a:prstGeom prst="line">
            <a:avLst/>
          </a:prstGeom>
          <a:noFill/>
          <a:ln w="6350">
            <a:solidFill>
              <a:srgbClr val="898781"/>
            </a:solidFill>
            <a:prstDash val="solid"/>
          </a:ln>
        </p:spPr>
      </p:sp>
      <p:sp>
        <p:nvSpPr>
          <p:cNvPr id="17" name="hatch in 3.8"/>
          <p:cNvSpPr/>
          <p:nvPr/>
        </p:nvSpPr>
        <p:spPr>
          <a:xfrm flipV="1">
            <a:off x="3520440" y="1965960"/>
            <a:ext cx="274320" cy="384048"/>
          </a:xfrm>
          <a:prstGeom prst="line">
            <a:avLst/>
          </a:prstGeom>
          <a:noFill/>
          <a:ln w="6350">
            <a:solidFill>
              <a:srgbClr val="898781"/>
            </a:solidFill>
            <a:prstDash val="solid"/>
          </a:ln>
        </p:spPr>
      </p:sp>
      <p:sp>
        <p:nvSpPr>
          <p:cNvPr id="18" name="hatch in 4.1"/>
          <p:cNvSpPr/>
          <p:nvPr/>
        </p:nvSpPr>
        <p:spPr>
          <a:xfrm flipV="1">
            <a:off x="3794760" y="1965960"/>
            <a:ext cx="274320" cy="384048"/>
          </a:xfrm>
          <a:prstGeom prst="line">
            <a:avLst/>
          </a:prstGeom>
          <a:noFill/>
          <a:ln w="6350">
            <a:solidFill>
              <a:srgbClr val="898781"/>
            </a:solidFill>
            <a:prstDash val="solid"/>
          </a:ln>
        </p:spPr>
      </p:sp>
      <p:sp>
        <p:nvSpPr>
          <p:cNvPr id="19" name="hatch in 4.4"/>
          <p:cNvSpPr/>
          <p:nvPr/>
        </p:nvSpPr>
        <p:spPr>
          <a:xfrm flipV="1">
            <a:off x="4069080" y="1965960"/>
            <a:ext cx="274320" cy="384048"/>
          </a:xfrm>
          <a:prstGeom prst="line">
            <a:avLst/>
          </a:prstGeom>
          <a:noFill/>
          <a:ln w="6350">
            <a:solidFill>
              <a:srgbClr val="898781"/>
            </a:solidFill>
            <a:prstDash val="solid"/>
          </a:ln>
        </p:spPr>
      </p:sp>
      <p:sp>
        <p:nvSpPr>
          <p:cNvPr id="20" name="hatch in 4.7"/>
          <p:cNvSpPr/>
          <p:nvPr/>
        </p:nvSpPr>
        <p:spPr>
          <a:xfrm flipV="1">
            <a:off x="4343400" y="1965960"/>
            <a:ext cx="274320" cy="384048"/>
          </a:xfrm>
          <a:prstGeom prst="line">
            <a:avLst/>
          </a:prstGeom>
          <a:noFill/>
          <a:ln w="6350">
            <a:solidFill>
              <a:srgbClr val="898781"/>
            </a:solidFill>
            <a:prstDash val="solid"/>
          </a:ln>
        </p:spPr>
      </p:sp>
      <p:sp>
        <p:nvSpPr>
          <p:cNvPr id="21" name="hatch in 5.0"/>
          <p:cNvSpPr/>
          <p:nvPr/>
        </p:nvSpPr>
        <p:spPr>
          <a:xfrm flipV="1">
            <a:off x="4617720" y="1965960"/>
            <a:ext cx="274320" cy="384048"/>
          </a:xfrm>
          <a:prstGeom prst="line">
            <a:avLst/>
          </a:prstGeom>
          <a:noFill/>
          <a:ln w="6350">
            <a:solidFill>
              <a:srgbClr val="898781"/>
            </a:solidFill>
            <a:prstDash val="solid"/>
          </a:ln>
        </p:spPr>
      </p:sp>
      <p:sp>
        <p:nvSpPr>
          <p:cNvPr id="22" name="hatch in 5.3"/>
          <p:cNvSpPr/>
          <p:nvPr/>
        </p:nvSpPr>
        <p:spPr>
          <a:xfrm flipV="1">
            <a:off x="4892040" y="1965960"/>
            <a:ext cx="274320" cy="384048"/>
          </a:xfrm>
          <a:prstGeom prst="line">
            <a:avLst/>
          </a:prstGeom>
          <a:noFill/>
          <a:ln w="6350">
            <a:solidFill>
              <a:srgbClr val="898781"/>
            </a:solidFill>
            <a:prstDash val="solid"/>
          </a:ln>
        </p:spPr>
      </p:sp>
      <p:sp>
        <p:nvSpPr>
          <p:cNvPr id="23" name="ceiling label in"/>
          <p:cNvSpPr txBox="1"/>
          <p:nvPr/>
        </p:nvSpPr>
        <p:spPr>
          <a:xfrm>
            <a:off x="2148840" y="2029968"/>
            <a:ext cx="182880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slab, 200 mm</a:t>
            </a:r>
            <a:endParaRPr lang="en-US" sz="1100" dirty="0"/>
          </a:p>
        </p:txBody>
      </p:sp>
      <p:sp>
        <p:nvSpPr>
          <p:cNvPr id="24" name="duct in"/>
          <p:cNvSpPr/>
          <p:nvPr/>
        </p:nvSpPr>
        <p:spPr>
          <a:xfrm>
            <a:off x="1005840" y="3246120"/>
            <a:ext cx="1554480" cy="960120"/>
          </a:xfrm>
          <a:prstGeom prst="rect">
            <a:avLst/>
          </a:prstGeom>
          <a:solidFill>
            <a:srgbClr val="EEF1F4"/>
          </a:solidFill>
          <a:ln w="12700">
            <a:solidFill>
              <a:srgbClr val="52514E"/>
            </a:solidFill>
            <a:prstDash val="solid"/>
          </a:ln>
        </p:spPr>
      </p:sp>
      <p:sp>
        <p:nvSpPr>
          <p:cNvPr id="25" name="insulation in"/>
          <p:cNvSpPr/>
          <p:nvPr/>
        </p:nvSpPr>
        <p:spPr>
          <a:xfrm>
            <a:off x="2752344" y="3392424"/>
            <a:ext cx="896112" cy="896112"/>
          </a:xfrm>
          <a:prstGeom prst="ellipse">
            <a:avLst/>
          </a:prstGeom>
          <a:ln w="9525">
            <a:solidFill>
              <a:srgbClr val="52514E"/>
            </a:solidFill>
            <a:prstDash val="sysDash"/>
          </a:ln>
        </p:spPr>
      </p:sp>
      <p:sp>
        <p:nvSpPr>
          <p:cNvPr id="26" name="pipe a in"/>
          <p:cNvSpPr/>
          <p:nvPr/>
        </p:nvSpPr>
        <p:spPr>
          <a:xfrm>
            <a:off x="2834640" y="3474720"/>
            <a:ext cx="731520" cy="731520"/>
          </a:xfrm>
          <a:prstGeom prst="ellipse">
            <a:avLst/>
          </a:prstGeom>
          <a:solidFill>
            <a:srgbClr val="EEF1F4"/>
          </a:solidFill>
          <a:ln w="12700">
            <a:solidFill>
              <a:srgbClr val="52514E"/>
            </a:solidFill>
            <a:prstDash val="solid"/>
          </a:ln>
        </p:spPr>
      </p:sp>
      <p:sp>
        <p:nvSpPr>
          <p:cNvPr id="27" name="pipe b in"/>
          <p:cNvSpPr/>
          <p:nvPr/>
        </p:nvSpPr>
        <p:spPr>
          <a:xfrm>
            <a:off x="3840480" y="3749040"/>
            <a:ext cx="457200" cy="457200"/>
          </a:xfrm>
          <a:prstGeom prst="ellipse">
            <a:avLst/>
          </a:prstGeom>
          <a:solidFill>
            <a:srgbClr val="EEF1F4"/>
          </a:solidFill>
          <a:ln w="12700">
            <a:solidFill>
              <a:srgbClr val="52514E"/>
            </a:solidFill>
            <a:prstDash val="solid"/>
          </a:ln>
        </p:spPr>
      </p:sp>
      <p:sp>
        <p:nvSpPr>
          <p:cNvPr id="28" name="tray in"/>
          <p:cNvSpPr/>
          <p:nvPr/>
        </p:nvSpPr>
        <p:spPr>
          <a:xfrm>
            <a:off x="4434840" y="3913632"/>
            <a:ext cx="777240" cy="292608"/>
          </a:xfrm>
          <a:prstGeom prst="rect">
            <a:avLst/>
          </a:prstGeom>
          <a:solidFill>
            <a:srgbClr val="EEF1F4"/>
          </a:solidFill>
          <a:ln w="12700">
            <a:solidFill>
              <a:srgbClr val="52514E"/>
            </a:solidFill>
            <a:prstDash val="solid"/>
          </a:ln>
        </p:spPr>
      </p:sp>
      <p:sp>
        <p:nvSpPr>
          <p:cNvPr id="29" name="label duct"/>
          <p:cNvSpPr txBox="1"/>
          <p:nvPr/>
        </p:nvSpPr>
        <p:spPr>
          <a:xfrm>
            <a:off x="1005840" y="4279392"/>
            <a:ext cx="1554480" cy="237744"/>
          </a:xfrm>
          <a:prstGeom prst="rect">
            <a:avLst/>
          </a:prstGeom>
          <a:noFill/>
          <a:ln/>
        </p:spPr>
        <p:txBody>
          <a:bodyPr wrap="square" lIns="0" tIns="0" rIns="0" bIns="0" rtlCol="0" anchor="ctr"/>
          <a:lstStyle/>
          <a:p>
            <a:pPr algn="ctr" indent="0" marL="0">
              <a:buNone/>
            </a:pPr>
            <a:r>
              <a:rPr lang="en-US" sz="1050" dirty="0">
                <a:solidFill>
                  <a:srgbClr val="52514E"/>
                </a:solidFill>
              </a:rPr>
              <a:t>Duct 600 × 400</a:t>
            </a:r>
            <a:endParaRPr lang="en-US" sz="1050" dirty="0"/>
          </a:p>
        </p:txBody>
      </p:sp>
      <p:sp>
        <p:nvSpPr>
          <p:cNvPr id="30" name="label dn80"/>
          <p:cNvSpPr txBox="1"/>
          <p:nvPr/>
        </p:nvSpPr>
        <p:spPr>
          <a:xfrm>
            <a:off x="2560320" y="4279392"/>
            <a:ext cx="1371600" cy="237744"/>
          </a:xfrm>
          <a:prstGeom prst="rect">
            <a:avLst/>
          </a:prstGeom>
          <a:noFill/>
          <a:ln/>
        </p:spPr>
        <p:txBody>
          <a:bodyPr wrap="square" lIns="0" tIns="0" rIns="0" bIns="0" rtlCol="0" anchor="ctr"/>
          <a:lstStyle/>
          <a:p>
            <a:pPr algn="ctr" indent="0" marL="0">
              <a:buNone/>
            </a:pPr>
            <a:r>
              <a:rPr lang="en-US" sz="1050" dirty="0">
                <a:solidFill>
                  <a:srgbClr val="52514E"/>
                </a:solidFill>
              </a:rPr>
              <a:t>DN80, insulated</a:t>
            </a:r>
            <a:endParaRPr lang="en-US" sz="1050" dirty="0"/>
          </a:p>
        </p:txBody>
      </p:sp>
      <p:sp>
        <p:nvSpPr>
          <p:cNvPr id="31" name="label dn40"/>
          <p:cNvSpPr txBox="1"/>
          <p:nvPr/>
        </p:nvSpPr>
        <p:spPr>
          <a:xfrm>
            <a:off x="3749040" y="4279392"/>
            <a:ext cx="640080" cy="237744"/>
          </a:xfrm>
          <a:prstGeom prst="rect">
            <a:avLst/>
          </a:prstGeom>
          <a:noFill/>
          <a:ln/>
        </p:spPr>
        <p:txBody>
          <a:bodyPr wrap="square" lIns="0" tIns="0" rIns="0" bIns="0" rtlCol="0" anchor="ctr"/>
          <a:lstStyle/>
          <a:p>
            <a:pPr algn="ctr" indent="0" marL="0">
              <a:buNone/>
            </a:pPr>
            <a:r>
              <a:rPr lang="en-US" sz="1050" dirty="0">
                <a:solidFill>
                  <a:srgbClr val="52514E"/>
                </a:solidFill>
              </a:rPr>
              <a:t>DN40</a:t>
            </a:r>
            <a:endParaRPr lang="en-US" sz="1050" dirty="0"/>
          </a:p>
        </p:txBody>
      </p:sp>
      <p:sp>
        <p:nvSpPr>
          <p:cNvPr id="32" name="label tray"/>
          <p:cNvSpPr txBox="1"/>
          <p:nvPr/>
        </p:nvSpPr>
        <p:spPr>
          <a:xfrm>
            <a:off x="4297680" y="4279392"/>
            <a:ext cx="1051560" cy="237744"/>
          </a:xfrm>
          <a:prstGeom prst="rect">
            <a:avLst/>
          </a:prstGeom>
          <a:noFill/>
          <a:ln/>
        </p:spPr>
        <p:txBody>
          <a:bodyPr wrap="square" lIns="0" tIns="0" rIns="0" bIns="0" rtlCol="0" anchor="ctr"/>
          <a:lstStyle/>
          <a:p>
            <a:pPr algn="ctr" indent="0" marL="0">
              <a:buNone/>
            </a:pPr>
            <a:r>
              <a:rPr lang="en-US" sz="1050" dirty="0">
                <a:solidFill>
                  <a:srgbClr val="52514E"/>
                </a:solidFill>
              </a:rPr>
              <a:t>Cable tray 300</a:t>
            </a:r>
            <a:endParaRPr lang="en-US" sz="1050" dirty="0"/>
          </a:p>
        </p:txBody>
      </p:sp>
      <p:sp>
        <p:nvSpPr>
          <p:cNvPr id="33" name="in note"/>
          <p:cNvSpPr txBox="1"/>
          <p:nvPr/>
        </p:nvSpPr>
        <p:spPr>
          <a:xfrm>
            <a:off x="777240" y="4919472"/>
            <a:ext cx="4572000" cy="502920"/>
          </a:xfrm>
          <a:prstGeom prst="rect">
            <a:avLst/>
          </a:prstGeom>
          <a:noFill/>
          <a:ln/>
        </p:spPr>
        <p:txBody>
          <a:bodyPr wrap="square" lIns="0" tIns="0" rIns="0" bIns="0" rtlCol="0" anchor="ctr"/>
          <a:lstStyle/>
          <a:p>
            <a:pPr indent="0" marL="0">
              <a:buNone/>
            </a:pPr>
            <a:r>
              <a:rPr lang="en-US" sz="1100" dirty="0">
                <a:solidFill>
                  <a:srgbClr val="52514E"/>
                </a:solidFill>
              </a:rPr>
              <a:t>Every element with its kind, trade, size, insulation, position and load per metre. Nothing else.</a:t>
            </a:r>
            <a:endParaRPr lang="en-US" sz="1100" dirty="0"/>
          </a:p>
        </p:txBody>
      </p:sp>
      <p:sp>
        <p:nvSpPr>
          <p:cNvPr id="34" name="arrow in"/>
          <p:cNvSpPr/>
          <p:nvPr/>
        </p:nvSpPr>
        <p:spPr>
          <a:xfrm>
            <a:off x="5650992" y="3589020"/>
            <a:ext cx="123444" cy="0"/>
          </a:xfrm>
          <a:prstGeom prst="line">
            <a:avLst/>
          </a:prstGeom>
          <a:noFill/>
          <a:ln w="19050">
            <a:solidFill>
              <a:srgbClr val="52514E"/>
            </a:solidFill>
            <a:prstDash val="solid"/>
          </a:ln>
        </p:spPr>
      </p:sp>
      <p:sp>
        <p:nvSpPr>
          <p:cNvPr id="35" name="arrow out"/>
          <p:cNvSpPr/>
          <p:nvPr/>
        </p:nvSpPr>
        <p:spPr>
          <a:xfrm>
            <a:off x="6414516" y="3589020"/>
            <a:ext cx="123444" cy="0"/>
          </a:xfrm>
          <a:prstGeom prst="line">
            <a:avLst/>
          </a:prstGeom>
          <a:noFill/>
          <a:ln w="19050">
            <a:solidFill>
              <a:srgbClr val="52514E"/>
            </a:solidFill>
            <a:prstDash val="solid"/>
            <a:tailEnd type="triangle"/>
          </a:ln>
        </p:spPr>
      </p:sp>
      <p:sp>
        <p:nvSpPr>
          <p:cNvPr id="36" name="icon ring designer"/>
          <p:cNvSpPr/>
          <p:nvPr/>
        </p:nvSpPr>
        <p:spPr>
          <a:xfrm>
            <a:off x="5774436" y="3268980"/>
            <a:ext cx="640080" cy="640080"/>
          </a:xfrm>
          <a:prstGeom prst="ellipse">
            <a:avLst/>
          </a:prstGeom>
          <a:solidFill>
            <a:schemeClr val="accent1"/>
          </a:solidFill>
          <a:ln/>
        </p:spPr>
      </p:sp>
      <p:pic>
        <p:nvPicPr>
          <p:cNvPr id="37" name="icon designer" descr="preencoded.png">    </p:cNvPr>
          <p:cNvPicPr>
            <a:picLocks noChangeAspect="1"/>
          </p:cNvPicPr>
          <p:nvPr/>
        </p:nvPicPr>
        <p:blipFill>
          <a:blip r:embed="rId1"/>
          <a:stretch>
            <a:fillRect/>
          </a:stretch>
        </p:blipFill>
        <p:spPr>
          <a:xfrm>
            <a:off x="5908853" y="3403397"/>
            <a:ext cx="371246" cy="371246"/>
          </a:xfrm>
          <a:prstGeom prst="rect">
            <a:avLst/>
          </a:prstGeom>
        </p:spPr>
      </p:pic>
      <p:sp>
        <p:nvSpPr>
          <p:cNvPr id="38" name="designer label"/>
          <p:cNvSpPr txBox="1"/>
          <p:nvPr/>
        </p:nvSpPr>
        <p:spPr>
          <a:xfrm>
            <a:off x="5545836" y="2958084"/>
            <a:ext cx="1097280" cy="237744"/>
          </a:xfrm>
          <a:prstGeom prst="rect">
            <a:avLst/>
          </a:prstGeom>
          <a:noFill/>
          <a:ln/>
        </p:spPr>
        <p:txBody>
          <a:bodyPr wrap="square" lIns="0" tIns="0" rIns="0" bIns="0" rtlCol="0" anchor="ctr"/>
          <a:lstStyle/>
          <a:p>
            <a:pPr algn="ctr" indent="0" marL="0">
              <a:buNone/>
            </a:pPr>
            <a:r>
              <a:rPr lang="en-US" sz="1050" b="1" dirty="0">
                <a:solidFill>
                  <a:schemeClr val="tx1"/>
                </a:solidFill>
              </a:rPr>
              <a:t>SSA designer</a:t>
            </a:r>
            <a:endParaRPr lang="en-US" sz="1050" dirty="0"/>
          </a:p>
        </p:txBody>
      </p:sp>
      <p:sp>
        <p:nvSpPr>
          <p:cNvPr id="39" name="designer sub"/>
          <p:cNvSpPr txBox="1"/>
          <p:nvPr/>
        </p:nvSpPr>
        <p:spPr>
          <a:xfrm>
            <a:off x="5591556" y="3963924"/>
            <a:ext cx="1005840" cy="237744"/>
          </a:xfrm>
          <a:prstGeom prst="rect">
            <a:avLst/>
          </a:prstGeom>
          <a:noFill/>
          <a:ln/>
        </p:spPr>
        <p:txBody>
          <a:bodyPr wrap="square" lIns="0" tIns="0" rIns="0" bIns="0" rtlCol="0" anchor="ctr"/>
          <a:lstStyle/>
          <a:p>
            <a:pPr algn="ctr" indent="0" marL="0">
              <a:buNone/>
            </a:pPr>
            <a:r>
              <a:rPr lang="en-US" sz="1050" dirty="0">
                <a:solidFill>
                  <a:srgbClr val="52514E"/>
                </a:solidFill>
              </a:rPr>
              <a:t>from a catalog</a:t>
            </a:r>
            <a:endParaRPr lang="en-US" sz="1050" dirty="0"/>
          </a:p>
        </p:txBody>
      </p:sp>
      <p:sp>
        <p:nvSpPr>
          <p:cNvPr id="40" name="frame out"/>
          <p:cNvSpPr/>
          <p:nvPr/>
        </p:nvSpPr>
        <p:spPr>
          <a:xfrm>
            <a:off x="6611112" y="1600200"/>
            <a:ext cx="5029200" cy="3977640"/>
          </a:xfrm>
          <a:prstGeom prst="roundRect">
            <a:avLst>
              <a:gd name="adj" fmla="val 1379"/>
            </a:avLst>
          </a:prstGeom>
          <a:solidFill>
            <a:srgbClr val="FFFFFF"/>
          </a:solidFill>
          <a:ln w="15875">
            <a:solidFill>
              <a:srgbClr val="1F2933"/>
            </a:solidFill>
            <a:prstDash val="solid"/>
          </a:ln>
        </p:spPr>
      </p:sp>
      <p:sp>
        <p:nvSpPr>
          <p:cNvPr id="41" name="tab assembly"/>
          <p:cNvSpPr/>
          <p:nvPr/>
        </p:nvSpPr>
        <p:spPr>
          <a:xfrm>
            <a:off x="6839712" y="1444752"/>
            <a:ext cx="2377440" cy="310896"/>
          </a:xfrm>
          <a:prstGeom prst="roundRect">
            <a:avLst>
              <a:gd name="adj" fmla="val 50000"/>
            </a:avLst>
          </a:prstGeom>
          <a:solidFill>
            <a:srgbClr val="1F2933"/>
          </a:solidFill>
          <a:ln/>
        </p:spPr>
      </p:sp>
      <p:sp>
        <p:nvSpPr>
          <p:cNvPr id="42" name="tab text assembly"/>
          <p:cNvSpPr txBox="1"/>
          <p:nvPr/>
        </p:nvSpPr>
        <p:spPr>
          <a:xfrm>
            <a:off x="6839712" y="1444752"/>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rPr>
              <a:t>FEASIBLE SSA  ·  the answer</a:t>
            </a:r>
            <a:endParaRPr lang="en-US" sz="1100" dirty="0"/>
          </a:p>
        </p:txBody>
      </p:sp>
      <p:sp>
        <p:nvSpPr>
          <p:cNvPr id="43" name="ceiling out"/>
          <p:cNvSpPr/>
          <p:nvPr/>
        </p:nvSpPr>
        <p:spPr>
          <a:xfrm>
            <a:off x="6839712" y="1965960"/>
            <a:ext cx="4572000" cy="384048"/>
          </a:xfrm>
          <a:prstGeom prst="rect">
            <a:avLst/>
          </a:prstGeom>
          <a:solidFill>
            <a:srgbClr val="EEF1F4"/>
          </a:solidFill>
          <a:ln w="9525">
            <a:solidFill>
              <a:srgbClr val="52514E"/>
            </a:solidFill>
            <a:prstDash val="solid"/>
          </a:ln>
        </p:spPr>
      </p:sp>
      <p:sp>
        <p:nvSpPr>
          <p:cNvPr id="44" name="hatch out 7.5"/>
          <p:cNvSpPr/>
          <p:nvPr/>
        </p:nvSpPr>
        <p:spPr>
          <a:xfrm flipV="1">
            <a:off x="6839712" y="1965960"/>
            <a:ext cx="274320" cy="384048"/>
          </a:xfrm>
          <a:prstGeom prst="line">
            <a:avLst/>
          </a:prstGeom>
          <a:noFill/>
          <a:ln w="6350">
            <a:solidFill>
              <a:srgbClr val="898781"/>
            </a:solidFill>
            <a:prstDash val="solid"/>
          </a:ln>
        </p:spPr>
      </p:sp>
      <p:sp>
        <p:nvSpPr>
          <p:cNvPr id="45" name="hatch out 7.8"/>
          <p:cNvSpPr/>
          <p:nvPr/>
        </p:nvSpPr>
        <p:spPr>
          <a:xfrm flipV="1">
            <a:off x="7114032" y="1965960"/>
            <a:ext cx="274320" cy="384048"/>
          </a:xfrm>
          <a:prstGeom prst="line">
            <a:avLst/>
          </a:prstGeom>
          <a:noFill/>
          <a:ln w="6350">
            <a:solidFill>
              <a:srgbClr val="898781"/>
            </a:solidFill>
            <a:prstDash val="solid"/>
          </a:ln>
        </p:spPr>
      </p:sp>
      <p:sp>
        <p:nvSpPr>
          <p:cNvPr id="46" name="hatch out 8.1"/>
          <p:cNvSpPr/>
          <p:nvPr/>
        </p:nvSpPr>
        <p:spPr>
          <a:xfrm flipV="1">
            <a:off x="7388352" y="1965960"/>
            <a:ext cx="274320" cy="384048"/>
          </a:xfrm>
          <a:prstGeom prst="line">
            <a:avLst/>
          </a:prstGeom>
          <a:noFill/>
          <a:ln w="6350">
            <a:solidFill>
              <a:srgbClr val="898781"/>
            </a:solidFill>
            <a:prstDash val="solid"/>
          </a:ln>
        </p:spPr>
      </p:sp>
      <p:sp>
        <p:nvSpPr>
          <p:cNvPr id="47" name="hatch out 8.4"/>
          <p:cNvSpPr/>
          <p:nvPr/>
        </p:nvSpPr>
        <p:spPr>
          <a:xfrm flipV="1">
            <a:off x="7662672" y="1965960"/>
            <a:ext cx="274320" cy="384048"/>
          </a:xfrm>
          <a:prstGeom prst="line">
            <a:avLst/>
          </a:prstGeom>
          <a:noFill/>
          <a:ln w="6350">
            <a:solidFill>
              <a:srgbClr val="898781"/>
            </a:solidFill>
            <a:prstDash val="solid"/>
          </a:ln>
        </p:spPr>
      </p:sp>
      <p:sp>
        <p:nvSpPr>
          <p:cNvPr id="48" name="hatch out 8.7"/>
          <p:cNvSpPr/>
          <p:nvPr/>
        </p:nvSpPr>
        <p:spPr>
          <a:xfrm flipV="1">
            <a:off x="7936992" y="1965960"/>
            <a:ext cx="274320" cy="384048"/>
          </a:xfrm>
          <a:prstGeom prst="line">
            <a:avLst/>
          </a:prstGeom>
          <a:noFill/>
          <a:ln w="6350">
            <a:solidFill>
              <a:srgbClr val="898781"/>
            </a:solidFill>
            <a:prstDash val="solid"/>
          </a:ln>
        </p:spPr>
      </p:sp>
      <p:sp>
        <p:nvSpPr>
          <p:cNvPr id="49" name="hatch out 9.0"/>
          <p:cNvSpPr/>
          <p:nvPr/>
        </p:nvSpPr>
        <p:spPr>
          <a:xfrm flipV="1">
            <a:off x="8211312" y="1965960"/>
            <a:ext cx="274320" cy="384048"/>
          </a:xfrm>
          <a:prstGeom prst="line">
            <a:avLst/>
          </a:prstGeom>
          <a:noFill/>
          <a:ln w="6350">
            <a:solidFill>
              <a:srgbClr val="898781"/>
            </a:solidFill>
            <a:prstDash val="solid"/>
          </a:ln>
        </p:spPr>
      </p:sp>
      <p:sp>
        <p:nvSpPr>
          <p:cNvPr id="50" name="hatch out 9.3"/>
          <p:cNvSpPr/>
          <p:nvPr/>
        </p:nvSpPr>
        <p:spPr>
          <a:xfrm flipV="1">
            <a:off x="8485632" y="1965960"/>
            <a:ext cx="274320" cy="384048"/>
          </a:xfrm>
          <a:prstGeom prst="line">
            <a:avLst/>
          </a:prstGeom>
          <a:noFill/>
          <a:ln w="6350">
            <a:solidFill>
              <a:srgbClr val="898781"/>
            </a:solidFill>
            <a:prstDash val="solid"/>
          </a:ln>
        </p:spPr>
      </p:sp>
      <p:sp>
        <p:nvSpPr>
          <p:cNvPr id="51" name="hatch out 9.6"/>
          <p:cNvSpPr/>
          <p:nvPr/>
        </p:nvSpPr>
        <p:spPr>
          <a:xfrm flipV="1">
            <a:off x="8759952" y="1965960"/>
            <a:ext cx="274320" cy="384048"/>
          </a:xfrm>
          <a:prstGeom prst="line">
            <a:avLst/>
          </a:prstGeom>
          <a:noFill/>
          <a:ln w="6350">
            <a:solidFill>
              <a:srgbClr val="898781"/>
            </a:solidFill>
            <a:prstDash val="solid"/>
          </a:ln>
        </p:spPr>
      </p:sp>
      <p:sp>
        <p:nvSpPr>
          <p:cNvPr id="52" name="hatch out 9.9"/>
          <p:cNvSpPr/>
          <p:nvPr/>
        </p:nvSpPr>
        <p:spPr>
          <a:xfrm flipV="1">
            <a:off x="9034272" y="1965960"/>
            <a:ext cx="274320" cy="384048"/>
          </a:xfrm>
          <a:prstGeom prst="line">
            <a:avLst/>
          </a:prstGeom>
          <a:noFill/>
          <a:ln w="6350">
            <a:solidFill>
              <a:srgbClr val="898781"/>
            </a:solidFill>
            <a:prstDash val="solid"/>
          </a:ln>
        </p:spPr>
      </p:sp>
      <p:sp>
        <p:nvSpPr>
          <p:cNvPr id="53" name="hatch out 10.2"/>
          <p:cNvSpPr/>
          <p:nvPr/>
        </p:nvSpPr>
        <p:spPr>
          <a:xfrm flipV="1">
            <a:off x="9308592" y="1965960"/>
            <a:ext cx="274320" cy="384048"/>
          </a:xfrm>
          <a:prstGeom prst="line">
            <a:avLst/>
          </a:prstGeom>
          <a:noFill/>
          <a:ln w="6350">
            <a:solidFill>
              <a:srgbClr val="898781"/>
            </a:solidFill>
            <a:prstDash val="solid"/>
          </a:ln>
        </p:spPr>
      </p:sp>
      <p:sp>
        <p:nvSpPr>
          <p:cNvPr id="54" name="hatch out 10.5"/>
          <p:cNvSpPr/>
          <p:nvPr/>
        </p:nvSpPr>
        <p:spPr>
          <a:xfrm flipV="1">
            <a:off x="9582912" y="1965960"/>
            <a:ext cx="274320" cy="384048"/>
          </a:xfrm>
          <a:prstGeom prst="line">
            <a:avLst/>
          </a:prstGeom>
          <a:noFill/>
          <a:ln w="6350">
            <a:solidFill>
              <a:srgbClr val="898781"/>
            </a:solidFill>
            <a:prstDash val="solid"/>
          </a:ln>
        </p:spPr>
      </p:sp>
      <p:sp>
        <p:nvSpPr>
          <p:cNvPr id="55" name="hatch out 10.8"/>
          <p:cNvSpPr/>
          <p:nvPr/>
        </p:nvSpPr>
        <p:spPr>
          <a:xfrm flipV="1">
            <a:off x="9857232" y="1965960"/>
            <a:ext cx="274320" cy="384048"/>
          </a:xfrm>
          <a:prstGeom prst="line">
            <a:avLst/>
          </a:prstGeom>
          <a:noFill/>
          <a:ln w="6350">
            <a:solidFill>
              <a:srgbClr val="898781"/>
            </a:solidFill>
            <a:prstDash val="solid"/>
          </a:ln>
        </p:spPr>
      </p:sp>
      <p:sp>
        <p:nvSpPr>
          <p:cNvPr id="56" name="hatch out 11.1"/>
          <p:cNvSpPr/>
          <p:nvPr/>
        </p:nvSpPr>
        <p:spPr>
          <a:xfrm flipV="1">
            <a:off x="10131552" y="1965960"/>
            <a:ext cx="274320" cy="384048"/>
          </a:xfrm>
          <a:prstGeom prst="line">
            <a:avLst/>
          </a:prstGeom>
          <a:noFill/>
          <a:ln w="6350">
            <a:solidFill>
              <a:srgbClr val="898781"/>
            </a:solidFill>
            <a:prstDash val="solid"/>
          </a:ln>
        </p:spPr>
      </p:sp>
      <p:sp>
        <p:nvSpPr>
          <p:cNvPr id="57" name="hatch out 11.4"/>
          <p:cNvSpPr/>
          <p:nvPr/>
        </p:nvSpPr>
        <p:spPr>
          <a:xfrm flipV="1">
            <a:off x="10405872" y="1965960"/>
            <a:ext cx="274320" cy="384048"/>
          </a:xfrm>
          <a:prstGeom prst="line">
            <a:avLst/>
          </a:prstGeom>
          <a:noFill/>
          <a:ln w="6350">
            <a:solidFill>
              <a:srgbClr val="898781"/>
            </a:solidFill>
            <a:prstDash val="solid"/>
          </a:ln>
        </p:spPr>
      </p:sp>
      <p:sp>
        <p:nvSpPr>
          <p:cNvPr id="58" name="hatch out 11.7"/>
          <p:cNvSpPr/>
          <p:nvPr/>
        </p:nvSpPr>
        <p:spPr>
          <a:xfrm flipV="1">
            <a:off x="10680192" y="1965960"/>
            <a:ext cx="274320" cy="384048"/>
          </a:xfrm>
          <a:prstGeom prst="line">
            <a:avLst/>
          </a:prstGeom>
          <a:noFill/>
          <a:ln w="6350">
            <a:solidFill>
              <a:srgbClr val="898781"/>
            </a:solidFill>
            <a:prstDash val="solid"/>
          </a:ln>
        </p:spPr>
      </p:sp>
      <p:sp>
        <p:nvSpPr>
          <p:cNvPr id="59" name="hatch out 12.0"/>
          <p:cNvSpPr/>
          <p:nvPr/>
        </p:nvSpPr>
        <p:spPr>
          <a:xfrm flipV="1">
            <a:off x="10954512" y="1965960"/>
            <a:ext cx="274320" cy="384048"/>
          </a:xfrm>
          <a:prstGeom prst="line">
            <a:avLst/>
          </a:prstGeom>
          <a:noFill/>
          <a:ln w="6350">
            <a:solidFill>
              <a:srgbClr val="898781"/>
            </a:solidFill>
            <a:prstDash val="solid"/>
          </a:ln>
        </p:spPr>
      </p:sp>
      <p:sp>
        <p:nvSpPr>
          <p:cNvPr id="60" name="ceiling label out"/>
          <p:cNvSpPr txBox="1"/>
          <p:nvPr/>
        </p:nvSpPr>
        <p:spPr>
          <a:xfrm>
            <a:off x="8211312" y="2029968"/>
            <a:ext cx="182880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slab, 200 mm</a:t>
            </a:r>
            <a:endParaRPr lang="en-US" sz="1100" dirty="0"/>
          </a:p>
        </p:txBody>
      </p:sp>
      <p:sp>
        <p:nvSpPr>
          <p:cNvPr id="61" name="duct out"/>
          <p:cNvSpPr/>
          <p:nvPr/>
        </p:nvSpPr>
        <p:spPr>
          <a:xfrm>
            <a:off x="7068312" y="3063240"/>
            <a:ext cx="1554480" cy="960120"/>
          </a:xfrm>
          <a:prstGeom prst="rect">
            <a:avLst/>
          </a:prstGeom>
          <a:solidFill>
            <a:srgbClr val="EEF1F4"/>
          </a:solidFill>
          <a:ln w="12700">
            <a:solidFill>
              <a:srgbClr val="52514E"/>
            </a:solidFill>
            <a:prstDash val="solid"/>
          </a:ln>
        </p:spPr>
      </p:sp>
      <p:sp>
        <p:nvSpPr>
          <p:cNvPr id="62" name="insulation out"/>
          <p:cNvSpPr/>
          <p:nvPr/>
        </p:nvSpPr>
        <p:spPr>
          <a:xfrm>
            <a:off x="8814816" y="3209544"/>
            <a:ext cx="896112" cy="896112"/>
          </a:xfrm>
          <a:prstGeom prst="ellipse">
            <a:avLst/>
          </a:prstGeom>
          <a:ln w="9525">
            <a:solidFill>
              <a:srgbClr val="52514E"/>
            </a:solidFill>
            <a:prstDash val="sysDash"/>
          </a:ln>
        </p:spPr>
      </p:sp>
      <p:sp>
        <p:nvSpPr>
          <p:cNvPr id="63" name="pipe a out"/>
          <p:cNvSpPr/>
          <p:nvPr/>
        </p:nvSpPr>
        <p:spPr>
          <a:xfrm>
            <a:off x="8897112" y="3291840"/>
            <a:ext cx="731520" cy="731520"/>
          </a:xfrm>
          <a:prstGeom prst="ellipse">
            <a:avLst/>
          </a:prstGeom>
          <a:solidFill>
            <a:srgbClr val="EEF1F4"/>
          </a:solidFill>
          <a:ln w="12700">
            <a:solidFill>
              <a:srgbClr val="52514E"/>
            </a:solidFill>
            <a:prstDash val="solid"/>
          </a:ln>
        </p:spPr>
      </p:sp>
      <p:sp>
        <p:nvSpPr>
          <p:cNvPr id="64" name="pipe b out"/>
          <p:cNvSpPr/>
          <p:nvPr/>
        </p:nvSpPr>
        <p:spPr>
          <a:xfrm>
            <a:off x="9902952" y="3566160"/>
            <a:ext cx="457200" cy="457200"/>
          </a:xfrm>
          <a:prstGeom prst="ellipse">
            <a:avLst/>
          </a:prstGeom>
          <a:solidFill>
            <a:srgbClr val="EEF1F4"/>
          </a:solidFill>
          <a:ln w="12700">
            <a:solidFill>
              <a:srgbClr val="52514E"/>
            </a:solidFill>
            <a:prstDash val="solid"/>
          </a:ln>
        </p:spPr>
      </p:sp>
      <p:sp>
        <p:nvSpPr>
          <p:cNvPr id="65" name="tray out"/>
          <p:cNvSpPr/>
          <p:nvPr/>
        </p:nvSpPr>
        <p:spPr>
          <a:xfrm>
            <a:off x="10497312" y="3730752"/>
            <a:ext cx="777240" cy="292608"/>
          </a:xfrm>
          <a:prstGeom prst="rect">
            <a:avLst/>
          </a:prstGeom>
          <a:solidFill>
            <a:srgbClr val="EEF1F4"/>
          </a:solidFill>
          <a:ln w="12700">
            <a:solidFill>
              <a:srgbClr val="52514E"/>
            </a:solidFill>
            <a:prstDash val="solid"/>
          </a:ln>
        </p:spPr>
      </p:sp>
      <p:sp>
        <p:nvSpPr>
          <p:cNvPr id="66" name="anchor 0"/>
          <p:cNvSpPr/>
          <p:nvPr/>
        </p:nvSpPr>
        <p:spPr>
          <a:xfrm>
            <a:off x="6885432" y="2240280"/>
            <a:ext cx="164592" cy="146304"/>
          </a:xfrm>
          <a:prstGeom prst="rect">
            <a:avLst/>
          </a:prstGeom>
          <a:solidFill>
            <a:srgbClr val="1F2933"/>
          </a:solidFill>
          <a:ln/>
        </p:spPr>
      </p:sp>
      <p:sp>
        <p:nvSpPr>
          <p:cNvPr id="67" name="rod 0"/>
          <p:cNvSpPr/>
          <p:nvPr/>
        </p:nvSpPr>
        <p:spPr>
          <a:xfrm>
            <a:off x="6949440" y="2350008"/>
            <a:ext cx="36576" cy="1673352"/>
          </a:xfrm>
          <a:prstGeom prst="rect">
            <a:avLst/>
          </a:prstGeom>
          <a:solidFill>
            <a:srgbClr val="1F2933"/>
          </a:solidFill>
          <a:ln/>
        </p:spPr>
      </p:sp>
      <p:sp>
        <p:nvSpPr>
          <p:cNvPr id="68" name="anchor 1"/>
          <p:cNvSpPr/>
          <p:nvPr/>
        </p:nvSpPr>
        <p:spPr>
          <a:xfrm>
            <a:off x="11237976" y="2240280"/>
            <a:ext cx="164592" cy="146304"/>
          </a:xfrm>
          <a:prstGeom prst="rect">
            <a:avLst/>
          </a:prstGeom>
          <a:solidFill>
            <a:srgbClr val="1F2933"/>
          </a:solidFill>
          <a:ln/>
        </p:spPr>
      </p:sp>
      <p:sp>
        <p:nvSpPr>
          <p:cNvPr id="69" name="rod 1"/>
          <p:cNvSpPr/>
          <p:nvPr/>
        </p:nvSpPr>
        <p:spPr>
          <a:xfrm>
            <a:off x="11301984" y="2350008"/>
            <a:ext cx="36576" cy="1673352"/>
          </a:xfrm>
          <a:prstGeom prst="rect">
            <a:avLst/>
          </a:prstGeom>
          <a:solidFill>
            <a:srgbClr val="1F2933"/>
          </a:solidFill>
          <a:ln/>
        </p:spPr>
      </p:sp>
      <p:sp>
        <p:nvSpPr>
          <p:cNvPr id="70" name="channel"/>
          <p:cNvSpPr/>
          <p:nvPr/>
        </p:nvSpPr>
        <p:spPr>
          <a:xfrm>
            <a:off x="6839712" y="4023360"/>
            <a:ext cx="4572000" cy="91440"/>
          </a:xfrm>
          <a:prstGeom prst="rect">
            <a:avLst/>
          </a:prstGeom>
          <a:solidFill>
            <a:srgbClr val="1F2933"/>
          </a:solidFill>
          <a:ln/>
        </p:spPr>
      </p:sp>
      <p:sp>
        <p:nvSpPr>
          <p:cNvPr id="71" name="clamp a"/>
          <p:cNvSpPr/>
          <p:nvPr/>
        </p:nvSpPr>
        <p:spPr>
          <a:xfrm>
            <a:off x="8851392" y="3246120"/>
            <a:ext cx="822960" cy="822960"/>
          </a:xfrm>
          <a:prstGeom prst="ellipse">
            <a:avLst/>
          </a:prstGeom>
          <a:ln w="38100">
            <a:solidFill>
              <a:srgbClr val="1F2933"/>
            </a:solidFill>
            <a:prstDash val="solid"/>
          </a:ln>
        </p:spPr>
      </p:sp>
      <p:sp>
        <p:nvSpPr>
          <p:cNvPr id="72" name="clamp b"/>
          <p:cNvSpPr/>
          <p:nvPr/>
        </p:nvSpPr>
        <p:spPr>
          <a:xfrm>
            <a:off x="9857232" y="3520440"/>
            <a:ext cx="548640" cy="548640"/>
          </a:xfrm>
          <a:prstGeom prst="ellipse">
            <a:avLst/>
          </a:prstGeom>
          <a:ln w="38100">
            <a:solidFill>
              <a:srgbClr val="1F2933"/>
            </a:solidFill>
            <a:prstDash val="solid"/>
          </a:ln>
        </p:spPr>
      </p:sp>
      <p:sp>
        <p:nvSpPr>
          <p:cNvPr id="73" name="label anchor"/>
          <p:cNvSpPr txBox="1"/>
          <p:nvPr/>
        </p:nvSpPr>
        <p:spPr>
          <a:xfrm>
            <a:off x="7159752" y="2368296"/>
            <a:ext cx="1097280" cy="237744"/>
          </a:xfrm>
          <a:prstGeom prst="rect">
            <a:avLst/>
          </a:prstGeom>
          <a:noFill/>
          <a:ln/>
        </p:spPr>
        <p:txBody>
          <a:bodyPr wrap="square" lIns="0" tIns="0" rIns="0" bIns="0" rtlCol="0" anchor="ctr"/>
          <a:lstStyle/>
          <a:p>
            <a:pPr algn="l" indent="0" marL="0">
              <a:buNone/>
            </a:pPr>
            <a:r>
              <a:rPr lang="en-US" sz="1050" dirty="0">
                <a:solidFill>
                  <a:srgbClr val="52514E"/>
                </a:solidFill>
              </a:rPr>
              <a:t>anchor</a:t>
            </a:r>
            <a:endParaRPr lang="en-US" sz="1050" dirty="0"/>
          </a:p>
        </p:txBody>
      </p:sp>
      <p:sp>
        <p:nvSpPr>
          <p:cNvPr id="74" name="label rod"/>
          <p:cNvSpPr txBox="1"/>
          <p:nvPr/>
        </p:nvSpPr>
        <p:spPr>
          <a:xfrm>
            <a:off x="9994392" y="3218688"/>
            <a:ext cx="1234440" cy="237744"/>
          </a:xfrm>
          <a:prstGeom prst="rect">
            <a:avLst/>
          </a:prstGeom>
          <a:noFill/>
          <a:ln/>
        </p:spPr>
        <p:txBody>
          <a:bodyPr wrap="square" lIns="0" tIns="0" rIns="0" bIns="0" rtlCol="0" anchor="ctr"/>
          <a:lstStyle/>
          <a:p>
            <a:pPr algn="r" indent="0" marL="0">
              <a:buNone/>
            </a:pPr>
            <a:r>
              <a:rPr lang="en-US" sz="1050" dirty="0">
                <a:solidFill>
                  <a:srgbClr val="52514E"/>
                </a:solidFill>
              </a:rPr>
              <a:t>threaded rod</a:t>
            </a:r>
            <a:endParaRPr lang="en-US" sz="1050" dirty="0"/>
          </a:p>
        </p:txBody>
      </p:sp>
      <p:sp>
        <p:nvSpPr>
          <p:cNvPr id="75" name="label clamps"/>
          <p:cNvSpPr txBox="1"/>
          <p:nvPr/>
        </p:nvSpPr>
        <p:spPr>
          <a:xfrm>
            <a:off x="8714232" y="4114800"/>
            <a:ext cx="1737360" cy="237744"/>
          </a:xfrm>
          <a:prstGeom prst="rect">
            <a:avLst/>
          </a:prstGeom>
          <a:noFill/>
          <a:ln/>
        </p:spPr>
        <p:txBody>
          <a:bodyPr wrap="square" lIns="0" tIns="0" rIns="0" bIns="0" rtlCol="0" anchor="ctr"/>
          <a:lstStyle/>
          <a:p>
            <a:pPr algn="ctr" indent="0" marL="0">
              <a:buNone/>
            </a:pPr>
            <a:r>
              <a:rPr lang="en-US" sz="1050" dirty="0">
                <a:solidFill>
                  <a:srgbClr val="52514E"/>
                </a:solidFill>
              </a:rPr>
              <a:t>pipe clamps</a:t>
            </a:r>
            <a:endParaRPr lang="en-US" sz="1050" dirty="0"/>
          </a:p>
        </p:txBody>
      </p:sp>
      <p:sp>
        <p:nvSpPr>
          <p:cNvPr id="76" name="label channel"/>
          <p:cNvSpPr txBox="1"/>
          <p:nvPr/>
        </p:nvSpPr>
        <p:spPr>
          <a:xfrm>
            <a:off x="9902952" y="4114800"/>
            <a:ext cx="1463040" cy="237744"/>
          </a:xfrm>
          <a:prstGeom prst="rect">
            <a:avLst/>
          </a:prstGeom>
          <a:noFill/>
          <a:ln/>
        </p:spPr>
        <p:txBody>
          <a:bodyPr wrap="square" lIns="0" tIns="0" rIns="0" bIns="0" rtlCol="0" anchor="ctr"/>
          <a:lstStyle/>
          <a:p>
            <a:pPr algn="r" indent="0" marL="0">
              <a:buNone/>
            </a:pPr>
            <a:r>
              <a:rPr lang="en-US" sz="1050" dirty="0">
                <a:solidFill>
                  <a:srgbClr val="52514E"/>
                </a:solidFill>
              </a:rPr>
              <a:t>channel</a:t>
            </a:r>
            <a:endParaRPr lang="en-US" sz="1050" dirty="0"/>
          </a:p>
        </p:txBody>
      </p:sp>
      <p:sp>
        <p:nvSpPr>
          <p:cNvPr id="77" name="assembly name"/>
          <p:cNvSpPr txBox="1"/>
          <p:nvPr/>
        </p:nvSpPr>
        <p:spPr>
          <a:xfrm>
            <a:off x="8805672" y="2368296"/>
            <a:ext cx="2286000" cy="237744"/>
          </a:xfrm>
          <a:prstGeom prst="rect">
            <a:avLst/>
          </a:prstGeom>
          <a:noFill/>
          <a:ln/>
        </p:spPr>
        <p:txBody>
          <a:bodyPr wrap="square" lIns="0" tIns="0" rIns="0" bIns="0" rtlCol="0" anchor="ctr"/>
          <a:lstStyle/>
          <a:p>
            <a:pPr algn="r" indent="0" marL="0">
              <a:buNone/>
            </a:pPr>
            <a:r>
              <a:rPr lang="en-US" sz="1050" b="1" dirty="0">
                <a:solidFill>
                  <a:schemeClr val="tx1"/>
                </a:solidFill>
              </a:rPr>
              <a:t>Rod trapeze</a:t>
            </a:r>
            <a:endParaRPr lang="en-US" sz="1050" dirty="0"/>
          </a:p>
        </p:txBody>
      </p:sp>
      <p:sp>
        <p:nvSpPr>
          <p:cNvPr id="78" name="check statics"/>
          <p:cNvSpPr/>
          <p:nvPr/>
        </p:nvSpPr>
        <p:spPr>
          <a:xfrm>
            <a:off x="6839712" y="5010912"/>
            <a:ext cx="1074420" cy="329184"/>
          </a:xfrm>
          <a:prstGeom prst="roundRect">
            <a:avLst>
              <a:gd name="adj" fmla="val 50000"/>
            </a:avLst>
          </a:prstGeom>
          <a:solidFill>
            <a:srgbClr val="EAF5EE"/>
          </a:solidFill>
          <a:ln/>
        </p:spPr>
      </p:sp>
      <p:sp>
        <p:nvSpPr>
          <p:cNvPr id="79" name="check text statics"/>
          <p:cNvSpPr txBox="1"/>
          <p:nvPr/>
        </p:nvSpPr>
        <p:spPr>
          <a:xfrm>
            <a:off x="683971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statics</a:t>
            </a:r>
            <a:endParaRPr lang="en-US" sz="1100" dirty="0"/>
          </a:p>
        </p:txBody>
      </p:sp>
      <p:sp>
        <p:nvSpPr>
          <p:cNvPr id="80" name="check anchors"/>
          <p:cNvSpPr/>
          <p:nvPr/>
        </p:nvSpPr>
        <p:spPr>
          <a:xfrm>
            <a:off x="8005572" y="5010912"/>
            <a:ext cx="1074420" cy="329184"/>
          </a:xfrm>
          <a:prstGeom prst="roundRect">
            <a:avLst>
              <a:gd name="adj" fmla="val 50000"/>
            </a:avLst>
          </a:prstGeom>
          <a:solidFill>
            <a:srgbClr val="EAF5EE"/>
          </a:solidFill>
          <a:ln/>
        </p:spPr>
      </p:sp>
      <p:sp>
        <p:nvSpPr>
          <p:cNvPr id="81" name="check text anchors"/>
          <p:cNvSpPr txBox="1"/>
          <p:nvPr/>
        </p:nvSpPr>
        <p:spPr>
          <a:xfrm>
            <a:off x="800557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anchors</a:t>
            </a:r>
            <a:endParaRPr lang="en-US" sz="1100" dirty="0"/>
          </a:p>
        </p:txBody>
      </p:sp>
      <p:sp>
        <p:nvSpPr>
          <p:cNvPr id="82" name="check connectors"/>
          <p:cNvSpPr/>
          <p:nvPr/>
        </p:nvSpPr>
        <p:spPr>
          <a:xfrm>
            <a:off x="9171432" y="5010912"/>
            <a:ext cx="1074420" cy="329184"/>
          </a:xfrm>
          <a:prstGeom prst="roundRect">
            <a:avLst>
              <a:gd name="adj" fmla="val 50000"/>
            </a:avLst>
          </a:prstGeom>
          <a:solidFill>
            <a:srgbClr val="EAF5EE"/>
          </a:solidFill>
          <a:ln/>
        </p:spPr>
      </p:sp>
      <p:sp>
        <p:nvSpPr>
          <p:cNvPr id="83" name="check text connectors"/>
          <p:cNvSpPr txBox="1"/>
          <p:nvPr/>
        </p:nvSpPr>
        <p:spPr>
          <a:xfrm>
            <a:off x="917143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connectors</a:t>
            </a:r>
            <a:endParaRPr lang="en-US" sz="1100" dirty="0"/>
          </a:p>
        </p:txBody>
      </p:sp>
      <p:sp>
        <p:nvSpPr>
          <p:cNvPr id="84" name="check buildable"/>
          <p:cNvSpPr/>
          <p:nvPr/>
        </p:nvSpPr>
        <p:spPr>
          <a:xfrm>
            <a:off x="10337292" y="5010912"/>
            <a:ext cx="1074420" cy="329184"/>
          </a:xfrm>
          <a:prstGeom prst="roundRect">
            <a:avLst>
              <a:gd name="adj" fmla="val 50000"/>
            </a:avLst>
          </a:prstGeom>
          <a:solidFill>
            <a:srgbClr val="EAF5EE"/>
          </a:solidFill>
          <a:ln/>
        </p:spPr>
      </p:sp>
      <p:sp>
        <p:nvSpPr>
          <p:cNvPr id="85" name="check text buildable"/>
          <p:cNvSpPr txBox="1"/>
          <p:nvPr/>
        </p:nvSpPr>
        <p:spPr>
          <a:xfrm>
            <a:off x="1033729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buildable</a:t>
            </a:r>
            <a:endParaRPr lang="en-US" sz="1100" dirty="0"/>
          </a:p>
        </p:txBody>
      </p:sp>
      <p:sp>
        <p:nvSpPr>
          <p:cNvPr id="86"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8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sp>
        <p:nvSpPr>
          <p:cNvPr id="3" name="stage coordinate"/>
          <p:cNvSpPr/>
          <p:nvPr/>
        </p:nvSpPr>
        <p:spPr>
          <a:xfrm>
            <a:off x="548640" y="1371600"/>
            <a:ext cx="3337560" cy="2514600"/>
          </a:xfrm>
          <a:prstGeom prst="roundRect">
            <a:avLst>
              <a:gd name="adj" fmla="val 2545"/>
            </a:avLst>
          </a:prstGeom>
          <a:solidFill>
            <a:schemeClr val="bg2"/>
          </a:solidFill>
          <a:ln/>
        </p:spPr>
      </p:sp>
      <p:sp>
        <p:nvSpPr>
          <p:cNvPr id="4" name="icon ring stage coordinate"/>
          <p:cNvSpPr/>
          <p:nvPr/>
        </p:nvSpPr>
        <p:spPr>
          <a:xfrm>
            <a:off x="1943100" y="1600200"/>
            <a:ext cx="548640" cy="548640"/>
          </a:xfrm>
          <a:prstGeom prst="ellipse">
            <a:avLst/>
          </a:prstGeom>
          <a:solidFill>
            <a:schemeClr val="accent1"/>
          </a:solidFill>
          <a:ln/>
        </p:spPr>
      </p:sp>
      <p:pic>
        <p:nvPicPr>
          <p:cNvPr id="5" name="icon stage coordinate" descr="preencoded.png">    </p:cNvPr>
          <p:cNvPicPr>
            <a:picLocks noChangeAspect="1"/>
          </p:cNvPicPr>
          <p:nvPr/>
        </p:nvPicPr>
        <p:blipFill>
          <a:blip r:embed="rId1"/>
          <a:stretch>
            <a:fillRect/>
          </a:stretch>
        </p:blipFill>
        <p:spPr>
          <a:xfrm>
            <a:off x="2058314" y="1715414"/>
            <a:ext cx="318211" cy="318211"/>
          </a:xfrm>
          <a:prstGeom prst="rect">
            <a:avLst/>
          </a:prstGeom>
        </p:spPr>
      </p:pic>
      <p:sp>
        <p:nvSpPr>
          <p:cNvPr id="6" name="stage head coordinate"/>
          <p:cNvSpPr txBox="1"/>
          <p:nvPr/>
        </p:nvSpPr>
        <p:spPr>
          <a:xfrm>
            <a:off x="731520" y="2194560"/>
            <a:ext cx="2971800" cy="365760"/>
          </a:xfrm>
          <a:prstGeom prst="rect">
            <a:avLst/>
          </a:prstGeom>
          <a:noFill/>
          <a:ln/>
        </p:spPr>
        <p:txBody>
          <a:bodyPr wrap="square" lIns="0" tIns="0" rIns="0" bIns="0" rtlCol="0" anchor="ctr"/>
          <a:lstStyle/>
          <a:p>
            <a:pPr algn="ctr" indent="0" marL="0">
              <a:buNone/>
            </a:pPr>
            <a:r>
              <a:rPr lang="en-US" sz="1600" b="1" dirty="0">
                <a:solidFill>
                  <a:schemeClr val="tx1"/>
                </a:solidFill>
              </a:rPr>
              <a:t>Coordinate the model</a:t>
            </a:r>
            <a:endParaRPr lang="en-US" sz="1600" dirty="0"/>
          </a:p>
        </p:txBody>
      </p:sp>
      <p:sp>
        <p:nvSpPr>
          <p:cNvPr id="7" name="pill coordinate"/>
          <p:cNvSpPr/>
          <p:nvPr/>
        </p:nvSpPr>
        <p:spPr>
          <a:xfrm>
            <a:off x="1577340" y="2606040"/>
            <a:ext cx="1280160" cy="292608"/>
          </a:xfrm>
          <a:prstGeom prst="roundRect">
            <a:avLst>
              <a:gd name="adj" fmla="val 50000"/>
            </a:avLst>
          </a:prstGeom>
          <a:solidFill>
            <a:srgbClr val="008300"/>
          </a:solidFill>
          <a:ln/>
        </p:spPr>
      </p:sp>
      <p:sp>
        <p:nvSpPr>
          <p:cNvPr id="8" name="pill text coordinate"/>
          <p:cNvSpPr txBox="1"/>
          <p:nvPr/>
        </p:nvSpPr>
        <p:spPr>
          <a:xfrm>
            <a:off x="1577340" y="2606040"/>
            <a:ext cx="1280160" cy="292608"/>
          </a:xfrm>
          <a:prstGeom prst="rect">
            <a:avLst/>
          </a:prstGeom>
          <a:noFill/>
          <a:ln/>
        </p:spPr>
        <p:txBody>
          <a:bodyPr wrap="square" lIns="0" tIns="0" rIns="0" bIns="0" rtlCol="0" anchor="ctr"/>
          <a:lstStyle/>
          <a:p>
            <a:pPr algn="ctr" indent="0" marL="0">
              <a:buNone/>
            </a:pPr>
            <a:r>
              <a:rPr lang="en-US" sz="1100" b="1" dirty="0">
                <a:solidFill>
                  <a:srgbClr val="FFFFFF"/>
                </a:solidFill>
              </a:rPr>
              <a:t>tools</a:t>
            </a:r>
            <a:endParaRPr lang="en-US" sz="1100" dirty="0"/>
          </a:p>
        </p:txBody>
      </p:sp>
      <p:sp>
        <p:nvSpPr>
          <p:cNvPr id="9" name="stage line coordinate"/>
          <p:cNvSpPr txBox="1"/>
          <p:nvPr/>
        </p:nvSpPr>
        <p:spPr>
          <a:xfrm>
            <a:off x="731520" y="3383280"/>
            <a:ext cx="2971800" cy="365760"/>
          </a:xfrm>
          <a:prstGeom prst="rect">
            <a:avLst/>
          </a:prstGeom>
          <a:noFill/>
          <a:ln/>
        </p:spPr>
        <p:txBody>
          <a:bodyPr wrap="square" lIns="0" tIns="0" rIns="0" bIns="0" rtlCol="0" anchor="ctr"/>
          <a:lstStyle/>
          <a:p>
            <a:pPr algn="ctr" indent="0" marL="0">
              <a:buNone/>
            </a:pPr>
            <a:r>
              <a:rPr lang="en-US" sz="1150" dirty="0">
                <a:solidFill>
                  <a:srgbClr val="52514E"/>
                </a:solidFill>
              </a:rPr>
              <a:t>services routed and clash-free</a:t>
            </a:r>
            <a:endParaRPr lang="en-US" sz="1150" dirty="0"/>
          </a:p>
        </p:txBody>
      </p:sp>
      <p:sp>
        <p:nvSpPr>
          <p:cNvPr id="10" name="stage arrow 0"/>
          <p:cNvSpPr/>
          <p:nvPr/>
        </p:nvSpPr>
        <p:spPr>
          <a:xfrm>
            <a:off x="3977640" y="2628900"/>
            <a:ext cx="356616" cy="0"/>
          </a:xfrm>
          <a:prstGeom prst="line">
            <a:avLst/>
          </a:prstGeom>
          <a:noFill/>
          <a:ln w="19050">
            <a:solidFill>
              <a:srgbClr val="52514E"/>
            </a:solidFill>
            <a:prstDash val="solid"/>
            <a:tailEnd type="triangle"/>
          </a:ln>
        </p:spPr>
      </p:sp>
      <p:sp>
        <p:nvSpPr>
          <p:cNvPr id="11" name="mini card stage section"/>
          <p:cNvSpPr/>
          <p:nvPr/>
        </p:nvSpPr>
        <p:spPr>
          <a:xfrm>
            <a:off x="1668780" y="2971800"/>
            <a:ext cx="1097280" cy="475488"/>
          </a:xfrm>
          <a:prstGeom prst="rect">
            <a:avLst/>
          </a:prstGeom>
          <a:solidFill>
            <a:srgbClr val="FFFFFF"/>
          </a:solidFill>
          <a:ln w="6350">
            <a:solidFill>
              <a:srgbClr val="898781"/>
            </a:solidFill>
            <a:prstDash val="solid"/>
          </a:ln>
        </p:spPr>
      </p:sp>
      <p:sp>
        <p:nvSpPr>
          <p:cNvPr id="12" name="mini slab stage section"/>
          <p:cNvSpPr/>
          <p:nvPr/>
        </p:nvSpPr>
        <p:spPr>
          <a:xfrm>
            <a:off x="1714500" y="3017520"/>
            <a:ext cx="1005840" cy="32004"/>
          </a:xfrm>
          <a:prstGeom prst="rect">
            <a:avLst/>
          </a:prstGeom>
          <a:solidFill>
            <a:srgbClr val="52514E"/>
          </a:solidFill>
          <a:ln/>
        </p:spPr>
      </p:sp>
      <p:sp>
        <p:nvSpPr>
          <p:cNvPr id="13" name="mini stage section 0"/>
          <p:cNvSpPr/>
          <p:nvPr/>
        </p:nvSpPr>
        <p:spPr>
          <a:xfrm>
            <a:off x="1847088" y="3081528"/>
            <a:ext cx="137160" cy="100584"/>
          </a:xfrm>
          <a:prstGeom prst="rect">
            <a:avLst/>
          </a:prstGeom>
          <a:solidFill>
            <a:schemeClr val="accent1"/>
          </a:solidFill>
          <a:ln w="5080">
            <a:solidFill>
              <a:srgbClr val="FFFFFF"/>
            </a:solidFill>
            <a:prstDash val="solid"/>
          </a:ln>
        </p:spPr>
      </p:sp>
      <p:sp>
        <p:nvSpPr>
          <p:cNvPr id="14" name="mini stage section 1"/>
          <p:cNvSpPr/>
          <p:nvPr/>
        </p:nvSpPr>
        <p:spPr>
          <a:xfrm>
            <a:off x="2075688" y="3090672"/>
            <a:ext cx="82296" cy="82296"/>
          </a:xfrm>
          <a:prstGeom prst="ellipse">
            <a:avLst/>
          </a:prstGeom>
          <a:solidFill>
            <a:schemeClr val="accent1"/>
          </a:solidFill>
          <a:ln w="5080">
            <a:solidFill>
              <a:srgbClr val="FFFFFF"/>
            </a:solidFill>
            <a:prstDash val="solid"/>
          </a:ln>
        </p:spPr>
      </p:sp>
      <p:sp>
        <p:nvSpPr>
          <p:cNvPr id="15" name="mini stage section 2"/>
          <p:cNvSpPr/>
          <p:nvPr/>
        </p:nvSpPr>
        <p:spPr>
          <a:xfrm>
            <a:off x="2276856" y="3090672"/>
            <a:ext cx="82296" cy="82296"/>
          </a:xfrm>
          <a:prstGeom prst="ellipse">
            <a:avLst/>
          </a:prstGeom>
          <a:solidFill>
            <a:schemeClr val="accent1"/>
          </a:solidFill>
          <a:ln w="5080">
            <a:solidFill>
              <a:srgbClr val="FFFFFF"/>
            </a:solidFill>
            <a:prstDash val="solid"/>
          </a:ln>
        </p:spPr>
      </p:sp>
      <p:sp>
        <p:nvSpPr>
          <p:cNvPr id="16" name="mini stage section 3"/>
          <p:cNvSpPr/>
          <p:nvPr/>
        </p:nvSpPr>
        <p:spPr>
          <a:xfrm>
            <a:off x="2464308" y="3108960"/>
            <a:ext cx="109728" cy="45720"/>
          </a:xfrm>
          <a:prstGeom prst="rect">
            <a:avLst/>
          </a:prstGeom>
          <a:solidFill>
            <a:schemeClr val="accent1"/>
          </a:solidFill>
          <a:ln w="5080">
            <a:solidFill>
              <a:srgbClr val="FFFFFF"/>
            </a:solidFill>
            <a:prstDash val="solid"/>
          </a:ln>
        </p:spPr>
      </p:sp>
      <p:sp>
        <p:nvSpPr>
          <p:cNvPr id="17" name="stage synthesize"/>
          <p:cNvSpPr/>
          <p:nvPr/>
        </p:nvSpPr>
        <p:spPr>
          <a:xfrm>
            <a:off x="4425696" y="1371600"/>
            <a:ext cx="3337560" cy="2514600"/>
          </a:xfrm>
          <a:prstGeom prst="roundRect">
            <a:avLst>
              <a:gd name="adj" fmla="val 2545"/>
            </a:avLst>
          </a:prstGeom>
          <a:solidFill>
            <a:schemeClr val="bg2"/>
          </a:solidFill>
          <a:ln w="19050">
            <a:solidFill>
              <a:srgbClr val="EB6834"/>
            </a:solidFill>
            <a:prstDash val="solid"/>
          </a:ln>
        </p:spPr>
      </p:sp>
      <p:sp>
        <p:nvSpPr>
          <p:cNvPr id="18" name="icon ring stage synthesize"/>
          <p:cNvSpPr/>
          <p:nvPr/>
        </p:nvSpPr>
        <p:spPr>
          <a:xfrm>
            <a:off x="5820156" y="1600200"/>
            <a:ext cx="548640" cy="548640"/>
          </a:xfrm>
          <a:prstGeom prst="ellipse">
            <a:avLst/>
          </a:prstGeom>
          <a:solidFill>
            <a:schemeClr val="accent1"/>
          </a:solidFill>
          <a:ln/>
        </p:spPr>
      </p:sp>
      <p:pic>
        <p:nvPicPr>
          <p:cNvPr id="19" name="icon stage synthesize" descr="preencoded.png">    </p:cNvPr>
          <p:cNvPicPr>
            <a:picLocks noChangeAspect="1"/>
          </p:cNvPicPr>
          <p:nvPr/>
        </p:nvPicPr>
        <p:blipFill>
          <a:blip r:embed="rId2"/>
          <a:stretch>
            <a:fillRect/>
          </a:stretch>
        </p:blipFill>
        <p:spPr>
          <a:xfrm>
            <a:off x="5935370" y="1715414"/>
            <a:ext cx="318211" cy="318211"/>
          </a:xfrm>
          <a:prstGeom prst="rect">
            <a:avLst/>
          </a:prstGeom>
        </p:spPr>
      </p:pic>
      <p:sp>
        <p:nvSpPr>
          <p:cNvPr id="20" name="stage head synthesize"/>
          <p:cNvSpPr txBox="1"/>
          <p:nvPr/>
        </p:nvSpPr>
        <p:spPr>
          <a:xfrm>
            <a:off x="4608576" y="2194560"/>
            <a:ext cx="2971800" cy="365760"/>
          </a:xfrm>
          <a:prstGeom prst="rect">
            <a:avLst/>
          </a:prstGeom>
          <a:noFill/>
          <a:ln/>
        </p:spPr>
        <p:txBody>
          <a:bodyPr wrap="square" lIns="0" tIns="0" rIns="0" bIns="0" rtlCol="0" anchor="ctr"/>
          <a:lstStyle/>
          <a:p>
            <a:pPr algn="ctr" indent="0" marL="0">
              <a:buNone/>
            </a:pPr>
            <a:r>
              <a:rPr lang="en-US" sz="1600" b="1" dirty="0">
                <a:solidFill>
                  <a:schemeClr val="tx1"/>
                </a:solidFill>
              </a:rPr>
              <a:t>Synthesize the assembly</a:t>
            </a:r>
            <a:endParaRPr lang="en-US" sz="1600" dirty="0"/>
          </a:p>
        </p:txBody>
      </p:sp>
      <p:sp>
        <p:nvSpPr>
          <p:cNvPr id="21" name="pill synthesize"/>
          <p:cNvSpPr/>
          <p:nvPr/>
        </p:nvSpPr>
        <p:spPr>
          <a:xfrm>
            <a:off x="5454396" y="2606040"/>
            <a:ext cx="1280160" cy="292608"/>
          </a:xfrm>
          <a:prstGeom prst="roundRect">
            <a:avLst>
              <a:gd name="adj" fmla="val 50000"/>
            </a:avLst>
          </a:prstGeom>
          <a:solidFill>
            <a:srgbClr val="EB6834"/>
          </a:solidFill>
          <a:ln/>
        </p:spPr>
      </p:sp>
      <p:sp>
        <p:nvSpPr>
          <p:cNvPr id="22" name="pill text synthesize"/>
          <p:cNvSpPr txBox="1"/>
          <p:nvPr/>
        </p:nvSpPr>
        <p:spPr>
          <a:xfrm>
            <a:off x="5454396" y="2606040"/>
            <a:ext cx="1280160" cy="292608"/>
          </a:xfrm>
          <a:prstGeom prst="rect">
            <a:avLst/>
          </a:prstGeom>
          <a:noFill/>
          <a:ln/>
        </p:spPr>
        <p:txBody>
          <a:bodyPr wrap="square" lIns="0" tIns="0" rIns="0" bIns="0" rtlCol="0" anchor="ctr"/>
          <a:lstStyle/>
          <a:p>
            <a:pPr algn="ctr" indent="0" marL="0">
              <a:buNone/>
            </a:pPr>
            <a:r>
              <a:rPr lang="en-US" sz="1100" b="1" dirty="0">
                <a:solidFill>
                  <a:srgbClr val="FFFFFF"/>
                </a:solidFill>
              </a:rPr>
              <a:t>by hand</a:t>
            </a:r>
            <a:endParaRPr lang="en-US" sz="1100" dirty="0"/>
          </a:p>
        </p:txBody>
      </p:sp>
      <p:sp>
        <p:nvSpPr>
          <p:cNvPr id="23" name="stage line synthesize"/>
          <p:cNvSpPr txBox="1"/>
          <p:nvPr/>
        </p:nvSpPr>
        <p:spPr>
          <a:xfrm>
            <a:off x="4608576" y="3383280"/>
            <a:ext cx="2971800" cy="365760"/>
          </a:xfrm>
          <a:prstGeom prst="rect">
            <a:avLst/>
          </a:prstGeom>
          <a:noFill/>
          <a:ln/>
        </p:spPr>
        <p:txBody>
          <a:bodyPr wrap="square" lIns="0" tIns="0" rIns="0" bIns="0" rtlCol="0" anchor="ctr"/>
          <a:lstStyle/>
          <a:p>
            <a:pPr algn="ctr" indent="0" marL="0">
              <a:buNone/>
            </a:pPr>
            <a:r>
              <a:rPr lang="en-US" sz="1150" dirty="0">
                <a:solidFill>
                  <a:srgbClr val="52514E"/>
                </a:solidFill>
              </a:rPr>
              <a:t>topology and parts chosen by an engineer [1]</a:t>
            </a:r>
            <a:endParaRPr lang="en-US" sz="1150" dirty="0"/>
          </a:p>
        </p:txBody>
      </p:sp>
      <p:sp>
        <p:nvSpPr>
          <p:cNvPr id="24" name="stage arrow 1"/>
          <p:cNvSpPr/>
          <p:nvPr/>
        </p:nvSpPr>
        <p:spPr>
          <a:xfrm>
            <a:off x="7854696" y="2628900"/>
            <a:ext cx="356616" cy="0"/>
          </a:xfrm>
          <a:prstGeom prst="line">
            <a:avLst/>
          </a:prstGeom>
          <a:noFill/>
          <a:ln w="19050">
            <a:solidFill>
              <a:srgbClr val="52514E"/>
            </a:solidFill>
            <a:prstDash val="solid"/>
            <a:tailEnd type="triangle"/>
          </a:ln>
        </p:spPr>
      </p:sp>
      <p:sp>
        <p:nvSpPr>
          <p:cNvPr id="25" name="ghost slab"/>
          <p:cNvSpPr/>
          <p:nvPr/>
        </p:nvSpPr>
        <p:spPr>
          <a:xfrm>
            <a:off x="5500116" y="2971800"/>
            <a:ext cx="1188720" cy="64008"/>
          </a:xfrm>
          <a:prstGeom prst="rect">
            <a:avLst/>
          </a:prstGeom>
          <a:solidFill>
            <a:srgbClr val="52514E"/>
          </a:solidFill>
          <a:ln/>
        </p:spPr>
      </p:sp>
      <p:sp>
        <p:nvSpPr>
          <p:cNvPr id="26" name="ghost rod 0"/>
          <p:cNvSpPr/>
          <p:nvPr/>
        </p:nvSpPr>
        <p:spPr>
          <a:xfrm>
            <a:off x="5573268" y="3035808"/>
            <a:ext cx="0" cy="384048"/>
          </a:xfrm>
          <a:prstGeom prst="line">
            <a:avLst/>
          </a:prstGeom>
          <a:noFill/>
          <a:ln w="15875">
            <a:solidFill>
              <a:srgbClr val="898781"/>
            </a:solidFill>
            <a:prstDash val="dash"/>
          </a:ln>
        </p:spPr>
      </p:sp>
      <p:sp>
        <p:nvSpPr>
          <p:cNvPr id="27" name="ghost rod 1"/>
          <p:cNvSpPr/>
          <p:nvPr/>
        </p:nvSpPr>
        <p:spPr>
          <a:xfrm>
            <a:off x="6615684" y="3035808"/>
            <a:ext cx="0" cy="384048"/>
          </a:xfrm>
          <a:prstGeom prst="line">
            <a:avLst/>
          </a:prstGeom>
          <a:noFill/>
          <a:ln w="15875">
            <a:solidFill>
              <a:srgbClr val="898781"/>
            </a:solidFill>
            <a:prstDash val="dash"/>
          </a:ln>
        </p:spPr>
      </p:sp>
      <p:sp>
        <p:nvSpPr>
          <p:cNvPr id="28" name="ghost channel"/>
          <p:cNvSpPr/>
          <p:nvPr/>
        </p:nvSpPr>
        <p:spPr>
          <a:xfrm>
            <a:off x="5500116" y="3419856"/>
            <a:ext cx="1188720" cy="0"/>
          </a:xfrm>
          <a:prstGeom prst="line">
            <a:avLst/>
          </a:prstGeom>
          <a:noFill/>
          <a:ln w="15875">
            <a:solidFill>
              <a:srgbClr val="898781"/>
            </a:solidFill>
            <a:prstDash val="dash"/>
          </a:ln>
        </p:spPr>
      </p:sp>
      <p:sp>
        <p:nvSpPr>
          <p:cNvPr id="29" name="ghost q"/>
          <p:cNvSpPr/>
          <p:nvPr/>
        </p:nvSpPr>
        <p:spPr>
          <a:xfrm>
            <a:off x="5939028" y="3072384"/>
            <a:ext cx="310896" cy="310896"/>
          </a:xfrm>
          <a:prstGeom prst="ellipse">
            <a:avLst/>
          </a:prstGeom>
          <a:solidFill>
            <a:srgbClr val="EB6834"/>
          </a:solidFill>
          <a:ln/>
        </p:spPr>
      </p:sp>
      <p:sp>
        <p:nvSpPr>
          <p:cNvPr id="30" name="ghost q text"/>
          <p:cNvSpPr txBox="1"/>
          <p:nvPr/>
        </p:nvSpPr>
        <p:spPr>
          <a:xfrm>
            <a:off x="593902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31" name="stage verify"/>
          <p:cNvSpPr/>
          <p:nvPr/>
        </p:nvSpPr>
        <p:spPr>
          <a:xfrm>
            <a:off x="8302752" y="1371600"/>
            <a:ext cx="3337560" cy="2514600"/>
          </a:xfrm>
          <a:prstGeom prst="roundRect">
            <a:avLst>
              <a:gd name="adj" fmla="val 2545"/>
            </a:avLst>
          </a:prstGeom>
          <a:solidFill>
            <a:schemeClr val="bg2"/>
          </a:solidFill>
          <a:ln/>
        </p:spPr>
      </p:sp>
      <p:sp>
        <p:nvSpPr>
          <p:cNvPr id="32" name="icon ring stage verify"/>
          <p:cNvSpPr/>
          <p:nvPr/>
        </p:nvSpPr>
        <p:spPr>
          <a:xfrm>
            <a:off x="9697212" y="1600200"/>
            <a:ext cx="548640" cy="548640"/>
          </a:xfrm>
          <a:prstGeom prst="ellipse">
            <a:avLst/>
          </a:prstGeom>
          <a:solidFill>
            <a:schemeClr val="accent1"/>
          </a:solidFill>
          <a:ln/>
        </p:spPr>
      </p:sp>
      <p:pic>
        <p:nvPicPr>
          <p:cNvPr id="33" name="icon stage verify" descr="preencoded.png">    </p:cNvPr>
          <p:cNvPicPr>
            <a:picLocks noChangeAspect="1"/>
          </p:cNvPicPr>
          <p:nvPr/>
        </p:nvPicPr>
        <p:blipFill>
          <a:blip r:embed="rId3"/>
          <a:stretch>
            <a:fillRect/>
          </a:stretch>
        </p:blipFill>
        <p:spPr>
          <a:xfrm>
            <a:off x="9812426" y="1715414"/>
            <a:ext cx="318211" cy="318211"/>
          </a:xfrm>
          <a:prstGeom prst="rect">
            <a:avLst/>
          </a:prstGeom>
        </p:spPr>
      </p:pic>
      <p:sp>
        <p:nvSpPr>
          <p:cNvPr id="34" name="stage head verify"/>
          <p:cNvSpPr txBox="1"/>
          <p:nvPr/>
        </p:nvSpPr>
        <p:spPr>
          <a:xfrm>
            <a:off x="8485632" y="2194560"/>
            <a:ext cx="2971800" cy="365760"/>
          </a:xfrm>
          <a:prstGeom prst="rect">
            <a:avLst/>
          </a:prstGeom>
          <a:noFill/>
          <a:ln/>
        </p:spPr>
        <p:txBody>
          <a:bodyPr wrap="square" lIns="0" tIns="0" rIns="0" bIns="0" rtlCol="0" anchor="ctr"/>
          <a:lstStyle/>
          <a:p>
            <a:pPr algn="ctr" indent="0" marL="0">
              <a:buNone/>
            </a:pPr>
            <a:r>
              <a:rPr lang="en-US" sz="1600" b="1" dirty="0">
                <a:solidFill>
                  <a:schemeClr val="tx1"/>
                </a:solidFill>
              </a:rPr>
              <a:t>Verify the design</a:t>
            </a:r>
            <a:endParaRPr lang="en-US" sz="1600" dirty="0"/>
          </a:p>
        </p:txBody>
      </p:sp>
      <p:sp>
        <p:nvSpPr>
          <p:cNvPr id="35" name="pill verify"/>
          <p:cNvSpPr/>
          <p:nvPr/>
        </p:nvSpPr>
        <p:spPr>
          <a:xfrm>
            <a:off x="9331452" y="2606040"/>
            <a:ext cx="1280160" cy="292608"/>
          </a:xfrm>
          <a:prstGeom prst="roundRect">
            <a:avLst>
              <a:gd name="adj" fmla="val 50000"/>
            </a:avLst>
          </a:prstGeom>
          <a:solidFill>
            <a:srgbClr val="008300"/>
          </a:solidFill>
          <a:ln/>
        </p:spPr>
      </p:sp>
      <p:sp>
        <p:nvSpPr>
          <p:cNvPr id="36" name="pill text verify"/>
          <p:cNvSpPr txBox="1"/>
          <p:nvPr/>
        </p:nvSpPr>
        <p:spPr>
          <a:xfrm>
            <a:off x="9331452" y="2606040"/>
            <a:ext cx="1280160" cy="292608"/>
          </a:xfrm>
          <a:prstGeom prst="rect">
            <a:avLst/>
          </a:prstGeom>
          <a:noFill/>
          <a:ln/>
        </p:spPr>
        <p:txBody>
          <a:bodyPr wrap="square" lIns="0" tIns="0" rIns="0" bIns="0" rtlCol="0" anchor="ctr"/>
          <a:lstStyle/>
          <a:p>
            <a:pPr algn="ctr" indent="0" marL="0">
              <a:buNone/>
            </a:pPr>
            <a:r>
              <a:rPr lang="en-US" sz="1100" b="1" dirty="0">
                <a:solidFill>
                  <a:srgbClr val="FFFFFF"/>
                </a:solidFill>
              </a:rPr>
              <a:t>tools</a:t>
            </a:r>
            <a:endParaRPr lang="en-US" sz="1100" dirty="0"/>
          </a:p>
        </p:txBody>
      </p:sp>
      <p:sp>
        <p:nvSpPr>
          <p:cNvPr id="37" name="stage line verify"/>
          <p:cNvSpPr txBox="1"/>
          <p:nvPr/>
        </p:nvSpPr>
        <p:spPr>
          <a:xfrm>
            <a:off x="8485632" y="3383280"/>
            <a:ext cx="2971800" cy="365760"/>
          </a:xfrm>
          <a:prstGeom prst="rect">
            <a:avLst/>
          </a:prstGeom>
          <a:noFill/>
          <a:ln/>
        </p:spPr>
        <p:txBody>
          <a:bodyPr wrap="square" lIns="0" tIns="0" rIns="0" bIns="0" rtlCol="0" anchor="ctr"/>
          <a:lstStyle/>
          <a:p>
            <a:pPr algn="ctr" indent="0" marL="0">
              <a:buNone/>
            </a:pPr>
            <a:r>
              <a:rPr lang="en-US" sz="1150" dirty="0">
                <a:solidFill>
                  <a:srgbClr val="52514E"/>
                </a:solidFill>
              </a:rPr>
              <a:t>statics, anchors and connectors checked</a:t>
            </a:r>
            <a:endParaRPr lang="en-US" sz="1150" dirty="0"/>
          </a:p>
        </p:txBody>
      </p:sp>
      <p:sp>
        <p:nvSpPr>
          <p:cNvPr id="38" name="verify chip statics"/>
          <p:cNvSpPr/>
          <p:nvPr/>
        </p:nvSpPr>
        <p:spPr>
          <a:xfrm>
            <a:off x="8599932" y="3063240"/>
            <a:ext cx="896112" cy="292608"/>
          </a:xfrm>
          <a:prstGeom prst="roundRect">
            <a:avLst>
              <a:gd name="adj" fmla="val 50000"/>
            </a:avLst>
          </a:prstGeom>
          <a:solidFill>
            <a:srgbClr val="EAF5EE"/>
          </a:solidFill>
          <a:ln/>
        </p:spPr>
      </p:sp>
      <p:sp>
        <p:nvSpPr>
          <p:cNvPr id="39" name="verify chip text statics"/>
          <p:cNvSpPr txBox="1"/>
          <p:nvPr/>
        </p:nvSpPr>
        <p:spPr>
          <a:xfrm>
            <a:off x="8599932" y="3063240"/>
            <a:ext cx="896112" cy="292608"/>
          </a:xfrm>
          <a:prstGeom prst="rect">
            <a:avLst/>
          </a:prstGeom>
          <a:noFill/>
          <a:ln/>
        </p:spPr>
        <p:txBody>
          <a:bodyPr wrap="square" lIns="0" tIns="0" rIns="0" bIns="0" rtlCol="0" anchor="ctr"/>
          <a:lstStyle/>
          <a:p>
            <a:pPr algn="ctr" indent="0" marL="0">
              <a:buNone/>
            </a:pPr>
            <a:r>
              <a:rPr lang="en-US" sz="1000" b="1" dirty="0">
                <a:solidFill>
                  <a:srgbClr val="008300"/>
                </a:solidFill>
              </a:rPr>
              <a:t>✓ statics</a:t>
            </a:r>
            <a:endParaRPr lang="en-US" sz="1000" dirty="0"/>
          </a:p>
        </p:txBody>
      </p:sp>
      <p:sp>
        <p:nvSpPr>
          <p:cNvPr id="40" name="verify chip anchors"/>
          <p:cNvSpPr/>
          <p:nvPr/>
        </p:nvSpPr>
        <p:spPr>
          <a:xfrm>
            <a:off x="9550908" y="3063240"/>
            <a:ext cx="896112" cy="292608"/>
          </a:xfrm>
          <a:prstGeom prst="roundRect">
            <a:avLst>
              <a:gd name="adj" fmla="val 50000"/>
            </a:avLst>
          </a:prstGeom>
          <a:solidFill>
            <a:srgbClr val="EAF5EE"/>
          </a:solidFill>
          <a:ln/>
        </p:spPr>
      </p:sp>
      <p:sp>
        <p:nvSpPr>
          <p:cNvPr id="41" name="verify chip text anchors"/>
          <p:cNvSpPr txBox="1"/>
          <p:nvPr/>
        </p:nvSpPr>
        <p:spPr>
          <a:xfrm>
            <a:off x="9550908" y="3063240"/>
            <a:ext cx="896112" cy="292608"/>
          </a:xfrm>
          <a:prstGeom prst="rect">
            <a:avLst/>
          </a:prstGeom>
          <a:noFill/>
          <a:ln/>
        </p:spPr>
        <p:txBody>
          <a:bodyPr wrap="square" lIns="0" tIns="0" rIns="0" bIns="0" rtlCol="0" anchor="ctr"/>
          <a:lstStyle/>
          <a:p>
            <a:pPr algn="ctr" indent="0" marL="0">
              <a:buNone/>
            </a:pPr>
            <a:r>
              <a:rPr lang="en-US" sz="1000" b="1" dirty="0">
                <a:solidFill>
                  <a:srgbClr val="008300"/>
                </a:solidFill>
              </a:rPr>
              <a:t>✓ anchors</a:t>
            </a:r>
            <a:endParaRPr lang="en-US" sz="1000" dirty="0"/>
          </a:p>
        </p:txBody>
      </p:sp>
      <p:sp>
        <p:nvSpPr>
          <p:cNvPr id="42" name="verify chip connectors"/>
          <p:cNvSpPr/>
          <p:nvPr/>
        </p:nvSpPr>
        <p:spPr>
          <a:xfrm>
            <a:off x="10501884" y="3063240"/>
            <a:ext cx="896112" cy="292608"/>
          </a:xfrm>
          <a:prstGeom prst="roundRect">
            <a:avLst>
              <a:gd name="adj" fmla="val 50000"/>
            </a:avLst>
          </a:prstGeom>
          <a:solidFill>
            <a:srgbClr val="EAF5EE"/>
          </a:solidFill>
          <a:ln/>
        </p:spPr>
      </p:sp>
      <p:sp>
        <p:nvSpPr>
          <p:cNvPr id="43" name="verify chip text connectors"/>
          <p:cNvSpPr txBox="1"/>
          <p:nvPr/>
        </p:nvSpPr>
        <p:spPr>
          <a:xfrm>
            <a:off x="10501884" y="3063240"/>
            <a:ext cx="896112" cy="292608"/>
          </a:xfrm>
          <a:prstGeom prst="rect">
            <a:avLst/>
          </a:prstGeom>
          <a:noFill/>
          <a:ln/>
        </p:spPr>
        <p:txBody>
          <a:bodyPr wrap="square" lIns="0" tIns="0" rIns="0" bIns="0" rtlCol="0" anchor="ctr"/>
          <a:lstStyle/>
          <a:p>
            <a:pPr algn="ctr" indent="0" marL="0">
              <a:buNone/>
            </a:pPr>
            <a:r>
              <a:rPr lang="en-US" sz="1000" b="1" dirty="0">
                <a:solidFill>
                  <a:srgbClr val="008300"/>
                </a:solidFill>
              </a:rPr>
              <a:t>✓ connectors</a:t>
            </a:r>
            <a:endParaRPr lang="en-US" sz="1000" dirty="0"/>
          </a:p>
        </p:txBody>
      </p:sp>
      <p:sp>
        <p:nvSpPr>
          <p:cNvPr id="44" name="why rule"/>
          <p:cNvSpPr/>
          <p:nvPr/>
        </p:nvSpPr>
        <p:spPr>
          <a:xfrm>
            <a:off x="548640" y="4251960"/>
            <a:ext cx="11091672" cy="0"/>
          </a:xfrm>
          <a:prstGeom prst="line">
            <a:avLst/>
          </a:prstGeom>
          <a:noFill/>
          <a:ln w="12700">
            <a:solidFill>
              <a:srgbClr val="E1E0D9"/>
            </a:solidFill>
            <a:prstDash val="solid"/>
          </a:ln>
        </p:spPr>
      </p:sp>
      <p:sp>
        <p:nvSpPr>
          <p:cNvPr id="45" name="why heading"/>
          <p:cNvSpPr txBox="1"/>
          <p:nvPr/>
        </p:nvSpPr>
        <p:spPr>
          <a:xfrm>
            <a:off x="548640" y="4343400"/>
            <a:ext cx="11091672" cy="274320"/>
          </a:xfrm>
          <a:prstGeom prst="rect">
            <a:avLst/>
          </a:prstGeom>
          <a:noFill/>
          <a:ln/>
        </p:spPr>
        <p:txBody>
          <a:bodyPr wrap="square" lIns="0" tIns="0" rIns="0" bIns="0" rtlCol="0" anchor="ctr"/>
          <a:lstStyle/>
          <a:p>
            <a:pPr indent="0" marL="0">
              <a:buNone/>
            </a:pPr>
            <a:r>
              <a:rPr lang="en-US" sz="1200" b="1" dirty="0">
                <a:solidFill>
                  <a:srgbClr val="52514E"/>
                </a:solidFill>
              </a:rPr>
              <a:t>Why the middle step resists automation</a:t>
            </a:r>
            <a:endParaRPr lang="en-US" sz="1200" dirty="0"/>
          </a:p>
        </p:txBody>
      </p:sp>
      <p:sp>
        <p:nvSpPr>
          <p:cNvPr id="46" name="icon ring why Tacit judgment"/>
          <p:cNvSpPr/>
          <p:nvPr/>
        </p:nvSpPr>
        <p:spPr>
          <a:xfrm>
            <a:off x="548640" y="4754880"/>
            <a:ext cx="512064" cy="512064"/>
          </a:xfrm>
          <a:prstGeom prst="ellipse">
            <a:avLst/>
          </a:prstGeom>
          <a:solidFill>
            <a:schemeClr val="accent1"/>
          </a:solidFill>
          <a:ln/>
        </p:spPr>
      </p:sp>
      <p:pic>
        <p:nvPicPr>
          <p:cNvPr id="47" name="icon why Tacit judgment" descr="preencoded.png">    </p:cNvPr>
          <p:cNvPicPr>
            <a:picLocks noChangeAspect="1"/>
          </p:cNvPicPr>
          <p:nvPr/>
        </p:nvPicPr>
        <p:blipFill>
          <a:blip r:embed="rId4"/>
          <a:stretch>
            <a:fillRect/>
          </a:stretch>
        </p:blipFill>
        <p:spPr>
          <a:xfrm>
            <a:off x="656173" y="4862413"/>
            <a:ext cx="296997" cy="296997"/>
          </a:xfrm>
          <a:prstGeom prst="rect">
            <a:avLst/>
          </a:prstGeom>
        </p:spPr>
      </p:pic>
      <p:sp>
        <p:nvSpPr>
          <p:cNvPr id="48" name="why text Tacit judgment"/>
          <p:cNvSpPr txBox="1"/>
          <p:nvPr/>
        </p:nvSpPr>
        <p:spPr>
          <a:xfrm>
            <a:off x="1234440" y="4663440"/>
            <a:ext cx="2782824" cy="731520"/>
          </a:xfrm>
          <a:prstGeom prst="rect">
            <a:avLst/>
          </a:prstGeom>
          <a:noFill/>
          <a:ln/>
        </p:spPr>
        <p:txBody>
          <a:bodyPr wrap="square" lIns="0" tIns="0" rIns="0" bIns="0" rtlCol="0" anchor="ctr"/>
          <a:lstStyle/>
          <a:p>
            <a:pPr indent="0" marL="0">
              <a:buNone/>
            </a:pPr>
            <a:r>
              <a:rPr lang="en-US" sz="1400" b="1" dirty="0">
                <a:solidFill>
                  <a:schemeClr val="tx1"/>
                </a:solidFill>
              </a:rPr>
              <a:t>Tacit judgment</a:t>
            </a:r>
            <a:endParaRPr lang="en-US" sz="1400" dirty="0"/>
          </a:p>
          <a:p>
            <a:pPr indent="0" marL="0">
              <a:buNone/>
            </a:pPr>
            <a:r>
              <a:rPr lang="en-US" sz="1150" dirty="0">
                <a:solidFill>
                  <a:srgbClr val="52514E"/>
                </a:solidFill>
              </a:rPr>
              <a:t>the topology comes from experience</a:t>
            </a:r>
            <a:endParaRPr lang="en-US" sz="1400" dirty="0"/>
          </a:p>
        </p:txBody>
      </p:sp>
      <p:sp>
        <p:nvSpPr>
          <p:cNvPr id="49" name="icon ring why Rule explosion"/>
          <p:cNvSpPr/>
          <p:nvPr/>
        </p:nvSpPr>
        <p:spPr>
          <a:xfrm>
            <a:off x="4337304" y="4754880"/>
            <a:ext cx="512064" cy="512064"/>
          </a:xfrm>
          <a:prstGeom prst="ellipse">
            <a:avLst/>
          </a:prstGeom>
          <a:solidFill>
            <a:schemeClr val="accent1"/>
          </a:solidFill>
          <a:ln/>
        </p:spPr>
      </p:sp>
      <p:pic>
        <p:nvPicPr>
          <p:cNvPr id="50" name="icon why Rule explosion" descr="preencoded.png">    </p:cNvPr>
          <p:cNvPicPr>
            <a:picLocks noChangeAspect="1"/>
          </p:cNvPicPr>
          <p:nvPr/>
        </p:nvPicPr>
        <p:blipFill>
          <a:blip r:embed="rId5"/>
          <a:stretch>
            <a:fillRect/>
          </a:stretch>
        </p:blipFill>
        <p:spPr>
          <a:xfrm>
            <a:off x="4444837" y="4862413"/>
            <a:ext cx="296997" cy="296997"/>
          </a:xfrm>
          <a:prstGeom prst="rect">
            <a:avLst/>
          </a:prstGeom>
        </p:spPr>
      </p:pic>
      <p:sp>
        <p:nvSpPr>
          <p:cNvPr id="51" name="why text Rule explosion"/>
          <p:cNvSpPr txBox="1"/>
          <p:nvPr/>
        </p:nvSpPr>
        <p:spPr>
          <a:xfrm>
            <a:off x="5023104" y="4663440"/>
            <a:ext cx="2782824" cy="731520"/>
          </a:xfrm>
          <a:prstGeom prst="rect">
            <a:avLst/>
          </a:prstGeom>
          <a:noFill/>
          <a:ln/>
        </p:spPr>
        <p:txBody>
          <a:bodyPr wrap="square" lIns="0" tIns="0" rIns="0" bIns="0" rtlCol="0" anchor="ctr"/>
          <a:lstStyle/>
          <a:p>
            <a:pPr indent="0" marL="0">
              <a:buNone/>
            </a:pPr>
            <a:r>
              <a:rPr lang="en-US" sz="1400" b="1" dirty="0">
                <a:solidFill>
                  <a:schemeClr val="tx1"/>
                </a:solidFill>
              </a:rPr>
              <a:t>Rule explosion</a:t>
            </a:r>
            <a:endParaRPr lang="en-US" sz="1400" dirty="0"/>
          </a:p>
          <a:p>
            <a:pPr indent="0" marL="0">
              <a:buNone/>
            </a:pPr>
            <a:r>
              <a:rPr lang="en-US" sz="1150" dirty="0">
                <a:solidFill>
                  <a:srgbClr val="52514E"/>
                </a:solidFill>
              </a:rPr>
              <a:t>constraints interact across thousands of combinations</a:t>
            </a:r>
            <a:endParaRPr lang="en-US" sz="1400" dirty="0"/>
          </a:p>
        </p:txBody>
      </p:sp>
      <p:sp>
        <p:nvSpPr>
          <p:cNvPr id="52" name="icon ring why Catalog volatility"/>
          <p:cNvSpPr/>
          <p:nvPr/>
        </p:nvSpPr>
        <p:spPr>
          <a:xfrm>
            <a:off x="8125968" y="4754880"/>
            <a:ext cx="512064" cy="512064"/>
          </a:xfrm>
          <a:prstGeom prst="ellipse">
            <a:avLst/>
          </a:prstGeom>
          <a:solidFill>
            <a:schemeClr val="accent1"/>
          </a:solidFill>
          <a:ln/>
        </p:spPr>
      </p:sp>
      <p:pic>
        <p:nvPicPr>
          <p:cNvPr id="53" name="icon why Catalog volatility" descr="preencoded.png">    </p:cNvPr>
          <p:cNvPicPr>
            <a:picLocks noChangeAspect="1"/>
          </p:cNvPicPr>
          <p:nvPr/>
        </p:nvPicPr>
        <p:blipFill>
          <a:blip r:embed="rId6"/>
          <a:stretch>
            <a:fillRect/>
          </a:stretch>
        </p:blipFill>
        <p:spPr>
          <a:xfrm>
            <a:off x="8233501" y="4862413"/>
            <a:ext cx="296997" cy="296997"/>
          </a:xfrm>
          <a:prstGeom prst="rect">
            <a:avLst/>
          </a:prstGeom>
        </p:spPr>
      </p:pic>
      <p:sp>
        <p:nvSpPr>
          <p:cNvPr id="54" name="why text Catalog volatility"/>
          <p:cNvSpPr txBox="1"/>
          <p:nvPr/>
        </p:nvSpPr>
        <p:spPr>
          <a:xfrm>
            <a:off x="8811768" y="4663440"/>
            <a:ext cx="2782824" cy="731520"/>
          </a:xfrm>
          <a:prstGeom prst="rect">
            <a:avLst/>
          </a:prstGeom>
          <a:noFill/>
          <a:ln/>
        </p:spPr>
        <p:txBody>
          <a:bodyPr wrap="square" lIns="0" tIns="0" rIns="0" bIns="0" rtlCol="0" anchor="ctr"/>
          <a:lstStyle/>
          <a:p>
            <a:pPr indent="0" marL="0">
              <a:buNone/>
            </a:pPr>
            <a:r>
              <a:rPr lang="en-US" sz="1400" b="1" dirty="0">
                <a:solidFill>
                  <a:schemeClr val="tx1"/>
                </a:solidFill>
              </a:rPr>
              <a:t>Catalog volatility</a:t>
            </a:r>
            <a:endParaRPr lang="en-US" sz="1400" dirty="0"/>
          </a:p>
          <a:p>
            <a:pPr indent="0" marL="0">
              <a:buNone/>
            </a:pPr>
            <a:r>
              <a:rPr lang="en-US" sz="1150" dirty="0">
                <a:solidFill>
                  <a:srgbClr val="52514E"/>
                </a:solidFill>
              </a:rPr>
              <a:t>catalogs change faster than rule systems</a:t>
            </a:r>
            <a:endParaRPr lang="en-US" sz="1400" dirty="0"/>
          </a:p>
        </p:txBody>
      </p:sp>
      <p:sp>
        <p:nvSpPr>
          <p:cNvPr id="5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5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step 1"/>
          <p:cNvSpPr/>
          <p:nvPr/>
        </p:nvSpPr>
        <p:spPr>
          <a:xfrm>
            <a:off x="420624" y="1655064"/>
            <a:ext cx="274320" cy="274320"/>
          </a:xfrm>
          <a:prstGeom prst="ellipse">
            <a:avLst/>
          </a:prstGeom>
          <a:solidFill>
            <a:srgbClr val="1F2933"/>
          </a:solidFill>
          <a:ln w="19050">
            <a:solidFill>
              <a:srgbClr val="FFFFFF"/>
            </a:solidFill>
            <a:prstDash val="solid"/>
          </a:ln>
        </p:spPr>
      </p:sp>
      <p:sp>
        <p:nvSpPr>
          <p:cNvPr id="30" name="step text 1"/>
          <p:cNvSpPr txBox="1"/>
          <p:nvPr/>
        </p:nvSpPr>
        <p:spPr>
          <a:xfrm>
            <a:off x="42062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31" name="step 2"/>
          <p:cNvSpPr/>
          <p:nvPr/>
        </p:nvSpPr>
        <p:spPr>
          <a:xfrm>
            <a:off x="3118104" y="1655064"/>
            <a:ext cx="274320" cy="274320"/>
          </a:xfrm>
          <a:prstGeom prst="ellipse">
            <a:avLst/>
          </a:prstGeom>
          <a:solidFill>
            <a:srgbClr val="1F2933"/>
          </a:solidFill>
          <a:ln w="19050">
            <a:solidFill>
              <a:srgbClr val="FFFFFF"/>
            </a:solidFill>
            <a:prstDash val="solid"/>
          </a:ln>
        </p:spPr>
      </p:sp>
      <p:sp>
        <p:nvSpPr>
          <p:cNvPr id="32" name="step text 2"/>
          <p:cNvSpPr txBox="1"/>
          <p:nvPr/>
        </p:nvSpPr>
        <p:spPr>
          <a:xfrm>
            <a:off x="311810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33" name="step 3"/>
          <p:cNvSpPr/>
          <p:nvPr/>
        </p:nvSpPr>
        <p:spPr>
          <a:xfrm>
            <a:off x="6181344" y="1655064"/>
            <a:ext cx="274320" cy="274320"/>
          </a:xfrm>
          <a:prstGeom prst="ellipse">
            <a:avLst/>
          </a:prstGeom>
          <a:solidFill>
            <a:srgbClr val="1F2933"/>
          </a:solidFill>
          <a:ln w="19050">
            <a:solidFill>
              <a:srgbClr val="FFFFFF"/>
            </a:solidFill>
            <a:prstDash val="solid"/>
          </a:ln>
        </p:spPr>
      </p:sp>
      <p:sp>
        <p:nvSpPr>
          <p:cNvPr id="34" name="step text 3"/>
          <p:cNvSpPr txBox="1"/>
          <p:nvPr/>
        </p:nvSpPr>
        <p:spPr>
          <a:xfrm>
            <a:off x="618134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35" name="step 4"/>
          <p:cNvSpPr/>
          <p:nvPr/>
        </p:nvSpPr>
        <p:spPr>
          <a:xfrm>
            <a:off x="8878824" y="1655064"/>
            <a:ext cx="274320" cy="274320"/>
          </a:xfrm>
          <a:prstGeom prst="ellipse">
            <a:avLst/>
          </a:prstGeom>
          <a:solidFill>
            <a:srgbClr val="1F2933"/>
          </a:solidFill>
          <a:ln w="19050">
            <a:solidFill>
              <a:srgbClr val="FFFFFF"/>
            </a:solidFill>
            <a:prstDash val="solid"/>
          </a:ln>
        </p:spPr>
      </p:sp>
      <p:sp>
        <p:nvSpPr>
          <p:cNvPr id="36" name="step text 4"/>
          <p:cNvSpPr txBox="1"/>
          <p:nvPr/>
        </p:nvSpPr>
        <p:spPr>
          <a:xfrm>
            <a:off x="887882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37" name="feedback up"/>
          <p:cNvSpPr/>
          <p:nvPr/>
        </p:nvSpPr>
        <p:spPr>
          <a:xfrm>
            <a:off x="10323576" y="1600200"/>
            <a:ext cx="0" cy="182880"/>
          </a:xfrm>
          <a:prstGeom prst="line">
            <a:avLst/>
          </a:prstGeom>
          <a:noFill/>
          <a:ln w="19050">
            <a:solidFill>
              <a:srgbClr val="008300"/>
            </a:solidFill>
            <a:prstDash val="dash"/>
          </a:ln>
        </p:spPr>
      </p:sp>
      <p:sp>
        <p:nvSpPr>
          <p:cNvPr id="38" name="feedback across"/>
          <p:cNvSpPr/>
          <p:nvPr/>
        </p:nvSpPr>
        <p:spPr>
          <a:xfrm>
            <a:off x="4480560" y="1600200"/>
            <a:ext cx="5843016" cy="0"/>
          </a:xfrm>
          <a:prstGeom prst="line">
            <a:avLst/>
          </a:prstGeom>
          <a:noFill/>
          <a:ln w="19050">
            <a:solidFill>
              <a:srgbClr val="008300"/>
            </a:solidFill>
            <a:prstDash val="dash"/>
          </a:ln>
        </p:spPr>
      </p:sp>
      <p:sp>
        <p:nvSpPr>
          <p:cNvPr id="39" name="feedback down"/>
          <p:cNvSpPr/>
          <p:nvPr/>
        </p:nvSpPr>
        <p:spPr>
          <a:xfrm>
            <a:off x="4480560" y="1600200"/>
            <a:ext cx="0" cy="182880"/>
          </a:xfrm>
          <a:prstGeom prst="line">
            <a:avLst/>
          </a:prstGeom>
          <a:noFill/>
          <a:ln w="19050">
            <a:solidFill>
              <a:srgbClr val="008300"/>
            </a:solidFill>
            <a:prstDash val="dash"/>
            <a:tailEnd type="triangle"/>
          </a:ln>
        </p:spPr>
      </p:sp>
      <p:sp>
        <p:nvSpPr>
          <p:cNvPr id="40"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41" name="sources frame"/>
          <p:cNvSpPr/>
          <p:nvPr/>
        </p:nvSpPr>
        <p:spPr>
          <a:xfrm>
            <a:off x="548640" y="4005072"/>
            <a:ext cx="11164824" cy="2048256"/>
          </a:xfrm>
          <a:prstGeom prst="roundRect">
            <a:avLst>
              <a:gd name="adj" fmla="val 3125"/>
            </a:avLst>
          </a:prstGeom>
          <a:solidFill>
            <a:schemeClr val="bg2"/>
          </a:solidFill>
          <a:ln w="19050">
            <a:solidFill>
              <a:schemeClr val="accent1"/>
            </a:solidFill>
            <a:prstDash val="solid"/>
          </a:ln>
        </p:spPr>
      </p:sp>
      <p:sp>
        <p:nvSpPr>
          <p:cNvPr id="42" name="callout wedge"/>
          <p:cNvSpPr/>
          <p:nvPr/>
        </p:nvSpPr>
        <p:spPr>
          <a:xfrm>
            <a:off x="548640" y="3154680"/>
            <a:ext cx="11164824" cy="850392"/>
          </a:xfrm>
          <a:custGeom>
            <a:avLst/>
            <a:gdLst/>
            <a:ahLst/>
            <a:cxnLst/>
            <a:rect l="l" t="t" r="r" b="b"/>
            <a:pathLst>
              <a:path w="11164824" h="850392">
                <a:moveTo>
                  <a:pt x="0" y="0"/>
                </a:moveTo>
                <a:lnTo>
                  <a:pt x="2103120" y="0"/>
                </a:lnTo>
                <a:lnTo>
                  <a:pt x="11164824" y="850392"/>
                </a:lnTo>
                <a:lnTo>
                  <a:pt x="0" y="850392"/>
                </a:lnTo>
                <a:close/>
              </a:path>
            </a:pathLst>
          </a:custGeom>
          <a:solidFill>
            <a:schemeClr val="accent1">
              <a:alpha val="12000"/>
            </a:schemeClr>
          </a:solidFill>
          <a:ln w="9525">
            <a:solidFill>
              <a:schemeClr val="accent1"/>
            </a:solidFill>
            <a:prstDash val="sysDot"/>
          </a:ln>
        </p:spPr>
      </p:sp>
      <p:sp>
        <p:nvSpPr>
          <p:cNvPr id="43" name="card real"/>
          <p:cNvSpPr/>
          <p:nvPr/>
        </p:nvSpPr>
        <p:spPr>
          <a:xfrm>
            <a:off x="612648" y="4069080"/>
            <a:ext cx="5330952" cy="1920240"/>
          </a:xfrm>
          <a:prstGeom prst="roundRect">
            <a:avLst>
              <a:gd name="adj" fmla="val 3333"/>
            </a:avLst>
          </a:prstGeom>
          <a:solidFill>
            <a:srgbClr val="FFFFFF"/>
          </a:solidFill>
          <a:ln w="19050">
            <a:solidFill>
              <a:srgbClr val="EB6834"/>
            </a:solidFill>
            <a:prstDash val="solid"/>
          </a:ln>
        </p:spPr>
      </p:sp>
      <p:sp>
        <p:nvSpPr>
          <p:cNvPr id="44" name="card head real"/>
          <p:cNvSpPr txBox="1"/>
          <p:nvPr/>
        </p:nvSpPr>
        <p:spPr>
          <a:xfrm>
            <a:off x="841248"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45" name="card tag real"/>
          <p:cNvSpPr/>
          <p:nvPr/>
        </p:nvSpPr>
        <p:spPr>
          <a:xfrm>
            <a:off x="3611880" y="4206240"/>
            <a:ext cx="2103120" cy="274320"/>
          </a:xfrm>
          <a:prstGeom prst="roundRect">
            <a:avLst>
              <a:gd name="adj" fmla="val 50000"/>
            </a:avLst>
          </a:prstGeom>
          <a:solidFill>
            <a:srgbClr val="EB6834"/>
          </a:solidFill>
          <a:ln/>
        </p:spPr>
      </p:sp>
      <p:sp>
        <p:nvSpPr>
          <p:cNvPr id="46" name="card tag text real"/>
          <p:cNvSpPr txBox="1"/>
          <p:nvPr/>
        </p:nvSpPr>
        <p:spPr>
          <a:xfrm>
            <a:off x="3611880" y="4206240"/>
            <a:ext cx="210312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 not diverse enough</a:t>
            </a:r>
            <a:endParaRPr lang="en-US" sz="1050" dirty="0"/>
          </a:p>
        </p:txBody>
      </p:sp>
      <p:sp>
        <p:nvSpPr>
          <p:cNvPr id="47" name="card body real"/>
          <p:cNvSpPr txBox="1"/>
          <p:nvPr/>
        </p:nvSpPr>
        <p:spPr>
          <a:xfrm>
            <a:off x="841248"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8" name="mini card real 0"/>
          <p:cNvSpPr/>
          <p:nvPr/>
        </p:nvSpPr>
        <p:spPr>
          <a:xfrm>
            <a:off x="841248" y="4590288"/>
            <a:ext cx="548640" cy="475488"/>
          </a:xfrm>
          <a:prstGeom prst="rect">
            <a:avLst/>
          </a:prstGeom>
          <a:solidFill>
            <a:srgbClr val="FFFFFF"/>
          </a:solidFill>
          <a:ln w="6350">
            <a:solidFill>
              <a:srgbClr val="898781"/>
            </a:solidFill>
            <a:prstDash val="solid"/>
          </a:ln>
        </p:spPr>
      </p:sp>
      <p:sp>
        <p:nvSpPr>
          <p:cNvPr id="49" name="mini slab real 0"/>
          <p:cNvSpPr/>
          <p:nvPr/>
        </p:nvSpPr>
        <p:spPr>
          <a:xfrm>
            <a:off x="886968" y="4636008"/>
            <a:ext cx="457200" cy="32004"/>
          </a:xfrm>
          <a:prstGeom prst="rect">
            <a:avLst/>
          </a:prstGeom>
          <a:solidFill>
            <a:srgbClr val="52514E"/>
          </a:solidFill>
          <a:ln/>
        </p:spPr>
      </p:sp>
      <p:sp>
        <p:nvSpPr>
          <p:cNvPr id="50" name="mini real 0 0"/>
          <p:cNvSpPr/>
          <p:nvPr/>
        </p:nvSpPr>
        <p:spPr>
          <a:xfrm>
            <a:off x="971012" y="4709160"/>
            <a:ext cx="60512" cy="60512"/>
          </a:xfrm>
          <a:prstGeom prst="ellipse">
            <a:avLst/>
          </a:prstGeom>
          <a:solidFill>
            <a:srgbClr val="EB6834"/>
          </a:solidFill>
          <a:ln w="5080">
            <a:solidFill>
              <a:srgbClr val="FFFFFF"/>
            </a:solidFill>
            <a:prstDash val="solid"/>
          </a:ln>
        </p:spPr>
      </p:sp>
      <p:sp>
        <p:nvSpPr>
          <p:cNvPr id="51" name="mini real 0 1"/>
          <p:cNvSpPr/>
          <p:nvPr/>
        </p:nvSpPr>
        <p:spPr>
          <a:xfrm>
            <a:off x="1085312" y="4709160"/>
            <a:ext cx="60512" cy="60512"/>
          </a:xfrm>
          <a:prstGeom prst="ellipse">
            <a:avLst/>
          </a:prstGeom>
          <a:solidFill>
            <a:srgbClr val="EB6834"/>
          </a:solidFill>
          <a:ln w="5080">
            <a:solidFill>
              <a:srgbClr val="FFFFFF"/>
            </a:solidFill>
            <a:prstDash val="solid"/>
          </a:ln>
        </p:spPr>
      </p:sp>
      <p:sp>
        <p:nvSpPr>
          <p:cNvPr id="52" name="mini real 0 2"/>
          <p:cNvSpPr/>
          <p:nvPr/>
        </p:nvSpPr>
        <p:spPr>
          <a:xfrm>
            <a:off x="1199612" y="4709160"/>
            <a:ext cx="60512" cy="60512"/>
          </a:xfrm>
          <a:prstGeom prst="ellipse">
            <a:avLst/>
          </a:prstGeom>
          <a:solidFill>
            <a:srgbClr val="EB6834"/>
          </a:solidFill>
          <a:ln w="5080">
            <a:solidFill>
              <a:srgbClr val="FFFFFF"/>
            </a:solidFill>
            <a:prstDash val="solid"/>
          </a:ln>
        </p:spPr>
      </p:sp>
      <p:sp>
        <p:nvSpPr>
          <p:cNvPr id="53" name="mini card real 1"/>
          <p:cNvSpPr/>
          <p:nvPr/>
        </p:nvSpPr>
        <p:spPr>
          <a:xfrm>
            <a:off x="1408176" y="4590288"/>
            <a:ext cx="548640" cy="475488"/>
          </a:xfrm>
          <a:prstGeom prst="rect">
            <a:avLst/>
          </a:prstGeom>
          <a:solidFill>
            <a:srgbClr val="FFFFFF"/>
          </a:solidFill>
          <a:ln w="6350">
            <a:solidFill>
              <a:srgbClr val="898781"/>
            </a:solidFill>
            <a:prstDash val="solid"/>
          </a:ln>
        </p:spPr>
      </p:sp>
      <p:sp>
        <p:nvSpPr>
          <p:cNvPr id="54" name="mini slab real 1"/>
          <p:cNvSpPr/>
          <p:nvPr/>
        </p:nvSpPr>
        <p:spPr>
          <a:xfrm>
            <a:off x="1453896" y="4636008"/>
            <a:ext cx="457200" cy="32004"/>
          </a:xfrm>
          <a:prstGeom prst="rect">
            <a:avLst/>
          </a:prstGeom>
          <a:solidFill>
            <a:srgbClr val="52514E"/>
          </a:solidFill>
          <a:ln/>
        </p:spPr>
      </p:sp>
      <p:sp>
        <p:nvSpPr>
          <p:cNvPr id="55" name="mini real 1 0"/>
          <p:cNvSpPr/>
          <p:nvPr/>
        </p:nvSpPr>
        <p:spPr>
          <a:xfrm>
            <a:off x="1537940" y="4709160"/>
            <a:ext cx="60512" cy="60512"/>
          </a:xfrm>
          <a:prstGeom prst="ellipse">
            <a:avLst/>
          </a:prstGeom>
          <a:solidFill>
            <a:srgbClr val="EB6834"/>
          </a:solidFill>
          <a:ln w="5080">
            <a:solidFill>
              <a:srgbClr val="FFFFFF"/>
            </a:solidFill>
            <a:prstDash val="solid"/>
          </a:ln>
        </p:spPr>
      </p:sp>
      <p:sp>
        <p:nvSpPr>
          <p:cNvPr id="56" name="mini real 1 1"/>
          <p:cNvSpPr/>
          <p:nvPr/>
        </p:nvSpPr>
        <p:spPr>
          <a:xfrm>
            <a:off x="1652240" y="4709160"/>
            <a:ext cx="60512" cy="60512"/>
          </a:xfrm>
          <a:prstGeom prst="ellipse">
            <a:avLst/>
          </a:prstGeom>
          <a:solidFill>
            <a:srgbClr val="EB6834"/>
          </a:solidFill>
          <a:ln w="5080">
            <a:solidFill>
              <a:srgbClr val="FFFFFF"/>
            </a:solidFill>
            <a:prstDash val="solid"/>
          </a:ln>
        </p:spPr>
      </p:sp>
      <p:sp>
        <p:nvSpPr>
          <p:cNvPr id="57" name="mini real 1 2"/>
          <p:cNvSpPr/>
          <p:nvPr/>
        </p:nvSpPr>
        <p:spPr>
          <a:xfrm>
            <a:off x="1766540" y="4709160"/>
            <a:ext cx="60512" cy="60512"/>
          </a:xfrm>
          <a:prstGeom prst="ellipse">
            <a:avLst/>
          </a:prstGeom>
          <a:solidFill>
            <a:srgbClr val="EB6834"/>
          </a:solidFill>
          <a:ln w="5080">
            <a:solidFill>
              <a:srgbClr val="FFFFFF"/>
            </a:solidFill>
            <a:prstDash val="solid"/>
          </a:ln>
        </p:spPr>
      </p:sp>
      <p:sp>
        <p:nvSpPr>
          <p:cNvPr id="58" name="mini card real 2"/>
          <p:cNvSpPr/>
          <p:nvPr/>
        </p:nvSpPr>
        <p:spPr>
          <a:xfrm>
            <a:off x="1975104" y="4590288"/>
            <a:ext cx="548640" cy="475488"/>
          </a:xfrm>
          <a:prstGeom prst="rect">
            <a:avLst/>
          </a:prstGeom>
          <a:solidFill>
            <a:srgbClr val="FFFFFF"/>
          </a:solidFill>
          <a:ln w="6350">
            <a:solidFill>
              <a:srgbClr val="898781"/>
            </a:solidFill>
            <a:prstDash val="solid"/>
          </a:ln>
        </p:spPr>
      </p:sp>
      <p:sp>
        <p:nvSpPr>
          <p:cNvPr id="59" name="mini slab real 2"/>
          <p:cNvSpPr/>
          <p:nvPr/>
        </p:nvSpPr>
        <p:spPr>
          <a:xfrm>
            <a:off x="2020824" y="4636008"/>
            <a:ext cx="457200" cy="32004"/>
          </a:xfrm>
          <a:prstGeom prst="rect">
            <a:avLst/>
          </a:prstGeom>
          <a:solidFill>
            <a:srgbClr val="52514E"/>
          </a:solidFill>
          <a:ln/>
        </p:spPr>
      </p:sp>
      <p:sp>
        <p:nvSpPr>
          <p:cNvPr id="60" name="mini real 2 0"/>
          <p:cNvSpPr/>
          <p:nvPr/>
        </p:nvSpPr>
        <p:spPr>
          <a:xfrm>
            <a:off x="2104868" y="4709160"/>
            <a:ext cx="60512" cy="60512"/>
          </a:xfrm>
          <a:prstGeom prst="ellipse">
            <a:avLst/>
          </a:prstGeom>
          <a:solidFill>
            <a:srgbClr val="EB6834"/>
          </a:solidFill>
          <a:ln w="5080">
            <a:solidFill>
              <a:srgbClr val="FFFFFF"/>
            </a:solidFill>
            <a:prstDash val="solid"/>
          </a:ln>
        </p:spPr>
      </p:sp>
      <p:sp>
        <p:nvSpPr>
          <p:cNvPr id="61" name="mini real 2 1"/>
          <p:cNvSpPr/>
          <p:nvPr/>
        </p:nvSpPr>
        <p:spPr>
          <a:xfrm>
            <a:off x="2219168" y="4709160"/>
            <a:ext cx="60512" cy="60512"/>
          </a:xfrm>
          <a:prstGeom prst="ellipse">
            <a:avLst/>
          </a:prstGeom>
          <a:solidFill>
            <a:srgbClr val="EB6834"/>
          </a:solidFill>
          <a:ln w="5080">
            <a:solidFill>
              <a:srgbClr val="FFFFFF"/>
            </a:solidFill>
            <a:prstDash val="solid"/>
          </a:ln>
        </p:spPr>
      </p:sp>
      <p:sp>
        <p:nvSpPr>
          <p:cNvPr id="62" name="mini real 2 2"/>
          <p:cNvSpPr/>
          <p:nvPr/>
        </p:nvSpPr>
        <p:spPr>
          <a:xfrm>
            <a:off x="2333468" y="4709160"/>
            <a:ext cx="60512" cy="60512"/>
          </a:xfrm>
          <a:prstGeom prst="ellipse">
            <a:avLst/>
          </a:prstGeom>
          <a:solidFill>
            <a:srgbClr val="EB6834"/>
          </a:solidFill>
          <a:ln w="5080">
            <a:solidFill>
              <a:srgbClr val="FFFFFF"/>
            </a:solidFill>
            <a:prstDash val="solid"/>
          </a:ln>
        </p:spPr>
      </p:sp>
      <p:sp>
        <p:nvSpPr>
          <p:cNvPr id="63" name="mini card real 3"/>
          <p:cNvSpPr/>
          <p:nvPr/>
        </p:nvSpPr>
        <p:spPr>
          <a:xfrm>
            <a:off x="2542032" y="4590288"/>
            <a:ext cx="548640" cy="475488"/>
          </a:xfrm>
          <a:prstGeom prst="rect">
            <a:avLst/>
          </a:prstGeom>
          <a:solidFill>
            <a:srgbClr val="FFFFFF"/>
          </a:solidFill>
          <a:ln w="6350">
            <a:solidFill>
              <a:srgbClr val="898781"/>
            </a:solidFill>
            <a:prstDash val="solid"/>
          </a:ln>
        </p:spPr>
      </p:sp>
      <p:sp>
        <p:nvSpPr>
          <p:cNvPr id="64" name="mini slab real 3"/>
          <p:cNvSpPr/>
          <p:nvPr/>
        </p:nvSpPr>
        <p:spPr>
          <a:xfrm>
            <a:off x="2587752" y="4636008"/>
            <a:ext cx="457200" cy="32004"/>
          </a:xfrm>
          <a:prstGeom prst="rect">
            <a:avLst/>
          </a:prstGeom>
          <a:solidFill>
            <a:srgbClr val="52514E"/>
          </a:solidFill>
          <a:ln/>
        </p:spPr>
      </p:sp>
      <p:sp>
        <p:nvSpPr>
          <p:cNvPr id="65" name="mini real 3 0"/>
          <p:cNvSpPr/>
          <p:nvPr/>
        </p:nvSpPr>
        <p:spPr>
          <a:xfrm>
            <a:off x="2671796" y="4709160"/>
            <a:ext cx="60512" cy="60512"/>
          </a:xfrm>
          <a:prstGeom prst="ellipse">
            <a:avLst/>
          </a:prstGeom>
          <a:solidFill>
            <a:srgbClr val="EB6834"/>
          </a:solidFill>
          <a:ln w="5080">
            <a:solidFill>
              <a:srgbClr val="FFFFFF"/>
            </a:solidFill>
            <a:prstDash val="solid"/>
          </a:ln>
        </p:spPr>
      </p:sp>
      <p:sp>
        <p:nvSpPr>
          <p:cNvPr id="66" name="mini real 3 1"/>
          <p:cNvSpPr/>
          <p:nvPr/>
        </p:nvSpPr>
        <p:spPr>
          <a:xfrm>
            <a:off x="2786096" y="4709160"/>
            <a:ext cx="60512" cy="60512"/>
          </a:xfrm>
          <a:prstGeom prst="ellipse">
            <a:avLst/>
          </a:prstGeom>
          <a:solidFill>
            <a:srgbClr val="EB6834"/>
          </a:solidFill>
          <a:ln w="5080">
            <a:solidFill>
              <a:srgbClr val="FFFFFF"/>
            </a:solidFill>
            <a:prstDash val="solid"/>
          </a:ln>
        </p:spPr>
      </p:sp>
      <p:sp>
        <p:nvSpPr>
          <p:cNvPr id="67" name="mini real 3 2"/>
          <p:cNvSpPr/>
          <p:nvPr/>
        </p:nvSpPr>
        <p:spPr>
          <a:xfrm>
            <a:off x="2900396" y="4709160"/>
            <a:ext cx="60512" cy="60512"/>
          </a:xfrm>
          <a:prstGeom prst="ellipse">
            <a:avLst/>
          </a:prstGeom>
          <a:solidFill>
            <a:srgbClr val="EB6834"/>
          </a:solidFill>
          <a:ln w="5080">
            <a:solidFill>
              <a:srgbClr val="FFFFFF"/>
            </a:solidFill>
            <a:prstDash val="solid"/>
          </a:ln>
        </p:spPr>
      </p:sp>
      <p:sp>
        <p:nvSpPr>
          <p:cNvPr id="68" name="mini card real 4"/>
          <p:cNvSpPr/>
          <p:nvPr/>
        </p:nvSpPr>
        <p:spPr>
          <a:xfrm>
            <a:off x="3108960" y="4590288"/>
            <a:ext cx="548640" cy="475488"/>
          </a:xfrm>
          <a:prstGeom prst="rect">
            <a:avLst/>
          </a:prstGeom>
          <a:solidFill>
            <a:srgbClr val="FFFFFF"/>
          </a:solidFill>
          <a:ln w="6350">
            <a:solidFill>
              <a:srgbClr val="898781"/>
            </a:solidFill>
            <a:prstDash val="solid"/>
          </a:ln>
        </p:spPr>
      </p:sp>
      <p:sp>
        <p:nvSpPr>
          <p:cNvPr id="69" name="mini slab real 4"/>
          <p:cNvSpPr/>
          <p:nvPr/>
        </p:nvSpPr>
        <p:spPr>
          <a:xfrm>
            <a:off x="3154680" y="4636008"/>
            <a:ext cx="457200" cy="32004"/>
          </a:xfrm>
          <a:prstGeom prst="rect">
            <a:avLst/>
          </a:prstGeom>
          <a:solidFill>
            <a:srgbClr val="52514E"/>
          </a:solidFill>
          <a:ln/>
        </p:spPr>
      </p:sp>
      <p:sp>
        <p:nvSpPr>
          <p:cNvPr id="70" name="mini real 4 0"/>
          <p:cNvSpPr/>
          <p:nvPr/>
        </p:nvSpPr>
        <p:spPr>
          <a:xfrm>
            <a:off x="3238724" y="4709160"/>
            <a:ext cx="60512" cy="60512"/>
          </a:xfrm>
          <a:prstGeom prst="ellipse">
            <a:avLst/>
          </a:prstGeom>
          <a:solidFill>
            <a:srgbClr val="EB6834"/>
          </a:solidFill>
          <a:ln w="5080">
            <a:solidFill>
              <a:srgbClr val="FFFFFF"/>
            </a:solidFill>
            <a:prstDash val="solid"/>
          </a:ln>
        </p:spPr>
      </p:sp>
      <p:sp>
        <p:nvSpPr>
          <p:cNvPr id="71" name="mini real 4 1"/>
          <p:cNvSpPr/>
          <p:nvPr/>
        </p:nvSpPr>
        <p:spPr>
          <a:xfrm>
            <a:off x="3353024" y="4709160"/>
            <a:ext cx="60512" cy="60512"/>
          </a:xfrm>
          <a:prstGeom prst="ellipse">
            <a:avLst/>
          </a:prstGeom>
          <a:solidFill>
            <a:srgbClr val="EB6834"/>
          </a:solidFill>
          <a:ln w="5080">
            <a:solidFill>
              <a:srgbClr val="FFFFFF"/>
            </a:solidFill>
            <a:prstDash val="solid"/>
          </a:ln>
        </p:spPr>
      </p:sp>
      <p:sp>
        <p:nvSpPr>
          <p:cNvPr id="72" name="mini real 4 2"/>
          <p:cNvSpPr/>
          <p:nvPr/>
        </p:nvSpPr>
        <p:spPr>
          <a:xfrm>
            <a:off x="3467324" y="4709160"/>
            <a:ext cx="60512" cy="60512"/>
          </a:xfrm>
          <a:prstGeom prst="ellipse">
            <a:avLst/>
          </a:prstGeom>
          <a:solidFill>
            <a:srgbClr val="EB6834"/>
          </a:solidFill>
          <a:ln w="5080">
            <a:solidFill>
              <a:srgbClr val="FFFFFF"/>
            </a:solidFill>
            <a:prstDash val="solid"/>
          </a:ln>
        </p:spPr>
      </p:sp>
      <p:sp>
        <p:nvSpPr>
          <p:cNvPr id="73" name="mini card real 5"/>
          <p:cNvSpPr/>
          <p:nvPr/>
        </p:nvSpPr>
        <p:spPr>
          <a:xfrm>
            <a:off x="3675888" y="4590288"/>
            <a:ext cx="548640" cy="475488"/>
          </a:xfrm>
          <a:prstGeom prst="rect">
            <a:avLst/>
          </a:prstGeom>
          <a:solidFill>
            <a:srgbClr val="FFFFFF"/>
          </a:solidFill>
          <a:ln w="6350">
            <a:solidFill>
              <a:srgbClr val="898781"/>
            </a:solidFill>
            <a:prstDash val="solid"/>
          </a:ln>
        </p:spPr>
      </p:sp>
      <p:sp>
        <p:nvSpPr>
          <p:cNvPr id="74" name="mini slab real 5"/>
          <p:cNvSpPr/>
          <p:nvPr/>
        </p:nvSpPr>
        <p:spPr>
          <a:xfrm>
            <a:off x="3721608" y="4636008"/>
            <a:ext cx="457200" cy="32004"/>
          </a:xfrm>
          <a:prstGeom prst="rect">
            <a:avLst/>
          </a:prstGeom>
          <a:solidFill>
            <a:srgbClr val="52514E"/>
          </a:solidFill>
          <a:ln/>
        </p:spPr>
      </p:sp>
      <p:sp>
        <p:nvSpPr>
          <p:cNvPr id="75" name="mini real 5 0"/>
          <p:cNvSpPr/>
          <p:nvPr/>
        </p:nvSpPr>
        <p:spPr>
          <a:xfrm>
            <a:off x="3805652" y="4709160"/>
            <a:ext cx="60512" cy="60512"/>
          </a:xfrm>
          <a:prstGeom prst="ellipse">
            <a:avLst/>
          </a:prstGeom>
          <a:solidFill>
            <a:srgbClr val="EB6834"/>
          </a:solidFill>
          <a:ln w="5080">
            <a:solidFill>
              <a:srgbClr val="FFFFFF"/>
            </a:solidFill>
            <a:prstDash val="solid"/>
          </a:ln>
        </p:spPr>
      </p:sp>
      <p:sp>
        <p:nvSpPr>
          <p:cNvPr id="76" name="mini real 5 1"/>
          <p:cNvSpPr/>
          <p:nvPr/>
        </p:nvSpPr>
        <p:spPr>
          <a:xfrm>
            <a:off x="3919952" y="4709160"/>
            <a:ext cx="60512" cy="60512"/>
          </a:xfrm>
          <a:prstGeom prst="ellipse">
            <a:avLst/>
          </a:prstGeom>
          <a:solidFill>
            <a:srgbClr val="EB6834"/>
          </a:solidFill>
          <a:ln w="5080">
            <a:solidFill>
              <a:srgbClr val="FFFFFF"/>
            </a:solidFill>
            <a:prstDash val="solid"/>
          </a:ln>
        </p:spPr>
      </p:sp>
      <p:sp>
        <p:nvSpPr>
          <p:cNvPr id="77" name="mini real 5 2"/>
          <p:cNvSpPr/>
          <p:nvPr/>
        </p:nvSpPr>
        <p:spPr>
          <a:xfrm>
            <a:off x="4034252" y="4709160"/>
            <a:ext cx="60512" cy="60512"/>
          </a:xfrm>
          <a:prstGeom prst="ellipse">
            <a:avLst/>
          </a:prstGeom>
          <a:solidFill>
            <a:srgbClr val="EB6834"/>
          </a:solidFill>
          <a:ln w="5080">
            <a:solidFill>
              <a:srgbClr val="FFFFFF"/>
            </a:solidFill>
            <a:prstDash val="solid"/>
          </a:ln>
        </p:spPr>
      </p:sp>
      <p:sp>
        <p:nvSpPr>
          <p:cNvPr id="78" name="empty slot 6"/>
          <p:cNvSpPr/>
          <p:nvPr/>
        </p:nvSpPr>
        <p:spPr>
          <a:xfrm>
            <a:off x="4242816" y="4590288"/>
            <a:ext cx="548640" cy="475488"/>
          </a:xfrm>
          <a:prstGeom prst="rect">
            <a:avLst/>
          </a:prstGeom>
          <a:ln w="6350">
            <a:solidFill>
              <a:srgbClr val="898781"/>
            </a:solidFill>
            <a:prstDash val="dash"/>
          </a:ln>
        </p:spPr>
      </p:sp>
      <p:sp>
        <p:nvSpPr>
          <p:cNvPr id="79" name="empty slot 7"/>
          <p:cNvSpPr/>
          <p:nvPr/>
        </p:nvSpPr>
        <p:spPr>
          <a:xfrm>
            <a:off x="4809744" y="4590288"/>
            <a:ext cx="548640" cy="475488"/>
          </a:xfrm>
          <a:prstGeom prst="rect">
            <a:avLst/>
          </a:prstGeom>
          <a:ln w="6350">
            <a:solidFill>
              <a:srgbClr val="898781"/>
            </a:solidFill>
            <a:prstDash val="dash"/>
          </a:ln>
        </p:spPr>
      </p:sp>
      <p:sp>
        <p:nvSpPr>
          <p:cNvPr id="80" name="empty slot 8"/>
          <p:cNvSpPr/>
          <p:nvPr/>
        </p:nvSpPr>
        <p:spPr>
          <a:xfrm>
            <a:off x="5376672" y="4590288"/>
            <a:ext cx="548640" cy="475488"/>
          </a:xfrm>
          <a:prstGeom prst="rect">
            <a:avLst/>
          </a:prstGeom>
          <a:ln w="6350">
            <a:solidFill>
              <a:srgbClr val="898781"/>
            </a:solidFill>
            <a:prstDash val="dash"/>
          </a:ln>
        </p:spPr>
      </p:sp>
      <p:sp>
        <p:nvSpPr>
          <p:cNvPr id="81" name="card generated"/>
          <p:cNvSpPr/>
          <p:nvPr/>
        </p:nvSpPr>
        <p:spPr>
          <a:xfrm>
            <a:off x="6245352" y="4069080"/>
            <a:ext cx="5330952" cy="1920240"/>
          </a:xfrm>
          <a:prstGeom prst="roundRect">
            <a:avLst>
              <a:gd name="adj" fmla="val 3333"/>
            </a:avLst>
          </a:prstGeom>
          <a:solidFill>
            <a:srgbClr val="FFFFFF"/>
          </a:solidFill>
          <a:ln w="19050">
            <a:solidFill>
              <a:schemeClr val="accent1"/>
            </a:solidFill>
            <a:prstDash val="solid"/>
          </a:ln>
        </p:spPr>
      </p:sp>
      <p:sp>
        <p:nvSpPr>
          <p:cNvPr id="82"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83" name="card tag generated"/>
          <p:cNvSpPr/>
          <p:nvPr/>
        </p:nvSpPr>
        <p:spPr>
          <a:xfrm>
            <a:off x="9884664" y="4206240"/>
            <a:ext cx="1463040" cy="274320"/>
          </a:xfrm>
          <a:prstGeom prst="roundRect">
            <a:avLst>
              <a:gd name="adj" fmla="val 50000"/>
            </a:avLst>
          </a:prstGeom>
          <a:solidFill>
            <a:schemeClr val="accent1"/>
          </a:solidFill>
          <a:ln/>
        </p:spPr>
      </p:sp>
      <p:sp>
        <p:nvSpPr>
          <p:cNvPr id="84" name="card tag text generated"/>
          <p:cNvSpPr txBox="1"/>
          <p:nvPr/>
        </p:nvSpPr>
        <p:spPr>
          <a:xfrm>
            <a:off x="9884664"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 diverse</a:t>
            </a:r>
            <a:endParaRPr lang="en-US" sz="1050" dirty="0"/>
          </a:p>
        </p:txBody>
      </p:sp>
      <p:sp>
        <p:nvSpPr>
          <p:cNvPr id="85" name="card body generated"/>
          <p:cNvSpPr txBox="1"/>
          <p:nvPr/>
        </p:nvSpPr>
        <p:spPr>
          <a:xfrm>
            <a:off x="6473952"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6"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7" name="mini slab gen 1"/>
          <p:cNvSpPr/>
          <p:nvPr/>
        </p:nvSpPr>
        <p:spPr>
          <a:xfrm>
            <a:off x="6519672" y="4636008"/>
            <a:ext cx="512064" cy="32004"/>
          </a:xfrm>
          <a:prstGeom prst="rect">
            <a:avLst/>
          </a:prstGeom>
          <a:solidFill>
            <a:srgbClr val="52514E"/>
          </a:solidFill>
          <a:ln/>
        </p:spPr>
      </p:sp>
      <p:sp>
        <p:nvSpPr>
          <p:cNvPr id="88"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9"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90" name="mini slab gen 2"/>
          <p:cNvSpPr/>
          <p:nvPr/>
        </p:nvSpPr>
        <p:spPr>
          <a:xfrm>
            <a:off x="7141464" y="4636008"/>
            <a:ext cx="512064" cy="32004"/>
          </a:xfrm>
          <a:prstGeom prst="rect">
            <a:avLst/>
          </a:prstGeom>
          <a:solidFill>
            <a:srgbClr val="52514E"/>
          </a:solidFill>
          <a:ln/>
        </p:spPr>
      </p:sp>
      <p:sp>
        <p:nvSpPr>
          <p:cNvPr id="91"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92"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93"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94" name="mini wall gen 3"/>
          <p:cNvSpPr/>
          <p:nvPr/>
        </p:nvSpPr>
        <p:spPr>
          <a:xfrm>
            <a:off x="7763256" y="4636008"/>
            <a:ext cx="32004" cy="384048"/>
          </a:xfrm>
          <a:prstGeom prst="rect">
            <a:avLst/>
          </a:prstGeom>
          <a:solidFill>
            <a:srgbClr val="52514E"/>
          </a:solidFill>
          <a:ln/>
        </p:spPr>
      </p:sp>
      <p:sp>
        <p:nvSpPr>
          <p:cNvPr id="95"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6"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7"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8"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9" name="mini slab gen 4"/>
          <p:cNvSpPr/>
          <p:nvPr/>
        </p:nvSpPr>
        <p:spPr>
          <a:xfrm>
            <a:off x="8385048" y="4636008"/>
            <a:ext cx="512064" cy="32004"/>
          </a:xfrm>
          <a:prstGeom prst="rect">
            <a:avLst/>
          </a:prstGeom>
          <a:solidFill>
            <a:srgbClr val="52514E"/>
          </a:solidFill>
          <a:ln/>
        </p:spPr>
      </p:sp>
      <p:sp>
        <p:nvSpPr>
          <p:cNvPr id="100"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101"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102"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103"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104"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105" name="mini slab gen 5"/>
          <p:cNvSpPr/>
          <p:nvPr/>
        </p:nvSpPr>
        <p:spPr>
          <a:xfrm>
            <a:off x="9006840" y="4636008"/>
            <a:ext cx="512064" cy="32004"/>
          </a:xfrm>
          <a:prstGeom prst="rect">
            <a:avLst/>
          </a:prstGeom>
          <a:solidFill>
            <a:srgbClr val="52514E"/>
          </a:solidFill>
          <a:ln/>
        </p:spPr>
      </p:sp>
      <p:sp>
        <p:nvSpPr>
          <p:cNvPr id="106"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7"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8"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9"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10"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11"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12" name="mini slab gen 6"/>
          <p:cNvSpPr/>
          <p:nvPr/>
        </p:nvSpPr>
        <p:spPr>
          <a:xfrm>
            <a:off x="9628632" y="4636008"/>
            <a:ext cx="512064" cy="32004"/>
          </a:xfrm>
          <a:prstGeom prst="rect">
            <a:avLst/>
          </a:prstGeom>
          <a:solidFill>
            <a:srgbClr val="52514E"/>
          </a:solidFill>
          <a:ln/>
        </p:spPr>
      </p:sp>
      <p:sp>
        <p:nvSpPr>
          <p:cNvPr id="113"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14"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15"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6"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7"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8"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9"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20" name="mini wall gen 7"/>
          <p:cNvSpPr/>
          <p:nvPr/>
        </p:nvSpPr>
        <p:spPr>
          <a:xfrm>
            <a:off x="10250424" y="4636008"/>
            <a:ext cx="32004" cy="384048"/>
          </a:xfrm>
          <a:prstGeom prst="rect">
            <a:avLst/>
          </a:prstGeom>
          <a:solidFill>
            <a:srgbClr val="52514E"/>
          </a:solidFill>
          <a:ln/>
        </p:spPr>
      </p:sp>
      <p:sp>
        <p:nvSpPr>
          <p:cNvPr id="121"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22"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23"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24"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25"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6"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7"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8"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9" name="mini slab gen 8"/>
          <p:cNvSpPr/>
          <p:nvPr/>
        </p:nvSpPr>
        <p:spPr>
          <a:xfrm>
            <a:off x="10872216" y="4636008"/>
            <a:ext cx="512064" cy="32004"/>
          </a:xfrm>
          <a:prstGeom prst="rect">
            <a:avLst/>
          </a:prstGeom>
          <a:solidFill>
            <a:srgbClr val="52514E"/>
          </a:solidFill>
          <a:ln/>
        </p:spPr>
      </p:sp>
      <p:sp>
        <p:nvSpPr>
          <p:cNvPr id="130"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31"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32"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33"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34"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35"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6"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7"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13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21"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r>
              <a:rPr lang="en-US" sz="1200" dirty="0">
                <a:solidFill>
                  <a:srgbClr val="CADCFC"/>
                </a:solidFill>
              </a:rPr>
              <a:t>channel, rods, clamps, anchors. No correct answer either: a feasible support depends on the catalog you build from.</a:t>
            </a:r>
            <a:endParaRPr lang="en-US" sz="1200" dirty="0"/>
          </a:p>
        </p:txBody>
      </p:sp>
      <p:sp>
        <p:nvSpPr>
          <p:cNvPr id="3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4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5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r>
              <a:rPr lang="en-US" sz="900" dirty="0">
                <a:solidFill>
                  <a:srgbClr val="52514E"/>
                </a:solidFill>
              </a:rPr>
              <a:t>generated vs a real model     </a:t>
            </a:r>
            <a:r>
              <a:rPr lang="en-US" sz="900" dirty="0">
                <a:solidFill>
                  <a:srgbClr val="2A78D6"/>
                </a:solidFill>
              </a:rPr>
              <a:t>● </a:t>
            </a:r>
            <a:r>
              <a:rPr lang="en-US" sz="900" dirty="0">
                <a:solidFill>
                  <a:srgbClr val="52514E"/>
                </a:solidFill>
              </a:rPr>
              <a:t>real vs real     </a:t>
            </a: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54"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1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1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3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2026-10-07T02:53:45Z</dcterms:created>
  <dcterms:modified xsi:type="dcterms:W3CDTF">2026-10-07T02:53:45Z</dcterms:modified>
</cp:coreProperties>
</file>