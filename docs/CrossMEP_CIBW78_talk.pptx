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1fd639-608e-b47d-3c59-0ef9051af9c2}">
          <p14:sldIdLst>
            <p14:sldId id="256"/>
          </p14:sldIdLst>
        </p14:section>
        <p14:section name="Motivation" id="{c8eacdc9-d847-1290-5fbf-eb5a9e94c352}">
          <p14:sldIdLst>
            <p14:sldId id="257"/>
            <p14:sldId id="258"/>
            <p14:sldId id="259"/>
            <p14:sldId id="260"/>
            <p14:sldId id="261"/>
          </p14:sldIdLst>
        </p14:section>
        <p14:section name="The dataset" id="{8ed27c14-aae0-2cf3-0d0f-c06f4a3a7e1d}">
          <p14:sldIdLst>
            <p14:sldId id="262"/>
            <p14:sldId id="263"/>
            <p14:sldId id="264"/>
          </p14:sldIdLst>
        </p14:section>
        <p14:section name="Experiments" id="{42857e33-927d-9857-20e8-743db16664af}">
          <p14:sldIdLst>
            <p14:sldId id="265"/>
            <p14:sldId id="266"/>
            <p14:sldId id="267"/>
          </p14:sldIdLst>
        </p14:section>
        <p14:section name="Use" id="{0600379d-c32d-4930-f42c-77df7370adb1}">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One benchmark context per tier: C1 is a single element, the most common support in any building; C8 has eight services on three rows.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440680"/>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status in the repository; the verification log says why each standard was chosen over its alternatives.</a:t>
            </a:r>
            <a:endParaRPr lang="en-US" sz="1100" dirty="0"/>
          </a:p>
        </p:txBody>
      </p:sp>
      <p:sp>
        <p:nvSpPr>
          <p:cNvPr id="49"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Tier Cn holds exactly n elements; higher tiers are heavier and tighter, as designed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Bootstrap intervals in RESULTS.md.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sp>
        <p:nvSpPr>
          <p:cNvPr id="6" name="splits heading"/>
          <p:cNvSpPr txBox="1"/>
          <p:nvPr/>
        </p:nvSpPr>
        <p:spPr>
          <a:xfrm>
            <a:off x="6355080" y="1417320"/>
            <a:ext cx="5285232" cy="274320"/>
          </a:xfrm>
          <a:prstGeom prst="rect">
            <a:avLst/>
          </a:prstGeom>
          <a:noFill/>
          <a:ln/>
        </p:spPr>
        <p:txBody>
          <a:bodyPr wrap="square" lIns="0" tIns="0" rIns="0" bIns="0" rtlCol="0" anchor="ctr"/>
          <a:lstStyle/>
          <a:p>
            <a:pPr indent="0" marL="0">
              <a:buNone/>
            </a:pPr>
            <a:r>
              <a:rPr lang="en-US" sz="1250" b="1" dirty="0">
                <a:solidFill>
                  <a:schemeClr val="tx1"/>
                </a:solidFill>
              </a:rPr>
              <a:t>Four splits on disjoint seeds; the test seeds are never trained on</a:t>
            </a:r>
            <a:endParaRPr lang="en-US" sz="1250" dirty="0"/>
          </a:p>
        </p:txBody>
      </p:sp>
      <p:sp>
        <p:nvSpPr>
          <p:cNvPr id="7" name="split train"/>
          <p:cNvSpPr/>
          <p:nvPr/>
        </p:nvSpPr>
        <p:spPr>
          <a:xfrm>
            <a:off x="6355080" y="1783080"/>
            <a:ext cx="1239012" cy="1371600"/>
          </a:xfrm>
          <a:prstGeom prst="roundRect">
            <a:avLst>
              <a:gd name="adj" fmla="val 5166"/>
            </a:avLst>
          </a:prstGeom>
          <a:solidFill>
            <a:schemeClr val="bg2"/>
          </a:solidFill>
          <a:ln/>
        </p:spPr>
      </p:sp>
      <p:sp>
        <p:nvSpPr>
          <p:cNvPr id="8" name="split count train"/>
          <p:cNvSpPr txBox="1"/>
          <p:nvPr/>
        </p:nvSpPr>
        <p:spPr>
          <a:xfrm>
            <a:off x="646480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5,000</a:t>
            </a:r>
            <a:endParaRPr lang="en-US" sz="2200" dirty="0"/>
          </a:p>
        </p:txBody>
      </p:sp>
      <p:sp>
        <p:nvSpPr>
          <p:cNvPr id="9" name="split label train"/>
          <p:cNvSpPr txBox="1"/>
          <p:nvPr/>
        </p:nvSpPr>
        <p:spPr>
          <a:xfrm>
            <a:off x="646480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train</a:t>
            </a:r>
            <a:endParaRPr lang="en-US" sz="1050" dirty="0"/>
          </a:p>
          <a:p>
            <a:pPr indent="0" marL="0">
              <a:buNone/>
            </a:pPr>
            <a:r>
              <a:rPr lang="en-US" sz="1050" dirty="0">
                <a:solidFill>
                  <a:srgbClr val="52514E"/>
                </a:solidFill>
              </a:rPr>
              <a:t>seed 1000</a:t>
            </a:r>
            <a:endParaRPr lang="en-US" sz="1050" dirty="0"/>
          </a:p>
        </p:txBody>
      </p:sp>
      <p:sp>
        <p:nvSpPr>
          <p:cNvPr id="10" name="split val"/>
          <p:cNvSpPr/>
          <p:nvPr/>
        </p:nvSpPr>
        <p:spPr>
          <a:xfrm>
            <a:off x="7703820" y="1783080"/>
            <a:ext cx="1239012" cy="1371600"/>
          </a:xfrm>
          <a:prstGeom prst="roundRect">
            <a:avLst>
              <a:gd name="adj" fmla="val 5166"/>
            </a:avLst>
          </a:prstGeom>
          <a:solidFill>
            <a:schemeClr val="bg2"/>
          </a:solidFill>
          <a:ln/>
        </p:spPr>
      </p:sp>
      <p:sp>
        <p:nvSpPr>
          <p:cNvPr id="11" name="split count val"/>
          <p:cNvSpPr txBox="1"/>
          <p:nvPr/>
        </p:nvSpPr>
        <p:spPr>
          <a:xfrm>
            <a:off x="781354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p:txBody>
      </p:sp>
      <p:sp>
        <p:nvSpPr>
          <p:cNvPr id="12" name="split label val"/>
          <p:cNvSpPr txBox="1"/>
          <p:nvPr/>
        </p:nvSpPr>
        <p:spPr>
          <a:xfrm>
            <a:off x="781354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validation</a:t>
            </a:r>
            <a:endParaRPr lang="en-US" sz="1050" dirty="0"/>
          </a:p>
          <a:p>
            <a:pPr indent="0" marL="0">
              <a:buNone/>
            </a:pPr>
            <a:r>
              <a:rPr lang="en-US" sz="1050" dirty="0">
                <a:solidFill>
                  <a:srgbClr val="52514E"/>
                </a:solidFill>
              </a:rPr>
              <a:t>seed 2000</a:t>
            </a:r>
            <a:endParaRPr lang="en-US" sz="1050" dirty="0"/>
          </a:p>
        </p:txBody>
      </p:sp>
      <p:sp>
        <p:nvSpPr>
          <p:cNvPr id="13" name="split test"/>
          <p:cNvSpPr/>
          <p:nvPr/>
        </p:nvSpPr>
        <p:spPr>
          <a:xfrm>
            <a:off x="9052560" y="1783080"/>
            <a:ext cx="1239012" cy="1371600"/>
          </a:xfrm>
          <a:prstGeom prst="roundRect">
            <a:avLst>
              <a:gd name="adj" fmla="val 5166"/>
            </a:avLst>
          </a:prstGeom>
          <a:solidFill>
            <a:schemeClr val="bg2"/>
          </a:solidFill>
          <a:ln/>
        </p:spPr>
      </p:sp>
      <p:sp>
        <p:nvSpPr>
          <p:cNvPr id="14" name="split count test"/>
          <p:cNvSpPr txBox="1"/>
          <p:nvPr/>
        </p:nvSpPr>
        <p:spPr>
          <a:xfrm>
            <a:off x="916228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p:txBody>
      </p:sp>
      <p:sp>
        <p:nvSpPr>
          <p:cNvPr id="15" name="split label test"/>
          <p:cNvSpPr txBox="1"/>
          <p:nvPr/>
        </p:nvSpPr>
        <p:spPr>
          <a:xfrm>
            <a:off x="916228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test</a:t>
            </a:r>
            <a:endParaRPr lang="en-US" sz="1050" dirty="0"/>
          </a:p>
          <a:p>
            <a:pPr indent="0" marL="0">
              <a:buNone/>
            </a:pPr>
            <a:r>
              <a:rPr lang="en-US" sz="1050" dirty="0">
                <a:solidFill>
                  <a:srgbClr val="52514E"/>
                </a:solidFill>
              </a:rPr>
              <a:t>seed 3000</a:t>
            </a:r>
            <a:endParaRPr lang="en-US" sz="1050" dirty="0"/>
          </a:p>
        </p:txBody>
      </p:sp>
      <p:sp>
        <p:nvSpPr>
          <p:cNvPr id="16" name="split benchmark"/>
          <p:cNvSpPr/>
          <p:nvPr/>
        </p:nvSpPr>
        <p:spPr>
          <a:xfrm>
            <a:off x="10401300" y="1783080"/>
            <a:ext cx="1239012" cy="1371600"/>
          </a:xfrm>
          <a:prstGeom prst="roundRect">
            <a:avLst>
              <a:gd name="adj" fmla="val 5166"/>
            </a:avLst>
          </a:prstGeom>
          <a:solidFill>
            <a:schemeClr val="bg2"/>
          </a:solidFill>
          <a:ln/>
        </p:spPr>
      </p:sp>
      <p:sp>
        <p:nvSpPr>
          <p:cNvPr id="17" name="split count benchmark"/>
          <p:cNvSpPr txBox="1"/>
          <p:nvPr/>
        </p:nvSpPr>
        <p:spPr>
          <a:xfrm>
            <a:off x="1051102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1,000</a:t>
            </a:r>
            <a:endParaRPr lang="en-US" sz="2200" dirty="0"/>
          </a:p>
        </p:txBody>
      </p:sp>
      <p:sp>
        <p:nvSpPr>
          <p:cNvPr id="18" name="split label benchmark"/>
          <p:cNvSpPr txBox="1"/>
          <p:nvPr/>
        </p:nvSpPr>
        <p:spPr>
          <a:xfrm>
            <a:off x="1051102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benchmark</a:t>
            </a:r>
            <a:endParaRPr lang="en-US" sz="1050" dirty="0"/>
          </a:p>
          <a:p>
            <a:pPr indent="0" marL="0">
              <a:buNone/>
            </a:pPr>
            <a:r>
              <a:rPr lang="en-US" sz="1050" dirty="0">
                <a:solidFill>
                  <a:srgbClr val="52514E"/>
                </a:solidFill>
              </a:rPr>
              <a:t>seed 42 · 125 per tier</a:t>
            </a:r>
            <a:endParaRPr lang="en-US" sz="1050" dirty="0"/>
          </a:p>
        </p:txBody>
      </p:sp>
      <p:sp>
        <p:nvSpPr>
          <p:cNvPr id="19" name="splits caption"/>
          <p:cNvSpPr txBox="1"/>
          <p:nvPr/>
        </p:nvSpPr>
        <p:spPr>
          <a:xfrm>
            <a:off x="6355080" y="3246120"/>
            <a:ext cx="5285232" cy="502920"/>
          </a:xfrm>
          <a:prstGeom prst="rect">
            <a:avLst/>
          </a:prstGeom>
          <a:noFill/>
          <a:ln/>
        </p:spPr>
        <p:txBody>
          <a:bodyPr wrap="square" lIns="0" tIns="0" rIns="0" bIns="0" rtlCol="0" anchor="t"/>
          <a:lstStyle/>
          <a:p>
            <a:pPr indent="0" marL="0">
              <a:buNone/>
            </a:pPr>
            <a:r>
              <a:rPr lang="en-US" sz="1100" dirty="0">
                <a:solidFill>
                  <a:srgbClr val="52514E"/>
                </a:solidFill>
              </a:rPr>
              <a:t>7,000 contexts, 31,484 elements; tiers assigned round-robin. Plain JSON with a JSON Schema, Croissant metadata and a datasheet.</a:t>
            </a:r>
            <a:endParaRPr lang="en-US" sz="1100" dirty="0"/>
          </a:p>
        </p:txBody>
      </p:sp>
      <p:sp>
        <p:nvSpPr>
          <p:cNvPr id="20" name="use Train"/>
          <p:cNvSpPr/>
          <p:nvPr/>
        </p:nvSpPr>
        <p:spPr>
          <a:xfrm>
            <a:off x="548640" y="4343400"/>
            <a:ext cx="3575304" cy="1280160"/>
          </a:xfrm>
          <a:prstGeom prst="roundRect">
            <a:avLst>
              <a:gd name="adj" fmla="val 5000"/>
            </a:avLst>
          </a:prstGeom>
          <a:solidFill>
            <a:schemeClr val="bg2"/>
          </a:solidFill>
          <a:ln/>
        </p:spPr>
      </p:sp>
      <p:sp>
        <p:nvSpPr>
          <p:cNvPr id="21" name="use head Train"/>
          <p:cNvSpPr txBox="1"/>
          <p:nvPr/>
        </p:nvSpPr>
        <p:spPr>
          <a:xfrm>
            <a:off x="777240"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22" name="use text Train"/>
          <p:cNvSpPr txBox="1"/>
          <p:nvPr/>
        </p:nvSpPr>
        <p:spPr>
          <a:xfrm>
            <a:off x="777240"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23" name="use Evaluate"/>
          <p:cNvSpPr/>
          <p:nvPr/>
        </p:nvSpPr>
        <p:spPr>
          <a:xfrm>
            <a:off x="4306824" y="4343400"/>
            <a:ext cx="3575304" cy="1280160"/>
          </a:xfrm>
          <a:prstGeom prst="roundRect">
            <a:avLst>
              <a:gd name="adj" fmla="val 5000"/>
            </a:avLst>
          </a:prstGeom>
          <a:solidFill>
            <a:schemeClr val="bg2"/>
          </a:solidFill>
          <a:ln/>
        </p:spPr>
      </p:sp>
      <p:sp>
        <p:nvSpPr>
          <p:cNvPr id="24" name="use head Evaluate"/>
          <p:cNvSpPr txBox="1"/>
          <p:nvPr/>
        </p:nvSpPr>
        <p:spPr>
          <a:xfrm>
            <a:off x="4535424"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25" name="use text Evaluate"/>
          <p:cNvSpPr txBox="1"/>
          <p:nvPr/>
        </p:nvSpPr>
        <p:spPr>
          <a:xfrm>
            <a:off x="4535424"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26" name="use Report"/>
          <p:cNvSpPr/>
          <p:nvPr/>
        </p:nvSpPr>
        <p:spPr>
          <a:xfrm>
            <a:off x="8065008" y="4343400"/>
            <a:ext cx="3575304" cy="1280160"/>
          </a:xfrm>
          <a:prstGeom prst="roundRect">
            <a:avLst>
              <a:gd name="adj" fmla="val 5000"/>
            </a:avLst>
          </a:prstGeom>
          <a:solidFill>
            <a:schemeClr val="bg2"/>
          </a:solidFill>
          <a:ln/>
        </p:spPr>
      </p:sp>
      <p:sp>
        <p:nvSpPr>
          <p:cNvPr id="27" name="use head Report"/>
          <p:cNvSpPr txBox="1"/>
          <p:nvPr/>
        </p:nvSpPr>
        <p:spPr>
          <a:xfrm>
            <a:off x="8293608"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28" name="use text Report"/>
          <p:cNvSpPr txBox="1"/>
          <p:nvPr/>
        </p:nvSpPr>
        <p:spPr>
          <a:xfrm>
            <a:off x="8293608"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2026-10-06T23:24:19Z</dcterms:created>
  <dcterms:modified xsi:type="dcterms:W3CDTF">2026-10-06T23:24:19Z</dcterms:modified>
</cp:coreProperties>
</file>