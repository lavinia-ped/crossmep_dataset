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207b5f30-6313-e9f5-0728-a76c3984fcdc}">
          <p14:sldIdLst>
            <p14:sldId id="256"/>
          </p14:sldIdLst>
        </p14:section>
        <p14:section name="Motivation" id="{73c61c99-1c51-9abc-2815-a7b8bf8fdc4d}">
          <p14:sldIdLst>
            <p14:sldId id="257"/>
            <p14:sldId id="258"/>
            <p14:sldId id="259"/>
          </p14:sldIdLst>
        </p14:section>
        <p14:section name="The dataset" id="{fdc4878a-4bc3-6df2-fe2c-7734f0f08d62}">
          <p14:sldIdLst>
            <p14:sldId id="260"/>
            <p14:sldId id="261"/>
            <p14:sldId id="262"/>
            <p14:sldId id="263"/>
            <p14:sldId id="264"/>
          </p14:sldIdLst>
        </p14:section>
        <p14:section name="Experiments" id="{55266165-38ff-343a-ccc7-00b06895a68d}">
          <p14:sldIdLst>
            <p14:sldId id="265"/>
            <p14:sldId id="266"/>
            <p14:sldId id="267"/>
          </p14:sldIdLst>
        </p14:section>
        <p14:section name="Use" id="{5719fcaa-7769-ea54-ba49-bd9e06b778bb}">
          <p14:sldIdLst>
            <p14:sldId id="268"/>
            <p14:sldId id="269"/>
            <p14:sldId id="270"/>
            <p14:sldId id="271"/>
          </p14:sldIdLst>
        </p14:section>
        <p14:section name="Appendix" id="{55675618-867e-8995-20a8-b9b7a4b21393}">
          <p14:sldIdLst>
            <p14:sldId id="272"/>
            <p14:sldId id="273"/>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Elements by kind, all splits</a:t>
            </a:r>
          </a:p>
        </c:rich>
      </c:tx>
      <c:layout/>
      <c:overlay val="0"/>
    </c:title>
    <c:autoTitleDeleted val="0"/>
    <c:plotArea>
      <c:layout/>
      <c:barChart>
        <c:barDir val="bar"/>
        <c:grouping val="clustered"/>
        <c:varyColors val="0"/>
        <c:ser>
          <c:idx val="0"/>
          <c:order val="0"/>
          <c:tx>
            <c:strRef>
              <c:f>Sheet1!$B$1</c:f>
              <c:strCache>
                <c:ptCount val="1"/>
                <c:pt idx="0">
                  <c:v>elements</c:v>
                </c:pt>
              </c:strCache>
            </c:strRef>
          </c:tx>
          <c:spPr>
            <a:solidFill>
              <a:srgbClr val="2A78D6"/>
            </a:solidFill>
            <a:effectLst/>
          </c:spPr>
          <c:invertIfNegative val="0"/>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cat>
            <c:multiLvlStrRef>
              <c:f>Sheet1!$A$2:$A$5</c:f>
              <c:multiLvlStrCache>
                <c:ptCount val="4"/>
                <c:lvl>
                  <c:pt idx="0">
                    <c:v>pipes</c:v>
                  </c:pt>
                  <c:pt idx="1">
                    <c:v>conduits</c:v>
                  </c:pt>
                  <c:pt idx="2">
                    <c:v>cable trays</c:v>
                  </c:pt>
                  <c:pt idx="3">
                    <c:v>ducts</c:v>
                  </c:pt>
                </c:lvl>
              </c:multiLvlStrCache>
            </c:multiLvlStrRef>
          </c:cat>
          <c:val>
            <c:numRef>
              <c:f>Sheet1!$B$2:$B$5</c:f>
              <c:numCache>
                <c:formatCode>General</c:formatCode>
                <c:ptCount val="4"/>
                <c:pt idx="0">
                  <c:v>17984</c:v>
                </c:pt>
                <c:pt idx="1">
                  <c:v>7617</c:v>
                </c:pt>
                <c:pt idx="2">
                  <c:v>3975</c:v>
                </c:pt>
                <c:pt idx="3">
                  <c:v>1908</c:v>
                </c:pt>
              </c:numCache>
            </c:numRef>
          </c:val>
        </c:ser>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Pipes by nominal size, all splits</a:t>
            </a:r>
          </a:p>
        </c:rich>
      </c:tx>
      <c:layout/>
      <c:overlay val="0"/>
    </c:title>
    <c:autoTitleDeleted val="0"/>
    <c:plotArea>
      <c:layout/>
      <c:barChart>
        <c:barDir val="col"/>
        <c:grouping val="clustered"/>
        <c:varyColors val="0"/>
        <c:ser>
          <c:idx val="0"/>
          <c:order val="0"/>
          <c:tx>
            <c:strRef>
              <c:f>Sheet1!$B$1</c:f>
              <c:strCache>
                <c:ptCount val="1"/>
                <c:pt idx="0">
                  <c:v>pipes</c:v>
                </c:pt>
              </c:strCache>
            </c:strRef>
          </c:tx>
          <c:spPr>
            <a:solidFill>
              <a:srgbClr val="2A78D6"/>
            </a:solidFill>
            <a:effectLst/>
          </c:spPr>
          <c:invertIfNegative val="0"/>
          <c:dLbls>
            <c:numFmt formatCode="#,##0" sourceLinked="0"/>
            <c:txPr>
              <a:bodyPr/>
              <a:lstStyle/>
              <a:p>
                <a:pPr>
                  <a:defRPr b="0" i="0" strike="noStrike" sz="900" u="none">
                    <a:solidFill>
                      <a:srgbClr val="0B0B0B"/>
                    </a:solidFill>
                    <a:latin typeface="+mn-lt"/>
                  </a:defRPr>
                </a:pPr>
              </a:p>
            </c:txPr>
            <c:showLegendKey val="0"/>
            <c:showVal val="1"/>
            <c:showCatName val="0"/>
            <c:showSerName val="0"/>
            <c:showPercent val="0"/>
            <c:showBubbleSize val="0"/>
            <c:showLeaderLines val="0"/>
          </c:dLbls>
          <c:cat>
            <c:multiLvlStrRef>
              <c:f>Sheet1!$A$2:$A$10</c:f>
              <c:multiLvlStrCache>
                <c:ptCount val="9"/>
                <c:lvl>
                  <c:pt idx="0">
                    <c:v>DN15</c:v>
                  </c:pt>
                  <c:pt idx="1">
                    <c:v>DN20</c:v>
                  </c:pt>
                  <c:pt idx="2">
                    <c:v>DN25</c:v>
                  </c:pt>
                  <c:pt idx="3">
                    <c:v>DN32</c:v>
                  </c:pt>
                  <c:pt idx="4">
                    <c:v>DN40</c:v>
                  </c:pt>
                  <c:pt idx="5">
                    <c:v>DN50</c:v>
                  </c:pt>
                  <c:pt idx="6">
                    <c:v>DN65</c:v>
                  </c:pt>
                  <c:pt idx="7">
                    <c:v>DN80</c:v>
                  </c:pt>
                  <c:pt idx="8">
                    <c:v>DN100</c:v>
                  </c:pt>
                </c:lvl>
              </c:multiLvlStrCache>
            </c:multiLvlStrRef>
          </c:cat>
          <c:val>
            <c:numRef>
              <c:f>Sheet1!$B$2:$B$10</c:f>
              <c:numCache>
                <c:formatCode>General</c:formatCode>
                <c:ptCount val="9"/>
                <c:pt idx="0">
                  <c:v>1495</c:v>
                </c:pt>
                <c:pt idx="1">
                  <c:v>2415</c:v>
                </c:pt>
                <c:pt idx="2">
                  <c:v>3399</c:v>
                </c:pt>
                <c:pt idx="3">
                  <c:v>3431</c:v>
                </c:pt>
                <c:pt idx="4">
                  <c:v>1924</c:v>
                </c:pt>
                <c:pt idx="5">
                  <c:v>1777</c:v>
                </c:pt>
                <c:pt idx="6">
                  <c:v>1804</c:v>
                </c:pt>
                <c:pt idx="7">
                  <c:v>865</c:v>
                </c:pt>
                <c:pt idx="8">
                  <c:v>874</c:v>
                </c:pt>
              </c:numCache>
            </c:numRef>
          </c:val>
        </c:ser>
        <c:dLbls>
          <c:numFmt formatCode="#,##0" sourceLinked="0"/>
          <c:txPr>
            <a:bodyPr/>
            <a:lstStyle/>
            <a:p>
              <a:pPr>
                <a:defRPr b="0" i="0" strike="noStrike" sz="900" u="none">
                  <a:solidFill>
                    <a:srgbClr val="0B0B0B"/>
                  </a:solidFill>
                  <a:latin typeface="+mn-lt"/>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40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100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Pipes by nominal size: what the two-size catalog attaches</a:t>
            </a:r>
          </a:p>
        </c:rich>
      </c:tx>
      <c:layout/>
      <c:overlay val="0"/>
    </c:title>
    <c:autoTitleDeleted val="0"/>
    <c:plotArea>
      <c:layout>
        <c:manualLayout>
          <c:layoutTarget val="inner"/>
          <c:xMode val="edge"/>
          <c:yMode val="edge"/>
          <c:x val="0.08"/>
          <c:y val="0.14"/>
          <c:w val="0.9"/>
          <c:h val="0.62"/>
        </c:manualLayout>
      </c:layout>
      <c:barChart>
        <c:barDir val="col"/>
        <c:grouping val="stacked"/>
        <c:varyColors val="0"/>
        <c:ser>
          <c:idx val="0"/>
          <c:order val="0"/>
          <c:tx>
            <c:strRef>
              <c:f>Sheet1!$B$1</c:f>
              <c:strCache>
                <c:ptCount val="1"/>
                <c:pt idx="0">
                  <c:v>attachable</c:v>
                </c:pt>
              </c:strCache>
            </c:strRef>
          </c:tx>
          <c:spPr>
            <a:solidFill>
              <a:srgbClr val="2A78D6"/>
            </a:solidFill>
            <a:effectLst/>
          </c:spPr>
          <c:invertIfNegative val="0"/>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cat>
            <c:multiLvlStrRef>
              <c:f>Sheet1!$A$2:$A$10</c:f>
              <c:multiLvlStrCache>
                <c:ptCount val="9"/>
                <c:lvl>
                  <c:pt idx="0">
                    <c:v>DN15</c:v>
                  </c:pt>
                  <c:pt idx="1">
                    <c:v>DN20</c:v>
                  </c:pt>
                  <c:pt idx="2">
                    <c:v>DN25</c:v>
                  </c:pt>
                  <c:pt idx="3">
                    <c:v>DN32</c:v>
                  </c:pt>
                  <c:pt idx="4">
                    <c:v>DN40</c:v>
                  </c:pt>
                  <c:pt idx="5">
                    <c:v>DN50</c:v>
                  </c:pt>
                  <c:pt idx="6">
                    <c:v>DN65</c:v>
                  </c:pt>
                  <c:pt idx="7">
                    <c:v>DN80</c:v>
                  </c:pt>
                  <c:pt idx="8">
                    <c:v>DN100</c:v>
                  </c:pt>
                </c:lvl>
              </c:multiLvlStrCache>
            </c:multiLvlStrRef>
          </c:cat>
          <c:val>
            <c:numRef>
              <c:f>Sheet1!$B$2:$B$10</c:f>
              <c:numCache>
                <c:formatCode>General</c:formatCode>
                <c:ptCount val="9"/>
                <c:pt idx="0">
                  <c:v>0</c:v>
                </c:pt>
                <c:pt idx="1">
                  <c:v>0</c:v>
                </c:pt>
                <c:pt idx="2">
                  <c:v>0</c:v>
                </c:pt>
                <c:pt idx="3">
                  <c:v>0</c:v>
                </c:pt>
                <c:pt idx="4">
                  <c:v>293</c:v>
                </c:pt>
                <c:pt idx="5">
                  <c:v>0</c:v>
                </c:pt>
                <c:pt idx="6">
                  <c:v>0</c:v>
                </c:pt>
                <c:pt idx="7">
                  <c:v>0</c:v>
                </c:pt>
                <c:pt idx="8">
                  <c:v>0</c:v>
                </c:pt>
              </c:numCache>
            </c:numRef>
          </c:val>
        </c:ser>
        <c:ser>
          <c:idx val="1"/>
          <c:order val="1"/>
          <c:tx>
            <c:strRef>
              <c:f>Sheet1!$C$1</c:f>
              <c:strCache>
                <c:ptCount val="1"/>
                <c:pt idx="0">
                  <c:v>no size fits</c:v>
                </c:pt>
              </c:strCache>
            </c:strRef>
          </c:tx>
          <c:spPr>
            <a:solidFill>
              <a:srgbClr val="CFCDC3"/>
            </a:solidFill>
            <a:effectLst/>
          </c:spPr>
          <c:invertIfNegative val="0"/>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cat>
            <c:multiLvlStrRef>
              <c:f>Sheet1!$A$2:$A$10</c:f>
              <c:multiLvlStrCache>
                <c:ptCount val="9"/>
                <c:lvl>
                  <c:pt idx="0">
                    <c:v>DN15</c:v>
                  </c:pt>
                  <c:pt idx="1">
                    <c:v>DN20</c:v>
                  </c:pt>
                  <c:pt idx="2">
                    <c:v>DN25</c:v>
                  </c:pt>
                  <c:pt idx="3">
                    <c:v>DN32</c:v>
                  </c:pt>
                  <c:pt idx="4">
                    <c:v>DN40</c:v>
                  </c:pt>
                  <c:pt idx="5">
                    <c:v>DN50</c:v>
                  </c:pt>
                  <c:pt idx="6">
                    <c:v>DN65</c:v>
                  </c:pt>
                  <c:pt idx="7">
                    <c:v>DN80</c:v>
                  </c:pt>
                  <c:pt idx="8">
                    <c:v>DN100</c:v>
                  </c:pt>
                </c:lvl>
              </c:multiLvlStrCache>
            </c:multiLvlStrRef>
          </c:cat>
          <c:val>
            <c:numRef>
              <c:f>Sheet1!$C$2:$C$10</c:f>
              <c:numCache>
                <c:formatCode>General</c:formatCode>
                <c:ptCount val="9"/>
                <c:pt idx="0">
                  <c:v>221</c:v>
                </c:pt>
                <c:pt idx="1">
                  <c:v>294</c:v>
                </c:pt>
                <c:pt idx="2">
                  <c:v>523</c:v>
                </c:pt>
                <c:pt idx="3">
                  <c:v>463</c:v>
                </c:pt>
                <c:pt idx="4">
                  <c:v>0</c:v>
                </c:pt>
                <c:pt idx="5">
                  <c:v>245</c:v>
                </c:pt>
                <c:pt idx="6">
                  <c:v>250</c:v>
                </c:pt>
                <c:pt idx="7">
                  <c:v>117</c:v>
                </c:pt>
                <c:pt idx="8">
                  <c:v>123</c:v>
                </c:pt>
              </c:numCache>
            </c:numRef>
          </c:val>
        </c:ser>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6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100"/>
      </c:valAx>
      <c:spPr>
        <a:noFill/>
        <a:ln>
          <a:noFill/>
        </a:ln>
        <a:effectLst/>
      </c:spPr>
    </c:plotArea>
    <c:legend>
      <c:legendPos val="b"/>
      <c:overlay val="0"/>
      <c:txPr>
        <a:bodyPr/>
        <a:lstStyle/>
        <a:p>
          <a:pPr>
            <a:defRPr sz="1000">
              <a:solidFill>
                <a:srgbClr val="52514E"/>
              </a:solidFill>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Best share of pipes (%) that any k clamp sizes could attach</a:t>
            </a:r>
          </a:p>
        </c:rich>
      </c:tx>
      <c:layout/>
      <c:overlay val="0"/>
    </c:title>
    <c:autoTitleDeleted val="0"/>
    <c:plotArea>
      <c:layout>
        <c:manualLayout>
          <c:layoutTarget val="inner"/>
          <c:xMode val="edge"/>
          <c:yMode val="edge"/>
          <c:x val="0.08"/>
          <c:y val="0.14"/>
          <c:w val="0.9"/>
          <c:h val="0.62"/>
        </c:manualLayout>
      </c:layout>
      <c:barChart>
        <c:barDir val="col"/>
        <c:grouping val="clustered"/>
        <c:varyColors val="0"/>
        <c:ser>
          <c:idx val="0"/>
          <c:order val="0"/>
          <c:tx>
            <c:strRef>
              <c:f>Sheet1!$B$1</c:f>
              <c:strCache>
                <c:ptCount val="1"/>
                <c:pt idx="0">
                  <c:v>best possible share (%)</c:v>
                </c:pt>
              </c:strCache>
            </c:strRef>
          </c:tx>
          <c:spPr>
            <a:solidFill>
              <a:srgbClr val="2A78D6"/>
            </a:solidFill>
            <a:effectLst/>
          </c:spPr>
          <c:invertIfNegative val="0"/>
          <c:dLbls>
            <c:numFmt formatCode="0" sourceLinked="0"/>
            <c:txPr>
              <a:bodyPr/>
              <a:lstStyle/>
              <a:p>
                <a:pPr>
                  <a:defRPr b="0" i="0" strike="noStrike" sz="1100" u="none">
                    <a:solidFill>
                      <a:srgbClr val="0B0B0B"/>
                    </a:solidFill>
                    <a:latin typeface="+mn-lt"/>
                  </a:defRPr>
                </a:pPr>
              </a:p>
            </c:txPr>
            <c:showLegendKey val="0"/>
            <c:showVal val="1"/>
            <c:showCatName val="0"/>
            <c:showSerName val="0"/>
            <c:showPercent val="0"/>
            <c:showBubbleSize val="0"/>
            <c:showLeaderLines val="0"/>
          </c:dLbls>
          <c:cat>
            <c:multiLvlStrRef>
              <c:f>Sheet1!$A$2:$A$13</c:f>
              <c:multiLvlStrCache>
                <c:ptCount val="12"/>
                <c:lvl>
                  <c:pt idx="0">
                    <c:v>1</c:v>
                  </c:pt>
                  <c:pt idx="1">
                    <c:v>2</c:v>
                  </c:pt>
                  <c:pt idx="2">
                    <c:v>3</c:v>
                  </c:pt>
                  <c:pt idx="3">
                    <c:v>4</c:v>
                  </c:pt>
                  <c:pt idx="4">
                    <c:v>5</c:v>
                  </c:pt>
                  <c:pt idx="5">
                    <c:v>6</c:v>
                  </c:pt>
                  <c:pt idx="6">
                    <c:v>7</c:v>
                  </c:pt>
                  <c:pt idx="7">
                    <c:v>8</c:v>
                  </c:pt>
                  <c:pt idx="8">
                    <c:v>9</c:v>
                  </c:pt>
                  <c:pt idx="9">
                    <c:v>10</c:v>
                  </c:pt>
                  <c:pt idx="10">
                    <c:v>11</c:v>
                  </c:pt>
                  <c:pt idx="11">
                    <c:v>12</c:v>
                  </c:pt>
                </c:lvl>
              </c:multiLvlStrCache>
            </c:multiLvlStrRef>
          </c:cat>
          <c:val>
            <c:numRef>
              <c:f>Sheet1!$B$2:$B$13</c:f>
              <c:numCache>
                <c:formatCode>General</c:formatCode>
                <c:ptCount val="12"/>
                <c:pt idx="0">
                  <c:v>22.61763542902333</c:v>
                </c:pt>
                <c:pt idx="1">
                  <c:v>42.981415579280345</c:v>
                </c:pt>
                <c:pt idx="2">
                  <c:v>60.41913799920918</c:v>
                </c:pt>
                <c:pt idx="3">
                  <c:v>67.69474100434955</c:v>
                </c:pt>
                <c:pt idx="4">
                  <c:v>74.06089363384737</c:v>
                </c:pt>
                <c:pt idx="5">
                  <c:v>80.11071569790431</c:v>
                </c:pt>
                <c:pt idx="6">
                  <c:v>84.53934361407671</c:v>
                </c:pt>
                <c:pt idx="7">
                  <c:v>88.1771451166469</c:v>
                </c:pt>
                <c:pt idx="8">
                  <c:v>91.73586397785687</c:v>
                </c:pt>
                <c:pt idx="9">
                  <c:v>95.25504151838672</c:v>
                </c:pt>
                <c:pt idx="10">
                  <c:v>98.69513641755634</c:v>
                </c:pt>
                <c:pt idx="11">
                  <c:v>100</c:v>
                </c:pt>
              </c:numCache>
            </c:numRef>
          </c:val>
        </c:ser>
        <c:dLbls>
          <c:numFmt formatCode="0" sourceLinked="0"/>
          <c:txPr>
            <a:bodyPr/>
            <a:lstStyle/>
            <a:p>
              <a:pPr>
                <a:defRPr b="0" i="0" strike="noStrike" sz="1100" u="none">
                  <a:solidFill>
                    <a:srgbClr val="0B0B0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52514E"/>
                    </a:solidFill>
                    <a:latin typeface="+mn-lt"/>
                  </a:defRPr>
                </a:pPr>
                <a:r>
                  <a:rPr sz="1000" b="0" i="0" u="none" strike="noStrike">
                    <a:solidFill>
                      <a:srgbClr val="52514E"/>
                    </a:solidFill>
                    <a:latin typeface="+mn-lt"/>
                  </a:rPr>
                  <a:t>number of clamp sizes, each fitting a 6 mm diameter window</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I'm Lavinia Pedrollo, from Stanford. Every pipe, duct and cable tray in a building hangs from a support that an engineer designs by hand, from the section at that spot. We want to teach machines to do some of that work, and the first thing we found missing was data: there was no public set of support-design problems. So, with David Gvadzabia, Torben Graeber and Martin Fischer, we built one. It's called CrossMEP. (0:00)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what that looks like. In this hospital, every red mark is a place where pipes, ducts or cable trays hang from the structure. A modular support system groups several services onto one prefabricated frame, installed as a single unit: a structural support assembly. A hospital of two hundred thousand square feet needs about ten thousand of them. Each takes twenty minutes to two hours to design by hand, roughly a quarter of the whole MEP design effort. These are practitioner estimates. (0:30)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is the task? At ISARC we defined it like this. You're given a fixed catalog of components and the context: which services cross the hanger, and what they hang from. You must find a feasible assembly that carries them to the structure. Designers don't work from the whole model. They work from one section at each hanger, like this one. Today's tools help coordinate the model and check a design, but choosing the layout and the parts is still manual. It takes judgment, interacting rules, and ever-changing catalogs. That section is the unit of this work, and the unit of our dataset. (1:05)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teach a machine this, you need many examples, and there were none. Project models are proprietary, the open ones aren't organized around supports, and any one project is a narrow slice. So we built CrossMEP: seven thousand contexts, about thirty-one and a half thousand elements, in eight difficulty tiers. They are deliberately unlabeled: you get the problem, never the answer. Every constant is sourced or declared a design choice, and everything is open. (1:50)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one context: a two-dimensional section at one support location. Each element has its kind, service and trade, its size, its insulation, and its load, which is weight per metre times the span it was sized at, plus its position. Add the surface, a slab or a wall, and that's all. What you won't find is the support: no channel, no rods, no anchors, and no correct answer, because a feasible support depends on the catalog you build from. The context is the brief. The assembly is the answer. (2:20)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do we make a context? Not by free randomness, but by rules an engineer would recognize. The tier fixes how many elements there are. We pick the surface and fill it the way trades really run services: hot and cold together, flow and return together, conduits in groups, bulky services nearest the slab. Gaps between neighbors are drawn from gaps measured on a built project, never below twenty-five millimeters. On walls, electrical stays above water. Every context is checked, and it's seeded: the same seed gives the same file, byte for byte. (2:55)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do the numbers come from? Each comes from a cited source or is declared a design choice. Pipes follow the European steel pipe standards, filled with water, at ASME B31.1 spans. Insulation follows the German GEG, and a condensation schedule for chilled water. Trays and conduits follow IEC standards, ducts European sizes with a manufacturer's weight table. Loads are computed in code, and pure choices, like the trade mix, are labeled as choices. (3:35)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release has four splits on disjoint seeds, so a method is never tested on what it trained on: five thousand contexts for training, five hundred each for validation and test, and a benchmark of one thousand, a hundred and twenty-five per tier. Mostly pipes, then conduits, trays and ducts. Four in five hang from a ceiling, one in five from a wall. Everything is plain JSON with a schema and a datasheet. (4:05)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one benchmark context per tier. C1 is a single element, the most common support in any building. By C8 you have eight services on three rows. Within a tier everything else varies: kinds, trades, surfaces, stacking. So the element count is the one controlled axis of difficulty. And notice the walls: the section rotates, and electrical sits above water. (4:35)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three experiments. The first is a design check, not a discovery: does difficulty grow with the tier? The count is fixed by construction, and load and congestion follow from the rules, so this shows the dataset behaves as designed. The load at the support rises at every step, from 0.1 to 1.7 kilonewtons. The closest gap shrinks from 120 to about 62 millimeters, but widens again at C6, where elements start stacking in two or three rows. So: report methods tier by tier. (5:00)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experiment is the one the generator could fail. Is the spacing realistic in a building it has never seen? The gap distribution was fitted on a residential duplex. We kept a second open building aside, a medical-dental clinic, cut it into sections every 250 millimeters, the way a context is defined, and measured the gaps between pipes running side by side. On the left, the clinic: generated gaps are close to measured ones, though not identical. On the right, the distances. Generator to clinic: 28 millimeters. That is above the 8 a perfect generator would show, so not a perfect match, but about as close as the duplex's own two models are to each other. A fixed 25-millimeter gap would be about 190 off. (5:35)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experiment is a use of the dataset, not a test of it: what must a catalog of clamps cover? Our paper's two-size catalog attaches 11.6 percent of the pipes, with an interval of 10 to 13, all one size, DN40. Load is never the limit, and trays, ducts and conduits aren't covered at all. On the right is what the dataset asks of any catalog: two well-placed sizes could attach 43 percent, six sizes 80, twelve sizes every pipe. So 'what should the catalog contain' becomes a measurement. (6:25)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show it. This is the Generator Studio. I choose what crosses the hanger, a tier or an exact mix, and a seed. Out comes the section a support designer receives, drawn the way an engineer would issue it: every service at true size, its level below the slab, its load, the closest clear gap, and the same run in 3D. Every section is a stored output of the released generator, with the Python call that reproduces it. Scan the code to try it yourself. [Live: switch to the studio, click C3, then Generate another twice, then Exact mix with a duct. If the demo fails, stay on this slide; slide 17 shows two more sections. Before the talk: open the studio once with internet, set its link sharing to public, scan the QR from a phone not logged in.] (7:05)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Using it takes a few lines: load a split, filter by composition, or generate your own mix. Because there are no labels, the same files serve reinforcement learning, constraint programming, and benchmarking people. We ship the scoring too. Train on the generator, from C1 up to C8. Evaluate on the benchmark, the same 125 contexts per tier for every method. Report per tier, with 95 percent intervals and paired tests. (8:15)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word on scope. CrossMEP is one section at one support. Routing and branches are outside it, but the span is recorded, so a method can vary it. Pipe spacing was checked on two open buildings; the rest rests on practice and standards, and the trade mix is a design choice. It's not for structural design of real installations. Next: a public checker, with best-known costs, so we can compare methods on the answer; the catalog as an input; and a real test set from commercial projects, with supports designed by engineers. That's where I'd value your eye. (8:45)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CrossMEP is the brief, not the answer. Seven thousand support-design problems, every constant sourced or declared a design choice, pipe spacing checked on two open buildings, and all of it open. If you coordinate services or design supports, try the studio and tell me what looks wrong. Thank you. (9:25)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the live demo. Left: a wall section, six pipes in two rows, each labelled with its size, trade, insulation, offset from the wall and load at the support. Right: an exact mix on a slab, with a duct, a tray, conduits and pipes, their levels below the soffit and the closest clear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per-tier medians on the benchmark split, the distance to the held-out building, and the trend statistics behind experiment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questions on experiment 2: sample sizes, both weightings, the noise floor and the sensitivity of the result to the way the sections are cut.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questions on experiment 3. Per tier, the benchmark has only 125 contexts, so its intervals are wide; the population estimate from two thousand generated contexts per tier shows the tiers are about equal. The headline depends on the attach-diameter rule and on bin-edge tolerance because one nominal size, DN100, sits 0.3 millimetres outside a bin. Only size and capacity are tested - clearance, insert orientation and anchors are not - so the coverage is an upper bound on what can be installed.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what one stored context looks like - plain JSON, one object per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F29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960120"/>
            <a:ext cx="6949440" cy="228600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640080" y="3429000"/>
            <a:ext cx="6766560" cy="1005840"/>
          </a:xfrm>
          <a:prstGeom prst="rect">
            <a:avLst/>
          </a:prstGeom>
          <a:noFill/>
          <a:ln/>
        </p:spPr>
        <p:txBody>
          <a:bodyPr wrap="square" rtlCol="0"/>
          <a:lstStyle>
            <a:lvl1pPr indent="0" marL="0">
              <a:buNone/>
              <a:defRPr lang="en-US" sz="1600" dirty="0">
                <a:solidFill>
                  <a:srgbClr val="CADCFC"/>
                </a:solidFill>
              </a:defRPr>
            </a:lvl1pPr>
          </a:lstStyle>
          <a:p>
            <a:pPr indent="0" marL="0">
              <a:buNone/>
            </a:pPr>
            <a:endParaRPr lang="en-US" sz="1600" dirty="0"/>
          </a:p>
        </p:txBody>
      </p:sp>
      <p:sp>
        <p:nvSpPr>
          <p:cNvPr id="4" name="Text 0"/>
          <p:cNvSpPr/>
          <p:nvPr>
            <p:ph idx="102" type="body" hasCustomPrompt="1"/>
          </p:nvPr>
        </p:nvSpPr>
        <p:spPr>
          <a:xfrm>
            <a:off x="640080" y="4663440"/>
            <a:ext cx="7680960" cy="1463040"/>
          </a:xfrm>
          <a:prstGeom prst="rect">
            <a:avLst/>
          </a:prstGeom>
          <a:noFill/>
          <a:ln/>
        </p:spPr>
        <p:txBody>
          <a:bodyPr wrap="square" rtlCol="0"/>
          <a:lstStyle>
            <a:lvl1pPr indent="0" marL="0">
              <a:buNone/>
              <a:defRPr lang="en-US" sz="1300" dirty="0">
                <a:solidFill>
                  <a:schemeClr val="bg1"/>
                </a:solidFill>
              </a:defRPr>
            </a:lvl1pPr>
          </a:lstStyle>
          <a:p>
            <a:pPr indent="0" marL="0">
              <a:buNone/>
            </a:pPr>
            <a:endParaRPr lang="en-US" sz="13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endParaRPr lang="en-US" sz="2600" dirty="0"/>
          </a:p>
        </p:txBody>
      </p:sp>
      <p:sp>
        <p:nvSpPr>
          <p:cNvPr id="3"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900" dirty="0">
                <a:solidFill>
                  <a:srgbClr val="898781"/>
                </a:solidFill>
              </a:rPr>
              <a:t>CrossMEP  ·  CIB W78 2026, New Delhi</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rgbClr val="1F29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498080" cy="17373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640080" y="3794760"/>
            <a:ext cx="7498080" cy="2011680"/>
          </a:xfrm>
          <a:prstGeom prst="rect">
            <a:avLst/>
          </a:prstGeom>
          <a:noFill/>
          <a:ln/>
        </p:spPr>
        <p:txBody>
          <a:bodyPr wrap="square" rtlCol="0"/>
          <a:lstStyle>
            <a:lvl1pPr indent="0" marL="0">
              <a:buNone/>
              <a:defRPr lang="en-US" sz="1600" dirty="0">
                <a:solidFill>
                  <a:srgbClr val="CADCFC"/>
                </a:solidFill>
              </a:defRPr>
            </a:lvl1pPr>
          </a:lstStyle>
          <a:p>
            <a:pPr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jpg"/><Relationship Id="rId3" Type="http://schemas.openxmlformats.org/officeDocument/2006/relationships/slideLayout" Target="../slideLayouts/slideLayout3.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3.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3.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960120"/>
            <a:ext cx="6949440" cy="2286000"/>
          </a:xfrm>
          <a:prstGeom prst="rect">
            <a:avLst/>
          </a:prstGeom>
          <a:noFill/>
          <a:ln/>
        </p:spPr>
        <p:txBody>
          <a:bodyPr wrap="square" lIns="0" tIns="0" rIns="0" bIns="0" rtlCol="0" anchor="b"/>
          <a:lstStyle/>
          <a:p>
            <a:pPr algn="l" indent="0" marL="0">
              <a:buNone/>
            </a:pPr>
            <a:r>
              <a:rPr lang="en-US" sz="3400" b="1" dirty="0">
                <a:solidFill>
                  <a:schemeClr val="bg1"/>
                </a:solidFill>
              </a:rPr>
              <a:t>CrossMEP: A Tiered Synthetic</a:t>
            </a:r>
            <a:endParaRPr lang="en-US" sz="3400" dirty="0"/>
          </a:p>
          <a:p>
            <a:pPr algn="l" indent="0" marL="0">
              <a:buNone/>
            </a:pPr>
            <a:r>
              <a:rPr lang="en-US" sz="3400" b="1" dirty="0">
                <a:solidFill>
                  <a:schemeClr val="bg1"/>
                </a:solidFill>
              </a:rPr>
              <a:t>Dataset of Multi-Trade MEP</a:t>
            </a:r>
            <a:endParaRPr lang="en-US" sz="3400" dirty="0"/>
          </a:p>
          <a:p>
            <a:pPr algn="l" indent="0" marL="0">
              <a:buNone/>
            </a:pPr>
            <a:r>
              <a:rPr lang="en-US" sz="3400" b="1" dirty="0">
                <a:solidFill>
                  <a:schemeClr val="bg1"/>
                </a:solidFill>
              </a:rPr>
              <a:t>Cross-Sections</a:t>
            </a:r>
            <a:endParaRPr lang="en-US" sz="3400" dirty="0"/>
          </a:p>
        </p:txBody>
      </p:sp>
      <p:sp>
        <p:nvSpPr>
          <p:cNvPr id="3" name="Text 0"/>
          <p:cNvSpPr/>
          <p:nvPr>
            <p:ph idx="101" type="body" hasCustomPrompt="1"/>
          </p:nvPr>
        </p:nvSpPr>
        <p:spPr>
          <a:xfrm>
            <a:off x="640080" y="3429000"/>
            <a:ext cx="6766560" cy="1005840"/>
          </a:xfrm>
          <a:prstGeom prst="rect">
            <a:avLst/>
          </a:prstGeom>
          <a:noFill/>
          <a:ln/>
        </p:spPr>
        <p:txBody>
          <a:bodyPr wrap="square" lIns="0" tIns="0" rIns="0" bIns="0" rtlCol="0" anchor="t"/>
          <a:lstStyle/>
          <a:p>
            <a:pPr indent="0" marL="0">
              <a:buNone/>
            </a:pPr>
            <a:r>
              <a:rPr lang="en-US" sz="1600" dirty="0">
                <a:solidFill>
                  <a:srgbClr val="CADCFC"/>
                </a:solidFill>
              </a:rPr>
              <a:t>A support-design problem distribution for learning-based structural support assembly synthesis</a:t>
            </a:r>
            <a:endParaRPr lang="en-US" sz="1600" dirty="0"/>
          </a:p>
        </p:txBody>
      </p:sp>
      <p:sp>
        <p:nvSpPr>
          <p:cNvPr id="4" name="Text 0"/>
          <p:cNvSpPr/>
          <p:nvPr>
            <p:ph idx="102" type="body" hasCustomPrompt="1"/>
          </p:nvPr>
        </p:nvSpPr>
        <p:spPr>
          <a:xfrm>
            <a:off x="640080" y="4663440"/>
            <a:ext cx="7680960" cy="1463040"/>
          </a:xfrm>
          <a:prstGeom prst="rect">
            <a:avLst/>
          </a:prstGeom>
          <a:noFill/>
          <a:ln/>
        </p:spPr>
        <p:txBody>
          <a:bodyPr wrap="square" lIns="0" tIns="0" rIns="0" bIns="0" rtlCol="0" anchor="t"/>
          <a:lstStyle/>
          <a:p>
            <a:pPr indent="0" marL="0">
              <a:buNone/>
            </a:pPr>
            <a:r>
              <a:rPr lang="en-US" sz="1300" b="1" dirty="0">
                <a:solidFill>
                  <a:schemeClr val="bg1"/>
                </a:solidFill>
              </a:rPr>
              <a:t>Lavinia Pedrollo ¹  ·  David Gvadzabia ²  ·  Torben Graeber ³  ·  Martin Fischer ¹</a:t>
            </a:r>
            <a:endParaRPr lang="en-US" sz="1300" dirty="0"/>
          </a:p>
          <a:p>
            <a:pPr indent="0" marL="0">
              <a:buNone/>
            </a:pPr>
            <a:r>
              <a:rPr lang="en-US" sz="1300" dirty="0">
                <a:solidFill>
                  <a:srgbClr val="CADCFC"/>
                </a:solidFill>
              </a:rPr>
              <a:t>¹ Stanford University, CIFE   ² Lafayette College   ³ Hilti AG</a:t>
            </a:r>
            <a:endParaRPr lang="en-US" sz="1300" dirty="0"/>
          </a:p>
          <a:p>
            <a:pPr indent="0" marL="0">
              <a:buNone/>
            </a:pPr>
            <a:r>
              <a:rPr lang="en-US" sz="600" dirty="0">
                <a:solidFill>
                  <a:schemeClr val="bg1"/>
                </a:solidFill>
              </a:rPr>
              <a:t> </a:t>
            </a:r>
            <a:endParaRPr lang="en-US" sz="1300" dirty="0"/>
          </a:p>
          <a:p>
            <a:pPr indent="0" marL="0">
              <a:buNone/>
            </a:pPr>
            <a:r>
              <a:rPr lang="en-US" sz="1300" dirty="0">
                <a:solidFill>
                  <a:srgbClr val="CADCFC"/>
                </a:solidFill>
              </a:rPr>
              <a:t>43rd International CIB W78 Conference · IT in Construction · New Delhi, 6–8 October 2026</a:t>
            </a:r>
            <a:endParaRPr lang="en-US" sz="1300" dirty="0"/>
          </a:p>
        </p:txBody>
      </p:sp>
      <p:pic>
        <p:nvPicPr>
          <p:cNvPr id="5" name="title art" descr="/home/user/crossmep_dataset/docs/figures/title_art.png">    </p:cNvPr>
          <p:cNvPicPr>
            <a:picLocks noChangeAspect="1"/>
          </p:cNvPicPr>
          <p:nvPr/>
        </p:nvPicPr>
        <p:blipFill>
          <a:blip r:embed="rId1"/>
          <a:stretch>
            <a:fillRect/>
          </a:stretch>
        </p:blipFill>
        <p:spPr>
          <a:xfrm>
            <a:off x="7772400" y="1463040"/>
            <a:ext cx="4023360" cy="2514600"/>
          </a:xfrm>
          <a:prstGeom prst="rect">
            <a:avLst/>
          </a:prstGeom>
        </p:spPr>
      </p:pic>
      <p:sp>
        <p:nvSpPr>
          <p:cNvPr id="6" name="art caption"/>
          <p:cNvSpPr txBox="1"/>
          <p:nvPr/>
        </p:nvSpPr>
        <p:spPr>
          <a:xfrm>
            <a:off x="7772400" y="4069080"/>
            <a:ext cx="4023360" cy="274320"/>
          </a:xfrm>
          <a:prstGeom prst="rect">
            <a:avLst/>
          </a:prstGeom>
          <a:noFill/>
          <a:ln/>
        </p:spPr>
        <p:txBody>
          <a:bodyPr wrap="square" lIns="0" tIns="0" rIns="0" bIns="0" rtlCol="0" anchor="ctr"/>
          <a:lstStyle/>
          <a:p>
            <a:pPr algn="r" indent="0" marL="0">
              <a:buNone/>
            </a:pPr>
            <a:r>
              <a:rPr lang="en-US" sz="1000" dirty="0">
                <a:solidFill>
                  <a:srgbClr val="CADCFC"/>
                </a:solidFill>
              </a:rPr>
              <a:t>a generated C8 context: eight services on three rows</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hospital needs about 10,000 support assemblies, each designed by hand</a:t>
            </a:r>
            <a:endParaRPr lang="en-US" sz="2600" dirty="0"/>
          </a:p>
        </p:txBody>
      </p:sp>
      <p:pic>
        <p:nvPicPr>
          <p:cNvPr id="3" name="hospital model" descr="/home/user/crossmep_dataset/docs/figures/isarc_building.jpg">    </p:cNvPr>
          <p:cNvPicPr>
            <a:picLocks noChangeAspect="1"/>
          </p:cNvPicPr>
          <p:nvPr/>
        </p:nvPicPr>
        <p:blipFill>
          <a:blip r:embed="rId1"/>
          <a:stretch>
            <a:fillRect/>
          </a:stretch>
        </p:blipFill>
        <p:spPr>
          <a:xfrm>
            <a:off x="548640" y="1325880"/>
            <a:ext cx="6035040" cy="3394710"/>
          </a:xfrm>
          <a:prstGeom prst="rect">
            <a:avLst/>
          </a:prstGeom>
        </p:spPr>
      </p:pic>
      <p:sp>
        <p:nvSpPr>
          <p:cNvPr id="4" name="zoom box"/>
          <p:cNvSpPr/>
          <p:nvPr/>
        </p:nvSpPr>
        <p:spPr>
          <a:xfrm>
            <a:off x="3304843" y="2791716"/>
            <a:ext cx="592641" cy="473902"/>
          </a:xfrm>
          <a:prstGeom prst="rect">
            <a:avLst/>
          </a:prstGeom>
          <a:ln w="19050">
            <a:solidFill>
              <a:srgbClr val="EB6834"/>
            </a:solidFill>
            <a:prstDash val="solid"/>
          </a:ln>
        </p:spPr>
      </p:sp>
      <p:sp>
        <p:nvSpPr>
          <p:cNvPr id="5" name="zoom line top"/>
          <p:cNvSpPr/>
          <p:nvPr/>
        </p:nvSpPr>
        <p:spPr>
          <a:xfrm flipV="1">
            <a:off x="3897484" y="2791716"/>
            <a:ext cx="3051956" cy="-1008636"/>
          </a:xfrm>
          <a:prstGeom prst="line">
            <a:avLst/>
          </a:prstGeom>
          <a:noFill/>
          <a:ln w="19050">
            <a:solidFill>
              <a:srgbClr val="EB6834"/>
            </a:solidFill>
            <a:prstDash val="solid"/>
          </a:ln>
        </p:spPr>
      </p:sp>
      <p:sp>
        <p:nvSpPr>
          <p:cNvPr id="6" name="zoom line bottom"/>
          <p:cNvSpPr/>
          <p:nvPr/>
        </p:nvSpPr>
        <p:spPr>
          <a:xfrm>
            <a:off x="3897484" y="3265617"/>
            <a:ext cx="3051956" cy="1210645"/>
          </a:xfrm>
          <a:prstGeom prst="line">
            <a:avLst/>
          </a:prstGeom>
          <a:noFill/>
          <a:ln w="19050">
            <a:solidFill>
              <a:srgbClr val="EB6834"/>
            </a:solidFill>
            <a:prstDash val="solid"/>
          </a:ln>
        </p:spPr>
      </p:sp>
      <p:pic>
        <p:nvPicPr>
          <p:cNvPr id="7" name="one assembly" descr="/home/user/crossmep_dataset/docs/figures/isarc_ssa.jpg">    </p:cNvPr>
          <p:cNvPicPr>
            <a:picLocks noChangeAspect="1"/>
          </p:cNvPicPr>
          <p:nvPr/>
        </p:nvPicPr>
        <p:blipFill>
          <a:blip r:embed="rId2"/>
          <a:stretch>
            <a:fillRect/>
          </a:stretch>
        </p:blipFill>
        <p:spPr>
          <a:xfrm>
            <a:off x="6949440" y="1783080"/>
            <a:ext cx="4690872" cy="2693182"/>
          </a:xfrm>
          <a:prstGeom prst="rect">
            <a:avLst/>
          </a:prstGeom>
        </p:spPr>
      </p:pic>
      <p:sp>
        <p:nvSpPr>
          <p:cNvPr id="8" name="inset frame"/>
          <p:cNvSpPr/>
          <p:nvPr/>
        </p:nvSpPr>
        <p:spPr>
          <a:xfrm>
            <a:off x="6949440" y="1783080"/>
            <a:ext cx="4690872" cy="2693182"/>
          </a:xfrm>
          <a:prstGeom prst="rect">
            <a:avLst/>
          </a:prstGeom>
          <a:ln w="19050">
            <a:solidFill>
              <a:srgbClr val="EB6834"/>
            </a:solidFill>
            <a:prstDash val="solid"/>
          </a:ln>
        </p:spPr>
      </p:sp>
      <p:sp>
        <p:nvSpPr>
          <p:cNvPr id="9" name="inset label"/>
          <p:cNvSpPr txBox="1"/>
          <p:nvPr/>
        </p:nvSpPr>
        <p:spPr>
          <a:xfrm>
            <a:off x="6949440" y="1325880"/>
            <a:ext cx="4690872" cy="411480"/>
          </a:xfrm>
          <a:prstGeom prst="rect">
            <a:avLst/>
          </a:prstGeom>
          <a:noFill/>
          <a:ln/>
        </p:spPr>
        <p:txBody>
          <a:bodyPr wrap="square" lIns="0" tIns="0" rIns="0" bIns="0" rtlCol="0" anchor="b"/>
          <a:lstStyle/>
          <a:p>
            <a:pPr indent="0" marL="0">
              <a:buNone/>
            </a:pPr>
            <a:r>
              <a:rPr lang="en-US" sz="1500" b="1" dirty="0">
                <a:solidFill>
                  <a:schemeClr val="tx1"/>
                </a:solidFill>
              </a:rPr>
              <a:t>1 unit = 1 structural support assembly (SSA)</a:t>
            </a:r>
            <a:endParaRPr lang="en-US" sz="1500" dirty="0"/>
          </a:p>
        </p:txBody>
      </p:sp>
      <p:sp>
        <p:nvSpPr>
          <p:cNvPr id="10" name="tile support assemblies in one 200,000 sq ft hospital"/>
          <p:cNvSpPr/>
          <p:nvPr/>
        </p:nvSpPr>
        <p:spPr>
          <a:xfrm>
            <a:off x="548640" y="4892040"/>
            <a:ext cx="3575304" cy="1188720"/>
          </a:xfrm>
          <a:prstGeom prst="roundRect">
            <a:avLst>
              <a:gd name="adj" fmla="val 5385"/>
            </a:avLst>
          </a:prstGeom>
          <a:solidFill>
            <a:schemeClr val="bg2"/>
          </a:solidFill>
          <a:ln/>
        </p:spPr>
      </p:sp>
      <p:sp>
        <p:nvSpPr>
          <p:cNvPr id="11" name="value support assemblies in one 200,000 sq ft hospital"/>
          <p:cNvSpPr txBox="1"/>
          <p:nvPr/>
        </p:nvSpPr>
        <p:spPr>
          <a:xfrm>
            <a:off x="749808" y="4983480"/>
            <a:ext cx="3172968" cy="594360"/>
          </a:xfrm>
          <a:prstGeom prst="rect">
            <a:avLst/>
          </a:prstGeom>
          <a:noFill/>
          <a:ln/>
        </p:spPr>
        <p:txBody>
          <a:bodyPr wrap="square" lIns="0" tIns="0" rIns="0" bIns="0" rtlCol="0" anchor="ctr"/>
          <a:lstStyle/>
          <a:p>
            <a:pPr indent="0" marL="0">
              <a:buNone/>
            </a:pPr>
            <a:r>
              <a:rPr lang="en-US" sz="2800" b="1" dirty="0">
                <a:solidFill>
                  <a:schemeClr val="accent1"/>
                </a:solidFill>
              </a:rPr>
              <a:t>≈ 10,000</a:t>
            </a:r>
            <a:endParaRPr lang="en-US" sz="2800" dirty="0"/>
          </a:p>
        </p:txBody>
      </p:sp>
      <p:sp>
        <p:nvSpPr>
          <p:cNvPr id="12" name="label support assemblies in one 200,000 sq ft hospital"/>
          <p:cNvSpPr txBox="1"/>
          <p:nvPr/>
        </p:nvSpPr>
        <p:spPr>
          <a:xfrm>
            <a:off x="749808" y="5581498"/>
            <a:ext cx="3172968" cy="451714"/>
          </a:xfrm>
          <a:prstGeom prst="rect">
            <a:avLst/>
          </a:prstGeom>
          <a:noFill/>
          <a:ln/>
        </p:spPr>
        <p:txBody>
          <a:bodyPr wrap="square" lIns="0" tIns="0" rIns="0" bIns="0" rtlCol="0" anchor="t"/>
          <a:lstStyle/>
          <a:p>
            <a:pPr indent="0" marL="0">
              <a:buNone/>
            </a:pPr>
            <a:r>
              <a:rPr lang="en-US" sz="1200" dirty="0">
                <a:solidFill>
                  <a:srgbClr val="52514E"/>
                </a:solidFill>
              </a:rPr>
              <a:t>support assemblies in one 200,000 sq ft hospital</a:t>
            </a:r>
            <a:endParaRPr lang="en-US" sz="1200" dirty="0"/>
          </a:p>
        </p:txBody>
      </p:sp>
      <p:sp>
        <p:nvSpPr>
          <p:cNvPr id="13" name="tile of engineering for each assembly, designed one by one"/>
          <p:cNvSpPr/>
          <p:nvPr/>
        </p:nvSpPr>
        <p:spPr>
          <a:xfrm>
            <a:off x="4306824" y="4892040"/>
            <a:ext cx="3575304" cy="1188720"/>
          </a:xfrm>
          <a:prstGeom prst="roundRect">
            <a:avLst>
              <a:gd name="adj" fmla="val 5385"/>
            </a:avLst>
          </a:prstGeom>
          <a:solidFill>
            <a:schemeClr val="bg2"/>
          </a:solidFill>
          <a:ln/>
        </p:spPr>
      </p:sp>
      <p:sp>
        <p:nvSpPr>
          <p:cNvPr id="14" name="value of engineering for each assembly, designed one by one"/>
          <p:cNvSpPr txBox="1"/>
          <p:nvPr/>
        </p:nvSpPr>
        <p:spPr>
          <a:xfrm>
            <a:off x="4507992" y="4983480"/>
            <a:ext cx="3172968" cy="594360"/>
          </a:xfrm>
          <a:prstGeom prst="rect">
            <a:avLst/>
          </a:prstGeom>
          <a:noFill/>
          <a:ln/>
        </p:spPr>
        <p:txBody>
          <a:bodyPr wrap="square" lIns="0" tIns="0" rIns="0" bIns="0" rtlCol="0" anchor="ctr"/>
          <a:lstStyle/>
          <a:p>
            <a:pPr indent="0" marL="0">
              <a:buNone/>
            </a:pPr>
            <a:r>
              <a:rPr lang="en-US" sz="2800" b="1" dirty="0">
                <a:solidFill>
                  <a:schemeClr val="accent1"/>
                </a:solidFill>
              </a:rPr>
              <a:t>20 min – 2 h</a:t>
            </a:r>
            <a:endParaRPr lang="en-US" sz="2800" dirty="0"/>
          </a:p>
        </p:txBody>
      </p:sp>
      <p:sp>
        <p:nvSpPr>
          <p:cNvPr id="15" name="label of engineering for each assembly, designed one by one"/>
          <p:cNvSpPr txBox="1"/>
          <p:nvPr/>
        </p:nvSpPr>
        <p:spPr>
          <a:xfrm>
            <a:off x="4507992" y="5581498"/>
            <a:ext cx="3172968" cy="451714"/>
          </a:xfrm>
          <a:prstGeom prst="rect">
            <a:avLst/>
          </a:prstGeom>
          <a:noFill/>
          <a:ln/>
        </p:spPr>
        <p:txBody>
          <a:bodyPr wrap="square" lIns="0" tIns="0" rIns="0" bIns="0" rtlCol="0" anchor="t"/>
          <a:lstStyle/>
          <a:p>
            <a:pPr indent="0" marL="0">
              <a:buNone/>
            </a:pPr>
            <a:r>
              <a:rPr lang="en-US" sz="1200" dirty="0">
                <a:solidFill>
                  <a:srgbClr val="52514E"/>
                </a:solidFill>
              </a:rPr>
              <a:t>of engineering for each assembly, designed one by one</a:t>
            </a:r>
            <a:endParaRPr lang="en-US" sz="1200" dirty="0"/>
          </a:p>
        </p:txBody>
      </p:sp>
      <p:sp>
        <p:nvSpPr>
          <p:cNvPr id="16" name="tile of MEP design effort; on the order of $600K per project"/>
          <p:cNvSpPr/>
          <p:nvPr/>
        </p:nvSpPr>
        <p:spPr>
          <a:xfrm>
            <a:off x="8065008" y="4892040"/>
            <a:ext cx="3575304" cy="1188720"/>
          </a:xfrm>
          <a:prstGeom prst="roundRect">
            <a:avLst>
              <a:gd name="adj" fmla="val 5385"/>
            </a:avLst>
          </a:prstGeom>
          <a:solidFill>
            <a:schemeClr val="bg2"/>
          </a:solidFill>
          <a:ln/>
        </p:spPr>
      </p:sp>
      <p:sp>
        <p:nvSpPr>
          <p:cNvPr id="17" name="value of MEP design effort; on the order of $600K per project"/>
          <p:cNvSpPr txBox="1"/>
          <p:nvPr/>
        </p:nvSpPr>
        <p:spPr>
          <a:xfrm>
            <a:off x="8266176" y="4983480"/>
            <a:ext cx="3172968" cy="594360"/>
          </a:xfrm>
          <a:prstGeom prst="rect">
            <a:avLst/>
          </a:prstGeom>
          <a:noFill/>
          <a:ln/>
        </p:spPr>
        <p:txBody>
          <a:bodyPr wrap="square" lIns="0" tIns="0" rIns="0" bIns="0" rtlCol="0" anchor="ctr"/>
          <a:lstStyle/>
          <a:p>
            <a:pPr indent="0" marL="0">
              <a:buNone/>
            </a:pPr>
            <a:r>
              <a:rPr lang="en-US" sz="2800" b="1" dirty="0">
                <a:solidFill>
                  <a:schemeClr val="accent1"/>
                </a:solidFill>
              </a:rPr>
              <a:t>≈ ¼</a:t>
            </a:r>
            <a:endParaRPr lang="en-US" sz="2800" dirty="0"/>
          </a:p>
        </p:txBody>
      </p:sp>
      <p:sp>
        <p:nvSpPr>
          <p:cNvPr id="18" name="label of MEP design effort; on the order of $600K per project"/>
          <p:cNvSpPr txBox="1"/>
          <p:nvPr/>
        </p:nvSpPr>
        <p:spPr>
          <a:xfrm>
            <a:off x="8266176" y="5581498"/>
            <a:ext cx="3172968" cy="451714"/>
          </a:xfrm>
          <a:prstGeom prst="rect">
            <a:avLst/>
          </a:prstGeom>
          <a:noFill/>
          <a:ln/>
        </p:spPr>
        <p:txBody>
          <a:bodyPr wrap="square" lIns="0" tIns="0" rIns="0" bIns="0" rtlCol="0" anchor="t"/>
          <a:lstStyle/>
          <a:p>
            <a:pPr indent="0" marL="0">
              <a:buNone/>
            </a:pPr>
            <a:r>
              <a:rPr lang="en-US" sz="1200" dirty="0">
                <a:solidFill>
                  <a:srgbClr val="52514E"/>
                </a:solidFill>
              </a:rPr>
              <a:t>of MEP design effort; on the order of $600K per project</a:t>
            </a:r>
            <a:endParaRPr lang="en-US" sz="1200" dirty="0"/>
          </a:p>
        </p:txBody>
      </p:sp>
      <p:sp>
        <p:nvSpPr>
          <p:cNvPr id="19" name="estimates note"/>
          <p:cNvSpPr txBox="1"/>
          <p:nvPr/>
        </p:nvSpPr>
        <p:spPr>
          <a:xfrm>
            <a:off x="548640" y="6126480"/>
            <a:ext cx="5486400" cy="228600"/>
          </a:xfrm>
          <a:prstGeom prst="rect">
            <a:avLst/>
          </a:prstGeom>
          <a:noFill/>
          <a:ln/>
        </p:spPr>
        <p:txBody>
          <a:bodyPr wrap="square" lIns="0" tIns="0" rIns="0" bIns="0" rtlCol="0" anchor="t"/>
          <a:lstStyle/>
          <a:p>
            <a:pPr indent="0" marL="0">
              <a:buNone/>
            </a:pPr>
            <a:r>
              <a:rPr lang="en-US" sz="1100" dirty="0">
                <a:solidFill>
                  <a:srgbClr val="52514E"/>
                </a:solidFill>
              </a:rPr>
              <a:t>Approximate practitioner estimates.</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Synthesizing an assembly from a catalog and a section has resisted automation</a:t>
            </a:r>
            <a:endParaRPr lang="en-US" sz="2600" dirty="0"/>
          </a:p>
        </p:txBody>
      </p:sp>
      <p:sp>
        <p:nvSpPr>
          <p:cNvPr id="3" name="problem card"/>
          <p:cNvSpPr/>
          <p:nvPr/>
        </p:nvSpPr>
        <p:spPr>
          <a:xfrm>
            <a:off x="548640" y="1371600"/>
            <a:ext cx="5212080" cy="2606040"/>
          </a:xfrm>
          <a:prstGeom prst="roundRect">
            <a:avLst>
              <a:gd name="adj" fmla="val 2456"/>
            </a:avLst>
          </a:prstGeom>
          <a:solidFill>
            <a:schemeClr val="bg2"/>
          </a:solidFill>
          <a:ln/>
        </p:spPr>
      </p:sp>
      <p:sp>
        <p:nvSpPr>
          <p:cNvPr id="4" name="problem"/>
          <p:cNvSpPr txBox="1"/>
          <p:nvPr/>
        </p:nvSpPr>
        <p:spPr>
          <a:xfrm>
            <a:off x="777240" y="1508760"/>
            <a:ext cx="4754880" cy="2377440"/>
          </a:xfrm>
          <a:prstGeom prst="rect">
            <a:avLst/>
          </a:prstGeom>
          <a:noFill/>
          <a:ln/>
        </p:spPr>
        <p:txBody>
          <a:bodyPr wrap="square" lIns="0" tIns="0" rIns="0" bIns="0" rtlCol="0" anchor="t"/>
          <a:lstStyle/>
          <a:p>
            <a:pPr indent="0" marL="0">
              <a:buNone/>
            </a:pPr>
            <a:r>
              <a:rPr lang="en-US" sz="1700" b="1" dirty="0">
                <a:solidFill>
                  <a:schemeClr val="tx1"/>
                </a:solidFill>
              </a:rPr>
              <a:t>The synthesis problem</a:t>
            </a:r>
            <a:endParaRPr lang="en-US" sz="1500" dirty="0"/>
          </a:p>
          <a:p>
            <a:pPr indent="0" marL="0">
              <a:buNone/>
            </a:pPr>
            <a:r>
              <a:rPr lang="en-US" sz="600" dirty="0">
                <a:solidFill>
                  <a:schemeClr val="tx1"/>
                </a:solidFill>
              </a:rPr>
              <a:t> </a:t>
            </a:r>
            <a:endParaRPr lang="en-US" sz="1500" dirty="0"/>
          </a:p>
          <a:p>
            <a:pPr indent="0" marL="0">
              <a:buNone/>
            </a:pPr>
            <a:r>
              <a:rPr lang="en-US" sz="1500" b="1" dirty="0">
                <a:solidFill>
                  <a:schemeClr val="tx1"/>
                </a:solidFill>
              </a:rPr>
              <a:t>Given </a:t>
            </a:r>
            <a:pPr indent="0" marL="0">
              <a:buNone/>
            </a:pPr>
            <a:r>
              <a:rPr lang="en-US" sz="1500" dirty="0">
                <a:solidFill>
                  <a:schemeClr val="tx1"/>
                </a:solidFill>
              </a:rPr>
              <a:t>a fixed catalog of components and the MEP context: the services crossing the hanger and the surface they hang from.</a:t>
            </a:r>
            <a:endParaRPr lang="en-US" sz="1500" dirty="0"/>
          </a:p>
          <a:p>
            <a:pPr indent="0" marL="0">
              <a:buNone/>
            </a:pPr>
            <a:r>
              <a:rPr lang="en-US" sz="600" dirty="0">
                <a:solidFill>
                  <a:schemeClr val="tx1"/>
                </a:solidFill>
              </a:rPr>
              <a:t> </a:t>
            </a:r>
            <a:endParaRPr lang="en-US" sz="1500" dirty="0"/>
          </a:p>
          <a:p>
            <a:pPr indent="0" marL="0">
              <a:buNone/>
            </a:pPr>
            <a:r>
              <a:rPr lang="en-US" sz="1500" b="1" dirty="0">
                <a:solidFill>
                  <a:schemeClr val="tx1"/>
                </a:solidFill>
              </a:rPr>
              <a:t>Find </a:t>
            </a:r>
            <a:pPr indent="0" marL="0">
              <a:buNone/>
            </a:pPr>
            <a:r>
              <a:rPr lang="en-US" sz="1500" dirty="0">
                <a:solidFill>
                  <a:schemeClr val="tx1"/>
                </a:solidFill>
              </a:rPr>
              <a:t>a feasible assembly that carries the services to the structure.</a:t>
            </a:r>
            <a:endParaRPr lang="en-US" sz="1500" dirty="0"/>
          </a:p>
          <a:p>
            <a:pPr indent="0" marL="0">
              <a:buNone/>
            </a:pPr>
            <a:r>
              <a:rPr lang="en-US" sz="600" dirty="0">
                <a:solidFill>
                  <a:schemeClr val="tx1"/>
                </a:solidFill>
              </a:rPr>
              <a:t> </a:t>
            </a:r>
            <a:endParaRPr lang="en-US" sz="1500" dirty="0"/>
          </a:p>
          <a:p>
            <a:pPr indent="0" marL="0">
              <a:buNone/>
            </a:pPr>
            <a:r>
              <a:rPr lang="en-US" sz="1500" i="1" dirty="0">
                <a:solidFill>
                  <a:schemeClr val="tx1"/>
                </a:solidFill>
              </a:rPr>
              <a:t>Tools coordinate the model and check a design; choosing the topology and the parts is still done by hand.</a:t>
            </a:r>
            <a:endParaRPr lang="en-US" sz="1500" dirty="0"/>
          </a:p>
        </p:txBody>
      </p:sp>
      <p:pic>
        <p:nvPicPr>
          <p:cNvPr id="5" name="route to section" descr="/home/user/crossmep_dataset/docs/figures/paper_fig1_route_to_section.png">    </p:cNvPr>
          <p:cNvPicPr>
            <a:picLocks noChangeAspect="1"/>
          </p:cNvPicPr>
          <p:nvPr/>
        </p:nvPicPr>
        <p:blipFill>
          <a:blip r:embed="rId1"/>
          <a:stretch>
            <a:fillRect/>
          </a:stretch>
        </p:blipFill>
        <p:spPr>
          <a:xfrm>
            <a:off x="5989320" y="1642325"/>
            <a:ext cx="5650992" cy="1561670"/>
          </a:xfrm>
          <a:prstGeom prst="rect">
            <a:avLst/>
          </a:prstGeom>
        </p:spPr>
      </p:pic>
      <p:sp>
        <p:nvSpPr>
          <p:cNvPr id="6" name="fig1 caption"/>
          <p:cNvSpPr txBox="1"/>
          <p:nvPr/>
        </p:nvSpPr>
        <p:spPr>
          <a:xfrm>
            <a:off x="5989320" y="3295435"/>
            <a:ext cx="5650992" cy="457200"/>
          </a:xfrm>
          <a:prstGeom prst="rect">
            <a:avLst/>
          </a:prstGeom>
          <a:noFill/>
          <a:ln/>
        </p:spPr>
        <p:txBody>
          <a:bodyPr wrap="square" lIns="0" tIns="0" rIns="0" bIns="0" rtlCol="0" anchor="t"/>
          <a:lstStyle/>
          <a:p>
            <a:pPr indent="0" marL="0">
              <a:buNone/>
            </a:pPr>
            <a:r>
              <a:rPr lang="en-US" sz="1100" dirty="0">
                <a:solidFill>
                  <a:srgbClr val="52514E"/>
                </a:solidFill>
              </a:rPr>
              <a:t>Design starts after coordination: at each hanger the designer works from the section across the run, not from the whole model.</a:t>
            </a:r>
            <a:endParaRPr lang="en-US" sz="1100" dirty="0"/>
          </a:p>
        </p:txBody>
      </p:sp>
      <p:sp>
        <p:nvSpPr>
          <p:cNvPr id="7" name="why Geometric judgment"/>
          <p:cNvSpPr/>
          <p:nvPr/>
        </p:nvSpPr>
        <p:spPr>
          <a:xfrm>
            <a:off x="548640" y="4251960"/>
            <a:ext cx="3575304" cy="1463040"/>
          </a:xfrm>
          <a:prstGeom prst="roundRect">
            <a:avLst>
              <a:gd name="adj" fmla="val 4375"/>
            </a:avLst>
          </a:prstGeom>
          <a:solidFill>
            <a:schemeClr val="bg2"/>
          </a:solidFill>
          <a:ln/>
        </p:spPr>
      </p:sp>
      <p:sp>
        <p:nvSpPr>
          <p:cNvPr id="8" name="why head Geometric judgment"/>
          <p:cNvSpPr txBox="1"/>
          <p:nvPr/>
        </p:nvSpPr>
        <p:spPr>
          <a:xfrm>
            <a:off x="777240" y="4389120"/>
            <a:ext cx="3118104" cy="384048"/>
          </a:xfrm>
          <a:prstGeom prst="rect">
            <a:avLst/>
          </a:prstGeom>
          <a:noFill/>
          <a:ln/>
        </p:spPr>
        <p:txBody>
          <a:bodyPr wrap="square" lIns="0" tIns="0" rIns="0" bIns="0" rtlCol="0" anchor="ctr"/>
          <a:lstStyle/>
          <a:p>
            <a:pPr indent="0" marL="0">
              <a:buNone/>
            </a:pPr>
            <a:r>
              <a:rPr lang="en-US" sz="1700" b="1" dirty="0">
                <a:solidFill>
                  <a:schemeClr val="accent1"/>
                </a:solidFill>
              </a:rPr>
              <a:t>1. Geometric judgment</a:t>
            </a:r>
            <a:endParaRPr lang="en-US" sz="1700" dirty="0"/>
          </a:p>
        </p:txBody>
      </p:sp>
      <p:sp>
        <p:nvSpPr>
          <p:cNvPr id="9" name="why text Geometric judgment"/>
          <p:cNvSpPr txBox="1"/>
          <p:nvPr/>
        </p:nvSpPr>
        <p:spPr>
          <a:xfrm>
            <a:off x="777240" y="4828032"/>
            <a:ext cx="3118104" cy="822960"/>
          </a:xfrm>
          <a:prstGeom prst="rect">
            <a:avLst/>
          </a:prstGeom>
          <a:noFill/>
          <a:ln/>
        </p:spPr>
        <p:txBody>
          <a:bodyPr wrap="square" lIns="0" tIns="0" rIns="0" bIns="0" rtlCol="0" anchor="t"/>
          <a:lstStyle/>
          <a:p>
            <a:pPr indent="0" marL="0">
              <a:buNone/>
            </a:pPr>
            <a:r>
              <a:rPr lang="en-US" sz="1500" dirty="0">
                <a:solidFill>
                  <a:schemeClr val="tx1"/>
                </a:solidFill>
              </a:rPr>
              <a:t>Engineers choose an assembly’s topology from experience.</a:t>
            </a:r>
            <a:endParaRPr lang="en-US" sz="1500" dirty="0"/>
          </a:p>
        </p:txBody>
      </p:sp>
      <p:sp>
        <p:nvSpPr>
          <p:cNvPr id="10" name="why Rule explosion"/>
          <p:cNvSpPr/>
          <p:nvPr/>
        </p:nvSpPr>
        <p:spPr>
          <a:xfrm>
            <a:off x="4306824" y="4251960"/>
            <a:ext cx="3575304" cy="1463040"/>
          </a:xfrm>
          <a:prstGeom prst="roundRect">
            <a:avLst>
              <a:gd name="adj" fmla="val 4375"/>
            </a:avLst>
          </a:prstGeom>
          <a:solidFill>
            <a:schemeClr val="bg2"/>
          </a:solidFill>
          <a:ln/>
        </p:spPr>
      </p:sp>
      <p:sp>
        <p:nvSpPr>
          <p:cNvPr id="11" name="why head Rule explosion"/>
          <p:cNvSpPr txBox="1"/>
          <p:nvPr/>
        </p:nvSpPr>
        <p:spPr>
          <a:xfrm>
            <a:off x="4535424" y="4389120"/>
            <a:ext cx="3118104" cy="384048"/>
          </a:xfrm>
          <a:prstGeom prst="rect">
            <a:avLst/>
          </a:prstGeom>
          <a:noFill/>
          <a:ln/>
        </p:spPr>
        <p:txBody>
          <a:bodyPr wrap="square" lIns="0" tIns="0" rIns="0" bIns="0" rtlCol="0" anchor="ctr"/>
          <a:lstStyle/>
          <a:p>
            <a:pPr indent="0" marL="0">
              <a:buNone/>
            </a:pPr>
            <a:r>
              <a:rPr lang="en-US" sz="1700" b="1" dirty="0">
                <a:solidFill>
                  <a:schemeClr val="accent1"/>
                </a:solidFill>
              </a:rPr>
              <a:t>2. Rule explosion</a:t>
            </a:r>
            <a:endParaRPr lang="en-US" sz="1700" dirty="0"/>
          </a:p>
        </p:txBody>
      </p:sp>
      <p:sp>
        <p:nvSpPr>
          <p:cNvPr id="12" name="why text Rule explosion"/>
          <p:cNvSpPr txBox="1"/>
          <p:nvPr/>
        </p:nvSpPr>
        <p:spPr>
          <a:xfrm>
            <a:off x="4535424" y="4828032"/>
            <a:ext cx="3118104" cy="822960"/>
          </a:xfrm>
          <a:prstGeom prst="rect">
            <a:avLst/>
          </a:prstGeom>
          <a:noFill/>
          <a:ln/>
        </p:spPr>
        <p:txBody>
          <a:bodyPr wrap="square" lIns="0" tIns="0" rIns="0" bIns="0" rtlCol="0" anchor="t"/>
          <a:lstStyle/>
          <a:p>
            <a:pPr indent="0" marL="0">
              <a:buNone/>
            </a:pPr>
            <a:r>
              <a:rPr lang="en-US" sz="1500" dirty="0">
                <a:solidFill>
                  <a:schemeClr val="tx1"/>
                </a:solidFill>
              </a:rPr>
              <a:t>Code, load and material constraints interact across thousands of combinations.</a:t>
            </a:r>
            <a:endParaRPr lang="en-US" sz="1500" dirty="0"/>
          </a:p>
        </p:txBody>
      </p:sp>
      <p:sp>
        <p:nvSpPr>
          <p:cNvPr id="13" name="why Catalog volatility"/>
          <p:cNvSpPr/>
          <p:nvPr/>
        </p:nvSpPr>
        <p:spPr>
          <a:xfrm>
            <a:off x="8065008" y="4251960"/>
            <a:ext cx="3575304" cy="1463040"/>
          </a:xfrm>
          <a:prstGeom prst="roundRect">
            <a:avLst>
              <a:gd name="adj" fmla="val 4375"/>
            </a:avLst>
          </a:prstGeom>
          <a:solidFill>
            <a:schemeClr val="bg2"/>
          </a:solidFill>
          <a:ln/>
        </p:spPr>
      </p:sp>
      <p:sp>
        <p:nvSpPr>
          <p:cNvPr id="14" name="why head Catalog volatility"/>
          <p:cNvSpPr txBox="1"/>
          <p:nvPr/>
        </p:nvSpPr>
        <p:spPr>
          <a:xfrm>
            <a:off x="8293608" y="4389120"/>
            <a:ext cx="3118104" cy="384048"/>
          </a:xfrm>
          <a:prstGeom prst="rect">
            <a:avLst/>
          </a:prstGeom>
          <a:noFill/>
          <a:ln/>
        </p:spPr>
        <p:txBody>
          <a:bodyPr wrap="square" lIns="0" tIns="0" rIns="0" bIns="0" rtlCol="0" anchor="ctr"/>
          <a:lstStyle/>
          <a:p>
            <a:pPr indent="0" marL="0">
              <a:buNone/>
            </a:pPr>
            <a:r>
              <a:rPr lang="en-US" sz="1700" b="1" dirty="0">
                <a:solidFill>
                  <a:schemeClr val="accent1"/>
                </a:solidFill>
              </a:rPr>
              <a:t>3. Catalog volatility</a:t>
            </a:r>
            <a:endParaRPr lang="en-US" sz="1700" dirty="0"/>
          </a:p>
        </p:txBody>
      </p:sp>
      <p:sp>
        <p:nvSpPr>
          <p:cNvPr id="15" name="why text Catalog volatility"/>
          <p:cNvSpPr txBox="1"/>
          <p:nvPr/>
        </p:nvSpPr>
        <p:spPr>
          <a:xfrm>
            <a:off x="8293608" y="4828032"/>
            <a:ext cx="3118104" cy="822960"/>
          </a:xfrm>
          <a:prstGeom prst="rect">
            <a:avLst/>
          </a:prstGeom>
          <a:noFill/>
          <a:ln/>
        </p:spPr>
        <p:txBody>
          <a:bodyPr wrap="square" lIns="0" tIns="0" rIns="0" bIns="0" rtlCol="0" anchor="t"/>
          <a:lstStyle/>
          <a:p>
            <a:pPr indent="0" marL="0">
              <a:buNone/>
            </a:pPr>
            <a:r>
              <a:rPr lang="en-US" sz="1500" dirty="0">
                <a:solidFill>
                  <a:schemeClr val="tx1"/>
                </a:solidFill>
              </a:rPr>
              <a:t>Catalogs change faster than rule-based systems can be rewritten.</a:t>
            </a:r>
            <a:endParaRPr lang="en-US" sz="15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Learning to design supports needs many problems, and none were public</a:t>
            </a:r>
            <a:endParaRPr lang="en-US" sz="2600" dirty="0"/>
          </a:p>
        </p:txBody>
      </p:sp>
      <p:sp>
        <p:nvSpPr>
          <p:cNvPr id="3" name="why heading"/>
          <p:cNvSpPr txBox="1"/>
          <p:nvPr/>
        </p:nvSpPr>
        <p:spPr>
          <a:xfrm>
            <a:off x="548640" y="1371600"/>
            <a:ext cx="4937760" cy="365760"/>
          </a:xfrm>
          <a:prstGeom prst="rect">
            <a:avLst/>
          </a:prstGeom>
          <a:noFill/>
          <a:ln/>
        </p:spPr>
        <p:txBody>
          <a:bodyPr wrap="square" lIns="0" tIns="0" rIns="0" bIns="0" rtlCol="0" anchor="ctr"/>
          <a:lstStyle/>
          <a:p>
            <a:pPr indent="0" marL="0">
              <a:buNone/>
            </a:pPr>
            <a:r>
              <a:rPr lang="en-US" sz="1600" b="1" dirty="0">
                <a:solidFill>
                  <a:schemeClr val="tx1"/>
                </a:solidFill>
              </a:rPr>
              <a:t>Why it has to be synthetic</a:t>
            </a:r>
            <a:endParaRPr lang="en-US" sz="1600" dirty="0"/>
          </a:p>
        </p:txBody>
      </p:sp>
      <p:sp>
        <p:nvSpPr>
          <p:cNvPr id="4" name="icon ring Scarcity"/>
          <p:cNvSpPr/>
          <p:nvPr/>
        </p:nvSpPr>
        <p:spPr>
          <a:xfrm>
            <a:off x="548640" y="1874520"/>
            <a:ext cx="530352" cy="530352"/>
          </a:xfrm>
          <a:prstGeom prst="ellipse">
            <a:avLst/>
          </a:prstGeom>
          <a:solidFill>
            <a:schemeClr val="accent1"/>
          </a:solidFill>
          <a:ln/>
        </p:spPr>
      </p:sp>
      <p:pic>
        <p:nvPicPr>
          <p:cNvPr id="5" name="icon Scarcity" descr="preencoded.png">    </p:cNvPr>
          <p:cNvPicPr>
            <a:picLocks noChangeAspect="1"/>
          </p:cNvPicPr>
          <p:nvPr/>
        </p:nvPicPr>
        <p:blipFill>
          <a:blip r:embed="rId1"/>
          <a:stretch>
            <a:fillRect/>
          </a:stretch>
        </p:blipFill>
        <p:spPr>
          <a:xfrm>
            <a:off x="660014" y="1985894"/>
            <a:ext cx="307604" cy="307604"/>
          </a:xfrm>
          <a:prstGeom prst="rect">
            <a:avLst/>
          </a:prstGeom>
        </p:spPr>
      </p:pic>
      <p:sp>
        <p:nvSpPr>
          <p:cNvPr id="6" name="reason Scarcity"/>
          <p:cNvSpPr txBox="1"/>
          <p:nvPr/>
        </p:nvSpPr>
        <p:spPr>
          <a:xfrm>
            <a:off x="1280160" y="1856232"/>
            <a:ext cx="4206240" cy="329184"/>
          </a:xfrm>
          <a:prstGeom prst="rect">
            <a:avLst/>
          </a:prstGeom>
          <a:noFill/>
          <a:ln/>
        </p:spPr>
        <p:txBody>
          <a:bodyPr wrap="square" lIns="0" tIns="0" rIns="0" bIns="0" rtlCol="0" anchor="ctr"/>
          <a:lstStyle/>
          <a:p>
            <a:pPr indent="0" marL="0">
              <a:buNone/>
            </a:pPr>
            <a:r>
              <a:rPr lang="en-US" sz="1500" b="1" dirty="0">
                <a:solidFill>
                  <a:schemeClr val="tx1"/>
                </a:solidFill>
              </a:rPr>
              <a:t>Scarcity</a:t>
            </a:r>
            <a:endParaRPr lang="en-US" sz="1500" dirty="0"/>
          </a:p>
        </p:txBody>
      </p:sp>
      <p:sp>
        <p:nvSpPr>
          <p:cNvPr id="7" name="reason text Scarcity"/>
          <p:cNvSpPr txBox="1"/>
          <p:nvPr/>
        </p:nvSpPr>
        <p:spPr>
          <a:xfrm>
            <a:off x="1280160" y="2221992"/>
            <a:ext cx="4206240" cy="868680"/>
          </a:xfrm>
          <a:prstGeom prst="rect">
            <a:avLst/>
          </a:prstGeom>
          <a:noFill/>
          <a:ln/>
        </p:spPr>
        <p:txBody>
          <a:bodyPr wrap="square" lIns="0" tIns="0" rIns="0" bIns="0" rtlCol="0" anchor="t"/>
          <a:lstStyle/>
          <a:p>
            <a:pPr indent="0" marL="0">
              <a:buNone/>
            </a:pPr>
            <a:r>
              <a:rPr lang="en-US" sz="1250" dirty="0">
                <a:solidFill>
                  <a:schemeClr val="tx1"/>
                </a:solidFill>
              </a:rPr>
              <a:t>Project models are proprietary; the few open ones are not organised around supports and often export no element sizes.</a:t>
            </a:r>
            <a:endParaRPr lang="en-US" sz="1250" dirty="0"/>
          </a:p>
        </p:txBody>
      </p:sp>
      <p:sp>
        <p:nvSpPr>
          <p:cNvPr id="8" name="icon ring Coverage"/>
          <p:cNvSpPr/>
          <p:nvPr/>
        </p:nvSpPr>
        <p:spPr>
          <a:xfrm>
            <a:off x="548640" y="3246120"/>
            <a:ext cx="530352" cy="530352"/>
          </a:xfrm>
          <a:prstGeom prst="ellipse">
            <a:avLst/>
          </a:prstGeom>
          <a:solidFill>
            <a:schemeClr val="accent1"/>
          </a:solidFill>
          <a:ln/>
        </p:spPr>
      </p:sp>
      <p:pic>
        <p:nvPicPr>
          <p:cNvPr id="9" name="icon Coverage" descr="preencoded.png">    </p:cNvPr>
          <p:cNvPicPr>
            <a:picLocks noChangeAspect="1"/>
          </p:cNvPicPr>
          <p:nvPr/>
        </p:nvPicPr>
        <p:blipFill>
          <a:blip r:embed="rId2"/>
          <a:stretch>
            <a:fillRect/>
          </a:stretch>
        </p:blipFill>
        <p:spPr>
          <a:xfrm>
            <a:off x="660014" y="3357494"/>
            <a:ext cx="307604" cy="307604"/>
          </a:xfrm>
          <a:prstGeom prst="rect">
            <a:avLst/>
          </a:prstGeom>
        </p:spPr>
      </p:pic>
      <p:sp>
        <p:nvSpPr>
          <p:cNvPr id="10" name="reason Coverage"/>
          <p:cNvSpPr txBox="1"/>
          <p:nvPr/>
        </p:nvSpPr>
        <p:spPr>
          <a:xfrm>
            <a:off x="1280160" y="3227832"/>
            <a:ext cx="4206240" cy="329184"/>
          </a:xfrm>
          <a:prstGeom prst="rect">
            <a:avLst/>
          </a:prstGeom>
          <a:noFill/>
          <a:ln/>
        </p:spPr>
        <p:txBody>
          <a:bodyPr wrap="square" lIns="0" tIns="0" rIns="0" bIns="0" rtlCol="0" anchor="ctr"/>
          <a:lstStyle/>
          <a:p>
            <a:pPr indent="0" marL="0">
              <a:buNone/>
            </a:pPr>
            <a:r>
              <a:rPr lang="en-US" sz="1500" b="1" dirty="0">
                <a:solidFill>
                  <a:schemeClr val="tx1"/>
                </a:solidFill>
              </a:rPr>
              <a:t>Coverage</a:t>
            </a:r>
            <a:endParaRPr lang="en-US" sz="1500" dirty="0"/>
          </a:p>
        </p:txBody>
      </p:sp>
      <p:sp>
        <p:nvSpPr>
          <p:cNvPr id="11" name="reason text Coverage"/>
          <p:cNvSpPr txBox="1"/>
          <p:nvPr/>
        </p:nvSpPr>
        <p:spPr>
          <a:xfrm>
            <a:off x="1280160" y="3593592"/>
            <a:ext cx="4206240" cy="868680"/>
          </a:xfrm>
          <a:prstGeom prst="rect">
            <a:avLst/>
          </a:prstGeom>
          <a:noFill/>
          <a:ln/>
        </p:spPr>
        <p:txBody>
          <a:bodyPr wrap="square" lIns="0" tIns="0" rIns="0" bIns="0" rtlCol="0" anchor="t"/>
          <a:lstStyle/>
          <a:p>
            <a:pPr indent="0" marL="0">
              <a:buNone/>
            </a:pPr>
            <a:r>
              <a:rPr lang="en-US" sz="1250" dirty="0">
                <a:solidFill>
                  <a:schemeClr val="tx1"/>
                </a:solidFill>
              </a:rPr>
              <a:t>One project is one narrow slice: one building type, one trade mix. A method tuned to it measures fit to that project.</a:t>
            </a:r>
            <a:endParaRPr lang="en-US" sz="1250" dirty="0"/>
          </a:p>
        </p:txBody>
      </p:sp>
      <p:sp>
        <p:nvSpPr>
          <p:cNvPr id="12" name="icon ring Control"/>
          <p:cNvSpPr/>
          <p:nvPr/>
        </p:nvSpPr>
        <p:spPr>
          <a:xfrm>
            <a:off x="548640" y="4617720"/>
            <a:ext cx="530352" cy="530352"/>
          </a:xfrm>
          <a:prstGeom prst="ellipse">
            <a:avLst/>
          </a:prstGeom>
          <a:solidFill>
            <a:schemeClr val="accent1"/>
          </a:solidFill>
          <a:ln/>
        </p:spPr>
      </p:sp>
      <p:pic>
        <p:nvPicPr>
          <p:cNvPr id="13" name="icon Control" descr="preencoded.png">    </p:cNvPr>
          <p:cNvPicPr>
            <a:picLocks noChangeAspect="1"/>
          </p:cNvPicPr>
          <p:nvPr/>
        </p:nvPicPr>
        <p:blipFill>
          <a:blip r:embed="rId3"/>
          <a:stretch>
            <a:fillRect/>
          </a:stretch>
        </p:blipFill>
        <p:spPr>
          <a:xfrm>
            <a:off x="660014" y="4729094"/>
            <a:ext cx="307604" cy="307604"/>
          </a:xfrm>
          <a:prstGeom prst="rect">
            <a:avLst/>
          </a:prstGeom>
        </p:spPr>
      </p:pic>
      <p:sp>
        <p:nvSpPr>
          <p:cNvPr id="14" name="reason Control"/>
          <p:cNvSpPr txBox="1"/>
          <p:nvPr/>
        </p:nvSpPr>
        <p:spPr>
          <a:xfrm>
            <a:off x="1280160" y="4599432"/>
            <a:ext cx="4206240" cy="329184"/>
          </a:xfrm>
          <a:prstGeom prst="rect">
            <a:avLst/>
          </a:prstGeom>
          <a:noFill/>
          <a:ln/>
        </p:spPr>
        <p:txBody>
          <a:bodyPr wrap="square" lIns="0" tIns="0" rIns="0" bIns="0" rtlCol="0" anchor="ctr"/>
          <a:lstStyle/>
          <a:p>
            <a:pPr indent="0" marL="0">
              <a:buNone/>
            </a:pPr>
            <a:r>
              <a:rPr lang="en-US" sz="1500" b="1" dirty="0">
                <a:solidFill>
                  <a:schemeClr val="tx1"/>
                </a:solidFill>
              </a:rPr>
              <a:t>Control</a:t>
            </a:r>
            <a:endParaRPr lang="en-US" sz="1500" dirty="0"/>
          </a:p>
        </p:txBody>
      </p:sp>
      <p:sp>
        <p:nvSpPr>
          <p:cNvPr id="15" name="reason text Control"/>
          <p:cNvSpPr txBox="1"/>
          <p:nvPr/>
        </p:nvSpPr>
        <p:spPr>
          <a:xfrm>
            <a:off x="1280160" y="4965192"/>
            <a:ext cx="4206240" cy="868680"/>
          </a:xfrm>
          <a:prstGeom prst="rect">
            <a:avLst/>
          </a:prstGeom>
          <a:noFill/>
          <a:ln/>
        </p:spPr>
        <p:txBody>
          <a:bodyPr wrap="square" lIns="0" tIns="0" rIns="0" bIns="0" rtlCol="0" anchor="t"/>
          <a:lstStyle/>
          <a:p>
            <a:pPr indent="0" marL="0">
              <a:buNone/>
            </a:pPr>
            <a:r>
              <a:rPr lang="en-US" sz="1250" dirty="0">
                <a:solidFill>
                  <a:schemeClr val="tx1"/>
                </a:solidFill>
              </a:rPr>
              <a:t>A seeded generator gives unlimited problems with a known distribution, difficulty by construction and held-out seeds.</a:t>
            </a:r>
            <a:endParaRPr lang="en-US" sz="1250" dirty="0"/>
          </a:p>
        </p:txBody>
      </p:sp>
      <p:sp>
        <p:nvSpPr>
          <p:cNvPr id="16" name="glance heading"/>
          <p:cNvSpPr txBox="1"/>
          <p:nvPr/>
        </p:nvSpPr>
        <p:spPr>
          <a:xfrm>
            <a:off x="5806440" y="1371600"/>
            <a:ext cx="5833872" cy="365760"/>
          </a:xfrm>
          <a:prstGeom prst="rect">
            <a:avLst/>
          </a:prstGeom>
          <a:noFill/>
          <a:ln/>
        </p:spPr>
        <p:txBody>
          <a:bodyPr wrap="square" lIns="0" tIns="0" rIns="0" bIns="0" rtlCol="0" anchor="ctr"/>
          <a:lstStyle/>
          <a:p>
            <a:pPr indent="0" marL="0">
              <a:buNone/>
            </a:pPr>
            <a:r>
              <a:rPr lang="en-US" sz="1600" b="1" dirty="0">
                <a:solidFill>
                  <a:schemeClr val="tx1"/>
                </a:solidFill>
              </a:rPr>
              <a:t>CrossMEP at a glance</a:t>
            </a:r>
            <a:endParaRPr lang="en-US" sz="1600" dirty="0"/>
          </a:p>
        </p:txBody>
      </p:sp>
      <p:sp>
        <p:nvSpPr>
          <p:cNvPr id="17" name="tile contexts in four splits on disjoint seeds"/>
          <p:cNvSpPr/>
          <p:nvPr/>
        </p:nvSpPr>
        <p:spPr>
          <a:xfrm>
            <a:off x="5806440" y="1874520"/>
            <a:ext cx="1822704" cy="1965960"/>
          </a:xfrm>
          <a:prstGeom prst="roundRect">
            <a:avLst>
              <a:gd name="adj" fmla="val 3512"/>
            </a:avLst>
          </a:prstGeom>
          <a:solidFill>
            <a:schemeClr val="bg2"/>
          </a:solidFill>
          <a:ln/>
        </p:spPr>
      </p:sp>
      <p:sp>
        <p:nvSpPr>
          <p:cNvPr id="18" name="value contexts in four splits on disjoint seeds"/>
          <p:cNvSpPr txBox="1"/>
          <p:nvPr/>
        </p:nvSpPr>
        <p:spPr>
          <a:xfrm>
            <a:off x="6007608" y="196596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7,000</a:t>
            </a:r>
            <a:endParaRPr lang="en-US" sz="2600" dirty="0"/>
          </a:p>
        </p:txBody>
      </p:sp>
      <p:sp>
        <p:nvSpPr>
          <p:cNvPr id="19" name="label contexts in four splits on disjoint seeds"/>
          <p:cNvSpPr txBox="1"/>
          <p:nvPr/>
        </p:nvSpPr>
        <p:spPr>
          <a:xfrm>
            <a:off x="6007608" y="3014777"/>
            <a:ext cx="1420368" cy="747065"/>
          </a:xfrm>
          <a:prstGeom prst="rect">
            <a:avLst/>
          </a:prstGeom>
          <a:noFill/>
          <a:ln/>
        </p:spPr>
        <p:txBody>
          <a:bodyPr wrap="square" lIns="0" tIns="0" rIns="0" bIns="0" rtlCol="0" anchor="t"/>
          <a:lstStyle/>
          <a:p>
            <a:pPr indent="0" marL="0">
              <a:buNone/>
            </a:pPr>
            <a:r>
              <a:rPr lang="en-US" sz="1150" dirty="0">
                <a:solidFill>
                  <a:srgbClr val="52514E"/>
                </a:solidFill>
              </a:rPr>
              <a:t>contexts in four splits on disjoint seeds</a:t>
            </a:r>
            <a:endParaRPr lang="en-US" sz="1150" dirty="0"/>
          </a:p>
        </p:txBody>
      </p:sp>
      <p:sp>
        <p:nvSpPr>
          <p:cNvPr id="20" name="tile elements: pipes, cable trays, ducts and conduits; six trades"/>
          <p:cNvSpPr/>
          <p:nvPr/>
        </p:nvSpPr>
        <p:spPr>
          <a:xfrm>
            <a:off x="7812024" y="1874520"/>
            <a:ext cx="1822704" cy="1965960"/>
          </a:xfrm>
          <a:prstGeom prst="roundRect">
            <a:avLst>
              <a:gd name="adj" fmla="val 3512"/>
            </a:avLst>
          </a:prstGeom>
          <a:solidFill>
            <a:schemeClr val="bg2"/>
          </a:solidFill>
          <a:ln/>
        </p:spPr>
      </p:sp>
      <p:sp>
        <p:nvSpPr>
          <p:cNvPr id="21" name="value elements: pipes, cable trays, ducts and conduits; six trades"/>
          <p:cNvSpPr txBox="1"/>
          <p:nvPr/>
        </p:nvSpPr>
        <p:spPr>
          <a:xfrm>
            <a:off x="8013192" y="196596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31,484</a:t>
            </a:r>
            <a:endParaRPr lang="en-US" sz="2600" dirty="0"/>
          </a:p>
        </p:txBody>
      </p:sp>
      <p:sp>
        <p:nvSpPr>
          <p:cNvPr id="22" name="label elements: pipes, cable trays, ducts and conduits; six trades"/>
          <p:cNvSpPr txBox="1"/>
          <p:nvPr/>
        </p:nvSpPr>
        <p:spPr>
          <a:xfrm>
            <a:off x="8013192" y="3014777"/>
            <a:ext cx="1420368" cy="747065"/>
          </a:xfrm>
          <a:prstGeom prst="rect">
            <a:avLst/>
          </a:prstGeom>
          <a:noFill/>
          <a:ln/>
        </p:spPr>
        <p:txBody>
          <a:bodyPr wrap="square" lIns="0" tIns="0" rIns="0" bIns="0" rtlCol="0" anchor="t"/>
          <a:lstStyle/>
          <a:p>
            <a:pPr indent="0" marL="0">
              <a:buNone/>
            </a:pPr>
            <a:r>
              <a:rPr lang="en-US" sz="1150" dirty="0">
                <a:solidFill>
                  <a:srgbClr val="52514E"/>
                </a:solidFill>
              </a:rPr>
              <a:t>elements: pipes, cable trays, ducts and conduits; six trades</a:t>
            </a:r>
            <a:endParaRPr lang="en-US" sz="1150" dirty="0"/>
          </a:p>
        </p:txBody>
      </p:sp>
      <p:sp>
        <p:nvSpPr>
          <p:cNvPr id="23" name="tile eight difficulty tiers by exact element count"/>
          <p:cNvSpPr/>
          <p:nvPr/>
        </p:nvSpPr>
        <p:spPr>
          <a:xfrm>
            <a:off x="9817608" y="1874520"/>
            <a:ext cx="1822704" cy="1965960"/>
          </a:xfrm>
          <a:prstGeom prst="roundRect">
            <a:avLst>
              <a:gd name="adj" fmla="val 3512"/>
            </a:avLst>
          </a:prstGeom>
          <a:solidFill>
            <a:schemeClr val="bg2"/>
          </a:solidFill>
          <a:ln/>
        </p:spPr>
      </p:sp>
      <p:sp>
        <p:nvSpPr>
          <p:cNvPr id="24" name="value eight difficulty tiers by exact element count"/>
          <p:cNvSpPr txBox="1"/>
          <p:nvPr/>
        </p:nvSpPr>
        <p:spPr>
          <a:xfrm>
            <a:off x="10018776" y="196596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C1–C8</a:t>
            </a:r>
            <a:endParaRPr lang="en-US" sz="2600" dirty="0"/>
          </a:p>
        </p:txBody>
      </p:sp>
      <p:sp>
        <p:nvSpPr>
          <p:cNvPr id="25" name="label eight difficulty tiers by exact element count"/>
          <p:cNvSpPr txBox="1"/>
          <p:nvPr/>
        </p:nvSpPr>
        <p:spPr>
          <a:xfrm>
            <a:off x="10018776" y="3014777"/>
            <a:ext cx="1420368" cy="747065"/>
          </a:xfrm>
          <a:prstGeom prst="rect">
            <a:avLst/>
          </a:prstGeom>
          <a:noFill/>
          <a:ln/>
        </p:spPr>
        <p:txBody>
          <a:bodyPr wrap="square" lIns="0" tIns="0" rIns="0" bIns="0" rtlCol="0" anchor="t"/>
          <a:lstStyle/>
          <a:p>
            <a:pPr indent="0" marL="0">
              <a:buNone/>
            </a:pPr>
            <a:r>
              <a:rPr lang="en-US" sz="1150" dirty="0">
                <a:solidFill>
                  <a:srgbClr val="52514E"/>
                </a:solidFill>
              </a:rPr>
              <a:t>eight difficulty tiers by exact element count</a:t>
            </a:r>
            <a:endParaRPr lang="en-US" sz="1150" dirty="0"/>
          </a:p>
        </p:txBody>
      </p:sp>
      <p:sp>
        <p:nvSpPr>
          <p:cNvPr id="26" name="tile the brief, not the answer: no support-assembly information"/>
          <p:cNvSpPr/>
          <p:nvPr/>
        </p:nvSpPr>
        <p:spPr>
          <a:xfrm>
            <a:off x="5806440" y="4023360"/>
            <a:ext cx="1822704" cy="1965960"/>
          </a:xfrm>
          <a:prstGeom prst="roundRect">
            <a:avLst>
              <a:gd name="adj" fmla="val 3512"/>
            </a:avLst>
          </a:prstGeom>
          <a:solidFill>
            <a:schemeClr val="bg2"/>
          </a:solidFill>
          <a:ln/>
        </p:spPr>
      </p:sp>
      <p:sp>
        <p:nvSpPr>
          <p:cNvPr id="27" name="value the brief, not the answer: no support-assembly information"/>
          <p:cNvSpPr txBox="1"/>
          <p:nvPr/>
        </p:nvSpPr>
        <p:spPr>
          <a:xfrm>
            <a:off x="6007608" y="411480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0 labels</a:t>
            </a:r>
            <a:endParaRPr lang="en-US" sz="2600" dirty="0"/>
          </a:p>
        </p:txBody>
      </p:sp>
      <p:sp>
        <p:nvSpPr>
          <p:cNvPr id="28" name="label the brief, not the answer: no support-assembly information"/>
          <p:cNvSpPr txBox="1"/>
          <p:nvPr/>
        </p:nvSpPr>
        <p:spPr>
          <a:xfrm>
            <a:off x="6007608" y="5163617"/>
            <a:ext cx="1420368" cy="747065"/>
          </a:xfrm>
          <a:prstGeom prst="rect">
            <a:avLst/>
          </a:prstGeom>
          <a:noFill/>
          <a:ln/>
        </p:spPr>
        <p:txBody>
          <a:bodyPr wrap="square" lIns="0" tIns="0" rIns="0" bIns="0" rtlCol="0" anchor="t"/>
          <a:lstStyle/>
          <a:p>
            <a:pPr indent="0" marL="0">
              <a:buNone/>
            </a:pPr>
            <a:r>
              <a:rPr lang="en-US" sz="1150" dirty="0">
                <a:solidFill>
                  <a:srgbClr val="52514E"/>
                </a:solidFill>
              </a:rPr>
              <a:t>the brief, not the answer: no support-assembly information</a:t>
            </a:r>
            <a:endParaRPr lang="en-US" sz="1150" dirty="0"/>
          </a:p>
        </p:txBody>
      </p:sp>
      <p:sp>
        <p:nvSpPr>
          <p:cNvPr id="29" name="tile every constant with its source, or declared a design choice"/>
          <p:cNvSpPr/>
          <p:nvPr/>
        </p:nvSpPr>
        <p:spPr>
          <a:xfrm>
            <a:off x="7812024" y="4023360"/>
            <a:ext cx="1822704" cy="1965960"/>
          </a:xfrm>
          <a:prstGeom prst="roundRect">
            <a:avLst>
              <a:gd name="adj" fmla="val 3512"/>
            </a:avLst>
          </a:prstGeom>
          <a:solidFill>
            <a:schemeClr val="bg2"/>
          </a:solidFill>
          <a:ln/>
        </p:spPr>
      </p:sp>
      <p:sp>
        <p:nvSpPr>
          <p:cNvPr id="30" name="value every constant with its source, or declared a design choice"/>
          <p:cNvSpPr txBox="1"/>
          <p:nvPr/>
        </p:nvSpPr>
        <p:spPr>
          <a:xfrm>
            <a:off x="8013192" y="411480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Traced</a:t>
            </a:r>
            <a:endParaRPr lang="en-US" sz="2600" dirty="0"/>
          </a:p>
        </p:txBody>
      </p:sp>
      <p:sp>
        <p:nvSpPr>
          <p:cNvPr id="31" name="label every constant with its source, or declared a design choice"/>
          <p:cNvSpPr txBox="1"/>
          <p:nvPr/>
        </p:nvSpPr>
        <p:spPr>
          <a:xfrm>
            <a:off x="8013192" y="5163617"/>
            <a:ext cx="1420368" cy="747065"/>
          </a:xfrm>
          <a:prstGeom prst="rect">
            <a:avLst/>
          </a:prstGeom>
          <a:noFill/>
          <a:ln/>
        </p:spPr>
        <p:txBody>
          <a:bodyPr wrap="square" lIns="0" tIns="0" rIns="0" bIns="0" rtlCol="0" anchor="t"/>
          <a:lstStyle/>
          <a:p>
            <a:pPr indent="0" marL="0">
              <a:buNone/>
            </a:pPr>
            <a:r>
              <a:rPr lang="en-US" sz="1150" dirty="0">
                <a:solidFill>
                  <a:srgbClr val="52514E"/>
                </a:solidFill>
              </a:rPr>
              <a:t>every constant with its source, or declared a design choice</a:t>
            </a:r>
            <a:endParaRPr lang="en-US" sz="1150" dirty="0"/>
          </a:p>
        </p:txBody>
      </p:sp>
      <p:sp>
        <p:nvSpPr>
          <p:cNvPr id="32" name="tile data CC BY 4.0, code MIT; a seeded, deterministic generator"/>
          <p:cNvSpPr/>
          <p:nvPr/>
        </p:nvSpPr>
        <p:spPr>
          <a:xfrm>
            <a:off x="9817608" y="4023360"/>
            <a:ext cx="1822704" cy="1965960"/>
          </a:xfrm>
          <a:prstGeom prst="roundRect">
            <a:avLst>
              <a:gd name="adj" fmla="val 3512"/>
            </a:avLst>
          </a:prstGeom>
          <a:solidFill>
            <a:schemeClr val="bg2"/>
          </a:solidFill>
          <a:ln/>
        </p:spPr>
      </p:sp>
      <p:sp>
        <p:nvSpPr>
          <p:cNvPr id="33" name="value data CC BY 4.0, code MIT; a seeded, deterministic generator"/>
          <p:cNvSpPr txBox="1"/>
          <p:nvPr/>
        </p:nvSpPr>
        <p:spPr>
          <a:xfrm>
            <a:off x="10018776" y="411480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Open</a:t>
            </a:r>
            <a:endParaRPr lang="en-US" sz="2600" dirty="0"/>
          </a:p>
        </p:txBody>
      </p:sp>
      <p:sp>
        <p:nvSpPr>
          <p:cNvPr id="34" name="label data CC BY 4.0, code MIT; a seeded, deterministic generator"/>
          <p:cNvSpPr txBox="1"/>
          <p:nvPr/>
        </p:nvSpPr>
        <p:spPr>
          <a:xfrm>
            <a:off x="10018776" y="5163617"/>
            <a:ext cx="1420368" cy="747065"/>
          </a:xfrm>
          <a:prstGeom prst="rect">
            <a:avLst/>
          </a:prstGeom>
          <a:noFill/>
          <a:ln/>
        </p:spPr>
        <p:txBody>
          <a:bodyPr wrap="square" lIns="0" tIns="0" rIns="0" bIns="0" rtlCol="0" anchor="t"/>
          <a:lstStyle/>
          <a:p>
            <a:pPr indent="0" marL="0">
              <a:buNone/>
            </a:pPr>
            <a:r>
              <a:rPr lang="en-US" sz="1150" dirty="0">
                <a:solidFill>
                  <a:srgbClr val="52514E"/>
                </a:solidFill>
              </a:rPr>
              <a:t>data CC BY 4.0, code MIT; a seeded, deterministic generator</a:t>
            </a:r>
            <a:endParaRPr lang="en-US" sz="11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We generate what a designer receives: the section at one hanger</a:t>
            </a:r>
            <a:endParaRPr lang="en-US" sz="2600" dirty="0"/>
          </a:p>
        </p:txBody>
      </p:sp>
      <p:pic>
        <p:nvPicPr>
          <p:cNvPr id="3" name="context figure" descr="/home/user/crossmep_dataset/docs/figures/01_what_a_context_is.png">    </p:cNvPr>
          <p:cNvPicPr>
            <a:picLocks noChangeAspect="1"/>
          </p:cNvPicPr>
          <p:nvPr/>
        </p:nvPicPr>
        <p:blipFill>
          <a:blip r:embed="rId1"/>
          <a:stretch>
            <a:fillRect/>
          </a:stretch>
        </p:blipFill>
        <p:spPr>
          <a:xfrm>
            <a:off x="1174606" y="1325880"/>
            <a:ext cx="9839739" cy="4526280"/>
          </a:xfrm>
          <a:prstGeom prst="rect">
            <a:avLst/>
          </a:prstGeom>
        </p:spPr>
      </p:pic>
      <p:sp>
        <p:nvSpPr>
          <p:cNvPr id="4" name="context caption"/>
          <p:cNvSpPr txBox="1"/>
          <p:nvPr/>
        </p:nvSpPr>
        <p:spPr>
          <a:xfrm>
            <a:off x="548640" y="5943600"/>
            <a:ext cx="11091672" cy="502920"/>
          </a:xfrm>
          <a:prstGeom prst="rect">
            <a:avLst/>
          </a:prstGeom>
          <a:noFill/>
          <a:ln/>
        </p:spPr>
        <p:txBody>
          <a:bodyPr wrap="square" lIns="0" tIns="0" rIns="0" bIns="0" rtlCol="0" anchor="t"/>
          <a:lstStyle/>
          <a:p>
            <a:pPr indent="0" marL="0">
              <a:buNone/>
            </a:pPr>
            <a:r>
              <a:rPr lang="en-US" sz="1100" dirty="0">
                <a:solidFill>
                  <a:srgbClr val="52514E"/>
                </a:solidFill>
              </a:rPr>
              <a:t>Per element: kind, service and trade · bare size · insulation per side · load per metre × the span it was sized at = load at the support · position along and out from the surface. Per context: slab or wall, substrate, thickness. Absent by design: channel, rods, clamps, anchors — and any “correct” answer, since a feasible support depends on the catalog you build from.</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Sections follow trade practice and measured spacing, not random shapes</a:t>
            </a:r>
            <a:endParaRPr lang="en-US" sz="2600" dirty="0"/>
          </a:p>
        </p:txBody>
      </p:sp>
      <p:sp>
        <p:nvSpPr>
          <p:cNvPr id="3" name="step circle 1"/>
          <p:cNvSpPr/>
          <p:nvPr/>
        </p:nvSpPr>
        <p:spPr>
          <a:xfrm>
            <a:off x="548640" y="1453896"/>
            <a:ext cx="402336" cy="402336"/>
          </a:xfrm>
          <a:prstGeom prst="ellipse">
            <a:avLst/>
          </a:prstGeom>
          <a:solidFill>
            <a:schemeClr val="accent1"/>
          </a:solidFill>
          <a:ln/>
        </p:spPr>
      </p:sp>
      <p:sp>
        <p:nvSpPr>
          <p:cNvPr id="4" name="step number 1"/>
          <p:cNvSpPr txBox="1"/>
          <p:nvPr/>
        </p:nvSpPr>
        <p:spPr>
          <a:xfrm>
            <a:off x="548640" y="145389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step 1"/>
          <p:cNvSpPr txBox="1"/>
          <p:nvPr/>
        </p:nvSpPr>
        <p:spPr>
          <a:xfrm>
            <a:off x="1143000" y="1325880"/>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Tier. </a:t>
            </a:r>
            <a:pPr indent="0" marL="0">
              <a:buNone/>
            </a:pPr>
            <a:r>
              <a:rPr lang="en-US" sz="1300" dirty="0">
                <a:solidFill>
                  <a:schemeClr val="tx1"/>
                </a:solidFill>
              </a:rPr>
              <a:t>Cn fixes the exact element count, n = 1 … 8.</a:t>
            </a:r>
            <a:endParaRPr lang="en-US" sz="1300" dirty="0"/>
          </a:p>
        </p:txBody>
      </p:sp>
      <p:sp>
        <p:nvSpPr>
          <p:cNvPr id="6" name="step circle 2"/>
          <p:cNvSpPr/>
          <p:nvPr/>
        </p:nvSpPr>
        <p:spPr>
          <a:xfrm>
            <a:off x="548640" y="2240280"/>
            <a:ext cx="402336" cy="402336"/>
          </a:xfrm>
          <a:prstGeom prst="ellipse">
            <a:avLst/>
          </a:prstGeom>
          <a:solidFill>
            <a:schemeClr val="accent1"/>
          </a:solidFill>
          <a:ln/>
        </p:spPr>
      </p:sp>
      <p:sp>
        <p:nvSpPr>
          <p:cNvPr id="7" name="step number 2"/>
          <p:cNvSpPr txBox="1"/>
          <p:nvPr/>
        </p:nvSpPr>
        <p:spPr>
          <a:xfrm>
            <a:off x="548640" y="224028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8" name="step 2"/>
          <p:cNvSpPr txBox="1"/>
          <p:nvPr/>
        </p:nvSpPr>
        <p:spPr>
          <a:xfrm>
            <a:off x="1143000" y="2112264"/>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Surface. </a:t>
            </a:r>
            <a:pPr indent="0" marL="0">
              <a:buNone/>
            </a:pPr>
            <a:r>
              <a:rPr lang="en-US" sz="1300" dirty="0">
                <a:solidFill>
                  <a:schemeClr val="tx1"/>
                </a:solidFill>
              </a:rPr>
              <a:t>Ceiling or wall (78 / 22 %); concrete slab or wall, 150–300 mm thick.</a:t>
            </a:r>
            <a:endParaRPr lang="en-US" sz="1300" dirty="0"/>
          </a:p>
        </p:txBody>
      </p:sp>
      <p:sp>
        <p:nvSpPr>
          <p:cNvPr id="9" name="step circle 3"/>
          <p:cNvSpPr/>
          <p:nvPr/>
        </p:nvSpPr>
        <p:spPr>
          <a:xfrm>
            <a:off x="548640" y="3026664"/>
            <a:ext cx="402336" cy="402336"/>
          </a:xfrm>
          <a:prstGeom prst="ellipse">
            <a:avLst/>
          </a:prstGeom>
          <a:solidFill>
            <a:schemeClr val="accent1"/>
          </a:solidFill>
          <a:ln/>
        </p:spPr>
      </p:sp>
      <p:sp>
        <p:nvSpPr>
          <p:cNvPr id="10" name="step number 3"/>
          <p:cNvSpPr txBox="1"/>
          <p:nvPr/>
        </p:nvSpPr>
        <p:spPr>
          <a:xfrm>
            <a:off x="548640" y="302666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1" name="step 3"/>
          <p:cNvSpPr txBox="1"/>
          <p:nvPr/>
        </p:nvSpPr>
        <p:spPr>
          <a:xfrm>
            <a:off x="1143000" y="2898648"/>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Services. </a:t>
            </a:r>
            <a:pPr indent="0" marL="0">
              <a:buNone/>
            </a:pPr>
            <a:r>
              <a:rPr lang="en-US" sz="1300" dirty="0">
                <a:solidFill>
                  <a:schemeClr val="tx1"/>
                </a:solidFill>
              </a:rPr>
              <a:t>Grouped as trades run: hot + cold pairs, flow + return, chilled banks, sprinkler mains, 1–2 trays, ducts, conduit groups of 2–6.</a:t>
            </a:r>
            <a:endParaRPr lang="en-US" sz="1300" dirty="0"/>
          </a:p>
        </p:txBody>
      </p:sp>
      <p:sp>
        <p:nvSpPr>
          <p:cNvPr id="12" name="step circle 4"/>
          <p:cNvSpPr/>
          <p:nvPr/>
        </p:nvSpPr>
        <p:spPr>
          <a:xfrm>
            <a:off x="548640" y="3813048"/>
            <a:ext cx="402336" cy="402336"/>
          </a:xfrm>
          <a:prstGeom prst="ellipse">
            <a:avLst/>
          </a:prstGeom>
          <a:solidFill>
            <a:schemeClr val="accent1"/>
          </a:solidFill>
          <a:ln/>
        </p:spPr>
      </p:sp>
      <p:sp>
        <p:nvSpPr>
          <p:cNvPr id="13" name="step number 4"/>
          <p:cNvSpPr txBox="1"/>
          <p:nvPr/>
        </p:nvSpPr>
        <p:spPr>
          <a:xfrm>
            <a:off x="548640" y="381304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4" name="step 4"/>
          <p:cNvSpPr txBox="1"/>
          <p:nvPr/>
        </p:nvSpPr>
        <p:spPr>
          <a:xfrm>
            <a:off x="1143000" y="3685032"/>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Rows. </a:t>
            </a:r>
            <a:pPr indent="0" marL="0">
              <a:buNone/>
            </a:pPr>
            <a:r>
              <a:rPr lang="en-US" sz="1300" dirty="0">
                <a:solidFill>
                  <a:schemeClr val="tx1"/>
                </a:solidFill>
              </a:rPr>
              <a:t>Bulky first: ducts nearest the surface, then trays and conduits, then pipes.</a:t>
            </a:r>
            <a:endParaRPr lang="en-US" sz="1300" dirty="0"/>
          </a:p>
        </p:txBody>
      </p:sp>
      <p:sp>
        <p:nvSpPr>
          <p:cNvPr id="15" name="step circle 5"/>
          <p:cNvSpPr/>
          <p:nvPr/>
        </p:nvSpPr>
        <p:spPr>
          <a:xfrm>
            <a:off x="548640" y="4599432"/>
            <a:ext cx="402336" cy="402336"/>
          </a:xfrm>
          <a:prstGeom prst="ellipse">
            <a:avLst/>
          </a:prstGeom>
          <a:solidFill>
            <a:schemeClr val="accent1"/>
          </a:solidFill>
          <a:ln/>
        </p:spPr>
      </p:sp>
      <p:sp>
        <p:nvSpPr>
          <p:cNvPr id="16" name="step number 5"/>
          <p:cNvSpPr txBox="1"/>
          <p:nvPr/>
        </p:nvSpPr>
        <p:spPr>
          <a:xfrm>
            <a:off x="548640" y="459943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17" name="step 5"/>
          <p:cNvSpPr txBox="1"/>
          <p:nvPr/>
        </p:nvSpPr>
        <p:spPr>
          <a:xfrm>
            <a:off x="1143000" y="4471416"/>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Spacing. </a:t>
            </a:r>
            <a:pPr indent="0" marL="0">
              <a:buNone/>
            </a:pPr>
            <a:r>
              <a:rPr lang="en-US" sz="1300" dirty="0">
                <a:solidFill>
                  <a:schemeClr val="tx1"/>
                </a:solidFill>
              </a:rPr>
              <a:t>Gaps drawn from gaps measured on a built project (at least 25 mm); stagger within rows; electrical above wet on walls.</a:t>
            </a:r>
            <a:endParaRPr lang="en-US" sz="1300" dirty="0"/>
          </a:p>
        </p:txBody>
      </p:sp>
      <p:sp>
        <p:nvSpPr>
          <p:cNvPr id="18" name="step circle 6"/>
          <p:cNvSpPr/>
          <p:nvPr/>
        </p:nvSpPr>
        <p:spPr>
          <a:xfrm>
            <a:off x="548640" y="5385816"/>
            <a:ext cx="402336" cy="402336"/>
          </a:xfrm>
          <a:prstGeom prst="ellipse">
            <a:avLst/>
          </a:prstGeom>
          <a:solidFill>
            <a:schemeClr val="accent1"/>
          </a:solidFill>
          <a:ln/>
        </p:spPr>
      </p:sp>
      <p:sp>
        <p:nvSpPr>
          <p:cNvPr id="19" name="step number 6"/>
          <p:cNvSpPr txBox="1"/>
          <p:nvPr/>
        </p:nvSpPr>
        <p:spPr>
          <a:xfrm>
            <a:off x="548640" y="538581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20" name="step 6"/>
          <p:cNvSpPr txBox="1"/>
          <p:nvPr/>
        </p:nvSpPr>
        <p:spPr>
          <a:xfrm>
            <a:off x="1143000" y="5257800"/>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Check. </a:t>
            </a:r>
            <a:pPr indent="0" marL="0">
              <a:buNone/>
            </a:pPr>
            <a:r>
              <a:rPr lang="en-US" sz="1300" dirty="0">
                <a:solidFill>
                  <a:schemeClr val="tx1"/>
                </a:solidFill>
              </a:rPr>
              <a:t>Every pair at least 25 mm clear; rows centred; sizes, insulation, loads and positions recorded.</a:t>
            </a:r>
            <a:endParaRPr lang="en-US" sz="1300" dirty="0"/>
          </a:p>
        </p:txBody>
      </p:sp>
      <p:pic>
        <p:nvPicPr>
          <p:cNvPr id="21" name="generation example" descr="/home/user/crossmep_dataset/docs/figures/05_generation_example.png">    </p:cNvPr>
          <p:cNvPicPr>
            <a:picLocks noChangeAspect="1"/>
          </p:cNvPicPr>
          <p:nvPr/>
        </p:nvPicPr>
        <p:blipFill>
          <a:blip r:embed="rId1"/>
          <a:stretch>
            <a:fillRect/>
          </a:stretch>
        </p:blipFill>
        <p:spPr>
          <a:xfrm>
            <a:off x="6309360" y="1582022"/>
            <a:ext cx="5330952" cy="3511075"/>
          </a:xfrm>
          <a:prstGeom prst="rect">
            <a:avLst/>
          </a:prstGeom>
        </p:spPr>
      </p:pic>
      <p:sp>
        <p:nvSpPr>
          <p:cNvPr id="22" name="generation caption"/>
          <p:cNvSpPr txBox="1"/>
          <p:nvPr/>
        </p:nvSpPr>
        <p:spPr>
          <a:xfrm>
            <a:off x="6309360" y="5202826"/>
            <a:ext cx="5330952" cy="685800"/>
          </a:xfrm>
          <a:prstGeom prst="rect">
            <a:avLst/>
          </a:prstGeom>
          <a:noFill/>
          <a:ln/>
        </p:spPr>
        <p:txBody>
          <a:bodyPr wrap="square" lIns="0" tIns="0" rIns="0" bIns="0" rtlCol="0" anchor="t"/>
          <a:lstStyle/>
          <a:p>
            <a:pPr indent="0" marL="0">
              <a:buNone/>
            </a:pPr>
            <a:r>
              <a:rPr lang="en-US" sz="1100" dirty="0">
                <a:solidFill>
                  <a:srgbClr val="52514E"/>
                </a:solidFill>
              </a:rPr>
              <a:t>One generated benchmark context, three rows by priority; the gap marked is one draw from the measured distribution. Every context is seeded: the same seed gives the same file, byte for byte.</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Sizes, spans and loads come from standards; the choices are declared</a:t>
            </a:r>
            <a:endParaRPr lang="en-US" sz="2600" dirty="0"/>
          </a:p>
        </p:txBody>
      </p:sp>
      <p:graphicFrame>
        <p:nvGraphicFramePr>
          <p:cNvPr id="8" name="sources table"/>
          <p:cNvGraphicFramePr>
            <a:graphicFrameLocks noGrp="1"/>
          </p:cNvGraphicFramePr>
          <p:nvPr>
            <p:extLst>
              <p:ext uri="{D42A27DB-BD31-4B8C-83A1-F6EECF244321}">
                <p14:modId xmlns:p14="http://schemas.microsoft.com/office/powerpoint/2010/main" val="1579011935"/>
              </p:ext>
            </p:extLst>
          </p:nvPr>
        </p:nvGraphicFramePr>
        <p:xfrm>
          <a:off x="548640" y="1417320"/>
          <a:ext cx="7223760" cy="914400"/>
        </p:xfrm>
        <a:graphic>
          <a:graphicData uri="http://schemas.openxmlformats.org/drawingml/2006/table">
            <a:tbl>
              <a:tblPr/>
              <a:tblGrid>
                <a:gridCol w="1737360"/>
                <a:gridCol w="2560320"/>
                <a:gridCol w="2926080"/>
              </a:tblGrid>
              <a:tr h="38404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Element</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Sizes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Load basis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713232">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Pipes DN15–100</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EN 10220 / EN 10255 medium series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steel + water × ASME B31.1 water-service span (published points only)</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713232">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Insulation</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GEG Anlage 8 (heated); 30/50 mm condensation control (chilled)</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548640">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Cable trays 150–600</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IEC 61537 systems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full tray: 50 kg/m at 300 mm datum, × 2.0 m</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548640">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Ducts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EN 1505 rectangular; EN 1506 round</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manufacturer duct-weight table incl. flanges, × 2.4 m</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548640">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Conduits Ø20–50</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IEC 61386-1, parallel groups of 2–6</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steel tube + 40 %-of-bore cable fill, × 2.0 m</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4" name="conventions heading"/>
          <p:cNvSpPr txBox="1"/>
          <p:nvPr/>
        </p:nvSpPr>
        <p:spPr>
          <a:xfrm>
            <a:off x="8092440" y="1417320"/>
            <a:ext cx="3566160" cy="411480"/>
          </a:xfrm>
          <a:prstGeom prst="rect">
            <a:avLst/>
          </a:prstGeom>
          <a:noFill/>
          <a:ln/>
        </p:spPr>
        <p:txBody>
          <a:bodyPr wrap="square" lIns="0" tIns="0" rIns="0" bIns="0" rtlCol="0" anchor="ctr"/>
          <a:lstStyle/>
          <a:p>
            <a:pPr indent="0" marL="0">
              <a:buNone/>
            </a:pPr>
            <a:r>
              <a:rPr lang="en-US" sz="1800" b="1" dirty="0">
                <a:solidFill>
                  <a:schemeClr val="tx1"/>
                </a:solidFill>
              </a:rPr>
              <a:t>Layout conventions</a:t>
            </a:r>
            <a:endParaRPr lang="en-US" sz="1800" dirty="0"/>
          </a:p>
        </p:txBody>
      </p:sp>
      <p:sp>
        <p:nvSpPr>
          <p:cNvPr id="5" name="conventions"/>
          <p:cNvSpPr txBox="1"/>
          <p:nvPr/>
        </p:nvSpPr>
        <p:spPr>
          <a:xfrm>
            <a:off x="8092440" y="1920240"/>
            <a:ext cx="3566160" cy="32918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Bulky services nearest the slab: ducts, then containment, then pipes</a:t>
            </a:r>
            <a:endParaRPr lang="en-US" sz="1300" dirty="0"/>
          </a:p>
          <a:p>
            <a:pPr marL="342900" indent="-342900">
              <a:spcAft>
                <a:spcPts val="600"/>
              </a:spcAft>
              <a:buSzPct val="100000"/>
              <a:buChar char="•"/>
            </a:pPr>
            <a:r>
              <a:rPr lang="en-US" sz="1300" dirty="0">
                <a:solidFill>
                  <a:schemeClr val="tx1"/>
                </a:solidFill>
              </a:rPr>
              <a:t>Trades run in banks: hot + cold pairs, flow + return, conduit groups</a:t>
            </a:r>
            <a:endParaRPr lang="en-US" sz="1300" dirty="0"/>
          </a:p>
          <a:p>
            <a:pPr marL="342900" indent="-342900">
              <a:spcAft>
                <a:spcPts val="600"/>
              </a:spcAft>
              <a:buSzPct val="100000"/>
              <a:buChar char="•"/>
            </a:pPr>
            <a:r>
              <a:rPr lang="en-US" sz="1300" dirty="0">
                <a:solidFill>
                  <a:schemeClr val="tx1"/>
                </a:solidFill>
              </a:rPr>
              <a:t>Electrical kept above wet services on walls (drip)</a:t>
            </a:r>
            <a:endParaRPr lang="en-US" sz="1300" dirty="0"/>
          </a:p>
          <a:p>
            <a:pPr marL="342900" indent="-342900">
              <a:spcAft>
                <a:spcPts val="600"/>
              </a:spcAft>
              <a:buSzPct val="100000"/>
              <a:buChar char="•"/>
            </a:pPr>
            <a:r>
              <a:rPr lang="en-US" sz="1300" dirty="0">
                <a:solidFill>
                  <a:schemeClr val="tx1"/>
                </a:solidFill>
              </a:rPr>
              <a:t>Clear gaps drawn from a distribution measured on a built project; 25 mm minimum</a:t>
            </a:r>
            <a:endParaRPr lang="en-US" sz="1300" dirty="0"/>
          </a:p>
          <a:p>
            <a:pPr marL="342900" indent="-342900">
              <a:spcAft>
                <a:spcPts val="600"/>
              </a:spcAft>
              <a:buSzPct val="100000"/>
              <a:buChar char="•"/>
            </a:pPr>
            <a:r>
              <a:rPr lang="en-US" sz="1300" dirty="0">
                <a:solidFill>
                  <a:schemeClr val="tx1"/>
                </a:solidFill>
              </a:rPr>
              <a:t>Within-row stagger calibrated to measured elevation spread</a:t>
            </a:r>
            <a:endParaRPr lang="en-US" sz="1300" dirty="0"/>
          </a:p>
        </p:txBody>
      </p:sp>
      <p:sp>
        <p:nvSpPr>
          <p:cNvPr id="6" name="sources note card"/>
          <p:cNvSpPr/>
          <p:nvPr/>
        </p:nvSpPr>
        <p:spPr>
          <a:xfrm>
            <a:off x="548640" y="5257800"/>
            <a:ext cx="11091672" cy="777240"/>
          </a:xfrm>
          <a:prstGeom prst="roundRect">
            <a:avLst>
              <a:gd name="adj" fmla="val 8235"/>
            </a:avLst>
          </a:prstGeom>
          <a:solidFill>
            <a:schemeClr val="bg2"/>
          </a:solidFill>
          <a:ln/>
        </p:spPr>
      </p:sp>
      <p:sp>
        <p:nvSpPr>
          <p:cNvPr id="7" name="sources note"/>
          <p:cNvSpPr txBox="1"/>
          <p:nvPr/>
        </p:nvSpPr>
        <p:spPr>
          <a:xfrm>
            <a:off x="822960" y="5303520"/>
            <a:ext cx="10515600" cy="685800"/>
          </a:xfrm>
          <a:prstGeom prst="rect">
            <a:avLst/>
          </a:prstGeom>
          <a:noFill/>
          <a:ln/>
        </p:spPr>
        <p:txBody>
          <a:bodyPr wrap="square" lIns="0" tIns="0" rIns="0" bIns="0" rtlCol="0" anchor="ctr"/>
          <a:lstStyle/>
          <a:p>
            <a:pPr indent="0" marL="0">
              <a:buNone/>
            </a:pPr>
            <a:r>
              <a:rPr lang="en-US" sz="1300" dirty="0">
                <a:solidFill>
                  <a:schemeClr val="tx1"/>
                </a:solidFill>
              </a:rPr>
              <a:t>Every constant carries a source and a status (verified, practice-cited, or a declared design choice) in the repository. Loads are derived in code from those sources, so each number can be traced and checked.</a:t>
            </a:r>
            <a:endParaRPr lang="en-US" sz="13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7,000 contexts in four splits; the test seeds are never trained on</a:t>
            </a:r>
            <a:endParaRPr lang="en-US" sz="2600" dirty="0"/>
          </a:p>
        </p:txBody>
      </p:sp>
      <p:graphicFrame>
        <p:nvGraphicFramePr>
          <p:cNvPr id="9" name="splits table"/>
          <p:cNvGraphicFramePr>
            <a:graphicFrameLocks noGrp="1"/>
          </p:cNvGraphicFramePr>
          <p:nvPr>
            <p:extLst>
              <p:ext uri="{D42A27DB-BD31-4B8C-83A1-F6EECF244321}">
                <p14:modId xmlns:p14="http://schemas.microsoft.com/office/powerpoint/2010/main" val="1579011935"/>
              </p:ext>
            </p:extLst>
          </p:nvPr>
        </p:nvGraphicFramePr>
        <p:xfrm>
          <a:off x="548640" y="1417320"/>
          <a:ext cx="5120640" cy="914400"/>
        </p:xfrm>
        <a:graphic>
          <a:graphicData uri="http://schemas.openxmlformats.org/drawingml/2006/table">
            <a:tbl>
              <a:tblPr/>
              <a:tblGrid>
                <a:gridCol w="1554480"/>
                <a:gridCol w="1188720"/>
                <a:gridCol w="1280160"/>
                <a:gridCol w="1097280"/>
              </a:tblGrid>
              <a:tr h="384048">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split</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contexts</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elements</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seed</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84048">
                <a:tc>
                  <a:txBody>
                    <a:bodyPr/>
                    <a:lstStyle/>
                    <a:p>
                      <a:pPr algn="l" indent="0" marL="0">
                        <a:buNone/>
                      </a:pPr>
                      <a:r>
                        <a:rPr lang="en-US" sz="1200" dirty="0">
                          <a:solidFill>
                            <a:srgbClr val="0B0B0B"/>
                          </a:solidFill>
                          <a:latin typeface="Calibri" pitchFamily="34" charset="0"/>
                          <a:ea typeface="Calibri" pitchFamily="34" charset="-122"/>
                          <a:cs typeface="Calibri" pitchFamily="34" charset="-120"/>
                        </a:rPr>
                        <a:t>train</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5,000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22,500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dirty="0">
                          <a:solidFill>
                            <a:srgbClr val="0B0B0B"/>
                          </a:solidFill>
                          <a:latin typeface="Calibri" pitchFamily="34" charset="0"/>
                          <a:ea typeface="Calibri" pitchFamily="34" charset="-122"/>
                          <a:cs typeface="Calibri" pitchFamily="34" charset="-120"/>
                        </a:rPr>
                        <a:t>validation</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500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2,242</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2000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dirty="0">
                          <a:solidFill>
                            <a:srgbClr val="0B0B0B"/>
                          </a:solidFill>
                          <a:latin typeface="Calibri" pitchFamily="34" charset="0"/>
                          <a:ea typeface="Calibri" pitchFamily="34" charset="-122"/>
                          <a:cs typeface="Calibri" pitchFamily="34" charset="-120"/>
                        </a:rPr>
                        <a:t>test</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500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2,242</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3000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dirty="0">
                          <a:solidFill>
                            <a:srgbClr val="0B0B0B"/>
                          </a:solidFill>
                          <a:latin typeface="Calibri" pitchFamily="34" charset="0"/>
                          <a:ea typeface="Calibri" pitchFamily="34" charset="-122"/>
                          <a:cs typeface="Calibri" pitchFamily="34" charset="-120"/>
                        </a:rPr>
                        <a:t>benchmark</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4,500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42</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b="1" dirty="0">
                          <a:solidFill>
                            <a:srgbClr val="0B0B0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b="1" dirty="0">
                          <a:solidFill>
                            <a:srgbClr val="0B0B0B"/>
                          </a:solidFill>
                          <a:latin typeface="Calibri" pitchFamily="34" charset="0"/>
                          <a:ea typeface="Calibri" pitchFamily="34" charset="-122"/>
                          <a:cs typeface="Calibri" pitchFamily="34" charset="-120"/>
                        </a:rPr>
                        <a:t>7,000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b="1" dirty="0">
                          <a:solidFill>
                            <a:srgbClr val="0B0B0B"/>
                          </a:solidFill>
                          <a:latin typeface="Calibri" pitchFamily="34" charset="0"/>
                          <a:ea typeface="Calibri" pitchFamily="34" charset="-122"/>
                          <a:cs typeface="Calibri" pitchFamily="34" charset="-120"/>
                        </a:rPr>
                        <a:t>31,484</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4" name="release facts"/>
          <p:cNvSpPr txBox="1"/>
          <p:nvPr/>
        </p:nvSpPr>
        <p:spPr>
          <a:xfrm>
            <a:off x="548640" y="3977640"/>
            <a:ext cx="5120640" cy="21488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Tiers assigned round-robin: 625 per tier in train, 125 in the benchmark</a:t>
            </a:r>
            <a:endParaRPr lang="en-US" sz="1300" dirty="0"/>
          </a:p>
          <a:p>
            <a:pPr marL="342900" indent="-342900">
              <a:spcAft>
                <a:spcPts val="600"/>
              </a:spcAft>
              <a:buSzPct val="100000"/>
              <a:buChar char="•"/>
            </a:pPr>
            <a:r>
              <a:rPr lang="en-US" sz="1300" dirty="0">
                <a:solidFill>
                  <a:schemeClr val="tx1"/>
                </a:solidFill>
              </a:rPr>
              <a:t>Four in five contexts hang from a ceiling, one in five from a wall</a:t>
            </a:r>
            <a:endParaRPr lang="en-US" sz="1300" dirty="0"/>
          </a:p>
          <a:p>
            <a:pPr marL="342900" indent="-342900">
              <a:spcAft>
                <a:spcPts val="600"/>
              </a:spcAft>
              <a:buSzPct val="100000"/>
              <a:buChar char="•"/>
            </a:pPr>
            <a:r>
              <a:rPr lang="en-US" sz="1300" dirty="0">
                <a:solidFill>
                  <a:schemeClr val="tx1"/>
                </a:solidFill>
              </a:rPr>
              <a:t>Six trades: electrical 11,592, domestic water 5,889, heating 5,766, chilled water 4,129, sprinkler 2,200, ventilation 1,908 elements</a:t>
            </a:r>
            <a:endParaRPr lang="en-US" sz="1300" dirty="0"/>
          </a:p>
          <a:p>
            <a:pPr marL="342900" indent="-342900">
              <a:spcAft>
                <a:spcPts val="600"/>
              </a:spcAft>
              <a:buSzPct val="100000"/>
              <a:buChar char="•"/>
            </a:pPr>
            <a:r>
              <a:rPr lang="en-US" sz="1300" dirty="0">
                <a:solidFill>
                  <a:schemeClr val="tx1"/>
                </a:solidFill>
              </a:rPr>
              <a:t>Plain JSON, with a JSON Schema, Croissant metadata and a datasheet</a:t>
            </a:r>
            <a:endParaRPr lang="en-US" sz="1300" dirty="0"/>
          </a:p>
        </p:txBody>
      </p:sp>
      <p:graphicFrame>
        <p:nvGraphicFramePr>
          <p:cNvPr id="5" name="kinds chart" descr=""/>
          <p:cNvGraphicFramePr/>
          <p:nvPr/>
        </p:nvGraphicFramePr>
        <p:xfrm>
          <a:off x="5989320" y="1371600"/>
          <a:ext cx="5650992" cy="22402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dn chart" descr=""/>
          <p:cNvGraphicFramePr/>
          <p:nvPr/>
        </p:nvGraphicFramePr>
        <p:xfrm>
          <a:off x="5989320" y="3749040"/>
          <a:ext cx="5650992" cy="237744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Difficulty is one number: tier Cn holds exactly n elements</a:t>
            </a:r>
            <a:endParaRPr lang="en-US" sz="2600" dirty="0"/>
          </a:p>
        </p:txBody>
      </p:sp>
      <p:pic>
        <p:nvPicPr>
          <p:cNvPr id="3" name="tier gallery" descr="/home/user/crossmep_dataset/docs/figures/02_tier_gallery.png">    </p:cNvPr>
          <p:cNvPicPr>
            <a:picLocks noChangeAspect="1"/>
          </p:cNvPicPr>
          <p:nvPr/>
        </p:nvPicPr>
        <p:blipFill>
          <a:blip r:embed="rId1"/>
          <a:stretch>
            <a:fillRect/>
          </a:stretch>
        </p:blipFill>
        <p:spPr>
          <a:xfrm>
            <a:off x="1244890" y="1280160"/>
            <a:ext cx="9699171" cy="4526280"/>
          </a:xfrm>
          <a:prstGeom prst="rect">
            <a:avLst/>
          </a:prstGeom>
        </p:spPr>
      </p:pic>
      <p:sp>
        <p:nvSpPr>
          <p:cNvPr id="4" name="gallery caption"/>
          <p:cNvSpPr txBox="1"/>
          <p:nvPr/>
        </p:nvSpPr>
        <p:spPr>
          <a:xfrm>
            <a:off x="548640" y="5897880"/>
            <a:ext cx="11091672" cy="502920"/>
          </a:xfrm>
          <a:prstGeom prst="rect">
            <a:avLst/>
          </a:prstGeom>
          <a:noFill/>
          <a:ln/>
        </p:spPr>
        <p:txBody>
          <a:bodyPr wrap="square" lIns="0" tIns="0" rIns="0" bIns="0" rtlCol="0" anchor="t"/>
          <a:lstStyle/>
          <a:p>
            <a:pPr indent="0" marL="0">
              <a:buNone/>
            </a:pPr>
            <a:r>
              <a:rPr lang="en-US" sz="1100" dirty="0">
                <a:solidFill>
                  <a:srgbClr val="52514E"/>
                </a:solidFill>
              </a:rPr>
              <a:t>One benchmark context per tier; dashed rings are insulation. Within a tier, kinds, trades, services, surfaces and stacking all vary, so element count is the one controlled difficulty axis. C1 is the most common support in any building; C8 is a congested rack.</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Higher tiers are heavier and, overall, tighter, as designed</a:t>
            </a:r>
            <a:endParaRPr lang="en-US" sz="2600" dirty="0"/>
          </a:p>
        </p:txBody>
      </p:sp>
      <p:pic>
        <p:nvPicPr>
          <p:cNvPr id="3" name="tier statistics" descr="preencoded.png">    </p:cNvPr>
          <p:cNvPicPr>
            <a:picLocks noChangeAspect="1"/>
          </p:cNvPicPr>
          <p:nvPr/>
        </p:nvPicPr>
        <p:blipFill>
          <a:blip r:embed="rId1"/>
          <a:stretch>
            <a:fillRect/>
          </a:stretch>
        </p:blipFill>
        <p:spPr>
          <a:xfrm>
            <a:off x="548640" y="1325880"/>
            <a:ext cx="11091672" cy="3965273"/>
          </a:xfrm>
          <a:prstGeom prst="rect">
            <a:avLst/>
          </a:prstGeom>
        </p:spPr>
      </p:pic>
      <p:sp>
        <p:nvSpPr>
          <p:cNvPr id="4" name="experiment 1 caption"/>
          <p:cNvSpPr txBox="1"/>
          <p:nvPr/>
        </p:nvSpPr>
        <p:spPr>
          <a:xfrm>
            <a:off x="548640" y="5400881"/>
            <a:ext cx="11091672" cy="731520"/>
          </a:xfrm>
          <a:prstGeom prst="rect">
            <a:avLst/>
          </a:prstGeom>
          <a:noFill/>
          <a:ln/>
        </p:spPr>
        <p:txBody>
          <a:bodyPr wrap="square" lIns="0" tIns="0" rIns="0" bIns="0" rtlCol="0" anchor="t"/>
          <a:lstStyle/>
          <a:p>
            <a:pPr indent="0" marL="0">
              <a:buNone/>
            </a:pPr>
            <a:r>
              <a:rPr lang="en-US" sz="1250" dirty="0">
                <a:solidFill>
                  <a:srgbClr val="52514E"/>
                </a:solidFill>
              </a:rPr>
              <a:t>A check that the dataset behaves as designed: the tier fixes the element count; load and congestion follow from the rules. Boxes: benchmark, 125 contexts per tier (IQR, whiskers 1.5 IQR); diamonds: medians of 2,000 generated contexts per tier. Load rises at every tier (rank correlation +0.56); the closest gap shrinks overall (−0.36) but widens at C6 (70 → 75 mm), where elements start to stack in two or three rows.</a:t>
            </a:r>
            <a:endParaRPr lang="en-US" sz="12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Spacing holds up on a clinic the generator never saw</a:t>
            </a:r>
            <a:endParaRPr lang="en-US" sz="2600" dirty="0"/>
          </a:p>
        </p:txBody>
      </p:sp>
      <p:pic>
        <p:nvPicPr>
          <p:cNvPr id="3" name="gap distributions" descr="preencoded.png">    </p:cNvPr>
          <p:cNvPicPr>
            <a:picLocks noChangeAspect="1"/>
          </p:cNvPicPr>
          <p:nvPr/>
        </p:nvPicPr>
        <p:blipFill>
          <a:blip r:embed="rId1"/>
          <a:stretch>
            <a:fillRect/>
          </a:stretch>
        </p:blipFill>
        <p:spPr>
          <a:xfrm>
            <a:off x="548640" y="1325880"/>
            <a:ext cx="11091672" cy="4133217"/>
          </a:xfrm>
          <a:prstGeom prst="rect">
            <a:avLst/>
          </a:prstGeom>
        </p:spPr>
      </p:pic>
      <p:sp>
        <p:nvSpPr>
          <p:cNvPr id="4" name="experiment 2 caption"/>
          <p:cNvSpPr txBox="1"/>
          <p:nvPr/>
        </p:nvSpPr>
        <p:spPr>
          <a:xfrm>
            <a:off x="548640" y="5568825"/>
            <a:ext cx="11091672" cy="731520"/>
          </a:xfrm>
          <a:prstGeom prst="rect">
            <a:avLst/>
          </a:prstGeom>
          <a:noFill/>
          <a:ln/>
        </p:spPr>
        <p:txBody>
          <a:bodyPr wrap="square" lIns="0" tIns="0" rIns="0" bIns="0" rtlCol="0" anchor="t"/>
          <a:lstStyle/>
          <a:p>
            <a:pPr indent="0" marL="0">
              <a:buNone/>
            </a:pPr>
            <a:r>
              <a:rPr lang="en-US" sz="1250" dirty="0">
                <a:solidFill>
                  <a:srgbClr val="52514E"/>
                </a:solidFill>
              </a:rPr>
              <a:t>The gap distribution was fitted on the duplex; the clinic was held out. Clear gaps between side-by-side pipes, on sections every 250 mm. Clinic (797 pipe pairs): 28 mm from the generated gaps (95 % CI 16–44), more than the 8 mm a perfect generator would show, and about as close as the duplex’s own two models are to each other (26 mm). Models: buildingSMART Duplex Apartment and Medical-Dental Clinic, CC BY 4.0.</a:t>
            </a:r>
            <a:endParaRPr lang="en-US" sz="12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two-size catalog attaches 1 pipe in 9; the dataset shows what to cover</a:t>
            </a:r>
            <a:endParaRPr lang="en-US" sz="2600" dirty="0"/>
          </a:p>
        </p:txBody>
      </p:sp>
      <p:graphicFrame>
        <p:nvGraphicFramePr>
          <p:cNvPr id="3" name="attach by size chart" descr=""/>
          <p:cNvGraphicFramePr/>
          <p:nvPr/>
        </p:nvGraphicFramePr>
        <p:xfrm>
          <a:off x="548640" y="1325880"/>
          <a:ext cx="5486400" cy="32461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demand chart" descr=""/>
          <p:cNvGraphicFramePr/>
          <p:nvPr/>
        </p:nvGraphicFramePr>
        <p:xfrm>
          <a:off x="6172200" y="1325880"/>
          <a:ext cx="5468112" cy="3246120"/>
        </p:xfrm>
        <a:graphic xmlns:a="http://schemas.openxmlformats.org/drawingml/2006/main">
          <a:graphicData uri="http://schemas.openxmlformats.org/drawingml/2006/chart">
            <c:chart xmlns:c="http://schemas.openxmlformats.org/drawingml/2006/chart" r:id="rId2"/>
          </a:graphicData>
        </a:graphic>
      </p:graphicFrame>
      <p:sp>
        <p:nvSpPr>
          <p:cNvPr id="5" name="tile of benchmark pipes attachable with the paper’s two sizes (95 % CI 10.1–13.0); every one is DN40"/>
          <p:cNvSpPr/>
          <p:nvPr/>
        </p:nvSpPr>
        <p:spPr>
          <a:xfrm>
            <a:off x="548640" y="4663440"/>
            <a:ext cx="3575304" cy="1463040"/>
          </a:xfrm>
          <a:prstGeom prst="roundRect">
            <a:avLst>
              <a:gd name="adj" fmla="val 4375"/>
            </a:avLst>
          </a:prstGeom>
          <a:solidFill>
            <a:schemeClr val="bg2"/>
          </a:solidFill>
          <a:ln/>
        </p:spPr>
      </p:sp>
      <p:sp>
        <p:nvSpPr>
          <p:cNvPr id="6" name="value of benchmark pipes attachable with the paper’s two sizes (95 % CI 10.1–13.0); every one is DN40"/>
          <p:cNvSpPr txBox="1"/>
          <p:nvPr/>
        </p:nvSpPr>
        <p:spPr>
          <a:xfrm>
            <a:off x="749808"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11.6 %</a:t>
            </a:r>
            <a:endParaRPr lang="en-US" sz="3200" dirty="0"/>
          </a:p>
        </p:txBody>
      </p:sp>
      <p:sp>
        <p:nvSpPr>
          <p:cNvPr id="7" name="label of benchmark pipes attachable with the paper’s two sizes (95 % CI 10.1–13.0); every one is DN40"/>
          <p:cNvSpPr txBox="1"/>
          <p:nvPr/>
        </p:nvSpPr>
        <p:spPr>
          <a:xfrm>
            <a:off x="749808"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of benchmark pipes attachable with the paper’s two sizes (95 % CI 10.1–13.0); every one is DN40</a:t>
            </a:r>
            <a:endParaRPr lang="en-US" sz="1100" dirty="0"/>
          </a:p>
        </p:txBody>
      </p:sp>
      <p:sp>
        <p:nvSpPr>
          <p:cNvPr id="8" name="tile with two sizes placed where the pipes are; 80 % with six, and every pipe with 12"/>
          <p:cNvSpPr/>
          <p:nvPr/>
        </p:nvSpPr>
        <p:spPr>
          <a:xfrm>
            <a:off x="4306824" y="4663440"/>
            <a:ext cx="3575304" cy="1463040"/>
          </a:xfrm>
          <a:prstGeom prst="roundRect">
            <a:avLst>
              <a:gd name="adj" fmla="val 4375"/>
            </a:avLst>
          </a:prstGeom>
          <a:solidFill>
            <a:schemeClr val="bg2"/>
          </a:solidFill>
          <a:ln/>
        </p:spPr>
      </p:sp>
      <p:sp>
        <p:nvSpPr>
          <p:cNvPr id="9" name="value with two sizes placed where the pipes are; 80 % with six, and every pipe with 12"/>
          <p:cNvSpPr txBox="1"/>
          <p:nvPr/>
        </p:nvSpPr>
        <p:spPr>
          <a:xfrm>
            <a:off x="4507992"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43.0 %</a:t>
            </a:r>
            <a:endParaRPr lang="en-US" sz="3200" dirty="0"/>
          </a:p>
        </p:txBody>
      </p:sp>
      <p:sp>
        <p:nvSpPr>
          <p:cNvPr id="10" name="label with two sizes placed where the pipes are; 80 % with six, and every pipe with 12"/>
          <p:cNvSpPr txBox="1"/>
          <p:nvPr/>
        </p:nvSpPr>
        <p:spPr>
          <a:xfrm>
            <a:off x="4507992"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with two sizes placed where the pipes are; 80 % with six, and every pipe with 12</a:t>
            </a:r>
            <a:endParaRPr lang="en-US" sz="1100" dirty="0"/>
          </a:p>
        </p:txBody>
      </p:sp>
      <p:sp>
        <p:nvSpPr>
          <p:cNvPr id="11" name="tile trays, ducts and conduits: a pipe-clamp catalog defines no attachment. Load never binds (0.88 vs 2.5 kN)"/>
          <p:cNvSpPr/>
          <p:nvPr/>
        </p:nvSpPr>
        <p:spPr>
          <a:xfrm>
            <a:off x="8065008" y="4663440"/>
            <a:ext cx="3575304" cy="1463040"/>
          </a:xfrm>
          <a:prstGeom prst="roundRect">
            <a:avLst>
              <a:gd name="adj" fmla="val 4375"/>
            </a:avLst>
          </a:prstGeom>
          <a:solidFill>
            <a:schemeClr val="bg2"/>
          </a:solidFill>
          <a:ln/>
        </p:spPr>
      </p:sp>
      <p:sp>
        <p:nvSpPr>
          <p:cNvPr id="12" name="value trays, ducts and conduits: a pipe-clamp catalog defines no attachment. Load never binds (0.88 vs 2.5 kN)"/>
          <p:cNvSpPr txBox="1"/>
          <p:nvPr/>
        </p:nvSpPr>
        <p:spPr>
          <a:xfrm>
            <a:off x="8266176"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0 of 1,971</a:t>
            </a:r>
            <a:endParaRPr lang="en-US" sz="3200" dirty="0"/>
          </a:p>
        </p:txBody>
      </p:sp>
      <p:sp>
        <p:nvSpPr>
          <p:cNvPr id="13" name="label trays, ducts and conduits: a pipe-clamp catalog defines no attachment. Load never binds (0.88 vs 2.5 kN)"/>
          <p:cNvSpPr txBox="1"/>
          <p:nvPr/>
        </p:nvSpPr>
        <p:spPr>
          <a:xfrm>
            <a:off x="8266176"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trays, ducts and conduits: a pipe-clamp catalog defines no attachment. Load never binds (0.88 vs 2.5 kN)</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Set the parameters and the generator returns the designer’s brief</a:t>
            </a:r>
            <a:endParaRPr lang="en-US" sz="2600" dirty="0"/>
          </a:p>
        </p:txBody>
      </p:sp>
      <p:pic>
        <p:nvPicPr>
          <p:cNvPr id="3" name="studio parameters" descr="preencoded.png">    </p:cNvPr>
          <p:cNvPicPr>
            <a:picLocks noChangeAspect="1"/>
          </p:cNvPicPr>
          <p:nvPr/>
        </p:nvPicPr>
        <p:blipFill>
          <a:blip r:embed="rId1"/>
          <a:stretch>
            <a:fillRect/>
          </a:stretch>
        </p:blipFill>
        <p:spPr>
          <a:xfrm>
            <a:off x="548640" y="1280160"/>
            <a:ext cx="11091672" cy="733885"/>
          </a:xfrm>
          <a:prstGeom prst="rect">
            <a:avLst/>
          </a:prstGeom>
        </p:spPr>
      </p:pic>
      <p:pic>
        <p:nvPicPr>
          <p:cNvPr id="4" name="studio section" descr="preencoded.png">    </p:cNvPr>
          <p:cNvPicPr>
            <a:picLocks noChangeAspect="1"/>
          </p:cNvPicPr>
          <p:nvPr/>
        </p:nvPicPr>
        <p:blipFill>
          <a:blip r:embed="rId2"/>
          <a:stretch>
            <a:fillRect/>
          </a:stretch>
        </p:blipFill>
        <p:spPr>
          <a:xfrm>
            <a:off x="548640" y="2196925"/>
            <a:ext cx="7726680" cy="3000652"/>
          </a:xfrm>
          <a:prstGeom prst="rect">
            <a:avLst/>
          </a:prstGeom>
        </p:spPr>
      </p:pic>
      <p:sp>
        <p:nvSpPr>
          <p:cNvPr id="5" name="studio caption"/>
          <p:cNvSpPr txBox="1"/>
          <p:nvPr/>
        </p:nvSpPr>
        <p:spPr>
          <a:xfrm>
            <a:off x="548640" y="5334737"/>
            <a:ext cx="7726680" cy="731520"/>
          </a:xfrm>
          <a:prstGeom prst="rect">
            <a:avLst/>
          </a:prstGeom>
          <a:noFill/>
          <a:ln/>
        </p:spPr>
        <p:txBody>
          <a:bodyPr wrap="square" lIns="0" tIns="0" rIns="0" bIns="0" rtlCol="0" anchor="t"/>
          <a:lstStyle/>
          <a:p>
            <a:pPr indent="0" marL="0">
              <a:buNone/>
            </a:pPr>
            <a:r>
              <a:rPr lang="en-US" sz="1250" dirty="0">
                <a:solidFill>
                  <a:srgbClr val="52514E"/>
                </a:solidFill>
              </a:rPr>
              <a:t>In: the parameters (tier C7, seed 0). Out: section A–A at the support, as the support designer receives it (scale 1:20), and the same run in 3D. Every section is a stored output of the released generator, with the Python call that reproduces it.</a:t>
            </a:r>
            <a:endParaRPr lang="en-US" sz="1250" dirty="0"/>
          </a:p>
        </p:txBody>
      </p:sp>
      <p:pic>
        <p:nvPicPr>
          <p:cNvPr id="6" name="studio 3D" descr="preencoded.png">    </p:cNvPr>
          <p:cNvPicPr>
            <a:picLocks noChangeAspect="1"/>
          </p:cNvPicPr>
          <p:nvPr/>
        </p:nvPicPr>
        <p:blipFill>
          <a:blip r:embed="rId3"/>
          <a:stretch>
            <a:fillRect/>
          </a:stretch>
        </p:blipFill>
        <p:spPr>
          <a:xfrm>
            <a:off x="8503920" y="2196925"/>
            <a:ext cx="3136392" cy="2240280"/>
          </a:xfrm>
          <a:prstGeom prst="rect">
            <a:avLst/>
          </a:prstGeom>
        </p:spPr>
      </p:pic>
      <p:pic>
        <p:nvPicPr>
          <p:cNvPr id="7" name="qr studio" descr="/home/user/crossmep_dataset/docs/figures/qr_studio.png">    </p:cNvPr>
          <p:cNvPicPr>
            <a:picLocks noChangeAspect="1"/>
          </p:cNvPicPr>
          <p:nvPr/>
        </p:nvPicPr>
        <p:blipFill>
          <a:blip r:embed="rId4"/>
          <a:stretch>
            <a:fillRect/>
          </a:stretch>
        </p:blipFill>
        <p:spPr>
          <a:xfrm>
            <a:off x="9454896" y="4665805"/>
            <a:ext cx="1234440" cy="1234440"/>
          </a:xfrm>
          <a:prstGeom prst="rect">
            <a:avLst/>
          </a:prstGeom>
        </p:spPr>
      </p:pic>
      <p:sp>
        <p:nvSpPr>
          <p:cNvPr id="8" name="studio link"/>
          <p:cNvSpPr txBox="1"/>
          <p:nvPr/>
        </p:nvSpPr>
        <p:spPr>
          <a:xfrm>
            <a:off x="8503920" y="5945965"/>
            <a:ext cx="3136392" cy="274320"/>
          </a:xfrm>
          <a:prstGeom prst="rect">
            <a:avLst/>
          </a:prstGeom>
          <a:noFill/>
          <a:ln/>
        </p:spPr>
        <p:txBody>
          <a:bodyPr wrap="square" lIns="0" tIns="0" rIns="0" bIns="0" rtlCol="0" anchor="t"/>
          <a:lstStyle/>
          <a:p>
            <a:pPr algn="ctr" indent="0" marL="0">
              <a:buNone/>
            </a:pPr>
            <a:r>
              <a:rPr lang="en-US" sz="1200" dirty="0">
                <a:solidFill>
                  <a:srgbClr val="52514E"/>
                </a:solidFill>
              </a:rPr>
              <a:t>Scan to open the studio</a:t>
            </a:r>
            <a:endParaRPr lang="en-US" sz="12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Train on the generator, evaluate on the benchmark, report per tier</a:t>
            </a:r>
            <a:endParaRPr lang="en-US" sz="2600" dirty="0"/>
          </a:p>
        </p:txBody>
      </p:sp>
      <p:sp>
        <p:nvSpPr>
          <p:cNvPr id="3" name="code card"/>
          <p:cNvSpPr/>
          <p:nvPr/>
        </p:nvSpPr>
        <p:spPr>
          <a:xfrm>
            <a:off x="548640" y="1417320"/>
            <a:ext cx="5486400" cy="1874520"/>
          </a:xfrm>
          <a:prstGeom prst="roundRect">
            <a:avLst>
              <a:gd name="adj" fmla="val 3415"/>
            </a:avLst>
          </a:prstGeom>
          <a:solidFill>
            <a:schemeClr val="tx2"/>
          </a:solidFill>
          <a:ln/>
        </p:spPr>
      </p:sp>
      <p:sp>
        <p:nvSpPr>
          <p:cNvPr id="4" name="code"/>
          <p:cNvSpPr txBox="1"/>
          <p:nvPr/>
        </p:nvSpPr>
        <p:spPr>
          <a:xfrm>
            <a:off x="777240" y="1600200"/>
            <a:ext cx="5029200" cy="1508760"/>
          </a:xfrm>
          <a:prstGeom prst="rect">
            <a:avLst/>
          </a:prstGeom>
          <a:noFill/>
          <a:ln/>
        </p:spPr>
        <p:txBody>
          <a:bodyPr wrap="square" lIns="0" tIns="0" rIns="0" bIns="0" rtlCol="0" anchor="t"/>
          <a:lstStyle/>
          <a:p>
            <a:pPr indent="0" marL="0">
              <a:buNone/>
            </a:pPr>
            <a:r>
              <a:rPr lang="en-US" sz="1300" dirty="0">
                <a:solidFill>
                  <a:srgbClr val="FFFFFF"/>
                </a:solidFill>
                <a:latin typeface="Courier New" pitchFamily="34" charset="0"/>
                <a:ea typeface="Courier New" pitchFamily="34" charset="-122"/>
                <a:cs typeface="Courier New" pitchFamily="34" charset="-120"/>
              </a:rPr>
              <a:t>import crossmep.tasks as cm</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data = cm.load("benchmark")</a:t>
            </a:r>
            <a:pPr indent="0" marL="0">
              <a:buNone/>
            </a:pPr>
            <a:r>
              <a:rPr lang="en-US" sz="1300" dirty="0">
                <a:solidFill>
                  <a:srgbClr val="CADCFC"/>
                </a:solidFill>
                <a:latin typeface="Courier New" pitchFamily="34" charset="0"/>
                <a:ea typeface="Courier New" pitchFamily="34" charset="-122"/>
                <a:cs typeface="Courier New" pitchFamily="34" charset="-120"/>
              </a:rPr>
              <a:t>  # 1,000 contexts</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cm.filter_contexts(data, pipes=2, trays=1)</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from crossmep.evaluate import score, compare</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score(my_results, data)</a:t>
            </a:r>
            <a:pPr indent="0" marL="0">
              <a:buNone/>
            </a:pPr>
            <a:r>
              <a:rPr lang="en-US" sz="1300" dirty="0">
                <a:solidFill>
                  <a:srgbClr val="CADCFC"/>
                </a:solidFill>
                <a:latin typeface="Courier New" pitchFamily="34" charset="0"/>
                <a:ea typeface="Courier New" pitchFamily="34" charset="-122"/>
                <a:cs typeface="Courier New" pitchFamily="34" charset="-120"/>
              </a:rPr>
              <a:t>  # per tier, 95 % CI</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compare(mine, baseline, data)</a:t>
            </a:r>
            <a:pPr indent="0" marL="0">
              <a:buNone/>
            </a:pPr>
            <a:r>
              <a:rPr lang="en-US" sz="1300" dirty="0">
                <a:solidFill>
                  <a:srgbClr val="CADCFC"/>
                </a:solidFill>
                <a:latin typeface="Courier New" pitchFamily="34" charset="0"/>
                <a:ea typeface="Courier New" pitchFamily="34" charset="-122"/>
                <a:cs typeface="Courier New" pitchFamily="34" charset="-120"/>
              </a:rPr>
              <a:t>  # paired test</a:t>
            </a:r>
            <a:endParaRPr lang="en-US" sz="1300" dirty="0"/>
          </a:p>
        </p:txBody>
      </p:sp>
      <p:sp>
        <p:nvSpPr>
          <p:cNvPr id="5" name="code caption"/>
          <p:cNvSpPr txBox="1"/>
          <p:nvPr/>
        </p:nvSpPr>
        <p:spPr>
          <a:xfrm>
            <a:off x="548640" y="3429000"/>
            <a:ext cx="5486400" cy="548640"/>
          </a:xfrm>
          <a:prstGeom prst="rect">
            <a:avLst/>
          </a:prstGeom>
          <a:noFill/>
          <a:ln/>
        </p:spPr>
        <p:txBody>
          <a:bodyPr wrap="square" lIns="0" tIns="0" rIns="0" bIns="0" rtlCol="0" anchor="t"/>
          <a:lstStyle/>
          <a:p>
            <a:pPr indent="0" marL="0">
              <a:buNone/>
            </a:pPr>
            <a:r>
              <a:rPr lang="en-US" sz="1100" dirty="0">
                <a:solidFill>
                  <a:srgbClr val="52514E"/>
                </a:solidFill>
              </a:rPr>
              <a:t>Loading, metrics and scoring need only the Python standard library; the generator needs NumPy. Command line: python -m crossmep generate | validate | evaluate.</a:t>
            </a:r>
            <a:endParaRPr lang="en-US" sz="1100" dirty="0"/>
          </a:p>
        </p:txBody>
      </p:sp>
      <p:pic>
        <p:nvPicPr>
          <p:cNvPr id="6" name="gallery screenshot" descr="preencoded.png">    </p:cNvPr>
          <p:cNvPicPr>
            <a:picLocks noChangeAspect="1"/>
          </p:cNvPicPr>
          <p:nvPr/>
        </p:nvPicPr>
        <p:blipFill>
          <a:blip r:embed="rId1"/>
          <a:stretch>
            <a:fillRect/>
          </a:stretch>
        </p:blipFill>
        <p:spPr>
          <a:xfrm>
            <a:off x="6570536" y="1417320"/>
            <a:ext cx="4854321" cy="2834640"/>
          </a:xfrm>
          <a:prstGeom prst="rect">
            <a:avLst/>
          </a:prstGeom>
        </p:spPr>
      </p:pic>
      <p:sp>
        <p:nvSpPr>
          <p:cNvPr id="7" name="gallery screenshot caption"/>
          <p:cNvSpPr txBox="1"/>
          <p:nvPr/>
        </p:nvSpPr>
        <p:spPr>
          <a:xfrm>
            <a:off x="6570536" y="4325112"/>
            <a:ext cx="4854321" cy="274320"/>
          </a:xfrm>
          <a:prstGeom prst="rect">
            <a:avLst/>
          </a:prstGeom>
          <a:noFill/>
          <a:ln/>
        </p:spPr>
        <p:txBody>
          <a:bodyPr wrap="square" lIns="0" tIns="0" rIns="0" bIns="0" rtlCol="0" anchor="t"/>
          <a:lstStyle/>
          <a:p>
            <a:pPr indent="0" marL="0">
              <a:buNone/>
            </a:pPr>
            <a:r>
              <a:rPr lang="en-US" sz="1100" dirty="0">
                <a:solidFill>
                  <a:srgbClr val="52514E"/>
                </a:solidFill>
              </a:rPr>
              <a:t>Interactive gallery: filter the benchmark by tier, kind, trade and surface.</a:t>
            </a:r>
            <a:endParaRPr lang="en-US" sz="1100" dirty="0"/>
          </a:p>
        </p:txBody>
      </p:sp>
      <p:sp>
        <p:nvSpPr>
          <p:cNvPr id="8" name="use Train"/>
          <p:cNvSpPr/>
          <p:nvPr/>
        </p:nvSpPr>
        <p:spPr>
          <a:xfrm>
            <a:off x="548640" y="4754880"/>
            <a:ext cx="3575304" cy="1280160"/>
          </a:xfrm>
          <a:prstGeom prst="roundRect">
            <a:avLst>
              <a:gd name="adj" fmla="val 5000"/>
            </a:avLst>
          </a:prstGeom>
          <a:solidFill>
            <a:schemeClr val="bg2"/>
          </a:solidFill>
          <a:ln/>
        </p:spPr>
      </p:sp>
      <p:sp>
        <p:nvSpPr>
          <p:cNvPr id="9" name="use head Train"/>
          <p:cNvSpPr txBox="1"/>
          <p:nvPr/>
        </p:nvSpPr>
        <p:spPr>
          <a:xfrm>
            <a:off x="777240" y="4864608"/>
            <a:ext cx="3118104" cy="365760"/>
          </a:xfrm>
          <a:prstGeom prst="rect">
            <a:avLst/>
          </a:prstGeom>
          <a:noFill/>
          <a:ln/>
        </p:spPr>
        <p:txBody>
          <a:bodyPr wrap="square" lIns="0" tIns="0" rIns="0" bIns="0" rtlCol="0" anchor="ctr"/>
          <a:lstStyle/>
          <a:p>
            <a:pPr indent="0" marL="0">
              <a:buNone/>
            </a:pPr>
            <a:r>
              <a:rPr lang="en-US" sz="1500" b="1" dirty="0">
                <a:solidFill>
                  <a:schemeClr val="tx1"/>
                </a:solidFill>
              </a:rPr>
              <a:t>Train</a:t>
            </a:r>
            <a:endParaRPr lang="en-US" sz="1500" dirty="0"/>
          </a:p>
        </p:txBody>
      </p:sp>
      <p:sp>
        <p:nvSpPr>
          <p:cNvPr id="10" name="use text Train"/>
          <p:cNvSpPr txBox="1"/>
          <p:nvPr/>
        </p:nvSpPr>
        <p:spPr>
          <a:xfrm>
            <a:off x="777240" y="5257800"/>
            <a:ext cx="3118104" cy="640080"/>
          </a:xfrm>
          <a:prstGeom prst="rect">
            <a:avLst/>
          </a:prstGeom>
          <a:noFill/>
          <a:ln/>
        </p:spPr>
        <p:txBody>
          <a:bodyPr wrap="square" lIns="0" tIns="0" rIns="0" bIns="0" rtlCol="0" anchor="t"/>
          <a:lstStyle/>
          <a:p>
            <a:pPr indent="0" marL="0">
              <a:buNone/>
            </a:pPr>
            <a:r>
              <a:rPr lang="en-US" sz="1250" dirty="0">
                <a:solidFill>
                  <a:schemeClr val="tx1"/>
                </a:solidFill>
              </a:rPr>
              <a:t>on the generator: unlimited seeds, a curriculum from C1 up to C8</a:t>
            </a:r>
            <a:endParaRPr lang="en-US" sz="1250" dirty="0"/>
          </a:p>
        </p:txBody>
      </p:sp>
      <p:sp>
        <p:nvSpPr>
          <p:cNvPr id="11" name="use Evaluate"/>
          <p:cNvSpPr/>
          <p:nvPr/>
        </p:nvSpPr>
        <p:spPr>
          <a:xfrm>
            <a:off x="4306824" y="4754880"/>
            <a:ext cx="3575304" cy="1280160"/>
          </a:xfrm>
          <a:prstGeom prst="roundRect">
            <a:avLst>
              <a:gd name="adj" fmla="val 5000"/>
            </a:avLst>
          </a:prstGeom>
          <a:solidFill>
            <a:schemeClr val="bg2"/>
          </a:solidFill>
          <a:ln/>
        </p:spPr>
      </p:sp>
      <p:sp>
        <p:nvSpPr>
          <p:cNvPr id="12" name="use head Evaluate"/>
          <p:cNvSpPr txBox="1"/>
          <p:nvPr/>
        </p:nvSpPr>
        <p:spPr>
          <a:xfrm>
            <a:off x="4535424" y="4864608"/>
            <a:ext cx="3118104" cy="365760"/>
          </a:xfrm>
          <a:prstGeom prst="rect">
            <a:avLst/>
          </a:prstGeom>
          <a:noFill/>
          <a:ln/>
        </p:spPr>
        <p:txBody>
          <a:bodyPr wrap="square" lIns="0" tIns="0" rIns="0" bIns="0" rtlCol="0" anchor="ctr"/>
          <a:lstStyle/>
          <a:p>
            <a:pPr indent="0" marL="0">
              <a:buNone/>
            </a:pPr>
            <a:r>
              <a:rPr lang="en-US" sz="1500" b="1" dirty="0">
                <a:solidFill>
                  <a:schemeClr val="tx1"/>
                </a:solidFill>
              </a:rPr>
              <a:t>Evaluate</a:t>
            </a:r>
            <a:endParaRPr lang="en-US" sz="1500" dirty="0"/>
          </a:p>
        </p:txBody>
      </p:sp>
      <p:sp>
        <p:nvSpPr>
          <p:cNvPr id="13" name="use text Evaluate"/>
          <p:cNvSpPr txBox="1"/>
          <p:nvPr/>
        </p:nvSpPr>
        <p:spPr>
          <a:xfrm>
            <a:off x="4535424" y="5257800"/>
            <a:ext cx="3118104" cy="640080"/>
          </a:xfrm>
          <a:prstGeom prst="rect">
            <a:avLst/>
          </a:prstGeom>
          <a:noFill/>
          <a:ln/>
        </p:spPr>
        <p:txBody>
          <a:bodyPr wrap="square" lIns="0" tIns="0" rIns="0" bIns="0" rtlCol="0" anchor="t"/>
          <a:lstStyle/>
          <a:p>
            <a:pPr indent="0" marL="0">
              <a:buNone/>
            </a:pPr>
            <a:r>
              <a:rPr lang="en-US" sz="1250" dirty="0">
                <a:solidFill>
                  <a:schemeClr val="tx1"/>
                </a:solidFill>
              </a:rPr>
              <a:t>on the benchmark: 125 held-out contexts per tier, the same for every method</a:t>
            </a:r>
            <a:endParaRPr lang="en-US" sz="1250" dirty="0"/>
          </a:p>
        </p:txBody>
      </p:sp>
      <p:sp>
        <p:nvSpPr>
          <p:cNvPr id="14" name="use Report"/>
          <p:cNvSpPr/>
          <p:nvPr/>
        </p:nvSpPr>
        <p:spPr>
          <a:xfrm>
            <a:off x="8065008" y="4754880"/>
            <a:ext cx="3575304" cy="1280160"/>
          </a:xfrm>
          <a:prstGeom prst="roundRect">
            <a:avLst>
              <a:gd name="adj" fmla="val 5000"/>
            </a:avLst>
          </a:prstGeom>
          <a:solidFill>
            <a:schemeClr val="bg2"/>
          </a:solidFill>
          <a:ln/>
        </p:spPr>
      </p:sp>
      <p:sp>
        <p:nvSpPr>
          <p:cNvPr id="15" name="use head Report"/>
          <p:cNvSpPr txBox="1"/>
          <p:nvPr/>
        </p:nvSpPr>
        <p:spPr>
          <a:xfrm>
            <a:off x="8293608" y="4864608"/>
            <a:ext cx="3118104" cy="365760"/>
          </a:xfrm>
          <a:prstGeom prst="rect">
            <a:avLst/>
          </a:prstGeom>
          <a:noFill/>
          <a:ln/>
        </p:spPr>
        <p:txBody>
          <a:bodyPr wrap="square" lIns="0" tIns="0" rIns="0" bIns="0" rtlCol="0" anchor="ctr"/>
          <a:lstStyle/>
          <a:p>
            <a:pPr indent="0" marL="0">
              <a:buNone/>
            </a:pPr>
            <a:r>
              <a:rPr lang="en-US" sz="1500" b="1" dirty="0">
                <a:solidFill>
                  <a:schemeClr val="tx1"/>
                </a:solidFill>
              </a:rPr>
              <a:t>Report</a:t>
            </a:r>
            <a:endParaRPr lang="en-US" sz="1500" dirty="0"/>
          </a:p>
        </p:txBody>
      </p:sp>
      <p:sp>
        <p:nvSpPr>
          <p:cNvPr id="16" name="use text Report"/>
          <p:cNvSpPr txBox="1"/>
          <p:nvPr/>
        </p:nvSpPr>
        <p:spPr>
          <a:xfrm>
            <a:off x="8293608" y="5257800"/>
            <a:ext cx="3118104" cy="640080"/>
          </a:xfrm>
          <a:prstGeom prst="rect">
            <a:avLst/>
          </a:prstGeom>
          <a:noFill/>
          <a:ln/>
        </p:spPr>
        <p:txBody>
          <a:bodyPr wrap="square" lIns="0" tIns="0" rIns="0" bIns="0" rtlCol="0" anchor="t"/>
          <a:lstStyle/>
          <a:p>
            <a:pPr indent="0" marL="0">
              <a:buNone/>
            </a:pPr>
            <a:r>
              <a:rPr lang="en-US" sz="1250" dirty="0">
                <a:solidFill>
                  <a:schemeClr val="tx1"/>
                </a:solidFill>
              </a:rPr>
              <a:t>per tier with 95 % intervals, paired tests between methods</a:t>
            </a:r>
            <a:endParaRPr lang="en-US" sz="12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One section at one support today; a checker and real data come next</a:t>
            </a:r>
            <a:endParaRPr lang="en-US" sz="2600" dirty="0"/>
          </a:p>
        </p:txBody>
      </p:sp>
      <p:sp>
        <p:nvSpPr>
          <p:cNvPr id="3" name="scope card"/>
          <p:cNvSpPr/>
          <p:nvPr/>
        </p:nvSpPr>
        <p:spPr>
          <a:xfrm>
            <a:off x="548640" y="1371600"/>
            <a:ext cx="5431536" cy="3246120"/>
          </a:xfrm>
          <a:prstGeom prst="roundRect">
            <a:avLst>
              <a:gd name="adj" fmla="val 1972"/>
            </a:avLst>
          </a:prstGeom>
          <a:solidFill>
            <a:schemeClr val="bg2"/>
          </a:solidFill>
          <a:ln/>
        </p:spPr>
      </p:sp>
      <p:sp>
        <p:nvSpPr>
          <p:cNvPr id="4" name="scope heading"/>
          <p:cNvSpPr txBox="1"/>
          <p:nvPr/>
        </p:nvSpPr>
        <p:spPr>
          <a:xfrm>
            <a:off x="822960" y="1508760"/>
            <a:ext cx="4882896" cy="411480"/>
          </a:xfrm>
          <a:prstGeom prst="rect">
            <a:avLst/>
          </a:prstGeom>
          <a:noFill/>
          <a:ln/>
        </p:spPr>
        <p:txBody>
          <a:bodyPr wrap="square" lIns="0" tIns="0" rIns="0" bIns="0" rtlCol="0" anchor="ctr"/>
          <a:lstStyle/>
          <a:p>
            <a:pPr indent="0" marL="0">
              <a:buNone/>
            </a:pPr>
            <a:r>
              <a:rPr lang="en-US" sz="1800" b="1" dirty="0">
                <a:solidFill>
                  <a:schemeClr val="tx1"/>
                </a:solidFill>
              </a:rPr>
              <a:t>Scope</a:t>
            </a:r>
            <a:endParaRPr lang="en-US" sz="1800" dirty="0"/>
          </a:p>
        </p:txBody>
      </p:sp>
      <p:sp>
        <p:nvSpPr>
          <p:cNvPr id="5" name="scope bullets"/>
          <p:cNvSpPr txBox="1"/>
          <p:nvPr/>
        </p:nvSpPr>
        <p:spPr>
          <a:xfrm>
            <a:off x="822960" y="2011680"/>
            <a:ext cx="4882896" cy="25146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One cross-section at one support: routing, branches and elevation changes are outside it; so is support spacing — the span is recorded per element, so a method can vary it</a:t>
            </a:r>
            <a:endParaRPr lang="en-US" sz="1400" dirty="0"/>
          </a:p>
          <a:p>
            <a:pPr marL="342900" indent="-342900">
              <a:spcAft>
                <a:spcPts val="600"/>
              </a:spcAft>
              <a:buSzPct val="100000"/>
              <a:buChar char="•"/>
            </a:pPr>
            <a:r>
              <a:rPr lang="en-US" sz="1400" dirty="0">
                <a:solidFill>
                  <a:schemeClr val="tx1"/>
                </a:solidFill>
              </a:rPr>
              <a:t>Realism checked on sections of two open buildings, a residential duplex and a medical clinic; congested racks rest on coordination practice and standards</a:t>
            </a:r>
            <a:endParaRPr lang="en-US" sz="1400" dirty="0"/>
          </a:p>
          <a:p>
            <a:pPr marL="342900" indent="-342900">
              <a:spcAft>
                <a:spcPts val="600"/>
              </a:spcAft>
              <a:buSzPct val="100000"/>
              <a:buChar char="•"/>
            </a:pPr>
            <a:r>
              <a:rPr lang="en-US" sz="1400" dirty="0">
                <a:solidFill>
                  <a:schemeClr val="tx1"/>
                </a:solidFill>
              </a:rPr>
              <a:t>Trade mix and tier composition are design choices, not survey results</a:t>
            </a:r>
            <a:endParaRPr lang="en-US" sz="1400" dirty="0"/>
          </a:p>
          <a:p>
            <a:pPr marL="342900" indent="-342900">
              <a:spcAft>
                <a:spcPts val="600"/>
              </a:spcAft>
              <a:buSzPct val="100000"/>
              <a:buChar char="•"/>
            </a:pPr>
            <a:r>
              <a:rPr lang="en-US" sz="1400" dirty="0">
                <a:solidFill>
                  <a:schemeClr val="tx1"/>
                </a:solidFill>
              </a:rPr>
              <a:t>Synthetic: not for the structural design of real installations</a:t>
            </a:r>
            <a:endParaRPr lang="en-US" sz="1400" dirty="0"/>
          </a:p>
        </p:txBody>
      </p:sp>
      <p:sp>
        <p:nvSpPr>
          <p:cNvPr id="6" name="next card"/>
          <p:cNvSpPr/>
          <p:nvPr/>
        </p:nvSpPr>
        <p:spPr>
          <a:xfrm>
            <a:off x="6208776" y="1371600"/>
            <a:ext cx="5431536" cy="3246120"/>
          </a:xfrm>
          <a:prstGeom prst="roundRect">
            <a:avLst>
              <a:gd name="adj" fmla="val 1972"/>
            </a:avLst>
          </a:prstGeom>
          <a:solidFill>
            <a:schemeClr val="bg2"/>
          </a:solidFill>
          <a:ln/>
        </p:spPr>
      </p:sp>
      <p:sp>
        <p:nvSpPr>
          <p:cNvPr id="7" name="next heading"/>
          <p:cNvSpPr txBox="1"/>
          <p:nvPr/>
        </p:nvSpPr>
        <p:spPr>
          <a:xfrm>
            <a:off x="6483096" y="1508760"/>
            <a:ext cx="4882896" cy="411480"/>
          </a:xfrm>
          <a:prstGeom prst="rect">
            <a:avLst/>
          </a:prstGeom>
          <a:noFill/>
          <a:ln/>
        </p:spPr>
        <p:txBody>
          <a:bodyPr wrap="square" lIns="0" tIns="0" rIns="0" bIns="0" rtlCol="0" anchor="ctr"/>
          <a:lstStyle/>
          <a:p>
            <a:pPr indent="0" marL="0">
              <a:buNone/>
            </a:pPr>
            <a:r>
              <a:rPr lang="en-US" sz="1800" b="1" dirty="0">
                <a:solidFill>
                  <a:schemeClr val="tx1"/>
                </a:solidFill>
              </a:rPr>
              <a:t>Next</a:t>
            </a:r>
            <a:endParaRPr lang="en-US" sz="1800" dirty="0"/>
          </a:p>
        </p:txBody>
      </p:sp>
      <p:sp>
        <p:nvSpPr>
          <p:cNvPr id="8" name="next bullets"/>
          <p:cNvSpPr txBox="1"/>
          <p:nvPr/>
        </p:nvSpPr>
        <p:spPr>
          <a:xfrm>
            <a:off x="6483096" y="2011680"/>
            <a:ext cx="4882896" cy="25146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A public checker for support designs, with best-known costs from an exact solver on the small tiers</a:t>
            </a:r>
            <a:endParaRPr lang="en-US" sz="1400" dirty="0"/>
          </a:p>
          <a:p>
            <a:pPr marL="342900" indent="-342900">
              <a:spcAft>
                <a:spcPts val="600"/>
              </a:spcAft>
              <a:buSzPct val="100000"/>
              <a:buChar char="•"/>
            </a:pPr>
            <a:r>
              <a:rPr lang="en-US" sz="1400" dirty="0">
                <a:solidFill>
                  <a:schemeClr val="tx1"/>
                </a:solidFill>
              </a:rPr>
              <a:t>The catalog as an input: generated catalogs, and tests on catalogs a method has never seen</a:t>
            </a:r>
            <a:endParaRPr lang="en-US" sz="1400" dirty="0"/>
          </a:p>
          <a:p>
            <a:pPr marL="342900" indent="-342900">
              <a:spcAft>
                <a:spcPts val="600"/>
              </a:spcAft>
              <a:buSzPct val="100000"/>
              <a:buChar char="•"/>
            </a:pPr>
            <a:r>
              <a:rPr lang="en-US" sz="1400" dirty="0">
                <a:solidFill>
                  <a:schemeClr val="tx1"/>
                </a:solidFill>
              </a:rPr>
              <a:t>A real test set: sections from commercial projects with supports designed by engineers</a:t>
            </a:r>
            <a:endParaRPr lang="en-US" sz="1400" dirty="0"/>
          </a:p>
        </p:txBody>
      </p:sp>
      <p:sp>
        <p:nvSpPr>
          <p:cNvPr id="9" name="ask band"/>
          <p:cNvSpPr/>
          <p:nvPr/>
        </p:nvSpPr>
        <p:spPr>
          <a:xfrm>
            <a:off x="548640" y="4846320"/>
            <a:ext cx="11091672" cy="1234440"/>
          </a:xfrm>
          <a:prstGeom prst="roundRect">
            <a:avLst>
              <a:gd name="adj" fmla="val 5185"/>
            </a:avLst>
          </a:prstGeom>
          <a:solidFill>
            <a:schemeClr val="tx2"/>
          </a:solidFill>
          <a:ln/>
        </p:spPr>
      </p:sp>
      <p:sp>
        <p:nvSpPr>
          <p:cNvPr id="10" name="ask"/>
          <p:cNvSpPr txBox="1"/>
          <p:nvPr/>
        </p:nvSpPr>
        <p:spPr>
          <a:xfrm>
            <a:off x="868680" y="4937760"/>
            <a:ext cx="9144000" cy="1051560"/>
          </a:xfrm>
          <a:prstGeom prst="rect">
            <a:avLst/>
          </a:prstGeom>
          <a:noFill/>
          <a:ln/>
        </p:spPr>
        <p:txBody>
          <a:bodyPr wrap="square" lIns="0" tIns="0" rIns="0" bIns="0" rtlCol="0" anchor="ctr"/>
          <a:lstStyle/>
          <a:p>
            <a:pPr indent="0" marL="0">
              <a:buNone/>
            </a:pPr>
            <a:r>
              <a:rPr lang="en-US" sz="1500" b="1" dirty="0">
                <a:solidFill>
                  <a:schemeClr val="bg1"/>
                </a:solidFill>
              </a:rPr>
              <a:t>If you coordinate services or design supports, </a:t>
            </a:r>
            <a:pPr indent="0" marL="0">
              <a:buNone/>
            </a:pPr>
            <a:r>
              <a:rPr lang="en-US" sz="1500" dirty="0">
                <a:solidFill>
                  <a:schemeClr val="bg1"/>
                </a:solidFill>
              </a:rPr>
              <a:t>open the gallery, filter for the scenes you know, and tell us what looks wrong. Every rule is one documented constant away from being changed.</a:t>
            </a:r>
            <a:endParaRPr lang="en-US" sz="1500" dirty="0"/>
          </a:p>
        </p:txBody>
      </p:sp>
      <p:pic>
        <p:nvPicPr>
          <p:cNvPr id="11" name="qr ask" descr="/home/user/crossmep_dataset/docs/figures/qr_repo.png">    </p:cNvPr>
          <p:cNvPicPr>
            <a:picLocks noChangeAspect="1"/>
          </p:cNvPicPr>
          <p:nvPr/>
        </p:nvPicPr>
        <p:blipFill>
          <a:blip r:embed="rId1"/>
          <a:stretch>
            <a:fillRect/>
          </a:stretch>
        </p:blipFill>
        <p:spPr>
          <a:xfrm>
            <a:off x="10561320" y="4956048"/>
            <a:ext cx="1005840" cy="1005840"/>
          </a:xfrm>
          <a:prstGeom prst="rect">
            <a:avLst/>
          </a:prstGeom>
        </p:spPr>
      </p:pic>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498080" cy="1737360"/>
          </a:xfrm>
          <a:prstGeom prst="rect">
            <a:avLst/>
          </a:prstGeom>
          <a:noFill/>
          <a:ln/>
        </p:spPr>
        <p:txBody>
          <a:bodyPr wrap="square" lIns="0" tIns="0" rIns="0" bIns="0" rtlCol="0" anchor="b"/>
          <a:lstStyle/>
          <a:p>
            <a:pPr algn="l" indent="0" marL="0">
              <a:buNone/>
            </a:pPr>
            <a:r>
              <a:rPr lang="en-US" sz="3600" b="1" dirty="0">
                <a:solidFill>
                  <a:schemeClr val="bg1"/>
                </a:solidFill>
              </a:rPr>
              <a:t>Support design now has open problems to learn from</a:t>
            </a:r>
            <a:endParaRPr lang="en-US" sz="3600" dirty="0"/>
          </a:p>
        </p:txBody>
      </p:sp>
      <p:sp>
        <p:nvSpPr>
          <p:cNvPr id="3" name="Text 0"/>
          <p:cNvSpPr/>
          <p:nvPr>
            <p:ph idx="101" type="body" hasCustomPrompt="1"/>
          </p:nvPr>
        </p:nvSpPr>
        <p:spPr>
          <a:xfrm>
            <a:off x="640080" y="3794760"/>
            <a:ext cx="7498080" cy="2011680"/>
          </a:xfrm>
          <a:prstGeom prst="rect">
            <a:avLst/>
          </a:prstGeom>
          <a:noFill/>
          <a:ln/>
        </p:spPr>
        <p:txBody>
          <a:bodyPr wrap="square" lIns="0" tIns="0" rIns="0" bIns="0" rtlCol="0" anchor="t"/>
          <a:lstStyle/>
          <a:p>
            <a:pPr indent="0" marL="0">
              <a:buNone/>
            </a:pPr>
            <a:r>
              <a:rPr lang="en-US" sz="1600" dirty="0">
                <a:solidFill>
                  <a:srgbClr val="CADCFC"/>
                </a:solidFill>
              </a:rPr>
              <a:t>7,000 support-design problems  ·  every constant sourced or declared</a:t>
            </a:r>
            <a:endParaRPr lang="en-US" sz="1600" dirty="0"/>
          </a:p>
          <a:p>
            <a:pPr indent="0" marL="0">
              <a:buNone/>
            </a:pPr>
            <a:r>
              <a:rPr lang="en-US" sz="1600" dirty="0">
                <a:solidFill>
                  <a:srgbClr val="CADCFC"/>
                </a:solidFill>
              </a:rPr>
              <a:t>pipe gaps checked on two open buildings  ·  open data and code</a:t>
            </a:r>
            <a:endParaRPr lang="en-US" sz="1600" dirty="0"/>
          </a:p>
          <a:p>
            <a:pPr indent="0" marL="0">
              <a:buNone/>
            </a:pPr>
            <a:r>
              <a:rPr lang="en-US" sz="800" dirty="0">
                <a:solidFill>
                  <a:srgbClr val="CADCFC"/>
                </a:solidFill>
              </a:rPr>
              <a:t> </a:t>
            </a:r>
            <a:endParaRPr lang="en-US" sz="1600" dirty="0"/>
          </a:p>
          <a:p>
            <a:pPr indent="0" marL="0">
              <a:buNone/>
            </a:pPr>
            <a:r>
              <a:rPr lang="en-US" sz="1300" dirty="0">
                <a:solidFill>
                  <a:srgbClr val="CADCFC"/>
                </a:solidFill>
              </a:rPr>
              <a:t>Data CC BY 4.0, code MIT.  Not for the structural design of real installations.</a:t>
            </a:r>
            <a:endParaRPr lang="en-US" sz="1600" dirty="0"/>
          </a:p>
        </p:txBody>
      </p:sp>
      <p:pic>
        <p:nvPicPr>
          <p:cNvPr id="4" name="qr closing" descr="/home/user/crossmep_dataset/docs/figures/qr_repo.png">    </p:cNvPr>
          <p:cNvPicPr>
            <a:picLocks noChangeAspect="1"/>
          </p:cNvPicPr>
          <p:nvPr/>
        </p:nvPicPr>
        <p:blipFill>
          <a:blip r:embed="rId1"/>
          <a:stretch>
            <a:fillRect/>
          </a:stretch>
        </p:blipFill>
        <p:spPr>
          <a:xfrm>
            <a:off x="8778240" y="2286000"/>
            <a:ext cx="2103120" cy="2103120"/>
          </a:xfrm>
          <a:prstGeom prst="rect">
            <a:avLst/>
          </a:prstGeom>
        </p:spPr>
      </p:pic>
      <p:sp>
        <p:nvSpPr>
          <p:cNvPr id="5" name="closing link"/>
          <p:cNvSpPr txBox="1"/>
          <p:nvPr/>
        </p:nvSpPr>
        <p:spPr>
          <a:xfrm>
            <a:off x="8503920" y="4480560"/>
            <a:ext cx="3108960" cy="731520"/>
          </a:xfrm>
          <a:prstGeom prst="rect">
            <a:avLst/>
          </a:prstGeom>
          <a:noFill/>
          <a:ln/>
        </p:spPr>
        <p:txBody>
          <a:bodyPr wrap="square" lIns="0" tIns="0" rIns="0" bIns="0" rtlCol="0" anchor="t"/>
          <a:lstStyle/>
          <a:p>
            <a:pPr algn="ctr" indent="0" marL="0">
              <a:buNone/>
            </a:pPr>
            <a:r>
              <a:rPr lang="en-US" sz="1200" b="1" dirty="0">
                <a:solidFill>
                  <a:schemeClr val="bg1"/>
                </a:solidFill>
              </a:rPr>
              <a:t>github.com/lavinia-ped/CrossMEP_Dataset</a:t>
            </a:r>
            <a:endParaRPr lang="en-US" sz="1200" dirty="0"/>
          </a:p>
          <a:p>
            <a:pPr algn="ctr" indent="0" marL="0">
              <a:buNone/>
            </a:pPr>
            <a:r>
              <a:rPr lang="en-US" sz="1200" dirty="0">
                <a:solidFill>
                  <a:schemeClr val="bg1"/>
                </a:solidFill>
              </a:rPr>
              <a:t>laviniap@stanford.edu</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wall with six pipes, and a slab with a duct, a tray and conduits</a:t>
            </a:r>
            <a:endParaRPr lang="en-US" sz="2600" dirty="0"/>
          </a:p>
        </p:txBody>
      </p:sp>
      <p:pic>
        <p:nvPicPr>
          <p:cNvPr id="3" name="studio wall sheet" descr="preencoded.png">    </p:cNvPr>
          <p:cNvPicPr>
            <a:picLocks noChangeAspect="1"/>
          </p:cNvPicPr>
          <p:nvPr/>
        </p:nvPicPr>
        <p:blipFill>
          <a:blip r:embed="rId1"/>
          <a:stretch>
            <a:fillRect/>
          </a:stretch>
        </p:blipFill>
        <p:spPr>
          <a:xfrm>
            <a:off x="1564579" y="1325880"/>
            <a:ext cx="3399657" cy="4297680"/>
          </a:xfrm>
          <a:prstGeom prst="rect">
            <a:avLst/>
          </a:prstGeom>
        </p:spPr>
      </p:pic>
      <p:pic>
        <p:nvPicPr>
          <p:cNvPr id="4" name="studio mix sheet" descr="preencoded.png">    </p:cNvPr>
          <p:cNvPicPr>
            <a:picLocks noChangeAspect="1"/>
          </p:cNvPicPr>
          <p:nvPr/>
        </p:nvPicPr>
        <p:blipFill>
          <a:blip r:embed="rId2"/>
          <a:stretch>
            <a:fillRect/>
          </a:stretch>
        </p:blipFill>
        <p:spPr>
          <a:xfrm>
            <a:off x="6542497" y="1325880"/>
            <a:ext cx="4764095" cy="4297680"/>
          </a:xfrm>
          <a:prstGeom prst="rect">
            <a:avLst/>
          </a:prstGeom>
        </p:spPr>
      </p:pic>
      <p:sp>
        <p:nvSpPr>
          <p:cNvPr id="5" name="wall caption"/>
          <p:cNvSpPr txBox="1"/>
          <p:nvPr/>
        </p:nvSpPr>
        <p:spPr>
          <a:xfrm>
            <a:off x="1564579" y="5696712"/>
            <a:ext cx="3399657" cy="457200"/>
          </a:xfrm>
          <a:prstGeom prst="rect">
            <a:avLst/>
          </a:prstGeom>
          <a:noFill/>
          <a:ln/>
        </p:spPr>
        <p:txBody>
          <a:bodyPr wrap="square" lIns="0" tIns="0" rIns="0" bIns="0" rtlCol="0" anchor="t"/>
          <a:lstStyle/>
          <a:p>
            <a:pPr indent="0" marL="0">
              <a:buNone/>
            </a:pPr>
            <a:r>
              <a:rPr lang="en-US" sz="1100" dirty="0">
                <a:solidFill>
                  <a:srgbClr val="52514E"/>
                </a:solidFill>
              </a:rPr>
              <a:t>Tier C6, seed 0, section 5: six pipes fixed to a wall; offsets from the wall face, the closest clear gap 25 mm.</a:t>
            </a:r>
            <a:endParaRPr lang="en-US" sz="1100" dirty="0"/>
          </a:p>
        </p:txBody>
      </p:sp>
      <p:sp>
        <p:nvSpPr>
          <p:cNvPr id="6" name="mix caption"/>
          <p:cNvSpPr txBox="1"/>
          <p:nvPr/>
        </p:nvSpPr>
        <p:spPr>
          <a:xfrm>
            <a:off x="6542497" y="5696712"/>
            <a:ext cx="4764095" cy="457200"/>
          </a:xfrm>
          <a:prstGeom prst="rect">
            <a:avLst/>
          </a:prstGeom>
          <a:noFill/>
          <a:ln/>
        </p:spPr>
        <p:txBody>
          <a:bodyPr wrap="square" lIns="0" tIns="0" rIns="0" bIns="0" rtlCol="0" anchor="t"/>
          <a:lstStyle/>
          <a:p>
            <a:pPr indent="0" marL="0">
              <a:buNone/>
            </a:pPr>
            <a:r>
              <a:rPr lang="en-US" sz="1100" dirty="0">
                <a:solidFill>
                  <a:srgbClr val="52514E"/>
                </a:solidFill>
              </a:rPr>
              <a:t>Exact mix: 2 pipes, 1 tray, 1 duct, 2 conduits on a slab; levels below the soffit and the load at the support.</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Median load rises from 0.10 kN at C1 to 1.71 kN at C8 as the gap narrows</a:t>
            </a:r>
            <a:endParaRPr lang="en-US" sz="2600" dirty="0"/>
          </a:p>
        </p:txBody>
      </p:sp>
      <p:graphicFrame>
        <p:nvGraphicFramePr>
          <p:cNvPr id="19" name="tier table"/>
          <p:cNvGraphicFramePr>
            <a:graphicFrameLocks noGrp="1"/>
          </p:cNvGraphicFramePr>
          <p:nvPr>
            <p:extLst>
              <p:ext uri="{D42A27DB-BD31-4B8C-83A1-F6EECF244321}">
                <p14:modId xmlns:p14="http://schemas.microsoft.com/office/powerpoint/2010/main" val="1579011935"/>
              </p:ext>
            </p:extLst>
          </p:nvPr>
        </p:nvGraphicFramePr>
        <p:xfrm>
          <a:off x="548640" y="1417320"/>
          <a:ext cx="6949440" cy="914400"/>
        </p:xfrm>
        <a:graphic>
          <a:graphicData uri="http://schemas.openxmlformats.org/drawingml/2006/table">
            <a:tbl>
              <a:tblPr/>
              <a:tblGrid>
                <a:gridCol w="822960"/>
                <a:gridCol w="1097280"/>
                <a:gridCol w="1828800"/>
                <a:gridCol w="1554480"/>
                <a:gridCol w="1645920"/>
              </a:tblGrid>
              <a:tr h="384048">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tier</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contexts</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median clear gap (mm)</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median load (kN)</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median width (mm)</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C1</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0.10</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102</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C2</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120</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0.23</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344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C3</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98</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0.44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613</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90</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0.55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728</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73</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0.78</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1027</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C6</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76</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1.21</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993</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C7</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60</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1.49</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1138</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C8</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62</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1.71</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1448</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4" name="tile 2,529 pipes · 1,141 conduits · 569 trays · 261 ducts"/>
          <p:cNvSpPr/>
          <p:nvPr/>
        </p:nvSpPr>
        <p:spPr>
          <a:xfrm>
            <a:off x="7772400" y="1417320"/>
            <a:ext cx="3867912" cy="1097280"/>
          </a:xfrm>
          <a:prstGeom prst="roundRect">
            <a:avLst>
              <a:gd name="adj" fmla="val 5833"/>
            </a:avLst>
          </a:prstGeom>
          <a:solidFill>
            <a:schemeClr val="bg2"/>
          </a:solidFill>
          <a:ln/>
        </p:spPr>
      </p:sp>
      <p:sp>
        <p:nvSpPr>
          <p:cNvPr id="5" name="value 2,529 pipes · 1,141 conduits · 569 trays · 261 ducts"/>
          <p:cNvSpPr txBox="1"/>
          <p:nvPr/>
        </p:nvSpPr>
        <p:spPr>
          <a:xfrm>
            <a:off x="7973568" y="1508760"/>
            <a:ext cx="3465576" cy="548640"/>
          </a:xfrm>
          <a:prstGeom prst="rect">
            <a:avLst/>
          </a:prstGeom>
          <a:noFill/>
          <a:ln/>
        </p:spPr>
        <p:txBody>
          <a:bodyPr wrap="square" lIns="0" tIns="0" rIns="0" bIns="0" rtlCol="0" anchor="ctr"/>
          <a:lstStyle/>
          <a:p>
            <a:pPr indent="0" marL="0">
              <a:buNone/>
            </a:pPr>
            <a:r>
              <a:rPr lang="en-US" sz="2400" b="1" dirty="0">
                <a:solidFill>
                  <a:schemeClr val="accent1"/>
                </a:solidFill>
              </a:rPr>
              <a:t>4,500 elements</a:t>
            </a:r>
            <a:endParaRPr lang="en-US" sz="2400" dirty="0"/>
          </a:p>
        </p:txBody>
      </p:sp>
      <p:sp>
        <p:nvSpPr>
          <p:cNvPr id="6" name="label 2,529 pipes · 1,141 conduits · 569 trays · 261 ducts"/>
          <p:cNvSpPr txBox="1"/>
          <p:nvPr/>
        </p:nvSpPr>
        <p:spPr>
          <a:xfrm>
            <a:off x="7973568" y="2053742"/>
            <a:ext cx="3465576" cy="416966"/>
          </a:xfrm>
          <a:prstGeom prst="rect">
            <a:avLst/>
          </a:prstGeom>
          <a:noFill/>
          <a:ln/>
        </p:spPr>
        <p:txBody>
          <a:bodyPr wrap="square" lIns="0" tIns="0" rIns="0" bIns="0" rtlCol="0" anchor="t"/>
          <a:lstStyle/>
          <a:p>
            <a:pPr indent="0" marL="0">
              <a:buNone/>
            </a:pPr>
            <a:r>
              <a:rPr lang="en-US" sz="1100" dirty="0">
                <a:solidFill>
                  <a:srgbClr val="52514E"/>
                </a:solidFill>
              </a:rPr>
              <a:t>2,529 pipes · 1,141 conduits · 569 trays · 261 ducts</a:t>
            </a:r>
            <a:endParaRPr lang="en-US" sz="1100" dirty="0"/>
          </a:p>
        </p:txBody>
      </p:sp>
      <p:sp>
        <p:nvSpPr>
          <p:cNvPr id="7" name="tile Wasserstein-1, generated to measured pipe gaps of the clinic (95 % CI 16–44)"/>
          <p:cNvSpPr/>
          <p:nvPr/>
        </p:nvSpPr>
        <p:spPr>
          <a:xfrm>
            <a:off x="7772400" y="2697480"/>
            <a:ext cx="3867912" cy="1097280"/>
          </a:xfrm>
          <a:prstGeom prst="roundRect">
            <a:avLst>
              <a:gd name="adj" fmla="val 5833"/>
            </a:avLst>
          </a:prstGeom>
          <a:solidFill>
            <a:schemeClr val="bg2"/>
          </a:solidFill>
          <a:ln/>
        </p:spPr>
      </p:sp>
      <p:sp>
        <p:nvSpPr>
          <p:cNvPr id="8" name="value Wasserstein-1, generated to measured pipe gaps of the clinic (95 % CI 16–44)"/>
          <p:cNvSpPr txBox="1"/>
          <p:nvPr/>
        </p:nvSpPr>
        <p:spPr>
          <a:xfrm>
            <a:off x="7973568" y="2788920"/>
            <a:ext cx="3465576" cy="548640"/>
          </a:xfrm>
          <a:prstGeom prst="rect">
            <a:avLst/>
          </a:prstGeom>
          <a:noFill/>
          <a:ln/>
        </p:spPr>
        <p:txBody>
          <a:bodyPr wrap="square" lIns="0" tIns="0" rIns="0" bIns="0" rtlCol="0" anchor="ctr"/>
          <a:lstStyle/>
          <a:p>
            <a:pPr indent="0" marL="0">
              <a:buNone/>
            </a:pPr>
            <a:r>
              <a:rPr lang="en-US" sz="2400" b="1" dirty="0">
                <a:solidFill>
                  <a:schemeClr val="accent1"/>
                </a:solidFill>
              </a:rPr>
              <a:t>28 mm</a:t>
            </a:r>
            <a:endParaRPr lang="en-US" sz="2400" dirty="0"/>
          </a:p>
        </p:txBody>
      </p:sp>
      <p:sp>
        <p:nvSpPr>
          <p:cNvPr id="9" name="label Wasserstein-1, generated to measured pipe gaps of the clinic (95 % CI 16–44)"/>
          <p:cNvSpPr txBox="1"/>
          <p:nvPr/>
        </p:nvSpPr>
        <p:spPr>
          <a:xfrm>
            <a:off x="7973568" y="3333902"/>
            <a:ext cx="3465576" cy="416966"/>
          </a:xfrm>
          <a:prstGeom prst="rect">
            <a:avLst/>
          </a:prstGeom>
          <a:noFill/>
          <a:ln/>
        </p:spPr>
        <p:txBody>
          <a:bodyPr wrap="square" lIns="0" tIns="0" rIns="0" bIns="0" rtlCol="0" anchor="t"/>
          <a:lstStyle/>
          <a:p>
            <a:pPr indent="0" marL="0">
              <a:buNone/>
            </a:pPr>
            <a:r>
              <a:rPr lang="en-US" sz="1100" dirty="0">
                <a:solidFill>
                  <a:srgbClr val="52514E"/>
                </a:solidFill>
              </a:rPr>
              <a:t>Wasserstein-1, generated to measured pipe gaps of the clinic (95 % CI 16–44)</a:t>
            </a:r>
            <a:endParaRPr lang="en-US" sz="1100" dirty="0"/>
          </a:p>
        </p:txBody>
      </p:sp>
      <p:sp>
        <p:nvSpPr>
          <p:cNvPr id="10" name="tile rank correlation of tier with the closest gap / with the load"/>
          <p:cNvSpPr/>
          <p:nvPr/>
        </p:nvSpPr>
        <p:spPr>
          <a:xfrm>
            <a:off x="7772400" y="3977640"/>
            <a:ext cx="3867912" cy="1097280"/>
          </a:xfrm>
          <a:prstGeom prst="roundRect">
            <a:avLst>
              <a:gd name="adj" fmla="val 5833"/>
            </a:avLst>
          </a:prstGeom>
          <a:solidFill>
            <a:schemeClr val="bg2"/>
          </a:solidFill>
          <a:ln/>
        </p:spPr>
      </p:sp>
      <p:sp>
        <p:nvSpPr>
          <p:cNvPr id="11" name="value rank correlation of tier with the closest gap / with the load"/>
          <p:cNvSpPr txBox="1"/>
          <p:nvPr/>
        </p:nvSpPr>
        <p:spPr>
          <a:xfrm>
            <a:off x="7973568" y="4069080"/>
            <a:ext cx="3465576" cy="548640"/>
          </a:xfrm>
          <a:prstGeom prst="rect">
            <a:avLst/>
          </a:prstGeom>
          <a:noFill/>
          <a:ln/>
        </p:spPr>
        <p:txBody>
          <a:bodyPr wrap="square" lIns="0" tIns="0" rIns="0" bIns="0" rtlCol="0" anchor="ctr"/>
          <a:lstStyle/>
          <a:p>
            <a:pPr indent="0" marL="0">
              <a:buNone/>
            </a:pPr>
            <a:r>
              <a:rPr lang="en-US" sz="2400" b="1" dirty="0">
                <a:solidFill>
                  <a:schemeClr val="accent1"/>
                </a:solidFill>
              </a:rPr>
              <a:t>−0.36 / +0.56</a:t>
            </a:r>
            <a:endParaRPr lang="en-US" sz="2400" dirty="0"/>
          </a:p>
        </p:txBody>
      </p:sp>
      <p:sp>
        <p:nvSpPr>
          <p:cNvPr id="12" name="label rank correlation of tier with the closest gap / with the load"/>
          <p:cNvSpPr txBox="1"/>
          <p:nvPr/>
        </p:nvSpPr>
        <p:spPr>
          <a:xfrm>
            <a:off x="7973568" y="4614062"/>
            <a:ext cx="3465576" cy="416966"/>
          </a:xfrm>
          <a:prstGeom prst="rect">
            <a:avLst/>
          </a:prstGeom>
          <a:noFill/>
          <a:ln/>
        </p:spPr>
        <p:txBody>
          <a:bodyPr wrap="square" lIns="0" tIns="0" rIns="0" bIns="0" rtlCol="0" anchor="t"/>
          <a:lstStyle/>
          <a:p>
            <a:pPr indent="0" marL="0">
              <a:buNone/>
            </a:pPr>
            <a:r>
              <a:rPr lang="en-US" sz="1100" dirty="0">
                <a:solidFill>
                  <a:srgbClr val="52514E"/>
                </a:solidFill>
              </a:rPr>
              <a:t>rank correlation of tier with the closest gap / with the load</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Against the clinic the generator is 28 mm off; the small duplex is 70 to 85</a:t>
            </a:r>
            <a:endParaRPr lang="en-US" sz="2600" dirty="0"/>
          </a:p>
        </p:txBody>
      </p:sp>
      <p:graphicFrame>
        <p:nvGraphicFramePr>
          <p:cNvPr id="20" name="samples table"/>
          <p:cNvGraphicFramePr>
            <a:graphicFrameLocks noGrp="1"/>
          </p:cNvGraphicFramePr>
          <p:nvPr>
            <p:extLst>
              <p:ext uri="{D42A27DB-BD31-4B8C-83A1-F6EECF244321}">
                <p14:modId xmlns:p14="http://schemas.microsoft.com/office/powerpoint/2010/main" val="1579011935"/>
              </p:ext>
            </p:extLst>
          </p:nvPr>
        </p:nvGraphicFramePr>
        <p:xfrm>
          <a:off x="548640" y="1371600"/>
          <a:ext cx="5394960" cy="914400"/>
        </p:xfrm>
        <a:graphic>
          <a:graphicData uri="http://schemas.openxmlformats.org/drawingml/2006/table">
            <a:tbl>
              <a:tblPr/>
              <a:tblGrid>
                <a:gridCol w="1828800"/>
                <a:gridCol w="822960"/>
                <a:gridCol w="914400"/>
                <a:gridCol w="1005840"/>
                <a:gridCol w="822960"/>
              </a:tblGrid>
              <a:tr h="310896">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pipe gaps</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pairs</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sections</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median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&lt; 25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generated (benchmark)</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1,543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207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0 %</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Clinic, Plumbing</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797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3,833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203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2 %</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Duplex, MEP</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204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177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23 %</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Duplex, Plumbing</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41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32 %</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graphicFrame>
        <p:nvGraphicFramePr>
          <p:cNvPr id="39" name="distances table"/>
          <p:cNvGraphicFramePr>
            <a:graphicFrameLocks noGrp="1"/>
          </p:cNvGraphicFramePr>
          <p:nvPr>
            <p:extLst>
              <p:ext uri="{D42A27DB-BD31-4B8C-83A1-F6EECF244321}">
                <p14:modId xmlns:p14="http://schemas.microsoft.com/office/powerpoint/2010/main" val="1579011935"/>
              </p:ext>
            </p:extLst>
          </p:nvPr>
        </p:nvGraphicFramePr>
        <p:xfrm>
          <a:off x="6172200" y="1371600"/>
          <a:ext cx="5468112" cy="914400"/>
        </p:xfrm>
        <a:graphic>
          <a:graphicData uri="http://schemas.openxmlformats.org/drawingml/2006/table">
            <a:tbl>
              <a:tblPr/>
              <a:tblGrid>
                <a:gridCol w="2176272"/>
                <a:gridCol w="1143000"/>
                <a:gridCol w="1234440"/>
                <a:gridCol w="914400"/>
              </a:tblGrid>
              <a:tr h="310896">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Wasserstein-1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by length</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each pair once</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noise floor</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generated ↔ Clinic</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28 (16–44)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15 (11–24)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generated ↔ Duplex MEP</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70 (57–99)</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94 (74–119)</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generated ↔ Duplex Plumbing</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85 (59–132)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100 (85–125)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34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Clinic ↔ Duplex MEP</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71 (54–101)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88 (70–118)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Clinic ↔ Duplex Plumbing</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85 (55–137)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94 (77–121)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Duplex MEP ↔ Duplex Plumbing</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26 (24–124)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25 (21–108)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5" name="realism bullets"/>
          <p:cNvSpPr txBox="1"/>
          <p:nvPr/>
        </p:nvSpPr>
        <p:spPr>
          <a:xfrm>
            <a:off x="548640" y="3154680"/>
            <a:ext cx="5394960" cy="292608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chemeClr val="tx1"/>
                </a:solidFill>
              </a:rPr>
              <a:t>Sections every 250 mm; runs within 400 mm of height form a row; gaps between bare pipe surfaces, below 600 mm</a:t>
            </a:r>
            <a:endParaRPr lang="en-US" sz="1250" dirty="0"/>
          </a:p>
          <a:p>
            <a:pPr marL="342900" indent="-342900">
              <a:spcAft>
                <a:spcPts val="600"/>
              </a:spcAft>
              <a:buSzPct val="100000"/>
              <a:buChar char="•"/>
            </a:pPr>
            <a:r>
              <a:rPr lang="en-US" sz="1250" dirty="0">
                <a:solidFill>
                  <a:schemeClr val="tx1"/>
                </a:solidFill>
              </a:rPr>
              <a:t>Robust: across 11 settings of the cut (spacing, row band, axis tolerance, run length) generated ↔ clinic stays at 27–36 mm</a:t>
            </a:r>
            <a:endParaRPr lang="en-US" sz="1250" dirty="0"/>
          </a:p>
          <a:p>
            <a:pPr marL="342900" indent="-342900">
              <a:spcAft>
                <a:spcPts val="600"/>
              </a:spcAft>
              <a:buSzPct val="100000"/>
              <a:buChar char="•"/>
            </a:pPr>
            <a:r>
              <a:rPr lang="en-US" sz="1250" dirty="0">
                <a:solidFill>
                  <a:schemeClr val="tx1"/>
                </a:solidFill>
              </a:rPr>
              <a:t>Noise floor: the distance a perfect generator would still show at that sample size</a:t>
            </a:r>
            <a:endParaRPr lang="en-US" sz="1250" dirty="0"/>
          </a:p>
          <a:p>
            <a:pPr marL="342900" indent="-342900">
              <a:spcAft>
                <a:spcPts val="600"/>
              </a:spcAft>
              <a:buSzPct val="100000"/>
              <a:buChar char="•"/>
            </a:pPr>
            <a:r>
              <a:rPr lang="en-US" sz="1250" dirty="0">
                <a:solidFill>
                  <a:schemeClr val="tx1"/>
                </a:solidFill>
              </a:rPr>
              <a:t>The duplex samples are small, hence the wide intervals</a:t>
            </a:r>
            <a:endParaRPr lang="en-US" sz="1250" dirty="0"/>
          </a:p>
        </p:txBody>
      </p:sp>
      <p:sp>
        <p:nvSpPr>
          <p:cNvPr id="6" name="distances caption"/>
          <p:cNvSpPr txBox="1"/>
          <p:nvPr/>
        </p:nvSpPr>
        <p:spPr>
          <a:xfrm>
            <a:off x="6172200" y="3931920"/>
            <a:ext cx="5468112" cy="731520"/>
          </a:xfrm>
          <a:prstGeom prst="rect">
            <a:avLst/>
          </a:prstGeom>
          <a:noFill/>
          <a:ln/>
        </p:spPr>
        <p:txBody>
          <a:bodyPr wrap="square" lIns="0" tIns="0" rIns="0" bIns="0" rtlCol="0" anchor="t"/>
          <a:lstStyle/>
          <a:p>
            <a:pPr indent="0" marL="0">
              <a:buNone/>
            </a:pPr>
            <a:r>
              <a:rPr lang="en-US" sz="1100" dirty="0">
                <a:solidFill>
                  <a:srgbClr val="52514E"/>
                </a:solidFill>
              </a:rPr>
              <a:t>Intervals: 95 % bootstrap over contexts (generated) and pipe pairs (measured). Models: buildingSMART Duplex Apartment and Medical-Dental Clinic, CC BY 4.0; derived measurements and attribution in verify/measured/.</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The diameter rule moves catalog coverage more than tier or split does</a:t>
            </a:r>
            <a:endParaRPr lang="en-US" sz="2600" dirty="0"/>
          </a:p>
        </p:txBody>
      </p:sp>
      <p:graphicFrame>
        <p:nvGraphicFramePr>
          <p:cNvPr id="21" name="per tier catalog table"/>
          <p:cNvGraphicFramePr>
            <a:graphicFrameLocks noGrp="1"/>
          </p:cNvGraphicFramePr>
          <p:nvPr>
            <p:extLst>
              <p:ext uri="{D42A27DB-BD31-4B8C-83A1-F6EECF244321}">
                <p14:modId xmlns:p14="http://schemas.microsoft.com/office/powerpoint/2010/main" val="1579011935"/>
              </p:ext>
            </p:extLst>
          </p:nvPr>
        </p:nvGraphicFramePr>
        <p:xfrm>
          <a:off x="548640" y="1371600"/>
          <a:ext cx="5852160" cy="914400"/>
        </p:xfrm>
        <a:graphic>
          <a:graphicData uri="http://schemas.openxmlformats.org/drawingml/2006/table">
            <a:tbl>
              <a:tblPr/>
              <a:tblGrid>
                <a:gridCol w="731520"/>
                <a:gridCol w="822960"/>
                <a:gridCol w="2148840"/>
                <a:gridCol w="2148840"/>
              </a:tblGrid>
              <a:tr h="301752">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tier</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pipes</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benchmark %  (95 % CI)</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population %  (95 % CI)</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11.3 (4.1–19.1)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11.4 (9.6–13.3)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147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12.2 (6.5–18.8)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10.9 (9.4–12.5)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203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10.3 (5.7–15.6)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10.8 (9.6–12.0)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257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13.6 (8.4–19.3)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10.4 (9.4–11.4)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391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9.2 (6.1–12.6)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10.5 (9.6–11.5)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410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11.5 (7.9–15.4)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10.8 (9.9–11.8)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465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10.8 (7.5–14.1)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11.0 (10.1–11.8)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585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13.3 (9.8–17.1)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11.2 (10.4–12.0)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graphicFrame>
        <p:nvGraphicFramePr>
          <p:cNvPr id="41" name="sensitivity table"/>
          <p:cNvGraphicFramePr>
            <a:graphicFrameLocks noGrp="1"/>
          </p:cNvGraphicFramePr>
          <p:nvPr>
            <p:extLst>
              <p:ext uri="{D42A27DB-BD31-4B8C-83A1-F6EECF244321}">
                <p14:modId xmlns:p14="http://schemas.microsoft.com/office/powerpoint/2010/main" val="1579011935"/>
              </p:ext>
            </p:extLst>
          </p:nvPr>
        </p:nvGraphicFramePr>
        <p:xfrm>
          <a:off x="548640" y="4434840"/>
          <a:ext cx="5852160" cy="914400"/>
        </p:xfrm>
        <a:graphic>
          <a:graphicData uri="http://schemas.openxmlformats.org/drawingml/2006/table">
            <a:tbl>
              <a:tblPr/>
              <a:tblGrid>
                <a:gridCol w="2011680"/>
                <a:gridCol w="1280160"/>
                <a:gridCol w="1280160"/>
                <a:gridCol w="1280160"/>
              </a:tblGrid>
              <a:tr h="30175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attach diameter rule</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bins ±0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bins ±0.5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bins ±1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01752">
                <a:tc>
                  <a:txBody>
                    <a:bodyPr/>
                    <a:lstStyle/>
                    <a:p>
                      <a:pPr algn="l" indent="0" marL="0">
                        <a:buNone/>
                      </a:pPr>
                      <a:r>
                        <a:rPr lang="en-US" sz="1100" b="1" dirty="0">
                          <a:solidFill>
                            <a:srgbClr val="0B0B0B"/>
                          </a:solidFill>
                          <a:latin typeface="Calibri" pitchFamily="34" charset="0"/>
                          <a:ea typeface="Calibri" pitchFamily="34" charset="-122"/>
                          <a:cs typeface="Calibri" pitchFamily="34" charset="-120"/>
                        </a:rPr>
                        <a:t>service (paper)</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12.9</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12.9</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bare</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16.4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16.4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insulated</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6.2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5" name="sensitivity caption"/>
          <p:cNvSpPr txBox="1"/>
          <p:nvPr/>
        </p:nvSpPr>
        <p:spPr>
          <a:xfrm>
            <a:off x="548640" y="5715000"/>
            <a:ext cx="5852160" cy="502920"/>
          </a:xfrm>
          <a:prstGeom prst="rect">
            <a:avLst/>
          </a:prstGeom>
          <a:noFill/>
          <a:ln/>
        </p:spPr>
        <p:txBody>
          <a:bodyPr wrap="square" lIns="0" tIns="0" rIns="0" bIns="0" rtlCol="0" anchor="t"/>
          <a:lstStyle/>
          <a:p>
            <a:pPr indent="0" marL="0">
              <a:buNone/>
            </a:pPr>
            <a:r>
              <a:rPr lang="en-US" sz="1100" dirty="0">
                <a:solidFill>
                  <a:srgbClr val="52514E"/>
                </a:solidFill>
              </a:rPr>
              <a:t>% of benchmark pipes attachable when both bin edges are widened by the stated amount. DN100 (114.3 mm) lies 0.3 mm above the 108–114 mm bin, so the headline moves with the diameter rule and the edge tolerance.</a:t>
            </a:r>
            <a:endParaRPr lang="en-US" sz="1100" dirty="0"/>
          </a:p>
        </p:txBody>
      </p:sp>
      <p:graphicFrame>
        <p:nvGraphicFramePr>
          <p:cNvPr id="61" name="split catalog table"/>
          <p:cNvGraphicFramePr>
            <a:graphicFrameLocks noGrp="1"/>
          </p:cNvGraphicFramePr>
          <p:nvPr>
            <p:extLst>
              <p:ext uri="{D42A27DB-BD31-4B8C-83A1-F6EECF244321}">
                <p14:modId xmlns:p14="http://schemas.microsoft.com/office/powerpoint/2010/main" val="1579011935"/>
              </p:ext>
            </p:extLst>
          </p:nvPr>
        </p:nvGraphicFramePr>
        <p:xfrm>
          <a:off x="6675120" y="1371600"/>
          <a:ext cx="4965192" cy="914400"/>
        </p:xfrm>
        <a:graphic>
          <a:graphicData uri="http://schemas.openxmlformats.org/drawingml/2006/table">
            <a:tbl>
              <a:tblPr/>
              <a:tblGrid>
                <a:gridCol w="1280160"/>
                <a:gridCol w="1097280"/>
                <a:gridCol w="2587752"/>
              </a:tblGrid>
              <a:tr h="30175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split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pipes</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 attachable (95 % CI)</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train</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12,930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10.8 (10.2–11.5)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val</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1,254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9.4 (7.4–11.4)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test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1,271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9.0 (7.2–11.0)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benchmark</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2,529</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11.6 (10.1–13.0)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7" name="stress method bullets"/>
          <p:cNvSpPr txBox="1"/>
          <p:nvPr/>
        </p:nvSpPr>
        <p:spPr>
          <a:xfrm>
            <a:off x="6675120" y="3108960"/>
            <a:ext cx="4965192" cy="301752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Intervals: cluster bootstrap over contexts (2,000 resamples), because the elements of one context are correlated</a:t>
            </a:r>
            <a:endParaRPr lang="en-US" sz="1200" dirty="0"/>
          </a:p>
          <a:p>
            <a:pPr marL="342900" indent="-342900">
              <a:spcAft>
                <a:spcPts val="600"/>
              </a:spcAft>
              <a:buSzPct val="100000"/>
              <a:buChar char="•"/>
            </a:pPr>
            <a:r>
              <a:rPr lang="en-US" sz="1200" dirty="0">
                <a:solidFill>
                  <a:schemeClr val="tx1"/>
                </a:solidFill>
              </a:rPr>
              <a:t>Population: 2,000 freshly generated contexts per tier; overall 10.8 % (95 % CI 10.5–11.2)</a:t>
            </a:r>
            <a:endParaRPr lang="en-US" sz="1200" dirty="0"/>
          </a:p>
          <a:p>
            <a:pPr marL="342900" indent="-342900">
              <a:spcAft>
                <a:spcPts val="600"/>
              </a:spcAft>
              <a:buSzPct val="100000"/>
              <a:buChar char="•"/>
            </a:pPr>
            <a:r>
              <a:rPr lang="en-US" sz="1200" dirty="0">
                <a:solidFill>
                  <a:schemeClr val="tx1"/>
                </a:solidFill>
              </a:rPr>
              <a:t>Only size and capacity are tested, so coverage is an upper bound on what can be installed</a:t>
            </a:r>
            <a:endParaRPr lang="en-US" sz="1200" dirty="0"/>
          </a:p>
          <a:p>
            <a:pPr marL="342900" indent="-342900">
              <a:spcAft>
                <a:spcPts val="600"/>
              </a:spcAft>
              <a:buSzPct val="100000"/>
              <a:buChar char="•"/>
            </a:pPr>
            <a:r>
              <a:rPr lang="en-US" sz="1200" dirty="0">
                <a:solidFill>
                  <a:schemeClr val="tx1"/>
                </a:solidFill>
              </a:rPr>
              <a:t>Best possible share with k sizes: exact optimum over the distinct attach diameters</a:t>
            </a:r>
            <a:endParaRPr lang="en-US" sz="12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context is stored as plain JSON: elements, sizes, loads, positions</a:t>
            </a:r>
            <a:endParaRPr lang="en-US" sz="2600" dirty="0"/>
          </a:p>
        </p:txBody>
      </p:sp>
      <p:sp>
        <p:nvSpPr>
          <p:cNvPr id="3" name="record card"/>
          <p:cNvSpPr/>
          <p:nvPr/>
        </p:nvSpPr>
        <p:spPr>
          <a:xfrm>
            <a:off x="548640" y="1417320"/>
            <a:ext cx="7818120" cy="2560320"/>
          </a:xfrm>
          <a:prstGeom prst="roundRect">
            <a:avLst>
              <a:gd name="adj" fmla="val 2500"/>
            </a:avLst>
          </a:prstGeom>
          <a:solidFill>
            <a:schemeClr val="tx2"/>
          </a:solidFill>
          <a:ln/>
        </p:spPr>
      </p:sp>
      <p:sp>
        <p:nvSpPr>
          <p:cNvPr id="4" name="record"/>
          <p:cNvSpPr txBox="1"/>
          <p:nvPr/>
        </p:nvSpPr>
        <p:spPr>
          <a:xfrm>
            <a:off x="777240" y="1600200"/>
            <a:ext cx="7360920" cy="2194560"/>
          </a:xfrm>
          <a:prstGeom prst="rect">
            <a:avLst/>
          </a:prstGeom>
          <a:noFill/>
          <a:ln/>
        </p:spPr>
        <p:txBody>
          <a:bodyPr wrap="square" lIns="0" tIns="0" rIns="0" bIns="0" rtlCol="0" anchor="t"/>
          <a:lstStyle/>
          <a:p>
            <a:pPr indent="0" marL="0">
              <a:buNone/>
            </a:pPr>
            <a:r>
              <a:rPr lang="en-US" sz="1050" dirty="0">
                <a:solidFill>
                  <a:srgbClr val="FFFFFF"/>
                </a:solidFill>
                <a:latin typeface="Courier New" pitchFamily="34" charset="0"/>
                <a:ea typeface="Courier New" pitchFamily="34" charset="-122"/>
                <a:cs typeface="Courier New" pitchFamily="34" charset="-120"/>
              </a:rPr>
              <a:t>{"context_id": "mep_57", "tier": "C2",</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"surface": {"kind": "ceiling", "substrate": "concrete_C25", "thickness_mm": 200.0},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"n_elements": 2, "n_levels": 1, "total_load_kN": 1.12, "bundle_width_mm": 588.0,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"elements": [</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{"kind": "cable_tray", "service": "tray", "trade": "electrical", "shape": "rect",</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"label": "300 tray", "width_mm": 300.0, "height_mm": 60.0, "insulation_mm": 0.0,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"load_kN": 1.08, "span_m": 2.0, "load_kN_per_m": 0.5396,</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"level": 0, "along_mm": -144.0, "out_mm": 120.0},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{"kind": "pipe", "service": "heating", "trade": "heating", "shape": "round",</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"label": "DN20", "width_mm": 26.9, "height_mm": 26.9, "insulation_mm": 20.0,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"load_kN": 0.04, "span_m": 2.1, "load_kN_per_m": 0.0189,</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"level": 0, "along_mm": 260.5, "out_mm": 156.2}</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a:t>
            </a:r>
            <a:endParaRPr lang="en-US" sz="1050" dirty="0"/>
          </a:p>
        </p:txBody>
      </p:sp>
      <p:sp>
        <p:nvSpPr>
          <p:cNvPr id="5" name="record notes"/>
          <p:cNvSpPr txBox="1"/>
          <p:nvPr/>
        </p:nvSpPr>
        <p:spPr>
          <a:xfrm>
            <a:off x="8641080" y="1463040"/>
            <a:ext cx="2999232" cy="37490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Units: millimetres, kilonewtons, metres (span)</a:t>
            </a:r>
            <a:endParaRPr lang="en-US" sz="1300" dirty="0"/>
          </a:p>
          <a:p>
            <a:pPr marL="342900" indent="-342900">
              <a:spcAft>
                <a:spcPts val="600"/>
              </a:spcAft>
              <a:buSzPct val="100000"/>
              <a:buChar char="•"/>
            </a:pPr>
            <a:r>
              <a:rPr lang="en-US" sz="1300" dirty="0">
                <a:solidFill>
                  <a:schemeClr val="tx1"/>
                </a:solidFill>
              </a:rPr>
              <a:t>Widths are bare; insulation_mm is per side</a:t>
            </a:r>
            <a:endParaRPr lang="en-US" sz="1300" dirty="0"/>
          </a:p>
          <a:p>
            <a:pPr marL="342900" indent="-342900">
              <a:spcAft>
                <a:spcPts val="600"/>
              </a:spcAft>
              <a:buSzPct val="100000"/>
              <a:buChar char="•"/>
            </a:pPr>
            <a:r>
              <a:rPr lang="en-US" sz="1300" dirty="0">
                <a:solidFill>
                  <a:schemeClr val="tx1"/>
                </a:solidFill>
              </a:rPr>
              <a:t>load_kN = load_kN_per_m × span_m</a:t>
            </a:r>
            <a:endParaRPr lang="en-US" sz="1300" dirty="0"/>
          </a:p>
          <a:p>
            <a:pPr marL="342900" indent="-342900">
              <a:spcAft>
                <a:spcPts val="600"/>
              </a:spcAft>
              <a:buSzPct val="100000"/>
              <a:buChar char="•"/>
            </a:pPr>
            <a:r>
              <a:rPr lang="en-US" sz="1300" dirty="0">
                <a:solidFill>
                  <a:schemeClr val="tx1"/>
                </a:solidFill>
              </a:rPr>
              <a:t>along_mm, out_mm: position along and out from the surface</a:t>
            </a:r>
            <a:endParaRPr lang="en-US" sz="1300" dirty="0"/>
          </a:p>
          <a:p>
            <a:pPr marL="342900" indent="-342900">
              <a:spcAft>
                <a:spcPts val="600"/>
              </a:spcAft>
              <a:buSzPct val="100000"/>
              <a:buChar char="•"/>
            </a:pPr>
            <a:r>
              <a:rPr lang="en-US" sz="1300" dirty="0">
                <a:solidFill>
                  <a:schemeClr val="tx1"/>
                </a:solidFill>
              </a:rPr>
              <a:t>level: the generative row (metadata)</a:t>
            </a:r>
            <a:endParaRPr lang="en-US" sz="13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Office Theme">
  <a:themeElements>
    <a:clrScheme name="CrossMEP">
      <a:dk1>
        <a:srgbClr val="0B0B0B"/>
      </a:dk1>
      <a:lt1>
        <a:srgbClr val="FFFFFF"/>
      </a:lt1>
      <a:dk2>
        <a:srgbClr val="1F2933"/>
      </a:dk2>
      <a:lt2>
        <a:srgbClr val="EEF1F4"/>
      </a:lt2>
      <a:accent1>
        <a:srgbClr val="2A78D6"/>
      </a:accent1>
      <a:accent2>
        <a:srgbClr val="EB6834"/>
      </a:accent2>
      <a:accent3>
        <a:srgbClr val="1BAF7A"/>
      </a:accent3>
      <a:accent4>
        <a:srgbClr val="4A3AA7"/>
      </a:accent4>
      <a:accent5>
        <a:srgbClr val="E34948"/>
      </a:accent5>
      <a:accent6>
        <a:srgbClr val="008300"/>
      </a:accent6>
      <a:hlink>
        <a:srgbClr val="2A78D6"/>
      </a:hlink>
      <a:folHlink>
        <a:srgbClr val="4A3AA7"/>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Stanford University, CIFE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CrossMEP: A Tiered Synthetic Dataset of Multi-Trade MEP Cross-Sections</dc:title>
  <dc:subject>43rd International CIB W78 Conference, New Delhi, 2026</dc:subject>
  <dc:creator>Lavinia Pedrollo</dc:creator>
  <cp:lastModifiedBy>Lavinia Pedrollo</cp:lastModifiedBy>
  <cp:revision>1</cp:revision>
  <dcterms:created xsi:type="dcterms:W3CDTF">2026-10-06T19:43:55Z</dcterms:created>
  <dcterms:modified xsi:type="dcterms:W3CDTF">2026-10-06T19:43:55Z</dcterms:modified>
</cp:coreProperties>
</file>