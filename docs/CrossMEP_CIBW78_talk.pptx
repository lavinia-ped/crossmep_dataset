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1f29fa2-fc81-a175-6699-e8f9f6b214b1}">
          <p14:sldIdLst>
            <p14:sldId id="256"/>
          </p14:sldIdLst>
        </p14:section>
        <p14:section name="Motivation" id="{9c32c71e-94ac-03b5-eff5-372297e607a2}">
          <p14:sldIdLst>
            <p14:sldId id="257"/>
            <p14:sldId id="258"/>
            <p14:sldId id="259"/>
            <p14:sldId id="260"/>
          </p14:sldIdLst>
        </p14:section>
        <p14:section name="The dataset" id="{8caa210c-38f6-4b0f-12ab-5df97c59af36}">
          <p14:sldIdLst>
            <p14:sldId id="261"/>
            <p14:sldId id="262"/>
            <p14:sldId id="263"/>
            <p14:sldId id="264"/>
            <p14:sldId id="265"/>
          </p14:sldIdLst>
        </p14:section>
        <p14:section name="Experiments" id="{b8daf8d6-11d2-8c5b-d9a7-76f22832ac2d}">
          <p14:sldIdLst>
            <p14:sldId id="266"/>
            <p14:sldId id="267"/>
            <p14:sldId id="268"/>
          </p14:sldIdLst>
        </p14:section>
        <p14:section name="Use" id="{f9cdaaab-1e09-eea7-e613-6797021d7e62}">
          <p14:sldIdLst>
            <p14:sldId id="269"/>
            <p14:sldId id="270"/>
            <p14:sldId id="271"/>
            <p14:sldId id="272"/>
          </p14:sldIdLst>
        </p14:section>
        <p14:section name="Appendix" id="{2902dba2-6425-1ed0-9162-24fc703f2bad}">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coordinate and check; choosing the layout and the parts is still manual.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One section in, verified supports out. Build the assembly step by step from a catalog, each step allowed by the rules and chosen by a rule table, by search, or by a learned policy; then check every finished design: statics, anchors, buildability. That is learnable. But anything that learns needs problems to learn from, a fixed set to compare on, and problems that look like practice.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with the tier, from about 0.3 to 2.0 kilonewtons. The closest gap narrows at every step, from 130 to about 51 millimeters. So: report methods tier by tier.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32 millimeters. That is above the 8 a perfect generator would show, so not a perfect match, but about as close as the duplex's own two models are to each other. A fixed 25-millimeter gap would be about 190 off.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18 shows two more sections. Before the talk: open the studio once with internet, set its link sharing to public, scan the QR from a phone not logged in.]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in, verified supports out: learnable, given problems to learn from</a:t>
            </a:r>
            <a:endParaRPr lang="en-US" sz="2600" dirty="0"/>
          </a:p>
        </p:txBody>
      </p:sp>
      <p:sp>
        <p:nvSpPr>
          <p:cNvPr id="3" name="box context"/>
          <p:cNvSpPr/>
          <p:nvPr/>
        </p:nvSpPr>
        <p:spPr>
          <a:xfrm>
            <a:off x="548640" y="1554480"/>
            <a:ext cx="1737360" cy="960120"/>
          </a:xfrm>
          <a:prstGeom prst="roundRect">
            <a:avLst>
              <a:gd name="adj" fmla="val 5714"/>
            </a:avLst>
          </a:prstGeom>
          <a:solidFill>
            <a:schemeClr val="bg2"/>
          </a:solidFill>
          <a:ln w="12700">
            <a:solidFill>
              <a:srgbClr val="52514E"/>
            </a:solidFill>
            <a:prstDash val="solid"/>
          </a:ln>
        </p:spPr>
      </p:sp>
      <p:sp>
        <p:nvSpPr>
          <p:cNvPr id="4" name="text context"/>
          <p:cNvSpPr txBox="1"/>
          <p:nvPr/>
        </p:nvSpPr>
        <p:spPr>
          <a:xfrm>
            <a:off x="548640" y="1554480"/>
            <a:ext cx="1737360" cy="96012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5"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6"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7"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sp>
        <p:nvSpPr>
          <p:cNvPr id="8" name="text rules"/>
          <p:cNvSpPr txBox="1"/>
          <p:nvPr/>
        </p:nvSpPr>
        <p:spPr>
          <a:xfrm>
            <a:off x="274320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9" name="arrow context to rules"/>
          <p:cNvSpPr/>
          <p:nvPr/>
        </p:nvSpPr>
        <p:spPr>
          <a:xfrm>
            <a:off x="2286000" y="2029968"/>
            <a:ext cx="457200" cy="0"/>
          </a:xfrm>
          <a:prstGeom prst="line">
            <a:avLst/>
          </a:prstGeom>
          <a:noFill/>
          <a:ln w="15875">
            <a:solidFill>
              <a:srgbClr val="52514E"/>
            </a:solidFill>
            <a:prstDash val="solid"/>
            <a:tailEnd type="triangle"/>
          </a:ln>
        </p:spPr>
      </p:sp>
      <p:sp>
        <p:nvSpPr>
          <p:cNvPr id="10"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1" name="black box approach"/>
          <p:cNvSpPr/>
          <p:nvPr/>
        </p:nvSpPr>
        <p:spPr>
          <a:xfrm>
            <a:off x="5120640" y="1554480"/>
            <a:ext cx="2194560" cy="2240280"/>
          </a:xfrm>
          <a:prstGeom prst="roundRect">
            <a:avLst>
              <a:gd name="adj" fmla="val 2500"/>
            </a:avLst>
          </a:prstGeom>
          <a:solidFill>
            <a:srgbClr val="0B0B0B"/>
          </a:solidFill>
          <a:ln/>
        </p:spPr>
      </p:sp>
      <p:sp>
        <p:nvSpPr>
          <p:cNvPr id="12" name="text approach"/>
          <p:cNvSpPr txBox="1"/>
          <p:nvPr/>
        </p:nvSpPr>
        <p:spPr>
          <a:xfrm>
            <a:off x="5120640" y="1554480"/>
            <a:ext cx="2194560" cy="224028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13" name="arrow legal actions"/>
          <p:cNvSpPr/>
          <p:nvPr/>
        </p:nvSpPr>
        <p:spPr>
          <a:xfrm>
            <a:off x="4572000" y="2354580"/>
            <a:ext cx="548640" cy="0"/>
          </a:xfrm>
          <a:prstGeom prst="line">
            <a:avLst/>
          </a:prstGeom>
          <a:noFill/>
          <a:ln w="15875">
            <a:solidFill>
              <a:srgbClr val="52514E"/>
            </a:solidFill>
            <a:prstDash val="solid"/>
            <a:tailEnd type="triangle"/>
          </a:ln>
        </p:spPr>
      </p:sp>
      <p:sp>
        <p:nvSpPr>
          <p:cNvPr id="14"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15" name="arrow chosen action"/>
          <p:cNvSpPr/>
          <p:nvPr/>
        </p:nvSpPr>
        <p:spPr>
          <a:xfrm>
            <a:off x="4572000" y="2994660"/>
            <a:ext cx="548640" cy="0"/>
          </a:xfrm>
          <a:prstGeom prst="line">
            <a:avLst/>
          </a:prstGeom>
          <a:noFill/>
          <a:ln w="15875">
            <a:solidFill>
              <a:srgbClr val="52514E"/>
            </a:solidFill>
            <a:prstDash val="solid"/>
            <a:headEnd type="triangle"/>
          </a:ln>
        </p:spPr>
      </p:sp>
      <p:sp>
        <p:nvSpPr>
          <p:cNvPr id="16"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17"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sp>
        <p:nvSpPr>
          <p:cNvPr id="18" name="text verifier"/>
          <p:cNvSpPr txBox="1"/>
          <p:nvPr/>
        </p:nvSpPr>
        <p:spPr>
          <a:xfrm>
            <a:off x="786384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19"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0"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1"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22" name="text output"/>
          <p:cNvSpPr txBox="1"/>
          <p:nvPr/>
        </p:nvSpPr>
        <p:spPr>
          <a:xfrm>
            <a:off x="10104120" y="1554480"/>
            <a:ext cx="1536192"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23" name="arrow to output"/>
          <p:cNvSpPr/>
          <p:nvPr/>
        </p:nvSpPr>
        <p:spPr>
          <a:xfrm>
            <a:off x="9692640" y="2674620"/>
            <a:ext cx="411480" cy="0"/>
          </a:xfrm>
          <a:prstGeom prst="line">
            <a:avLst/>
          </a:prstGeom>
          <a:noFill/>
          <a:ln w="15875">
            <a:solidFill>
              <a:srgbClr val="52514E"/>
            </a:solidFill>
            <a:prstDash val="solid"/>
            <a:tailEnd type="triangle"/>
          </a:ln>
        </p:spPr>
      </p:sp>
      <p:sp>
        <p:nvSpPr>
          <p:cNvPr id="24" name="feedback down"/>
          <p:cNvSpPr/>
          <p:nvPr/>
        </p:nvSpPr>
        <p:spPr>
          <a:xfrm>
            <a:off x="8778240" y="3794760"/>
            <a:ext cx="0" cy="274320"/>
          </a:xfrm>
          <a:prstGeom prst="line">
            <a:avLst/>
          </a:prstGeom>
          <a:noFill/>
          <a:ln w="15875">
            <a:solidFill>
              <a:srgbClr val="008300"/>
            </a:solidFill>
            <a:prstDash val="dash"/>
          </a:ln>
        </p:spPr>
      </p:sp>
      <p:sp>
        <p:nvSpPr>
          <p:cNvPr id="25" name="feedback across"/>
          <p:cNvSpPr/>
          <p:nvPr/>
        </p:nvSpPr>
        <p:spPr>
          <a:xfrm>
            <a:off x="6217920" y="4069080"/>
            <a:ext cx="2560320" cy="0"/>
          </a:xfrm>
          <a:prstGeom prst="line">
            <a:avLst/>
          </a:prstGeom>
          <a:noFill/>
          <a:ln w="15875">
            <a:solidFill>
              <a:srgbClr val="008300"/>
            </a:solidFill>
            <a:prstDash val="dash"/>
          </a:ln>
        </p:spPr>
      </p:sp>
      <p:sp>
        <p:nvSpPr>
          <p:cNvPr id="26" name="feedback up"/>
          <p:cNvSpPr/>
          <p:nvPr/>
        </p:nvSpPr>
        <p:spPr>
          <a:xfrm>
            <a:off x="6217920" y="3794760"/>
            <a:ext cx="0" cy="274320"/>
          </a:xfrm>
          <a:prstGeom prst="line">
            <a:avLst/>
          </a:prstGeom>
          <a:noFill/>
          <a:ln w="15875">
            <a:solidFill>
              <a:srgbClr val="008300"/>
            </a:solidFill>
            <a:prstDash val="dash"/>
            <a:headEnd type="triangle"/>
          </a:ln>
        </p:spPr>
      </p:sp>
      <p:sp>
        <p:nvSpPr>
          <p:cNvPr id="27"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28"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29"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30"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31"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32"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33"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34"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35"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36"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37"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38" name="needs band"/>
          <p:cNvSpPr/>
          <p:nvPr/>
        </p:nvSpPr>
        <p:spPr>
          <a:xfrm>
            <a:off x="548640" y="5074920"/>
            <a:ext cx="11091672" cy="914400"/>
          </a:xfrm>
          <a:prstGeom prst="roundRect">
            <a:avLst>
              <a:gd name="adj" fmla="val 7000"/>
            </a:avLst>
          </a:prstGeom>
          <a:solidFill>
            <a:schemeClr val="tx2"/>
          </a:solidFill>
          <a:ln/>
        </p:spPr>
      </p:sp>
      <p:sp>
        <p:nvSpPr>
          <p:cNvPr id="39"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9"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0"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0"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1"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2"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4"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2026-10-06T21:11:51Z</dcterms:created>
  <dcterms:modified xsi:type="dcterms:W3CDTF">2026-10-06T21:11:51Z</dcterms:modified>
</cp:coreProperties>
</file>