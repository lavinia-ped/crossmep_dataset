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595e5e-94ce-81c5-e535-810e40650e6a}">
          <p14:sldIdLst>
            <p14:sldId id="256"/>
          </p14:sldIdLst>
        </p14:section>
        <p14:section name="Motivation" id="{3b89c19d-0cb8-d8aa-956f-bafa473af851}">
          <p14:sldIdLst>
            <p14:sldId id="257"/>
            <p14:sldId id="258"/>
          </p14:sldIdLst>
        </p14:section>
        <p14:section name="The dataset" id="{814136bf-ffcc-4142-eb50-e191096d1801}">
          <p14:sldIdLst>
            <p14:sldId id="259"/>
            <p14:sldId id="260"/>
            <p14:sldId id="261"/>
            <p14:sldId id="262"/>
            <p14:sldId id="263"/>
          </p14:sldIdLst>
        </p14:section>
        <p14:section name="Experiments" id="{32e14631-e5ef-3172-1046-09b601e35a4c}">
          <p14:sldIdLst>
            <p14:sldId id="264"/>
            <p14:sldId id="265"/>
            <p14:sldId id="266"/>
          </p14:sldIdLst>
        </p14:section>
        <p14:section name="Use" id="{a131732d-eb52-1a21-8dbe-3b34d3992790}">
          <p14:sldIdLst>
            <p14:sldId id="267"/>
            <p14:sldId id="268"/>
            <p14:sldId id="269"/>
          </p14:sldIdLst>
        </p14:section>
        <p14:section name="Appendix" id="{f5ebbb5c-7571-06b5-c085-1d2bfe93f2f0}">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Arial"/>
                  </a:defRPr>
                </a:pPr>
                <a:r>
                  <a:rPr sz="1000" b="0" i="0" u="none" strike="noStrike">
                    <a:solidFill>
                      <a:srgbClr val="52514E"/>
                    </a:solidFill>
                    <a:latin typeface="Arial"/>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checked against open IFC buildings,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has a source.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experiment: are the tiers ordered by difficulty? The count is exact by construction, so we look at congestion and load. The boxes are the benchmark; the diamonds are medians over 2,000 freshly generated contexts per tier - the generator itself, not sampling noise. Load at the support rises at every step, from 0.1 to 1.7 kilonewtons. Congestion rises overall - the closest gap falls from 120 to about 62 millimetres - but at C6 the generator starts stacking in two or three rows, so each row holds fewer elements and the gap widens again. So the tier fixes the count; congestion and load follow on average, and methods should be compared tier by tier.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experiment: is the spacing realistic? We took two open buildings from buildingSMART - a residential duplex and a medical-dental clinic, which is a real building - and cut sections every 250 millimetres, the way a context is defined, measuring the gap between pipes running side by side. On the left, the clinic, which the generator never saw: the generated gaps follow the measured ones closely. On the right, the distances. Generated to clinic: 28 millimetres, about as close as the duplex's own two models are to each other. The small duplex is as far from the generator as it is from the clinic. A fixed modular gap would be about 190 millimetres off.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connects the dataset to the task it serves: what must a catalog of clamps cover? Take the two-size catalog from the paper as an illustration. It attaches 11.6 per cent of the pipes - 293 of 2,529, interval 10 to 13 - and every one is a single size, DN40. Load never binds: the heaviest pipe is 0.88 kilonewtons against a 2.5 kilonewton clamp. Trays, ducts and conduits are not covered at all. On the right is what the dataset asks of any catalog: two sizes placed where the pipes are would attach 43 per cent, six sizes 80, and 12 sizes every pipe. So 'what should the catalog contain' becomes a measurement.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 only the Python standard library is needed - filter by composition, or generate your own mix with the same rules; there is an interactive gallery for inspection. Because there are no labels, the same files serve reinforcement learning, constraint-programming baselines and human benchmarking, and we ship the scoring too: train on the generator with as many seeds as you like, from C1 up to C8; evaluate on the benchmark, the same 125 contexts per tier for every method; and report per tier with 95 per cent intervals and paired tests, so two methods can be compared fairly.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sections of two open buildings; congested racks rest on practice and standards. The trade mix is a design choice, and the data is not for structural design. Next: a public checker for support designs, with best-known costs, so methods can be compared on the answer and not only on the brief; the catalog as an input, so a method is tested on catalogs it has never seen; and a real test set from commercial projects, with supports designed by engineers - which is where we would value your eye. (8:40)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number traced to its source, checked against two open buildings, and open. The QR code takes you to the data, the code and the gallery.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the distance to the held-out building, and the trend statistics behind experiment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2: sample sizes, both weightings, the noise floor and the sensitivity of the result to the way the sections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There was no public dataset of support-design problems</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from a standard, a manufacturer table or a measurement"/>
          <p:cNvSpPr/>
          <p:nvPr/>
        </p:nvSpPr>
        <p:spPr>
          <a:xfrm>
            <a:off x="7812024" y="4023360"/>
            <a:ext cx="1822704" cy="1965960"/>
          </a:xfrm>
          <a:prstGeom prst="roundRect">
            <a:avLst>
              <a:gd name="adj" fmla="val 3512"/>
            </a:avLst>
          </a:prstGeom>
          <a:solidFill>
            <a:schemeClr val="bg2"/>
          </a:solidFill>
          <a:ln/>
        </p:spPr>
      </p:sp>
      <p:sp>
        <p:nvSpPr>
          <p:cNvPr id="30" name="value every constant from a standard, a manufacturer table or a measurement"/>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from a standard, a manufacturer table or a measurement"/>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from a standard, a manufacturer table or a measurement</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How a context is generated: rules, not free randomness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has a source, and every load is computed from it</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release: 7,000 contexts in four splits on disjoint seeds</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difficulty tiers: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1: higher tiers are heavier and, on average, tighter</a:t>
            </a:r>
            <a:endParaRPr lang="en-US" sz="2600" dirty="0"/>
          </a:p>
        </p:txBody>
      </p:sp>
      <p:pic>
        <p:nvPicPr>
          <p:cNvPr id="3" name="tier statistics" descr="/home/user/crossmep_dataset/docs/figures/03_tiers_stats.png">    </p:cNvPr>
          <p:cNvPicPr>
            <a:picLocks noChangeAspect="1"/>
          </p:cNvPicPr>
          <p:nvPr/>
        </p:nvPicPr>
        <p:blipFill>
          <a:blip r:embed="rId1"/>
          <a:stretch>
            <a:fillRect/>
          </a:stretch>
        </p:blipFill>
        <p:spPr>
          <a:xfrm>
            <a:off x="584630" y="1325880"/>
            <a:ext cx="11019692" cy="4297680"/>
          </a:xfrm>
          <a:prstGeom prst="rect">
            <a:avLst/>
          </a:prstGeom>
        </p:spPr>
      </p:pic>
      <p:sp>
        <p:nvSpPr>
          <p:cNvPr id="4" name="experiment 1 caption"/>
          <p:cNvSpPr txBox="1"/>
          <p:nvPr/>
        </p:nvSpPr>
        <p:spPr>
          <a:xfrm>
            <a:off x="548640" y="5715000"/>
            <a:ext cx="11091672" cy="594360"/>
          </a:xfrm>
          <a:prstGeom prst="rect">
            <a:avLst/>
          </a:prstGeom>
          <a:noFill/>
          <a:ln/>
        </p:spPr>
        <p:txBody>
          <a:bodyPr wrap="square" lIns="0" tIns="0" rIns="0" bIns="0" rtlCol="0" anchor="t"/>
          <a:lstStyle/>
          <a:p>
            <a:pPr indent="0" marL="0">
              <a:buNone/>
            </a:pPr>
            <a:r>
              <a:rPr lang="en-US" sz="1100" dirty="0">
                <a:solidFill>
                  <a:srgbClr val="52514E"/>
                </a:solidFill>
              </a:rPr>
              <a:t>Boxes: the benchmark, 125 contexts per tier. Diamonds: medians of 2,000 freshly generated contexts per tier, so the trends belong to the generator, not to sampling noise. Load rises at every tier (rank correlation with tier +0.56); the closest gap shrinks overall (−0.36) but widens again at C6 (70 → 75 mm), where the generator starts stacking elements in two or three rows.</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2: generated spacing matches a building it never saw</a:t>
            </a:r>
            <a:endParaRPr lang="en-US" sz="2600" dirty="0"/>
          </a:p>
        </p:txBody>
      </p:sp>
      <p:pic>
        <p:nvPicPr>
          <p:cNvPr id="3" name="gap distributions" descr="/home/user/crossmep_dataset/docs/figures/04_gaps_vs_buildings.png">    </p:cNvPr>
          <p:cNvPicPr>
            <a:picLocks noChangeAspect="1"/>
          </p:cNvPicPr>
          <p:nvPr/>
        </p:nvPicPr>
        <p:blipFill>
          <a:blip r:embed="rId1"/>
          <a:stretch>
            <a:fillRect/>
          </a:stretch>
        </p:blipFill>
        <p:spPr>
          <a:xfrm>
            <a:off x="797336" y="1325880"/>
            <a:ext cx="10594281" cy="4297680"/>
          </a:xfrm>
          <a:prstGeom prst="rect">
            <a:avLst/>
          </a:prstGeom>
        </p:spPr>
      </p:pic>
      <p:sp>
        <p:nvSpPr>
          <p:cNvPr id="4" name="experiment 2 caption"/>
          <p:cNvSpPr txBox="1"/>
          <p:nvPr/>
        </p:nvSpPr>
        <p:spPr>
          <a:xfrm>
            <a:off x="548640" y="5715000"/>
            <a:ext cx="11091672" cy="594360"/>
          </a:xfrm>
          <a:prstGeom prst="rect">
            <a:avLst/>
          </a:prstGeom>
          <a:noFill/>
          <a:ln/>
        </p:spPr>
        <p:txBody>
          <a:bodyPr wrap="square" lIns="0" tIns="0" rIns="0" bIns="0" rtlCol="0" anchor="t"/>
          <a:lstStyle/>
          <a:p>
            <a:pPr indent="0" marL="0">
              <a:buNone/>
            </a:pPr>
            <a:r>
              <a:rPr lang="en-US" sz="1100" dirty="0">
                <a:solidFill>
                  <a:srgbClr val="52514E"/>
                </a:solidFill>
              </a:rPr>
              <a:t>Sections cut every 250 mm through two open IFC buildings from buildingSMART (CC BY 4.0), measuring the clear gap between side-by-side pipes. The medical-dental clinic, a real building with 797 measured pipe pairs, is 28 mm from the generated gaps (95 % CI 16–44): about as close as the duplex’s own two models are to each other (26 mm). The small residential duplex is as far from the generator (70–85 mm) as from the clinic (71–85 mm).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3: a two-size clamp catalog attaches 1 pipe in 9</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Using CrossMEP: train, evaluate, report</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crossmep.evaluate import score, compare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score(my_results, data)</a:t>
            </a:r>
            <a:pPr indent="0" marL="0">
              <a:buNone/>
            </a:pPr>
            <a:r>
              <a:rPr lang="en-US" sz="1300" dirty="0">
                <a:solidFill>
                  <a:srgbClr val="CADCFC"/>
                </a:solidFill>
                <a:latin typeface="Courier New" pitchFamily="34" charset="0"/>
                <a:ea typeface="Courier New" pitchFamily="34" charset="-122"/>
                <a:cs typeface="Courier New" pitchFamily="34" charset="-120"/>
              </a:rPr>
              <a:t>  # per tier, 95 % CI</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compare(mine, baseline, data)</a:t>
            </a:r>
            <a:pPr indent="0" marL="0">
              <a:buNone/>
            </a:pPr>
            <a:r>
              <a:rPr lang="en-US" sz="1300" dirty="0">
                <a:solidFill>
                  <a:srgbClr val="CADCFC"/>
                </a:solidFill>
                <a:latin typeface="Courier New" pitchFamily="34" charset="0"/>
                <a:ea typeface="Courier New" pitchFamily="34" charset="-122"/>
                <a:cs typeface="Courier New" pitchFamily="34" charset="-120"/>
              </a:rPr>
              <a:t>  # paired test</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Loading, metrics and scoring need only the Python standard library; the generator needs NumPy. Command line: python -m crossmep generate | validate | evaluate.</a:t>
            </a:r>
            <a:endParaRPr lang="en-US" sz="1100" dirty="0"/>
          </a:p>
        </p:txBody>
      </p:sp>
      <p:pic>
        <p:nvPicPr>
          <p:cNvPr id="6" name="gallery screenshot" descr="/home/user/crossmep_dataset/docs/figures/07_gallery_screenshot.png">    </p:cNvPr>
          <p:cNvPicPr>
            <a:picLocks noChangeAspect="1"/>
          </p:cNvPicPr>
          <p:nvPr/>
        </p:nvPicPr>
        <p:blipFill>
          <a:blip r:embed="rId1"/>
          <a:stretch>
            <a:fillRect/>
          </a:stretch>
        </p:blipFill>
        <p:spPr>
          <a:xfrm>
            <a:off x="6812259" y="1417320"/>
            <a:ext cx="4370873" cy="2834640"/>
          </a:xfrm>
          <a:prstGeom prst="rect">
            <a:avLst/>
          </a:prstGeom>
        </p:spPr>
      </p:pic>
      <p:sp>
        <p:nvSpPr>
          <p:cNvPr id="7" name="gallery screenshot caption"/>
          <p:cNvSpPr txBox="1"/>
          <p:nvPr/>
        </p:nvSpPr>
        <p:spPr>
          <a:xfrm>
            <a:off x="6355080" y="4325112"/>
            <a:ext cx="5285232"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Train"/>
          <p:cNvSpPr/>
          <p:nvPr/>
        </p:nvSpPr>
        <p:spPr>
          <a:xfrm>
            <a:off x="548640" y="4754880"/>
            <a:ext cx="3575304" cy="1280160"/>
          </a:xfrm>
          <a:prstGeom prst="roundRect">
            <a:avLst>
              <a:gd name="adj" fmla="val 5000"/>
            </a:avLst>
          </a:prstGeom>
          <a:solidFill>
            <a:schemeClr val="bg2"/>
          </a:solidFill>
          <a:ln/>
        </p:spPr>
      </p:sp>
      <p:sp>
        <p:nvSpPr>
          <p:cNvPr id="9" name="use head Train"/>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Train</a:t>
            </a:r>
            <a:endParaRPr lang="en-US" sz="1500" dirty="0"/>
          </a:p>
        </p:txBody>
      </p:sp>
      <p:sp>
        <p:nvSpPr>
          <p:cNvPr id="10" name="use text Train"/>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generator: unlimited seeds, a curriculum from C1 up to C8</a:t>
            </a:r>
            <a:endParaRPr lang="en-US" sz="1250" dirty="0"/>
          </a:p>
        </p:txBody>
      </p:sp>
      <p:sp>
        <p:nvSpPr>
          <p:cNvPr id="11" name="use Evaluate"/>
          <p:cNvSpPr/>
          <p:nvPr/>
        </p:nvSpPr>
        <p:spPr>
          <a:xfrm>
            <a:off x="4306824" y="4754880"/>
            <a:ext cx="3575304" cy="1280160"/>
          </a:xfrm>
          <a:prstGeom prst="roundRect">
            <a:avLst>
              <a:gd name="adj" fmla="val 5000"/>
            </a:avLst>
          </a:prstGeom>
          <a:solidFill>
            <a:schemeClr val="bg2"/>
          </a:solidFill>
          <a:ln/>
        </p:spPr>
      </p:sp>
      <p:sp>
        <p:nvSpPr>
          <p:cNvPr id="12" name="use head Evaluate"/>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Evaluate</a:t>
            </a:r>
            <a:endParaRPr lang="en-US" sz="1500" dirty="0"/>
          </a:p>
        </p:txBody>
      </p:sp>
      <p:sp>
        <p:nvSpPr>
          <p:cNvPr id="13" name="use text Evaluate"/>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on the benchmark: 125 held-out contexts per tier, the same for every method</a:t>
            </a:r>
            <a:endParaRPr lang="en-US" sz="1250" dirty="0"/>
          </a:p>
        </p:txBody>
      </p:sp>
      <p:sp>
        <p:nvSpPr>
          <p:cNvPr id="14" name="use Report"/>
          <p:cNvSpPr/>
          <p:nvPr/>
        </p:nvSpPr>
        <p:spPr>
          <a:xfrm>
            <a:off x="8065008" y="4754880"/>
            <a:ext cx="3575304" cy="1280160"/>
          </a:xfrm>
          <a:prstGeom prst="roundRect">
            <a:avLst>
              <a:gd name="adj" fmla="val 5000"/>
            </a:avLst>
          </a:prstGeom>
          <a:solidFill>
            <a:schemeClr val="bg2"/>
          </a:solidFill>
          <a:ln/>
        </p:spPr>
      </p:sp>
      <p:sp>
        <p:nvSpPr>
          <p:cNvPr id="15" name="use head Report"/>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6" name="use text Report"/>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per tier with 95 % intervals, paired tests between methods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Scope, and what comes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sections of two open buildings, a residential duplex and a medical clinic;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public checker for support designs, with best-known costs from an exact solver on the small tiers</a:t>
            </a:r>
            <a:endParaRPr lang="en-US" sz="1400" dirty="0"/>
          </a:p>
          <a:p>
            <a:pPr marL="342900" indent="-342900">
              <a:spcAft>
                <a:spcPts val="600"/>
              </a:spcAft>
              <a:buSzPct val="100000"/>
              <a:buChar char="•"/>
            </a:pPr>
            <a:r>
              <a:rPr lang="en-US" sz="1400" dirty="0">
                <a:solidFill>
                  <a:schemeClr val="tx1"/>
                </a:solidFill>
              </a:rPr>
              <a:t>The catalog as an input: generated catalogs, and tests on catalogs a method has never seen</a:t>
            </a:r>
            <a:endParaRPr lang="en-US" sz="1400" dirty="0"/>
          </a:p>
          <a:p>
            <a:pPr marL="342900" indent="-342900">
              <a:spcAft>
                <a:spcPts val="600"/>
              </a:spcAft>
              <a:buSzPct val="100000"/>
              <a:buChar char="•"/>
            </a:pPr>
            <a:r>
              <a:rPr lang="en-US" sz="1400" dirty="0">
                <a:solidFill>
                  <a:schemeClr val="tx1"/>
                </a:solidFill>
              </a:rPr>
              <a:t>A real test set: sections from commercial projects with supports designed by engineers</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number traced  ·  checked against two open buildings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per-tier statistics, benchmark split</a:t>
            </a:r>
            <a:endParaRPr lang="en-US" sz="2600" dirty="0"/>
          </a:p>
        </p:txBody>
      </p:sp>
      <p:graphicFrame>
        <p:nvGraphicFramePr>
          <p:cNvPr id="16"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pipe gaps of the clinic (95 % CI 16–44)"/>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pipe gaps of the clinic (95 % CI 16–44)"/>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28 mm</a:t>
            </a:r>
            <a:endParaRPr lang="en-US" sz="2400" dirty="0"/>
          </a:p>
        </p:txBody>
      </p:sp>
      <p:sp>
        <p:nvSpPr>
          <p:cNvPr id="9" name="label Wasserstein-1, generated to measured pipe gaps of the clinic (95 % CI 16–44)"/>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pipe gaps of the clinic (95 % CI 16–44)</a:t>
            </a:r>
            <a:endParaRPr lang="en-US" sz="1100" dirty="0"/>
          </a:p>
        </p:txBody>
      </p:sp>
      <p:sp>
        <p:nvSpPr>
          <p:cNvPr id="10" name="tile rank correlation of tier with the closest gap / with the load"/>
          <p:cNvSpPr/>
          <p:nvPr/>
        </p:nvSpPr>
        <p:spPr>
          <a:xfrm>
            <a:off x="7772400" y="3977640"/>
            <a:ext cx="3867912" cy="1097280"/>
          </a:xfrm>
          <a:prstGeom prst="roundRect">
            <a:avLst>
              <a:gd name="adj" fmla="val 5833"/>
            </a:avLst>
          </a:prstGeom>
          <a:solidFill>
            <a:schemeClr val="bg2"/>
          </a:solidFill>
          <a:ln/>
        </p:spPr>
      </p:sp>
      <p:sp>
        <p:nvSpPr>
          <p:cNvPr id="11" name="value rank correlation of tier with the closest gap / with the load"/>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−0.36 / +0.56</a:t>
            </a:r>
            <a:endParaRPr lang="en-US" sz="2400" dirty="0"/>
          </a:p>
        </p:txBody>
      </p:sp>
      <p:sp>
        <p:nvSpPr>
          <p:cNvPr id="12" name="label rank correlation of tier with the closest gap / with the load"/>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rank correlation of tier with the closest gap / with the load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realism check, in detail</a:t>
            </a:r>
            <a:endParaRPr lang="en-US" sz="2600" dirty="0"/>
          </a:p>
        </p:txBody>
      </p:sp>
      <p:graphicFrame>
        <p:nvGraphicFramePr>
          <p:cNvPr id="17" name="samp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5394960" cy="914400"/>
        </p:xfrm>
        <a:graphic>
          <a:graphicData uri="http://schemas.openxmlformats.org/drawingml/2006/table">
            <a:tbl>
              <a:tblPr/>
              <a:tblGrid>
                <a:gridCol w="1828800"/>
                <a:gridCol w="822960"/>
                <a:gridCol w="914400"/>
                <a:gridCol w="1005840"/>
                <a:gridCol w="82296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pipe gaps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pairs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median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&lt; 25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1,543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0 %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3,833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177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23 %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32 %</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3" name="distances table"/>
          <p:cNvGraphicFramePr>
            <a:graphicFrameLocks noGrp="1"/>
          </p:cNvGraphicFramePr>
          <p:nvPr>
            <p:extLst>
              <p:ext uri="{D42A27DB-BD31-4B8C-83A1-F6EECF244321}">
                <p14:modId xmlns:p14="http://schemas.microsoft.com/office/powerpoint/2010/main" val="1579011935"/>
              </p:ext>
            </p:extLst>
          </p:nvPr>
        </p:nvGraphicFramePr>
        <p:xfrm>
          <a:off x="6172200" y="1371600"/>
          <a:ext cx="5468112" cy="914400"/>
        </p:xfrm>
        <a:graphic>
          <a:graphicData uri="http://schemas.openxmlformats.org/drawingml/2006/table">
            <a:tbl>
              <a:tblPr/>
              <a:tblGrid>
                <a:gridCol w="2176272"/>
                <a:gridCol w="1143000"/>
                <a:gridCol w="1234440"/>
                <a:gridCol w="914400"/>
              </a:tblGrid>
              <a:tr h="31089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Wasserstein-1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by length</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each pair once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noise floor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Clinic</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28 (16–44)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15 (11–24)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70 (57–99)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generated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(59–132)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100 (85–125)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MEP</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 (54–101)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88 (70–118)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Clinic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85 (55–137)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(77–121)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Duplex MEP ↔ Duplex Plumbing</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26 (24–124)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 (21–108)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realism bullets"/>
          <p:cNvSpPr txBox="1"/>
          <p:nvPr/>
        </p:nvSpPr>
        <p:spPr>
          <a:xfrm>
            <a:off x="548640" y="3154680"/>
            <a:ext cx="53949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Sections every 250 mm; runs within 400 mm of height form a row; gaps between bare pipe surfaces, below 600 mm</a:t>
            </a:r>
            <a:endParaRPr lang="en-US" sz="1250" dirty="0"/>
          </a:p>
          <a:p>
            <a:pPr marL="342900" indent="-342900">
              <a:spcAft>
                <a:spcPts val="600"/>
              </a:spcAft>
              <a:buSzPct val="100000"/>
              <a:buChar char="•"/>
            </a:pPr>
            <a:r>
              <a:rPr lang="en-US" sz="1250" dirty="0">
                <a:solidFill>
                  <a:schemeClr val="tx1"/>
                </a:solidFill>
              </a:rPr>
              <a:t>Robust: across 11 settings of the cut (spacing, row band, axis tolerance, run length) generated ↔ clinic stays at 27–36 mm</a:t>
            </a:r>
            <a:endParaRPr lang="en-US" sz="1250" dirty="0"/>
          </a:p>
          <a:p>
            <a:pPr marL="342900" indent="-342900">
              <a:spcAft>
                <a:spcPts val="600"/>
              </a:spcAft>
              <a:buSzPct val="100000"/>
              <a:buChar char="•"/>
            </a:pPr>
            <a:r>
              <a:rPr lang="en-US" sz="1250" dirty="0">
                <a:solidFill>
                  <a:schemeClr val="tx1"/>
                </a:solidFill>
              </a:rPr>
              <a:t>Noise floor: the distance a perfect generator would still show at that sample size</a:t>
            </a:r>
            <a:endParaRPr lang="en-US" sz="1250" dirty="0"/>
          </a:p>
          <a:p>
            <a:pPr marL="342900" indent="-342900">
              <a:spcAft>
                <a:spcPts val="600"/>
              </a:spcAft>
              <a:buSzPct val="100000"/>
              <a:buChar char="•"/>
            </a:pPr>
            <a:r>
              <a:rPr lang="en-US" sz="1250" dirty="0">
                <a:solidFill>
                  <a:schemeClr val="tx1"/>
                </a:solidFill>
              </a:rPr>
              <a:t>The duplex samples are small, hence the wide intervals</a:t>
            </a:r>
            <a:endParaRPr lang="en-US" sz="1250" dirty="0"/>
          </a:p>
        </p:txBody>
      </p:sp>
      <p:sp>
        <p:nvSpPr>
          <p:cNvPr id="6" name="distances caption"/>
          <p:cNvSpPr txBox="1"/>
          <p:nvPr/>
        </p:nvSpPr>
        <p:spPr>
          <a:xfrm>
            <a:off x="6172200" y="3931920"/>
            <a:ext cx="5468112" cy="731520"/>
          </a:xfrm>
          <a:prstGeom prst="rect">
            <a:avLst/>
          </a:prstGeom>
          <a:noFill/>
          <a:ln/>
        </p:spPr>
        <p:txBody>
          <a:bodyPr wrap="square" lIns="0" tIns="0" rIns="0" bIns="0" rtlCol="0" anchor="t"/>
          <a:lstStyle/>
          <a:p>
            <a:pPr indent="0" marL="0">
              <a:buNone/>
            </a:pPr>
            <a:r>
              <a:rPr lang="en-US" sz="1100" dirty="0">
                <a:solidFill>
                  <a:srgbClr val="52514E"/>
                </a:solidFill>
              </a:rPr>
              <a:t>Intervals: 95 % bootstrap over contexts (generated) and pipe pairs (measured). Models: buildingSMART Duplex Apartment and Medical-Dental Clinic, CC BY 4.0; derived measurements and attribution in verify/measured/.</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catalog stress test, with error bars</a:t>
            </a:r>
            <a:endParaRPr lang="en-US" sz="2600" dirty="0"/>
          </a:p>
        </p:txBody>
      </p:sp>
      <p:graphicFrame>
        <p:nvGraphicFramePr>
          <p:cNvPr id="18"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5"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52"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one record, as stored</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2026-10-05T21:16:35Z</dcterms:created>
  <dcterms:modified xsi:type="dcterms:W3CDTF">2026-10-05T21:16:35Z</dcterms:modified>
</cp:coreProperties>
</file>