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aaf9419-616a-3718-a827-0243eac98725}">
          <p14:sldIdLst>
            <p14:sldId id="256"/>
          </p14:sldIdLst>
        </p14:section>
        <p14:section name="Motivation" id="{03ea0c07-2e4e-674c-abb3-d1bc742d9927}">
          <p14:sldIdLst>
            <p14:sldId id="257"/>
            <p14:sldId id="258"/>
            <p14:sldId id="259"/>
            <p14:sldId id="260"/>
            <p14:sldId id="261"/>
          </p14:sldIdLst>
        </p14:section>
        <p14:section name="The dataset" id="{2502ba28-70a2-cd3f-3037-bd3e1e2e64a6}">
          <p14:sldIdLst>
            <p14:sldId id="262"/>
            <p14:sldId id="263"/>
            <p14:sldId id="264"/>
          </p14:sldIdLst>
        </p14:section>
        <p14:section name="Experiments" id="{44dda875-1ac8-626b-3595-89bb4f858c0d}">
          <p14:sldIdLst>
            <p14:sldId id="265"/>
            <p14:sldId id="266"/>
            <p14:sldId id="267"/>
          </p14:sldIdLst>
        </p14:section>
        <p14:section name="Use" id="{30794afb-42eb-ef0e-4d73-825858ec76b8}">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(4:35)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
        <p:nvSpPr>
          <p:cNvPr id="7" name="logo chip"/>
          <p:cNvSpPr/>
          <p:nvPr/>
        </p:nvSpPr>
        <p:spPr>
          <a:xfrm>
            <a:off x="8229600" y="489204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8"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pPr algn="l" indent="0" marL="0">
                        <a:buNone/>
                      </a:pP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pPr indent="0" marL="0">
              <a:buNone/>
            </a:pPr>
            <a:r>
              <a:rPr lang="en-US" sz="1200" dirty="0">
                <a:solidFill>
                  <a:srgbClr val="CADCFC"/>
                </a:solidFill>
              </a:rPr>
              <a:t>channel, rods, clamps, anchors. No correct answer either: a feasible support depends on the catalog you build from.</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pPr indent="0" marL="0">
              <a:buNone/>
            </a:pPr>
            <a:r>
              <a:rPr lang="en-US" sz="900" dirty="0">
                <a:solidFill>
                  <a:srgbClr val="52514E"/>
                </a:solidFill>
              </a:rPr>
              <a:t>ventilation   </a:t>
            </a:r>
            <a:pPr indent="0" marL="0">
              <a:buNone/>
            </a:pPr>
            <a:r>
              <a:rPr lang="en-US" sz="900" dirty="0">
                <a:solidFill>
                  <a:srgbClr val="4A3AA7"/>
                </a:solidFill>
              </a:rPr>
              <a:t>● </a:t>
            </a:r>
            <a:pPr indent="0" marL="0">
              <a:buNone/>
            </a:pPr>
            <a:r>
              <a:rPr lang="en-US" sz="900" dirty="0">
                <a:solidFill>
                  <a:srgbClr val="52514E"/>
                </a:solidFill>
              </a:rPr>
              <a:t>electrical   </a:t>
            </a:r>
            <a:pPr indent="0" marL="0">
              <a:buNone/>
            </a:pPr>
            <a:r>
              <a:rPr lang="en-US" sz="900" dirty="0">
                <a:solidFill>
                  <a:srgbClr val="EB6834"/>
                </a:solidFill>
              </a:rPr>
              <a:t>● </a:t>
            </a:r>
            <a:pPr indent="0" marL="0">
              <a:buNone/>
            </a:pP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pPr indent="0" marL="0">
              <a:buNone/>
            </a:pP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pPr indent="0" marL="0">
              <a:buNone/>
            </a:pP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440680"/>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Tier Cn holds exactly n elements; higher tiers are heavier and tighter, as designed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pPr indent="0" marL="0">
              <a:buNone/>
            </a:pPr>
            <a:r>
              <a:rPr lang="en-US" sz="900" dirty="0">
                <a:solidFill>
                  <a:srgbClr val="52514E"/>
                </a:solidFill>
              </a:rPr>
              <a:t>generated vs a real model     </a:t>
            </a:r>
            <a:pPr indent="0" marL="0">
              <a:buNone/>
            </a:pPr>
            <a:r>
              <a:rPr lang="en-US" sz="900" dirty="0">
                <a:solidFill>
                  <a:srgbClr val="2A78D6"/>
                </a:solidFill>
              </a:rPr>
              <a:t>● </a:t>
            </a:r>
            <a:pPr indent="0" marL="0">
              <a:buNone/>
            </a:pPr>
            <a:r>
              <a:rPr lang="en-US" sz="900" dirty="0">
                <a:solidFill>
                  <a:srgbClr val="52514E"/>
                </a:solidFill>
              </a:rPr>
              <a:t>real vs real     </a:t>
            </a:r>
            <a:pPr indent="0" marL="0">
              <a:buNone/>
            </a:pP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a:t>
            </a:r>
            <a:endParaRPr lang="en-US" sz="1100" dirty="0"/>
          </a:p>
        </p:txBody>
      </p:sp>
      <p:sp>
        <p:nvSpPr>
          <p:cNvPr id="6" name="splits heading"/>
          <p:cNvSpPr txBox="1"/>
          <p:nvPr/>
        </p:nvSpPr>
        <p:spPr>
          <a:xfrm>
            <a:off x="6355080" y="1417320"/>
            <a:ext cx="5285232" cy="274320"/>
          </a:xfrm>
          <a:prstGeom prst="rect">
            <a:avLst/>
          </a:prstGeom>
          <a:noFill/>
          <a:ln/>
        </p:spPr>
        <p:txBody>
          <a:bodyPr wrap="square" lIns="0" tIns="0" rIns="0" bIns="0" rtlCol="0" anchor="ctr"/>
          <a:lstStyle/>
          <a:p>
            <a:pPr indent="0" marL="0">
              <a:buNone/>
            </a:pPr>
            <a:r>
              <a:rPr lang="en-US" sz="1250" b="1" dirty="0">
                <a:solidFill>
                  <a:schemeClr val="tx1"/>
                </a:solidFill>
              </a:rPr>
              <a:t>Four splits on disjoint seeds; the test seeds are never trained on</a:t>
            </a:r>
            <a:endParaRPr lang="en-US" sz="1250" dirty="0"/>
          </a:p>
        </p:txBody>
      </p:sp>
      <p:sp>
        <p:nvSpPr>
          <p:cNvPr id="7" name="split train"/>
          <p:cNvSpPr/>
          <p:nvPr/>
        </p:nvSpPr>
        <p:spPr>
          <a:xfrm>
            <a:off x="6355080" y="1783080"/>
            <a:ext cx="1239012" cy="1371600"/>
          </a:xfrm>
          <a:prstGeom prst="roundRect">
            <a:avLst>
              <a:gd name="adj" fmla="val 5166"/>
            </a:avLst>
          </a:prstGeom>
          <a:solidFill>
            <a:schemeClr val="bg2"/>
          </a:solidFill>
          <a:ln/>
        </p:spPr>
      </p:sp>
      <p:sp>
        <p:nvSpPr>
          <p:cNvPr id="8" name="split count train"/>
          <p:cNvSpPr txBox="1"/>
          <p:nvPr/>
        </p:nvSpPr>
        <p:spPr>
          <a:xfrm>
            <a:off x="646480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5,000</a:t>
            </a:r>
            <a:endParaRPr lang="en-US" sz="2200" dirty="0"/>
          </a:p>
        </p:txBody>
      </p:sp>
      <p:sp>
        <p:nvSpPr>
          <p:cNvPr id="9" name="split label train"/>
          <p:cNvSpPr txBox="1"/>
          <p:nvPr/>
        </p:nvSpPr>
        <p:spPr>
          <a:xfrm>
            <a:off x="646480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train</a:t>
            </a:r>
            <a:endParaRPr lang="en-US" sz="1050" dirty="0"/>
          </a:p>
          <a:p>
            <a:pPr indent="0" marL="0">
              <a:buNone/>
            </a:pPr>
            <a:r>
              <a:rPr lang="en-US" sz="1050" dirty="0">
                <a:solidFill>
                  <a:srgbClr val="52514E"/>
                </a:solidFill>
              </a:rPr>
              <a:t>seed 1000</a:t>
            </a:r>
            <a:endParaRPr lang="en-US" sz="1050" dirty="0"/>
          </a:p>
        </p:txBody>
      </p:sp>
      <p:sp>
        <p:nvSpPr>
          <p:cNvPr id="10" name="split val"/>
          <p:cNvSpPr/>
          <p:nvPr/>
        </p:nvSpPr>
        <p:spPr>
          <a:xfrm>
            <a:off x="7703820" y="1783080"/>
            <a:ext cx="1239012" cy="1371600"/>
          </a:xfrm>
          <a:prstGeom prst="roundRect">
            <a:avLst>
              <a:gd name="adj" fmla="val 5166"/>
            </a:avLst>
          </a:prstGeom>
          <a:solidFill>
            <a:schemeClr val="bg2"/>
          </a:solidFill>
          <a:ln/>
        </p:spPr>
      </p:sp>
      <p:sp>
        <p:nvSpPr>
          <p:cNvPr id="11" name="split count val"/>
          <p:cNvSpPr txBox="1"/>
          <p:nvPr/>
        </p:nvSpPr>
        <p:spPr>
          <a:xfrm>
            <a:off x="781354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500</a:t>
            </a:r>
            <a:endParaRPr lang="en-US" sz="2200" dirty="0"/>
          </a:p>
        </p:txBody>
      </p:sp>
      <p:sp>
        <p:nvSpPr>
          <p:cNvPr id="12" name="split label val"/>
          <p:cNvSpPr txBox="1"/>
          <p:nvPr/>
        </p:nvSpPr>
        <p:spPr>
          <a:xfrm>
            <a:off x="781354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validation</a:t>
            </a:r>
            <a:endParaRPr lang="en-US" sz="1050" dirty="0"/>
          </a:p>
          <a:p>
            <a:pPr indent="0" marL="0">
              <a:buNone/>
            </a:pPr>
            <a:r>
              <a:rPr lang="en-US" sz="1050" dirty="0">
                <a:solidFill>
                  <a:srgbClr val="52514E"/>
                </a:solidFill>
              </a:rPr>
              <a:t>seed 2000</a:t>
            </a:r>
            <a:endParaRPr lang="en-US" sz="1050" dirty="0"/>
          </a:p>
        </p:txBody>
      </p:sp>
      <p:sp>
        <p:nvSpPr>
          <p:cNvPr id="13" name="split test"/>
          <p:cNvSpPr/>
          <p:nvPr/>
        </p:nvSpPr>
        <p:spPr>
          <a:xfrm>
            <a:off x="9052560" y="1783080"/>
            <a:ext cx="1239012" cy="1371600"/>
          </a:xfrm>
          <a:prstGeom prst="roundRect">
            <a:avLst>
              <a:gd name="adj" fmla="val 5166"/>
            </a:avLst>
          </a:prstGeom>
          <a:solidFill>
            <a:schemeClr val="bg2"/>
          </a:solidFill>
          <a:ln/>
        </p:spPr>
      </p:sp>
      <p:sp>
        <p:nvSpPr>
          <p:cNvPr id="14" name="split count test"/>
          <p:cNvSpPr txBox="1"/>
          <p:nvPr/>
        </p:nvSpPr>
        <p:spPr>
          <a:xfrm>
            <a:off x="916228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500</a:t>
            </a:r>
            <a:endParaRPr lang="en-US" sz="2200" dirty="0"/>
          </a:p>
        </p:txBody>
      </p:sp>
      <p:sp>
        <p:nvSpPr>
          <p:cNvPr id="15" name="split label test"/>
          <p:cNvSpPr txBox="1"/>
          <p:nvPr/>
        </p:nvSpPr>
        <p:spPr>
          <a:xfrm>
            <a:off x="916228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test</a:t>
            </a:r>
            <a:endParaRPr lang="en-US" sz="1050" dirty="0"/>
          </a:p>
          <a:p>
            <a:pPr indent="0" marL="0">
              <a:buNone/>
            </a:pPr>
            <a:r>
              <a:rPr lang="en-US" sz="1050" dirty="0">
                <a:solidFill>
                  <a:srgbClr val="52514E"/>
                </a:solidFill>
              </a:rPr>
              <a:t>seed 3000</a:t>
            </a:r>
            <a:endParaRPr lang="en-US" sz="1050" dirty="0"/>
          </a:p>
        </p:txBody>
      </p:sp>
      <p:sp>
        <p:nvSpPr>
          <p:cNvPr id="16" name="split benchmark"/>
          <p:cNvSpPr/>
          <p:nvPr/>
        </p:nvSpPr>
        <p:spPr>
          <a:xfrm>
            <a:off x="10401300" y="1783080"/>
            <a:ext cx="1239012" cy="1371600"/>
          </a:xfrm>
          <a:prstGeom prst="roundRect">
            <a:avLst>
              <a:gd name="adj" fmla="val 5166"/>
            </a:avLst>
          </a:prstGeom>
          <a:solidFill>
            <a:schemeClr val="bg2"/>
          </a:solidFill>
          <a:ln/>
        </p:spPr>
      </p:sp>
      <p:sp>
        <p:nvSpPr>
          <p:cNvPr id="17" name="split count benchmark"/>
          <p:cNvSpPr txBox="1"/>
          <p:nvPr/>
        </p:nvSpPr>
        <p:spPr>
          <a:xfrm>
            <a:off x="10511028" y="1847088"/>
            <a:ext cx="1019556" cy="457200"/>
          </a:xfrm>
          <a:prstGeom prst="rect">
            <a:avLst/>
          </a:prstGeom>
          <a:noFill/>
          <a:ln/>
        </p:spPr>
        <p:txBody>
          <a:bodyPr wrap="square" lIns="0" tIns="0" rIns="0" bIns="0" rtlCol="0" anchor="ctr"/>
          <a:lstStyle/>
          <a:p>
            <a:pPr indent="0" marL="0">
              <a:buNone/>
            </a:pPr>
            <a:r>
              <a:rPr lang="en-US" sz="2200" b="1" dirty="0">
                <a:solidFill>
                  <a:schemeClr val="accent1"/>
                </a:solidFill>
              </a:rPr>
              <a:t>1,000</a:t>
            </a:r>
            <a:endParaRPr lang="en-US" sz="2200" dirty="0"/>
          </a:p>
        </p:txBody>
      </p:sp>
      <p:sp>
        <p:nvSpPr>
          <p:cNvPr id="18" name="split label benchmark"/>
          <p:cNvSpPr txBox="1"/>
          <p:nvPr/>
        </p:nvSpPr>
        <p:spPr>
          <a:xfrm>
            <a:off x="10511028" y="2331720"/>
            <a:ext cx="1019556" cy="731520"/>
          </a:xfrm>
          <a:prstGeom prst="rect">
            <a:avLst/>
          </a:prstGeom>
          <a:noFill/>
          <a:ln/>
        </p:spPr>
        <p:txBody>
          <a:bodyPr wrap="square" lIns="0" tIns="0" rIns="0" bIns="0" rtlCol="0" anchor="t"/>
          <a:lstStyle/>
          <a:p>
            <a:pPr indent="0" marL="0">
              <a:buNone/>
            </a:pPr>
            <a:r>
              <a:rPr lang="en-US" sz="1050" b="1" dirty="0">
                <a:solidFill>
                  <a:schemeClr val="tx1"/>
                </a:solidFill>
              </a:rPr>
              <a:t>benchmark</a:t>
            </a:r>
            <a:endParaRPr lang="en-US" sz="1050" dirty="0"/>
          </a:p>
          <a:p>
            <a:pPr indent="0" marL="0">
              <a:buNone/>
            </a:pPr>
            <a:r>
              <a:rPr lang="en-US" sz="1050" dirty="0">
                <a:solidFill>
                  <a:srgbClr val="52514E"/>
                </a:solidFill>
              </a:rPr>
              <a:t>seed 42 · 125 per tier</a:t>
            </a:r>
            <a:endParaRPr lang="en-US" sz="1050" dirty="0"/>
          </a:p>
        </p:txBody>
      </p:sp>
      <p:sp>
        <p:nvSpPr>
          <p:cNvPr id="19" name="splits caption"/>
          <p:cNvSpPr txBox="1"/>
          <p:nvPr/>
        </p:nvSpPr>
        <p:spPr>
          <a:xfrm>
            <a:off x="6355080" y="3246120"/>
            <a:ext cx="5285232" cy="502920"/>
          </a:xfrm>
          <a:prstGeom prst="rect">
            <a:avLst/>
          </a:prstGeom>
          <a:noFill/>
          <a:ln/>
        </p:spPr>
        <p:txBody>
          <a:bodyPr wrap="square" lIns="0" tIns="0" rIns="0" bIns="0" rtlCol="0" anchor="t"/>
          <a:lstStyle/>
          <a:p>
            <a:pPr indent="0" marL="0">
              <a:buNone/>
            </a:pPr>
            <a:r>
              <a:rPr lang="en-US" sz="1100" dirty="0">
                <a:solidFill>
                  <a:srgbClr val="52514E"/>
                </a:solidFill>
              </a:rPr>
              <a:t>7,000 contexts, 31,484 elements; tiers assigned round-robin. Plain JSON files with a schema and a datasheet.</a:t>
            </a:r>
            <a:endParaRPr lang="en-US" sz="1100" dirty="0"/>
          </a:p>
        </p:txBody>
      </p:sp>
      <p:sp>
        <p:nvSpPr>
          <p:cNvPr id="20" name="use Train"/>
          <p:cNvSpPr/>
          <p:nvPr/>
        </p:nvSpPr>
        <p:spPr>
          <a:xfrm>
            <a:off x="548640" y="4343400"/>
            <a:ext cx="3575304" cy="1280160"/>
          </a:xfrm>
          <a:prstGeom prst="roundRect">
            <a:avLst>
              <a:gd name="adj" fmla="val 5000"/>
            </a:avLst>
          </a:prstGeom>
          <a:solidFill>
            <a:schemeClr val="bg2"/>
          </a:solidFill>
          <a:ln/>
        </p:spPr>
      </p:sp>
      <p:sp>
        <p:nvSpPr>
          <p:cNvPr id="21" name="use head Train"/>
          <p:cNvSpPr txBox="1"/>
          <p:nvPr/>
        </p:nvSpPr>
        <p:spPr>
          <a:xfrm>
            <a:off x="777240" y="445312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22" name="use text Train"/>
          <p:cNvSpPr txBox="1"/>
          <p:nvPr/>
        </p:nvSpPr>
        <p:spPr>
          <a:xfrm>
            <a:off x="777240" y="484632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23" name="use Evaluate"/>
          <p:cNvSpPr/>
          <p:nvPr/>
        </p:nvSpPr>
        <p:spPr>
          <a:xfrm>
            <a:off x="4306824" y="4343400"/>
            <a:ext cx="3575304" cy="1280160"/>
          </a:xfrm>
          <a:prstGeom prst="roundRect">
            <a:avLst>
              <a:gd name="adj" fmla="val 5000"/>
            </a:avLst>
          </a:prstGeom>
          <a:solidFill>
            <a:schemeClr val="bg2"/>
          </a:solidFill>
          <a:ln/>
        </p:spPr>
      </p:sp>
      <p:sp>
        <p:nvSpPr>
          <p:cNvPr id="24" name="use head Evaluate"/>
          <p:cNvSpPr txBox="1"/>
          <p:nvPr/>
        </p:nvSpPr>
        <p:spPr>
          <a:xfrm>
            <a:off x="4535424" y="445312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25" name="use text Evaluate"/>
          <p:cNvSpPr txBox="1"/>
          <p:nvPr/>
        </p:nvSpPr>
        <p:spPr>
          <a:xfrm>
            <a:off x="4535424" y="484632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26" name="use Report"/>
          <p:cNvSpPr/>
          <p:nvPr/>
        </p:nvSpPr>
        <p:spPr>
          <a:xfrm>
            <a:off x="8065008" y="4343400"/>
            <a:ext cx="3575304" cy="1280160"/>
          </a:xfrm>
          <a:prstGeom prst="roundRect">
            <a:avLst>
              <a:gd name="adj" fmla="val 5000"/>
            </a:avLst>
          </a:prstGeom>
          <a:solidFill>
            <a:schemeClr val="bg2"/>
          </a:solidFill>
          <a:ln/>
        </p:spPr>
      </p:sp>
      <p:sp>
        <p:nvSpPr>
          <p:cNvPr id="27" name="use head Report"/>
          <p:cNvSpPr txBox="1"/>
          <p:nvPr/>
        </p:nvSpPr>
        <p:spPr>
          <a:xfrm>
            <a:off x="8293608" y="445312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28" name="use text Report"/>
          <p:cNvSpPr txBox="1"/>
          <p:nvPr/>
        </p:nvSpPr>
        <p:spPr>
          <a:xfrm>
            <a:off x="8293608" y="484632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logo chip"/>
          <p:cNvSpPr/>
          <p:nvPr/>
        </p:nvSpPr>
        <p:spPr>
          <a:xfrm>
            <a:off x="8229600" y="4892040"/>
            <a:ext cx="3566160" cy="1188720"/>
          </a:xfrm>
          <a:prstGeom prst="roundRect">
            <a:avLst>
              <a:gd name="adj" fmla="val 6154"/>
            </a:avLst>
          </a:prstGeom>
          <a:solidFill>
            <a:srgbClr val="FFFFFF"/>
          </a:solidFill>
          <a:ln/>
        </p:spPr>
      </p:sp>
      <p:pic>
        <p:nvPicPr>
          <p:cNvPr id="6" name="logo stanford" descr="preencoded.png">    </p:cNvPr>
          <p:cNvPicPr>
            <a:picLocks noChangeAspect="1"/>
          </p:cNvPicPr>
          <p:nvPr/>
        </p:nvPicPr>
        <p:blipFill>
          <a:blip r:embed="rId2"/>
          <a:stretch>
            <a:fillRect/>
          </a:stretch>
        </p:blipFill>
        <p:spPr>
          <a:xfrm>
            <a:off x="8412480" y="5078476"/>
            <a:ext cx="2011680" cy="815848"/>
          </a:xfrm>
          <a:prstGeom prst="rect">
            <a:avLst/>
          </a:prstGeom>
        </p:spPr>
      </p:pic>
      <p:pic>
        <p:nvPicPr>
          <p:cNvPr id="7" name="logo hilti" descr="preencoded.png">    </p:cNvPr>
          <p:cNvPicPr>
            <a:picLocks noChangeAspect="1"/>
          </p:cNvPicPr>
          <p:nvPr/>
        </p:nvPicPr>
        <p:blipFill>
          <a:blip r:embed="rId3"/>
          <a:stretch>
            <a:fillRect/>
          </a:stretch>
        </p:blipFill>
        <p:spPr>
          <a:xfrm>
            <a:off x="10607040" y="5364189"/>
            <a:ext cx="1005840" cy="244423"/>
          </a:xfrm>
          <a:prstGeom prst="rect">
            <a:avLst/>
          </a:prstGeom>
        </p:spPr>
      </p:pic>
      <p:sp>
        <p:nvSpPr>
          <p:cNvPr id="8"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2026-10-06T23:29:18Z</dcterms:created>
  <dcterms:modified xsi:type="dcterms:W3CDTF">2026-10-06T23:29:18Z</dcterms:modified>
</cp:coreProperties>
</file>