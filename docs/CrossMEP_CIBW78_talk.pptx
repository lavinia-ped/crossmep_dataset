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77ccaca-a128-3039-2740-110de3c36e44}">
          <p14:sldIdLst>
            <p14:sldId id="256"/>
          </p14:sldIdLst>
        </p14:section>
        <p14:section name="Motivation" id="{b2a9495c-5e40-332c-1c49-f43c9ad592cb}">
          <p14:sldIdLst>
            <p14:sldId id="257"/>
            <p14:sldId id="258"/>
            <p14:sldId id="259"/>
            <p14:sldId id="260"/>
            <p14:sldId id="261"/>
          </p14:sldIdLst>
        </p14:section>
        <p14:section name="The dataset" id="{752d7ec6-ffe9-1f43-7463-df86752d50df}">
          <p14:sldIdLst>
            <p14:sldId id="262"/>
            <p14:sldId id="263"/>
            <p14:sldId id="264"/>
            <p14:sldId id="265"/>
            <p14:sldId id="266"/>
          </p14:sldIdLst>
        </p14:section>
        <p14:section name="Experiments" id="{a7b575e1-56dd-5f33-be0d-b63d15a3cc3b}">
          <p14:sldIdLst>
            <p14:sldId id="267"/>
            <p14:sldId id="268"/>
            <p14:sldId id="269"/>
          </p14:sldIdLst>
        </p14:section>
        <p14:section name="Use" id="{dbaa0df0-091f-0e2e-9174-a506d3fb19e6}">
          <p14:sldIdLst>
            <p14:sldId id="270"/>
            <p14:sldId id="271"/>
            <p14:sldId id="272"/>
            <p14:sldId id="273"/>
          </p14:sldIdLst>
        </p14:section>
        <p14:section name="Appendix" id="{afbba0d5-91f7-ed0d-ffb9-2dcd0351f685}">
          <p14:sldIdLst>
            <p14:sldId id="274"/>
            <p14:sldId id="275"/>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Elements by kind, all splits</a:t>
            </a:r>
          </a:p>
        </c:rich>
      </c:tx>
      <c:layout/>
      <c:overlay val="0"/>
    </c:title>
    <c:autoTitleDeleted val="0"/>
    <c:plotArea>
      <c:layout/>
      <c:barChart>
        <c:barDir val="bar"/>
        <c:grouping val="clustered"/>
        <c:varyColors val="0"/>
        <c:ser>
          <c:idx val="0"/>
          <c:order val="0"/>
          <c:tx>
            <c:strRef>
              <c:f>Sheet1!$B$1</c:f>
              <c:strCache>
                <c:ptCount val="1"/>
                <c:pt idx="0">
                  <c:v>elements</c:v>
                </c:pt>
              </c:strCache>
            </c:strRef>
          </c:tx>
          <c:spPr>
            <a:solidFill>
              <a:srgbClr val="2A78D6"/>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Sheet1!$A$2:$A$5</c:f>
              <c:multiLvlStrCache>
                <c:ptCount val="4"/>
                <c:lvl>
                  <c:pt idx="0">
                    <c:v>pipes</c:v>
                  </c:pt>
                  <c:pt idx="1">
                    <c:v>conduits</c:v>
                  </c:pt>
                  <c:pt idx="2">
                    <c:v>cable trays</c:v>
                  </c:pt>
                  <c:pt idx="3">
                    <c:v>ducts</c:v>
                  </c:pt>
                </c:lvl>
              </c:multiLvlStrCache>
            </c:multiLvlStrRef>
          </c:cat>
          <c:val>
            <c:numRef>
              <c:f>Sheet1!$B$2:$B$5</c:f>
              <c:numCache>
                <c:formatCode>General</c:formatCode>
                <c:ptCount val="4"/>
                <c:pt idx="0">
                  <c:v>17573</c:v>
                </c:pt>
                <c:pt idx="1">
                  <c:v>6257</c:v>
                </c:pt>
                <c:pt idx="2">
                  <c:v>4237</c:v>
                </c:pt>
                <c:pt idx="3">
                  <c:v>3417</c:v>
                </c:pt>
              </c:numCache>
            </c:numRef>
          </c:val>
        </c:ser>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all splits</a:t>
            </a:r>
          </a:p>
        </c:rich>
      </c:tx>
      <c:layout/>
      <c:overlay val="0"/>
    </c:title>
    <c:autoTitleDeleted val="0"/>
    <c:plotArea>
      <c:layout/>
      <c:barChart>
        <c:barDir val="col"/>
        <c:grouping val="clustered"/>
        <c:varyColors val="0"/>
        <c:ser>
          <c:idx val="0"/>
          <c:order val="0"/>
          <c:tx>
            <c:strRef>
              <c:f>Sheet1!$B$1</c:f>
              <c:strCache>
                <c:ptCount val="1"/>
                <c:pt idx="0">
                  <c:v>pipes</c:v>
                </c:pt>
              </c:strCache>
            </c:strRef>
          </c:tx>
          <c:spPr>
            <a:solidFill>
              <a:srgbClr val="2A78D6"/>
            </a:solidFill>
            <a:effectLst/>
          </c:spPr>
          <c:invertIfNegative val="0"/>
          <c:dLbls>
            <c:numFmt formatCode="#,##0" sourceLinked="0"/>
            <c:txPr>
              <a:bodyPr/>
              <a:lstStyle/>
              <a:p>
                <a:pPr>
                  <a:defRPr b="0" i="0" strike="noStrike" sz="900" u="none">
                    <a:solidFill>
                      <a:srgbClr val="0B0B0B"/>
                    </a:solidFill>
                    <a:latin typeface="+mn-lt"/>
                  </a:defRPr>
                </a:pPr>
              </a:p>
            </c:txP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Sheet1!$B$2:$B$12</c:f>
              <c:numCache>
                <c:formatCode>General</c:formatCode>
                <c:ptCount val="11"/>
                <c:pt idx="0">
                  <c:v>959</c:v>
                </c:pt>
                <c:pt idx="1">
                  <c:v>1654</c:v>
                </c:pt>
                <c:pt idx="2">
                  <c:v>2503</c:v>
                </c:pt>
                <c:pt idx="3">
                  <c:v>2443</c:v>
                </c:pt>
                <c:pt idx="4">
                  <c:v>2512</c:v>
                </c:pt>
                <c:pt idx="5">
                  <c:v>2276</c:v>
                </c:pt>
                <c:pt idx="6">
                  <c:v>1308</c:v>
                </c:pt>
                <c:pt idx="7">
                  <c:v>1313</c:v>
                </c:pt>
                <c:pt idx="8">
                  <c:v>1348</c:v>
                </c:pt>
                <c:pt idx="9">
                  <c:v>635</c:v>
                </c:pt>
                <c:pt idx="10">
                  <c:v>622</c:v>
                </c:pt>
              </c:numCache>
            </c:numRef>
          </c:val>
        </c:ser>
        <c:dLbls>
          <c:numFmt formatCode="#,##0" sourceLinked="0"/>
          <c:txPr>
            <a:bodyPr/>
            <a:lstStyle/>
            <a:p>
              <a:pPr>
                <a:defRPr b="0" i="0" strike="noStrike" sz="900" u="none">
                  <a:solidFill>
                    <a:srgbClr val="0B0B0B"/>
                  </a:solidFill>
                  <a:latin typeface="+mn-lt"/>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40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what the two-size catalog attaches</a:t>
            </a:r>
          </a:p>
        </c:rich>
      </c:tx>
      <c:layout/>
      <c:overlay val="0"/>
    </c:title>
    <c:autoTitleDeleted val="0"/>
    <c:plotArea>
      <c:layout>
        <c:manualLayout>
          <c:layoutTarget val="inner"/>
          <c:xMode val="edge"/>
          <c:yMode val="edge"/>
          <c:x val="0.08"/>
          <c:y val="0.14"/>
          <c:w val="0.9"/>
          <c:h val="0.62"/>
        </c:manualLayout>
      </c:layout>
      <c:barChart>
        <c:barDir val="col"/>
        <c:grouping val="stacked"/>
        <c:varyColors val="0"/>
        <c:ser>
          <c:idx val="0"/>
          <c:order val="0"/>
          <c:tx>
            <c:strRef>
              <c:f>Sheet1!$B$1</c:f>
              <c:strCache>
                <c:ptCount val="1"/>
                <c:pt idx="0">
                  <c:v>attachable</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Sheet1!$B$2:$B$12</c:f>
              <c:numCache>
                <c:formatCode>General</c:formatCode>
                <c:ptCount val="11"/>
                <c:pt idx="0">
                  <c:v>0</c:v>
                </c:pt>
                <c:pt idx="1">
                  <c:v>0</c:v>
                </c:pt>
                <c:pt idx="2">
                  <c:v>0</c:v>
                </c:pt>
                <c:pt idx="3">
                  <c:v>0</c:v>
                </c:pt>
                <c:pt idx="4">
                  <c:v>360</c:v>
                </c:pt>
                <c:pt idx="5">
                  <c:v>0</c:v>
                </c:pt>
                <c:pt idx="6">
                  <c:v>0</c:v>
                </c:pt>
                <c:pt idx="7">
                  <c:v>0</c:v>
                </c:pt>
                <c:pt idx="8">
                  <c:v>0</c:v>
                </c:pt>
                <c:pt idx="9">
                  <c:v>0</c:v>
                </c:pt>
                <c:pt idx="10">
                  <c:v>0</c:v>
                </c:pt>
              </c:numCache>
            </c:numRef>
          </c:val>
        </c:ser>
        <c:ser>
          <c:idx val="1"/>
          <c:order val="1"/>
          <c:tx>
            <c:strRef>
              <c:f>Sheet1!$C$1</c:f>
              <c:strCache>
                <c:ptCount val="1"/>
                <c:pt idx="0">
                  <c:v>no size fits</c:v>
                </c:pt>
              </c:strCache>
            </c:strRef>
          </c:tx>
          <c:spPr>
            <a:solidFill>
              <a:srgbClr val="CFCDC3"/>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Sheet1!$C$2:$C$12</c:f>
              <c:numCache>
                <c:formatCode>General</c:formatCode>
                <c:ptCount val="11"/>
                <c:pt idx="0">
                  <c:v>137</c:v>
                </c:pt>
                <c:pt idx="1">
                  <c:v>239</c:v>
                </c:pt>
                <c:pt idx="2">
                  <c:v>390</c:v>
                </c:pt>
                <c:pt idx="3">
                  <c:v>335</c:v>
                </c:pt>
                <c:pt idx="4">
                  <c:v>0</c:v>
                </c:pt>
                <c:pt idx="5">
                  <c:v>316</c:v>
                </c:pt>
                <c:pt idx="6">
                  <c:v>190</c:v>
                </c:pt>
                <c:pt idx="7">
                  <c:v>160</c:v>
                </c:pt>
                <c:pt idx="8">
                  <c:v>188</c:v>
                </c:pt>
                <c:pt idx="9">
                  <c:v>85</c:v>
                </c:pt>
                <c:pt idx="10">
                  <c:v>88</c:v>
                </c:pt>
              </c:numCache>
            </c:numRef>
          </c:val>
        </c:ser>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6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
      </c:valAx>
      <c:spPr>
        <a:noFill/>
        <a:ln>
          <a:noFill/>
        </a:ln>
        <a:effectLst/>
      </c:spPr>
    </c:plotArea>
    <c:legend>
      <c:legendPos val="b"/>
      <c:overlay val="0"/>
      <c:txPr>
        <a:bodyPr/>
        <a:lstStyle/>
        <a:p>
          <a:pPr>
            <a:defRPr sz="1000">
              <a:solidFill>
                <a:srgbClr val="52514E"/>
              </a:solidFill>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Best share of pipes (%) that any k clamp sizes could attach</a:t>
            </a:r>
          </a:p>
        </c:rich>
      </c:tx>
      <c:layout/>
      <c:overlay val="0"/>
    </c:title>
    <c:autoTitleDeleted val="0"/>
    <c:plotArea>
      <c:layout>
        <c:manualLayout>
          <c:layoutTarget val="inner"/>
          <c:xMode val="edge"/>
          <c:yMode val="edge"/>
          <c:x val="0.08"/>
          <c:y val="0.14"/>
          <c:w val="0.9"/>
          <c:h val="0.62"/>
        </c:manualLayout>
      </c:layout>
      <c:barChart>
        <c:barDir val="col"/>
        <c:grouping val="clustered"/>
        <c:varyColors val="0"/>
        <c:ser>
          <c:idx val="0"/>
          <c:order val="0"/>
          <c:tx>
            <c:strRef>
              <c:f>Sheet1!$B$1</c:f>
              <c:strCache>
                <c:ptCount val="1"/>
                <c:pt idx="0">
                  <c:v>best possible share (%)</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cat>
            <c:multiLvlStrRef>
              <c:f>Sheet1!$A$2:$A$16</c:f>
              <c:multiLvlStrCache>
                <c:ptCount val="1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lvl>
              </c:multiLvlStrCache>
            </c:multiLvlStrRef>
          </c:cat>
          <c:val>
            <c:numRef>
              <c:f>Sheet1!$B$2:$B$16</c:f>
              <c:numCache>
                <c:formatCode>General</c:formatCode>
                <c:ptCount val="15"/>
                <c:pt idx="0">
                  <c:v>22.95016077170418</c:v>
                </c:pt>
                <c:pt idx="1">
                  <c:v>38.062700964630224</c:v>
                </c:pt>
                <c:pt idx="2">
                  <c:v>50.643086816720256</c:v>
                </c:pt>
                <c:pt idx="3">
                  <c:v>60.4903536977492</c:v>
                </c:pt>
                <c:pt idx="4">
                  <c:v>68.72990353697749</c:v>
                </c:pt>
                <c:pt idx="5">
                  <c:v>76.20578778135048</c:v>
                </c:pt>
                <c:pt idx="6">
                  <c:v>81.39067524115755</c:v>
                </c:pt>
                <c:pt idx="7">
                  <c:v>85.20900321543408</c:v>
                </c:pt>
                <c:pt idx="8">
                  <c:v>87.78135048231512</c:v>
                </c:pt>
                <c:pt idx="9">
                  <c:v>90.23311897106109</c:v>
                </c:pt>
                <c:pt idx="10">
                  <c:v>92.60450160771704</c:v>
                </c:pt>
                <c:pt idx="11">
                  <c:v>94.85530546623794</c:v>
                </c:pt>
                <c:pt idx="12">
                  <c:v>96.90514469453376</c:v>
                </c:pt>
                <c:pt idx="13">
                  <c:v>98.95498392282958</c:v>
                </c:pt>
                <c:pt idx="14">
                  <c:v>100</c:v>
                </c:pt>
              </c:numCache>
            </c:numRef>
          </c:val>
        </c:ser>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52514E"/>
                    </a:solidFill>
                    <a:latin typeface="+mn-lt"/>
                  </a:defRPr>
                </a:pPr>
                <a:r>
                  <a:rPr sz="1000" b="0" i="0" u="none" strike="noStrike">
                    <a:solidFill>
                      <a:srgbClr val="52514E"/>
                    </a:solidFill>
                    <a:latin typeface="+mn-lt"/>
                  </a:rPr>
                  <a:t>number of clamp sizes, each fitting a 6 mm diameter window</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Lavinia Pedrollo, from Stanford. Every pipe, duct and cable tray in a building hangs from a support that an engineer designs by hand. We want machines to do some of that, and the first thing missing was data: no public set of support-design problems existed. So we built one, CrossMEP, with David Gvadzabia, Torben Graeber and Martin Fischer. (0:00)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scale. Every red mark in this hospital is a place where services hang from the structure. A modular support groups several services on one prefabricated frame: a structural support assembly. A hospital this size needs about ten thousand. Each takes twenty minutes to two hours to design, roughly a quarter of the MEP design effort. Practitioner estimates, but these are the numbers people live with. (0:25)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exactly is designed, and from what? In: one cross-section at a hanger. The structure it hangs from, and the services crossing it, each with trade, position, size and weight per metre. That is the context: the brief. Out: assemblies of catalog parts that carry those services to the structure, checked for statics, anchors, connectors and buildability, ranked by cost. That is the answer. Keep the two apart: CrossMEP is contexts. It contains no assemblies. (0:55)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still done by hand? Designers work from one section at each hanger, after coordination. Tools coordinate and check; they do not choose the layout or the parts. Three reasons: the topology comes from experience, the rules interact across thousands of combinations, and catalogs change faster than rule systems can be rewritten. (1:25)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would a method look like? The context and a catalog go in. Rules say which actions are legal; each action adds parts. In the middle, a black box chooses the next action: a rule table, a search, or a learned policy. A verifier checks every finished design and feeds pass or fail back. Whatever sits in the black box, it needs problems to learn from, a fixed set to compare on, and problems that look like practice. (1:45)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designs we had were few, from one kind of project with one trade mix: one corner of the design space. A method tuned on them measures fit to that project. So we generate. CrossMEP fills the space by construction, without limit: a new seed is a new set, uniform over the tiers or any mix you ask for. Seven thousand contexts are the release, not the ceiling. (2:20)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one context: a two-dimensional section at one support. Each element has its kind, service and trade, its size, insulation and position, and its load: weight per metre times the span it was sized at. Add the surface, slab or wall, and that is all. No channel, no rods, no anchors, no correct answer, because a feasible support depends on the catalog you build from. (2:45)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is a context made? By rules an engineer would recognize. The tier fixes the element count. We pick the surface and fill it the way trades run services: hot and cold together, flow and return together, conduits in groups, bulky services nearest the slab. Gaps are drawn from gaps measured on a built project, never below twenty-five millimetres. On walls, electrical stays above water. Same seed, same file. (3:15)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 the numbers come from? Sizes, weights and spans from standards: EN for pipes and ducts, IEC for conduits and trays, ASME for spans, GEG for insulation. Spacing from measured open buildings. And a few choices of our own, like the trade mix, labelled as choices. (3:45)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splits on disjoint seeds: five thousand for training, five hundred each for validation and test, and a benchmark of a thousand, a hundred and twenty-five per tier. Plain JSON, with a schema and a datasheet. (4:00)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benchmark context per tier. C1 is a single element, the most common support in any building; C8 has eight services on three rows. Within a tier everything else varies, so the element count is the one controlled axis of difficulty. On walls the section rotates, and electrical sits above water. (4:15)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analyses. The first is a design check: the count is fixed by construction, and load and congestion follow from the rules. Load at the support rises with the tier, from about 0.3 to 2.0 kilonewtons, and the closest gap narrows at every step, from 130 to about 51 millimetres. The dataset behaves as designed. (4:40)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is the one the generator could fail: is the spacing realistic in a building it has never seen? The gap distribution was fitted on a residential duplex. We held out a medical clinic, cut it into sections every 250 millimetres, and measured the gaps between pipes side by side. Generator to clinic: 32 millimetres. Above the 8 a perfect generator would show, but about as close as the duplex's own two models are to each other. A fixed 25-millimetre gap would be about 190 off. (5:00)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is a use of the dataset: what must a catalog of clamps cover? Our paper's two-size catalog attaches 14.5 percent of the pipes, interval 13 to 16, all one size, DN40. Trays, ducts and conduits are not covered at all. On the right, what the dataset asks of any catalog: two well-placed sizes reach 38 percent, six sizes 76, fifteen every pipe. What the catalog should contain becomes a measurement. (5:35)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show it. This is the Generator Studio. I choose what crosses the hanger, a tier or an exact mix, and a seed. Out comes the section a designer receives, drawn as an engineer would issue it: every service at true size, its level, its load, the closest gap, and the run in 3D. Every section is a stored output of the released generator. Scan the code to try it. [Live: switch to the studio, click C3, then Generate another twice, then Exact mix with a duct. If the demo fails, stay on this slide; slide 19 shows two more sections. Before the talk: open the studio once with internet, set its link sharing to public, scan the QR from a phone not logged in.] (6:05)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it takes a few lines: load a split, filter by composition, or generate your own mix. The same files serve reinforcement learning, constraint programming and benchmarking, and we ship the scoring. Train on the generator, C1 up to C8. Evaluate on the benchmark, the same 125 contexts per tier for every method. Report per tier, with intervals and paired tests. (7:10)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Scope. CrossMEP is one section at one support. Pipe spacing was checked on two open buildings; the rest rests on practice and standards, and the trade mix is a design choice. It is not for the structural design of real installations. Next: a public checker, so methods can be compared on the answer; the catalog as an input; and a real test set from commercial projects, with supports designed by engineers. That is where I would value your eye. (7:35)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CrossMEP is the brief, not the answer. Seven thousand support-design problems, every constant sourced or declared, spacing checked on two open buildings, all of it open. If you coordinate services or design supports, try the studio and tell me what looks wrong. Thank you. (8:10)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the live demo. Left: a wall section, six pipes in two rows, each labelled with its size, trade, insulation, offset from the wall and load at the support. Right: an exact mix on a slab, with a duct, a tray, conduits and pipes, their levels below the soffit and the closest clear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per-tier medians on the benchmark split, the distance to the held-out building, and the trend statistics behind experiment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on experiment 2: sample sizes, both weightings, the noise floor and the sensitivity of the result to the way the sections are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on experiment 3. Per tier, the benchmark has only 125 contexts, so its intervals are wide; the population estimate from two thousand generated contexts per tier shows the tiers are about equal. The headline depends on the attach-diameter rule and on bin-edge tolerance because one nominal size, DN100, sits 0.3 millimetres outside a bin. Only size and capacity are tested - clearance, insert orientation and anchors are not - so the coverage is an upper bound on what can be installed.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what one stored context looks like - plain JSON, one object per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rtlCol="0"/>
          <a:lstStyle>
            <a:lvl1pPr indent="0" marL="0">
              <a:buNone/>
              <a:defRPr lang="en-US" sz="1300" dirty="0">
                <a:solidFill>
                  <a:schemeClr val="bg1"/>
                </a:solidFill>
              </a:defRPr>
            </a:lvl1pPr>
          </a:lstStyle>
          <a:p>
            <a:pPr indent="0" marL="0">
              <a:buNone/>
            </a:pP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898781"/>
                </a:solidFill>
              </a:rPr>
              <a:t>CrossMEP  ·  CIB W78 2026, New Delhi</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3.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lIns="0" tIns="0" rIns="0" bIns="0" rtlCol="0" anchor="b"/>
          <a:lstStyle/>
          <a:p>
            <a:pPr algn="l" indent="0" marL="0">
              <a:buNone/>
            </a:pPr>
            <a:r>
              <a:rPr lang="en-US" sz="3400" b="1" dirty="0">
                <a:solidFill>
                  <a:schemeClr val="bg1"/>
                </a:solidFill>
              </a:rPr>
              <a:t>CrossMEP: A Tiered Synthetic</a:t>
            </a:r>
            <a:endParaRPr lang="en-US" sz="3400" dirty="0"/>
          </a:p>
          <a:p>
            <a:pPr algn="l" indent="0" marL="0">
              <a:buNone/>
            </a:pPr>
            <a:r>
              <a:rPr lang="en-US" sz="3400" b="1" dirty="0">
                <a:solidFill>
                  <a:schemeClr val="bg1"/>
                </a:solidFill>
              </a:rPr>
              <a:t>Dataset of Multi-Trade MEP</a:t>
            </a:r>
            <a:endParaRPr lang="en-US" sz="3400" dirty="0"/>
          </a:p>
          <a:p>
            <a:pPr algn="l" indent="0" marL="0">
              <a:buNone/>
            </a:pPr>
            <a:r>
              <a:rPr lang="en-US" sz="3400" b="1" dirty="0">
                <a:solidFill>
                  <a:schemeClr val="bg1"/>
                </a:solidFill>
              </a:rPr>
              <a:t>Cross-Sections</a:t>
            </a: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lIns="0" tIns="0" rIns="0" bIns="0" rtlCol="0" anchor="t"/>
          <a:lstStyle/>
          <a:p>
            <a:pPr indent="0" marL="0">
              <a:buNone/>
            </a:pPr>
            <a:r>
              <a:rPr lang="en-US" sz="1600" dirty="0">
                <a:solidFill>
                  <a:srgbClr val="CADCFC"/>
                </a:solidFill>
              </a:rPr>
              <a:t>A support-design problem distribution for learning-based structural support assembly synthesis</a:t>
            </a: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lIns="0" tIns="0" rIns="0" bIns="0" rtlCol="0" anchor="t"/>
          <a:lstStyle/>
          <a:p>
            <a:pPr indent="0" marL="0">
              <a:buNone/>
            </a:pPr>
            <a:r>
              <a:rPr lang="en-US" sz="1300" b="1" dirty="0">
                <a:solidFill>
                  <a:schemeClr val="bg1"/>
                </a:solidFill>
              </a:rPr>
              <a:t>Lavinia Pedrollo ¹  ·  David Gvadzabia ²  ·  Torben Graeber ³  ·  Martin Fischer ¹</a:t>
            </a:r>
            <a:endParaRPr lang="en-US" sz="1300" dirty="0"/>
          </a:p>
          <a:p>
            <a:pPr indent="0" marL="0">
              <a:buNone/>
            </a:pPr>
            <a:r>
              <a:rPr lang="en-US" sz="1300" dirty="0">
                <a:solidFill>
                  <a:srgbClr val="CADCFC"/>
                </a:solidFill>
              </a:rPr>
              <a:t>¹ Stanford University, CIFE   ² Lafayette College   ³ Hilti AG</a:t>
            </a:r>
            <a:endParaRPr lang="en-US" sz="1300" dirty="0"/>
          </a:p>
          <a:p>
            <a:pPr indent="0" marL="0">
              <a:buNone/>
            </a:pPr>
            <a:r>
              <a:rPr lang="en-US" sz="600" dirty="0">
                <a:solidFill>
                  <a:schemeClr val="bg1"/>
                </a:solidFill>
              </a:rPr>
              <a:t> </a:t>
            </a:r>
            <a:endParaRPr lang="en-US" sz="1300" dirty="0"/>
          </a:p>
          <a:p>
            <a:pPr indent="0" marL="0">
              <a:buNone/>
            </a:pPr>
            <a:r>
              <a:rPr lang="en-US" sz="1300" dirty="0">
                <a:solidFill>
                  <a:srgbClr val="CADCFC"/>
                </a:solidFill>
              </a:rPr>
              <a:t>43rd International CIB W78 Conference · IT in Construction · New Delhi, 6–8 October 2026</a:t>
            </a:r>
            <a:endParaRPr lang="en-US" sz="1300" dirty="0"/>
          </a:p>
        </p:txBody>
      </p:sp>
      <p:pic>
        <p:nvPicPr>
          <p:cNvPr id="5" name="title art" descr="/home/user/crossmep_dataset/docs/figures/title_art.png">    </p:cNvPr>
          <p:cNvPicPr>
            <a:picLocks noChangeAspect="1"/>
          </p:cNvPicPr>
          <p:nvPr/>
        </p:nvPicPr>
        <p:blipFill>
          <a:blip r:embed="rId1"/>
          <a:stretch>
            <a:fillRect/>
          </a:stretch>
        </p:blipFill>
        <p:spPr>
          <a:xfrm>
            <a:off x="7772400" y="1463040"/>
            <a:ext cx="4023360" cy="2514600"/>
          </a:xfrm>
          <a:prstGeom prst="rect">
            <a:avLst/>
          </a:prstGeom>
        </p:spPr>
      </p:pic>
      <p:sp>
        <p:nvSpPr>
          <p:cNvPr id="6" name="art caption"/>
          <p:cNvSpPr txBox="1"/>
          <p:nvPr/>
        </p:nvSpPr>
        <p:spPr>
          <a:xfrm>
            <a:off x="7772400" y="4069080"/>
            <a:ext cx="4023360" cy="274320"/>
          </a:xfrm>
          <a:prstGeom prst="rect">
            <a:avLst/>
          </a:prstGeom>
          <a:noFill/>
          <a:ln/>
        </p:spPr>
        <p:txBody>
          <a:bodyPr wrap="square" lIns="0" tIns="0" rIns="0" bIns="0" rtlCol="0" anchor="ctr"/>
          <a:lstStyle/>
          <a:p>
            <a:pPr algn="r" indent="0" marL="0">
              <a:buNone/>
            </a:pPr>
            <a:r>
              <a:rPr lang="en-US" sz="1000" dirty="0">
                <a:solidFill>
                  <a:srgbClr val="CADCFC"/>
                </a:solidFill>
              </a:rPr>
              <a:t>a generated C8 context: eight services on three rows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hospital needs about 10,000 support assemblies, each designed by hand</a:t>
            </a:r>
            <a:endParaRPr lang="en-US" sz="2600" dirty="0"/>
          </a:p>
        </p:txBody>
      </p:sp>
      <p:pic>
        <p:nvPicPr>
          <p:cNvPr id="3" name="hospital model" descr="/home/user/crossmep_dataset/docs/figures/isarc_building.jpg">    </p:cNvPr>
          <p:cNvPicPr>
            <a:picLocks noChangeAspect="1"/>
          </p:cNvPicPr>
          <p:nvPr/>
        </p:nvPicPr>
        <p:blipFill>
          <a:blip r:embed="rId1"/>
          <a:stretch>
            <a:fillRect/>
          </a:stretch>
        </p:blipFill>
        <p:spPr>
          <a:xfrm>
            <a:off x="548640" y="1325880"/>
            <a:ext cx="6035040" cy="3394710"/>
          </a:xfrm>
          <a:prstGeom prst="rect">
            <a:avLst/>
          </a:prstGeom>
        </p:spPr>
      </p:pic>
      <p:sp>
        <p:nvSpPr>
          <p:cNvPr id="4" name="zoom box"/>
          <p:cNvSpPr/>
          <p:nvPr/>
        </p:nvSpPr>
        <p:spPr>
          <a:xfrm>
            <a:off x="3304843" y="2791716"/>
            <a:ext cx="592641" cy="473902"/>
          </a:xfrm>
          <a:prstGeom prst="rect">
            <a:avLst/>
          </a:prstGeom>
          <a:ln w="19050">
            <a:solidFill>
              <a:srgbClr val="EB6834"/>
            </a:solidFill>
            <a:prstDash val="solid"/>
          </a:ln>
        </p:spPr>
      </p:sp>
      <p:sp>
        <p:nvSpPr>
          <p:cNvPr id="5" name="zoom line top"/>
          <p:cNvSpPr/>
          <p:nvPr/>
        </p:nvSpPr>
        <p:spPr>
          <a:xfrm flipV="1">
            <a:off x="3897484" y="2791716"/>
            <a:ext cx="3051956" cy="-1008636"/>
          </a:xfrm>
          <a:prstGeom prst="line">
            <a:avLst/>
          </a:prstGeom>
          <a:noFill/>
          <a:ln w="19050">
            <a:solidFill>
              <a:srgbClr val="EB6834"/>
            </a:solidFill>
            <a:prstDash val="solid"/>
          </a:ln>
        </p:spPr>
      </p:sp>
      <p:sp>
        <p:nvSpPr>
          <p:cNvPr id="6" name="zoom line bottom"/>
          <p:cNvSpPr/>
          <p:nvPr/>
        </p:nvSpPr>
        <p:spPr>
          <a:xfrm>
            <a:off x="3897484" y="3265617"/>
            <a:ext cx="3051956" cy="1210645"/>
          </a:xfrm>
          <a:prstGeom prst="line">
            <a:avLst/>
          </a:prstGeom>
          <a:noFill/>
          <a:ln w="19050">
            <a:solidFill>
              <a:srgbClr val="EB6834"/>
            </a:solidFill>
            <a:prstDash val="solid"/>
          </a:ln>
        </p:spPr>
      </p:sp>
      <p:pic>
        <p:nvPicPr>
          <p:cNvPr id="7" name="one assembly" descr="/home/user/crossmep_dataset/docs/figures/isarc_ssa.jpg">    </p:cNvPr>
          <p:cNvPicPr>
            <a:picLocks noChangeAspect="1"/>
          </p:cNvPicPr>
          <p:nvPr/>
        </p:nvPicPr>
        <p:blipFill>
          <a:blip r:embed="rId2"/>
          <a:stretch>
            <a:fillRect/>
          </a:stretch>
        </p:blipFill>
        <p:spPr>
          <a:xfrm>
            <a:off x="6949440" y="1783080"/>
            <a:ext cx="4690872" cy="2693182"/>
          </a:xfrm>
          <a:prstGeom prst="rect">
            <a:avLst/>
          </a:prstGeom>
        </p:spPr>
      </p:pic>
      <p:sp>
        <p:nvSpPr>
          <p:cNvPr id="8" name="inset frame"/>
          <p:cNvSpPr/>
          <p:nvPr/>
        </p:nvSpPr>
        <p:spPr>
          <a:xfrm>
            <a:off x="6949440" y="1783080"/>
            <a:ext cx="4690872" cy="2693182"/>
          </a:xfrm>
          <a:prstGeom prst="rect">
            <a:avLst/>
          </a:prstGeom>
          <a:ln w="19050">
            <a:solidFill>
              <a:srgbClr val="EB6834"/>
            </a:solidFill>
            <a:prstDash val="solid"/>
          </a:ln>
        </p:spPr>
      </p:sp>
      <p:sp>
        <p:nvSpPr>
          <p:cNvPr id="9" name="inset label"/>
          <p:cNvSpPr txBox="1"/>
          <p:nvPr/>
        </p:nvSpPr>
        <p:spPr>
          <a:xfrm>
            <a:off x="6949440" y="1325880"/>
            <a:ext cx="4690872" cy="411480"/>
          </a:xfrm>
          <a:prstGeom prst="rect">
            <a:avLst/>
          </a:prstGeom>
          <a:noFill/>
          <a:ln/>
        </p:spPr>
        <p:txBody>
          <a:bodyPr wrap="square" lIns="0" tIns="0" rIns="0" bIns="0" rtlCol="0" anchor="b"/>
          <a:lstStyle/>
          <a:p>
            <a:pPr indent="0" marL="0">
              <a:buNone/>
            </a:pPr>
            <a:r>
              <a:rPr lang="en-US" sz="1500" b="1" dirty="0">
                <a:solidFill>
                  <a:schemeClr val="tx1"/>
                </a:solidFill>
              </a:rPr>
              <a:t>1 unit = 1 structural support assembly (SSA)</a:t>
            </a:r>
            <a:endParaRPr lang="en-US" sz="1500" dirty="0"/>
          </a:p>
        </p:txBody>
      </p:sp>
      <p:sp>
        <p:nvSpPr>
          <p:cNvPr id="10" name="tile support assemblies in one 200,000 sq ft hospital"/>
          <p:cNvSpPr/>
          <p:nvPr/>
        </p:nvSpPr>
        <p:spPr>
          <a:xfrm>
            <a:off x="548640" y="4892040"/>
            <a:ext cx="3575304" cy="1188720"/>
          </a:xfrm>
          <a:prstGeom prst="roundRect">
            <a:avLst>
              <a:gd name="adj" fmla="val 5385"/>
            </a:avLst>
          </a:prstGeom>
          <a:solidFill>
            <a:schemeClr val="bg2"/>
          </a:solidFill>
          <a:ln/>
        </p:spPr>
      </p:sp>
      <p:sp>
        <p:nvSpPr>
          <p:cNvPr id="11" name="value support assemblies in one 200,000 sq ft hospital"/>
          <p:cNvSpPr txBox="1"/>
          <p:nvPr/>
        </p:nvSpPr>
        <p:spPr>
          <a:xfrm>
            <a:off x="749808" y="4983480"/>
            <a:ext cx="3172968" cy="594360"/>
          </a:xfrm>
          <a:prstGeom prst="rect">
            <a:avLst/>
          </a:prstGeom>
          <a:noFill/>
          <a:ln/>
        </p:spPr>
        <p:txBody>
          <a:bodyPr wrap="square" lIns="0" tIns="0" rIns="0" bIns="0" rtlCol="0" anchor="ctr"/>
          <a:lstStyle/>
          <a:p>
            <a:pPr indent="0" marL="0">
              <a:buNone/>
            </a:pPr>
            <a:r>
              <a:rPr lang="en-US" sz="2800" b="1" dirty="0">
                <a:solidFill>
                  <a:schemeClr val="accent1"/>
                </a:solidFill>
              </a:rPr>
              <a:t>≈ 10,000</a:t>
            </a:r>
            <a:endParaRPr lang="en-US" sz="2800" dirty="0"/>
          </a:p>
        </p:txBody>
      </p:sp>
      <p:sp>
        <p:nvSpPr>
          <p:cNvPr id="12" name="label support assemblies in one 200,000 sq ft hospital"/>
          <p:cNvSpPr txBox="1"/>
          <p:nvPr/>
        </p:nvSpPr>
        <p:spPr>
          <a:xfrm>
            <a:off x="749808" y="5581498"/>
            <a:ext cx="3172968" cy="451714"/>
          </a:xfrm>
          <a:prstGeom prst="rect">
            <a:avLst/>
          </a:prstGeom>
          <a:noFill/>
          <a:ln/>
        </p:spPr>
        <p:txBody>
          <a:bodyPr wrap="square" lIns="0" tIns="0" rIns="0" bIns="0" rtlCol="0" anchor="t"/>
          <a:lstStyle/>
          <a:p>
            <a:pPr indent="0" marL="0">
              <a:buNone/>
            </a:pPr>
            <a:r>
              <a:rPr lang="en-US" sz="1200" dirty="0">
                <a:solidFill>
                  <a:srgbClr val="52514E"/>
                </a:solidFill>
              </a:rPr>
              <a:t>support assemblies in one 200,000 sq ft hospital</a:t>
            </a:r>
            <a:endParaRPr lang="en-US" sz="1200" dirty="0"/>
          </a:p>
        </p:txBody>
      </p:sp>
      <p:sp>
        <p:nvSpPr>
          <p:cNvPr id="13" name="tile of engineering for each assembly, designed one by one"/>
          <p:cNvSpPr/>
          <p:nvPr/>
        </p:nvSpPr>
        <p:spPr>
          <a:xfrm>
            <a:off x="4306824" y="4892040"/>
            <a:ext cx="3575304" cy="1188720"/>
          </a:xfrm>
          <a:prstGeom prst="roundRect">
            <a:avLst>
              <a:gd name="adj" fmla="val 5385"/>
            </a:avLst>
          </a:prstGeom>
          <a:solidFill>
            <a:schemeClr val="bg2"/>
          </a:solidFill>
          <a:ln/>
        </p:spPr>
      </p:sp>
      <p:sp>
        <p:nvSpPr>
          <p:cNvPr id="14" name="value of engineering for each assembly, designed one by one"/>
          <p:cNvSpPr txBox="1"/>
          <p:nvPr/>
        </p:nvSpPr>
        <p:spPr>
          <a:xfrm>
            <a:off x="4507992" y="4983480"/>
            <a:ext cx="3172968" cy="594360"/>
          </a:xfrm>
          <a:prstGeom prst="rect">
            <a:avLst/>
          </a:prstGeom>
          <a:noFill/>
          <a:ln/>
        </p:spPr>
        <p:txBody>
          <a:bodyPr wrap="square" lIns="0" tIns="0" rIns="0" bIns="0" rtlCol="0" anchor="ctr"/>
          <a:lstStyle/>
          <a:p>
            <a:pPr indent="0" marL="0">
              <a:buNone/>
            </a:pPr>
            <a:r>
              <a:rPr lang="en-US" sz="2800" b="1" dirty="0">
                <a:solidFill>
                  <a:schemeClr val="accent1"/>
                </a:solidFill>
              </a:rPr>
              <a:t>20 min – 2 h</a:t>
            </a:r>
            <a:endParaRPr lang="en-US" sz="2800" dirty="0"/>
          </a:p>
        </p:txBody>
      </p:sp>
      <p:sp>
        <p:nvSpPr>
          <p:cNvPr id="15" name="label of engineering for each assembly, designed one by one"/>
          <p:cNvSpPr txBox="1"/>
          <p:nvPr/>
        </p:nvSpPr>
        <p:spPr>
          <a:xfrm>
            <a:off x="4507992" y="5581498"/>
            <a:ext cx="3172968" cy="451714"/>
          </a:xfrm>
          <a:prstGeom prst="rect">
            <a:avLst/>
          </a:prstGeom>
          <a:noFill/>
          <a:ln/>
        </p:spPr>
        <p:txBody>
          <a:bodyPr wrap="square" lIns="0" tIns="0" rIns="0" bIns="0" rtlCol="0" anchor="t"/>
          <a:lstStyle/>
          <a:p>
            <a:pPr indent="0" marL="0">
              <a:buNone/>
            </a:pPr>
            <a:r>
              <a:rPr lang="en-US" sz="1200" dirty="0">
                <a:solidFill>
                  <a:srgbClr val="52514E"/>
                </a:solidFill>
              </a:rPr>
              <a:t>of engineering for each assembly, designed one by one</a:t>
            </a:r>
            <a:endParaRPr lang="en-US" sz="1200" dirty="0"/>
          </a:p>
        </p:txBody>
      </p:sp>
      <p:sp>
        <p:nvSpPr>
          <p:cNvPr id="16" name="tile of MEP design effort; on the order of $600K per project"/>
          <p:cNvSpPr/>
          <p:nvPr/>
        </p:nvSpPr>
        <p:spPr>
          <a:xfrm>
            <a:off x="8065008" y="4892040"/>
            <a:ext cx="3575304" cy="1188720"/>
          </a:xfrm>
          <a:prstGeom prst="roundRect">
            <a:avLst>
              <a:gd name="adj" fmla="val 5385"/>
            </a:avLst>
          </a:prstGeom>
          <a:solidFill>
            <a:schemeClr val="bg2"/>
          </a:solidFill>
          <a:ln/>
        </p:spPr>
      </p:sp>
      <p:sp>
        <p:nvSpPr>
          <p:cNvPr id="17" name="value of MEP design effort; on the order of $600K per project"/>
          <p:cNvSpPr txBox="1"/>
          <p:nvPr/>
        </p:nvSpPr>
        <p:spPr>
          <a:xfrm>
            <a:off x="8266176" y="4983480"/>
            <a:ext cx="3172968" cy="594360"/>
          </a:xfrm>
          <a:prstGeom prst="rect">
            <a:avLst/>
          </a:prstGeom>
          <a:noFill/>
          <a:ln/>
        </p:spPr>
        <p:txBody>
          <a:bodyPr wrap="square" lIns="0" tIns="0" rIns="0" bIns="0" rtlCol="0" anchor="ctr"/>
          <a:lstStyle/>
          <a:p>
            <a:pPr indent="0" marL="0">
              <a:buNone/>
            </a:pPr>
            <a:r>
              <a:rPr lang="en-US" sz="2800" b="1" dirty="0">
                <a:solidFill>
                  <a:schemeClr val="accent1"/>
                </a:solidFill>
              </a:rPr>
              <a:t>≈ ¼</a:t>
            </a:r>
            <a:endParaRPr lang="en-US" sz="2800" dirty="0"/>
          </a:p>
        </p:txBody>
      </p:sp>
      <p:sp>
        <p:nvSpPr>
          <p:cNvPr id="18" name="label of MEP design effort; on the order of $600K per project"/>
          <p:cNvSpPr txBox="1"/>
          <p:nvPr/>
        </p:nvSpPr>
        <p:spPr>
          <a:xfrm>
            <a:off x="8266176" y="5581498"/>
            <a:ext cx="3172968" cy="451714"/>
          </a:xfrm>
          <a:prstGeom prst="rect">
            <a:avLst/>
          </a:prstGeom>
          <a:noFill/>
          <a:ln/>
        </p:spPr>
        <p:txBody>
          <a:bodyPr wrap="square" lIns="0" tIns="0" rIns="0" bIns="0" rtlCol="0" anchor="t"/>
          <a:lstStyle/>
          <a:p>
            <a:pPr indent="0" marL="0">
              <a:buNone/>
            </a:pPr>
            <a:r>
              <a:rPr lang="en-US" sz="1200" dirty="0">
                <a:solidFill>
                  <a:srgbClr val="52514E"/>
                </a:solidFill>
              </a:rPr>
              <a:t>of MEP design effort; on the order of $600K per project</a:t>
            </a:r>
            <a:endParaRPr lang="en-US" sz="1200" dirty="0"/>
          </a:p>
        </p:txBody>
      </p:sp>
      <p:sp>
        <p:nvSpPr>
          <p:cNvPr id="19" name="estimates note"/>
          <p:cNvSpPr txBox="1"/>
          <p:nvPr/>
        </p:nvSpPr>
        <p:spPr>
          <a:xfrm>
            <a:off x="548640" y="6126480"/>
            <a:ext cx="5486400" cy="228600"/>
          </a:xfrm>
          <a:prstGeom prst="rect">
            <a:avLst/>
          </a:prstGeom>
          <a:noFill/>
          <a:ln/>
        </p:spPr>
        <p:txBody>
          <a:bodyPr wrap="square" lIns="0" tIns="0" rIns="0" bIns="0" rtlCol="0" anchor="t"/>
          <a:lstStyle/>
          <a:p>
            <a:pPr indent="0" marL="0">
              <a:buNone/>
            </a:pPr>
            <a:r>
              <a:rPr lang="en-US" sz="1100" dirty="0">
                <a:solidFill>
                  <a:srgbClr val="52514E"/>
                </a:solidFill>
              </a:rPr>
              <a:t>Approximate practitioner estimates.</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designer turns one cross-section into verified support assemblies</a:t>
            </a:r>
            <a:endParaRPr lang="en-US" sz="2600" dirty="0"/>
          </a:p>
        </p:txBody>
      </p:sp>
      <p:sp>
        <p:nvSpPr>
          <p:cNvPr id="3" name="head in"/>
          <p:cNvSpPr txBox="1"/>
          <p:nvPr/>
        </p:nvSpPr>
        <p:spPr>
          <a:xfrm>
            <a:off x="548640" y="1325880"/>
            <a:ext cx="4846320" cy="274320"/>
          </a:xfrm>
          <a:prstGeom prst="rect">
            <a:avLst/>
          </a:prstGeom>
          <a:noFill/>
          <a:ln/>
        </p:spPr>
        <p:txBody>
          <a:bodyPr wrap="square" lIns="0" tIns="0" rIns="0" bIns="0" rtlCol="0" anchor="ctr"/>
          <a:lstStyle/>
          <a:p>
            <a:pPr indent="0" marL="0">
              <a:buNone/>
            </a:pPr>
            <a:r>
              <a:rPr lang="en-US" sz="1600" b="1" dirty="0">
                <a:solidFill>
                  <a:schemeClr val="tx1"/>
                </a:solidFill>
              </a:rPr>
              <a:t>In: one cross-section = a context</a:t>
            </a:r>
            <a:endParaRPr lang="en-US" sz="1600" dirty="0"/>
          </a:p>
        </p:txBody>
      </p:sp>
      <p:sp>
        <p:nvSpPr>
          <p:cNvPr id="4" name="frame in"/>
          <p:cNvSpPr/>
          <p:nvPr/>
        </p:nvSpPr>
        <p:spPr>
          <a:xfrm>
            <a:off x="548640" y="1828800"/>
            <a:ext cx="4846320" cy="2743200"/>
          </a:xfrm>
          <a:prstGeom prst="roundRect">
            <a:avLst>
              <a:gd name="adj" fmla="val 2000"/>
            </a:avLst>
          </a:prstGeom>
          <a:solidFill>
            <a:srgbClr val="FFFFFF"/>
          </a:solidFill>
          <a:ln w="12700">
            <a:solidFill>
              <a:srgbClr val="E1E0D9"/>
            </a:solidFill>
            <a:prstDash val="solid"/>
          </a:ln>
        </p:spPr>
      </p:sp>
      <p:sp>
        <p:nvSpPr>
          <p:cNvPr id="5" name="ceiling in"/>
          <p:cNvSpPr/>
          <p:nvPr/>
        </p:nvSpPr>
        <p:spPr>
          <a:xfrm>
            <a:off x="731520" y="2011680"/>
            <a:ext cx="4480560" cy="384048"/>
          </a:xfrm>
          <a:prstGeom prst="rect">
            <a:avLst/>
          </a:prstGeom>
          <a:solidFill>
            <a:srgbClr val="EEF1F4"/>
          </a:solidFill>
          <a:ln w="9525">
            <a:solidFill>
              <a:srgbClr val="52514E"/>
            </a:solidFill>
            <a:prstDash val="solid"/>
          </a:ln>
        </p:spPr>
      </p:sp>
      <p:sp>
        <p:nvSpPr>
          <p:cNvPr id="6" name="hatch in 0.8"/>
          <p:cNvSpPr/>
          <p:nvPr/>
        </p:nvSpPr>
        <p:spPr>
          <a:xfrm flipV="1">
            <a:off x="731520" y="2011680"/>
            <a:ext cx="274320" cy="384048"/>
          </a:xfrm>
          <a:prstGeom prst="line">
            <a:avLst/>
          </a:prstGeom>
          <a:noFill/>
          <a:ln w="6350">
            <a:solidFill>
              <a:srgbClr val="898781"/>
            </a:solidFill>
            <a:prstDash val="solid"/>
          </a:ln>
        </p:spPr>
      </p:sp>
      <p:sp>
        <p:nvSpPr>
          <p:cNvPr id="7" name="hatch in 1.1"/>
          <p:cNvSpPr/>
          <p:nvPr/>
        </p:nvSpPr>
        <p:spPr>
          <a:xfrm flipV="1">
            <a:off x="1005840" y="2011680"/>
            <a:ext cx="274320" cy="384048"/>
          </a:xfrm>
          <a:prstGeom prst="line">
            <a:avLst/>
          </a:prstGeom>
          <a:noFill/>
          <a:ln w="6350">
            <a:solidFill>
              <a:srgbClr val="898781"/>
            </a:solidFill>
            <a:prstDash val="solid"/>
          </a:ln>
        </p:spPr>
      </p:sp>
      <p:sp>
        <p:nvSpPr>
          <p:cNvPr id="8" name="hatch in 1.4"/>
          <p:cNvSpPr/>
          <p:nvPr/>
        </p:nvSpPr>
        <p:spPr>
          <a:xfrm flipV="1">
            <a:off x="1280160" y="2011680"/>
            <a:ext cx="274320" cy="384048"/>
          </a:xfrm>
          <a:prstGeom prst="line">
            <a:avLst/>
          </a:prstGeom>
          <a:noFill/>
          <a:ln w="6350">
            <a:solidFill>
              <a:srgbClr val="898781"/>
            </a:solidFill>
            <a:prstDash val="solid"/>
          </a:ln>
        </p:spPr>
      </p:sp>
      <p:sp>
        <p:nvSpPr>
          <p:cNvPr id="9" name="hatch in 1.7"/>
          <p:cNvSpPr/>
          <p:nvPr/>
        </p:nvSpPr>
        <p:spPr>
          <a:xfrm flipV="1">
            <a:off x="1554480" y="2011680"/>
            <a:ext cx="274320" cy="384048"/>
          </a:xfrm>
          <a:prstGeom prst="line">
            <a:avLst/>
          </a:prstGeom>
          <a:noFill/>
          <a:ln w="6350">
            <a:solidFill>
              <a:srgbClr val="898781"/>
            </a:solidFill>
            <a:prstDash val="solid"/>
          </a:ln>
        </p:spPr>
      </p:sp>
      <p:sp>
        <p:nvSpPr>
          <p:cNvPr id="10" name="hatch in 2.0"/>
          <p:cNvSpPr/>
          <p:nvPr/>
        </p:nvSpPr>
        <p:spPr>
          <a:xfrm flipV="1">
            <a:off x="1828800" y="2011680"/>
            <a:ext cx="274320" cy="384048"/>
          </a:xfrm>
          <a:prstGeom prst="line">
            <a:avLst/>
          </a:prstGeom>
          <a:noFill/>
          <a:ln w="6350">
            <a:solidFill>
              <a:srgbClr val="898781"/>
            </a:solidFill>
            <a:prstDash val="solid"/>
          </a:ln>
        </p:spPr>
      </p:sp>
      <p:sp>
        <p:nvSpPr>
          <p:cNvPr id="11" name="hatch in 2.3"/>
          <p:cNvSpPr/>
          <p:nvPr/>
        </p:nvSpPr>
        <p:spPr>
          <a:xfrm flipV="1">
            <a:off x="2103120" y="2011680"/>
            <a:ext cx="274320" cy="384048"/>
          </a:xfrm>
          <a:prstGeom prst="line">
            <a:avLst/>
          </a:prstGeom>
          <a:noFill/>
          <a:ln w="6350">
            <a:solidFill>
              <a:srgbClr val="898781"/>
            </a:solidFill>
            <a:prstDash val="solid"/>
          </a:ln>
        </p:spPr>
      </p:sp>
      <p:sp>
        <p:nvSpPr>
          <p:cNvPr id="12" name="hatch in 2.6"/>
          <p:cNvSpPr/>
          <p:nvPr/>
        </p:nvSpPr>
        <p:spPr>
          <a:xfrm flipV="1">
            <a:off x="2377440" y="2011680"/>
            <a:ext cx="274320" cy="384048"/>
          </a:xfrm>
          <a:prstGeom prst="line">
            <a:avLst/>
          </a:prstGeom>
          <a:noFill/>
          <a:ln w="6350">
            <a:solidFill>
              <a:srgbClr val="898781"/>
            </a:solidFill>
            <a:prstDash val="solid"/>
          </a:ln>
        </p:spPr>
      </p:sp>
      <p:sp>
        <p:nvSpPr>
          <p:cNvPr id="13" name="hatch in 2.9"/>
          <p:cNvSpPr/>
          <p:nvPr/>
        </p:nvSpPr>
        <p:spPr>
          <a:xfrm flipV="1">
            <a:off x="2651760" y="2011680"/>
            <a:ext cx="274320" cy="384048"/>
          </a:xfrm>
          <a:prstGeom prst="line">
            <a:avLst/>
          </a:prstGeom>
          <a:noFill/>
          <a:ln w="6350">
            <a:solidFill>
              <a:srgbClr val="898781"/>
            </a:solidFill>
            <a:prstDash val="solid"/>
          </a:ln>
        </p:spPr>
      </p:sp>
      <p:sp>
        <p:nvSpPr>
          <p:cNvPr id="14" name="hatch in 3.2"/>
          <p:cNvSpPr/>
          <p:nvPr/>
        </p:nvSpPr>
        <p:spPr>
          <a:xfrm flipV="1">
            <a:off x="2926080" y="2011680"/>
            <a:ext cx="274320" cy="384048"/>
          </a:xfrm>
          <a:prstGeom prst="line">
            <a:avLst/>
          </a:prstGeom>
          <a:noFill/>
          <a:ln w="6350">
            <a:solidFill>
              <a:srgbClr val="898781"/>
            </a:solidFill>
            <a:prstDash val="solid"/>
          </a:ln>
        </p:spPr>
      </p:sp>
      <p:sp>
        <p:nvSpPr>
          <p:cNvPr id="15" name="hatch in 3.5"/>
          <p:cNvSpPr/>
          <p:nvPr/>
        </p:nvSpPr>
        <p:spPr>
          <a:xfrm flipV="1">
            <a:off x="3200400" y="2011680"/>
            <a:ext cx="274320" cy="384048"/>
          </a:xfrm>
          <a:prstGeom prst="line">
            <a:avLst/>
          </a:prstGeom>
          <a:noFill/>
          <a:ln w="6350">
            <a:solidFill>
              <a:srgbClr val="898781"/>
            </a:solidFill>
            <a:prstDash val="solid"/>
          </a:ln>
        </p:spPr>
      </p:sp>
      <p:sp>
        <p:nvSpPr>
          <p:cNvPr id="16" name="hatch in 3.8"/>
          <p:cNvSpPr/>
          <p:nvPr/>
        </p:nvSpPr>
        <p:spPr>
          <a:xfrm flipV="1">
            <a:off x="3474720" y="2011680"/>
            <a:ext cx="274320" cy="384048"/>
          </a:xfrm>
          <a:prstGeom prst="line">
            <a:avLst/>
          </a:prstGeom>
          <a:noFill/>
          <a:ln w="6350">
            <a:solidFill>
              <a:srgbClr val="898781"/>
            </a:solidFill>
            <a:prstDash val="solid"/>
          </a:ln>
        </p:spPr>
      </p:sp>
      <p:sp>
        <p:nvSpPr>
          <p:cNvPr id="17" name="hatch in 4.1"/>
          <p:cNvSpPr/>
          <p:nvPr/>
        </p:nvSpPr>
        <p:spPr>
          <a:xfrm flipV="1">
            <a:off x="3749040" y="2011680"/>
            <a:ext cx="274320" cy="384048"/>
          </a:xfrm>
          <a:prstGeom prst="line">
            <a:avLst/>
          </a:prstGeom>
          <a:noFill/>
          <a:ln w="6350">
            <a:solidFill>
              <a:srgbClr val="898781"/>
            </a:solidFill>
            <a:prstDash val="solid"/>
          </a:ln>
        </p:spPr>
      </p:sp>
      <p:sp>
        <p:nvSpPr>
          <p:cNvPr id="18" name="hatch in 4.4"/>
          <p:cNvSpPr/>
          <p:nvPr/>
        </p:nvSpPr>
        <p:spPr>
          <a:xfrm flipV="1">
            <a:off x="4023360" y="2011680"/>
            <a:ext cx="274320" cy="384048"/>
          </a:xfrm>
          <a:prstGeom prst="line">
            <a:avLst/>
          </a:prstGeom>
          <a:noFill/>
          <a:ln w="6350">
            <a:solidFill>
              <a:srgbClr val="898781"/>
            </a:solidFill>
            <a:prstDash val="solid"/>
          </a:ln>
        </p:spPr>
      </p:sp>
      <p:sp>
        <p:nvSpPr>
          <p:cNvPr id="19" name="hatch in 4.7"/>
          <p:cNvSpPr/>
          <p:nvPr/>
        </p:nvSpPr>
        <p:spPr>
          <a:xfrm flipV="1">
            <a:off x="4297680" y="2011680"/>
            <a:ext cx="274320" cy="384048"/>
          </a:xfrm>
          <a:prstGeom prst="line">
            <a:avLst/>
          </a:prstGeom>
          <a:noFill/>
          <a:ln w="6350">
            <a:solidFill>
              <a:srgbClr val="898781"/>
            </a:solidFill>
            <a:prstDash val="solid"/>
          </a:ln>
        </p:spPr>
      </p:sp>
      <p:sp>
        <p:nvSpPr>
          <p:cNvPr id="20" name="hatch in 5.0"/>
          <p:cNvSpPr/>
          <p:nvPr/>
        </p:nvSpPr>
        <p:spPr>
          <a:xfrm flipV="1">
            <a:off x="4572000" y="2011680"/>
            <a:ext cx="274320" cy="384048"/>
          </a:xfrm>
          <a:prstGeom prst="line">
            <a:avLst/>
          </a:prstGeom>
          <a:noFill/>
          <a:ln w="6350">
            <a:solidFill>
              <a:srgbClr val="898781"/>
            </a:solidFill>
            <a:prstDash val="solid"/>
          </a:ln>
        </p:spPr>
      </p:sp>
      <p:sp>
        <p:nvSpPr>
          <p:cNvPr id="21" name="hatch in 5.3"/>
          <p:cNvSpPr/>
          <p:nvPr/>
        </p:nvSpPr>
        <p:spPr>
          <a:xfrm flipV="1">
            <a:off x="4846320" y="2011680"/>
            <a:ext cx="274320" cy="384048"/>
          </a:xfrm>
          <a:prstGeom prst="line">
            <a:avLst/>
          </a:prstGeom>
          <a:noFill/>
          <a:ln w="6350">
            <a:solidFill>
              <a:srgbClr val="898781"/>
            </a:solidFill>
            <a:prstDash val="solid"/>
          </a:ln>
        </p:spPr>
      </p:sp>
      <p:sp>
        <p:nvSpPr>
          <p:cNvPr id="22" name="ceiling label in"/>
          <p:cNvSpPr txBox="1"/>
          <p:nvPr/>
        </p:nvSpPr>
        <p:spPr>
          <a:xfrm>
            <a:off x="2194560" y="2075688"/>
            <a:ext cx="1554480" cy="256032"/>
          </a:xfrm>
          <a:prstGeom prst="rect">
            <a:avLst/>
          </a:prstGeom>
          <a:solidFill>
            <a:srgbClr val="FFFFFF"/>
          </a:solidFill>
          <a:ln/>
        </p:spPr>
        <p:txBody>
          <a:bodyPr wrap="square" lIns="0" tIns="0" rIns="0" bIns="0" rtlCol="0" anchor="ctr"/>
          <a:lstStyle/>
          <a:p>
            <a:pPr algn="ctr" indent="0" marL="0">
              <a:buNone/>
            </a:pPr>
            <a:r>
              <a:rPr lang="en-US" sz="1100" dirty="0">
                <a:solidFill>
                  <a:schemeClr val="tx1"/>
                </a:solidFill>
              </a:rPr>
              <a:t>Concrete ceiling</a:t>
            </a:r>
            <a:endParaRPr lang="en-US" sz="1100" dirty="0"/>
          </a:p>
        </p:txBody>
      </p:sp>
      <p:sp>
        <p:nvSpPr>
          <p:cNvPr id="23" name="duct in"/>
          <p:cNvSpPr/>
          <p:nvPr/>
        </p:nvSpPr>
        <p:spPr>
          <a:xfrm>
            <a:off x="960120" y="3017520"/>
            <a:ext cx="1417320" cy="868680"/>
          </a:xfrm>
          <a:prstGeom prst="rect">
            <a:avLst/>
          </a:prstGeom>
          <a:solidFill>
            <a:srgbClr val="EEF1F4"/>
          </a:solidFill>
          <a:ln w="12700">
            <a:solidFill>
              <a:srgbClr val="52514E"/>
            </a:solidFill>
            <a:prstDash val="solid"/>
          </a:ln>
        </p:spPr>
      </p:sp>
      <p:sp>
        <p:nvSpPr>
          <p:cNvPr id="24" name="duct label in"/>
          <p:cNvSpPr txBox="1"/>
          <p:nvPr/>
        </p:nvSpPr>
        <p:spPr>
          <a:xfrm>
            <a:off x="960120" y="3017520"/>
            <a:ext cx="1417320" cy="868680"/>
          </a:xfrm>
          <a:prstGeom prst="rect">
            <a:avLst/>
          </a:prstGeom>
          <a:noFill/>
          <a:ln/>
        </p:spPr>
        <p:txBody>
          <a:bodyPr wrap="square" lIns="0" tIns="0" rIns="0" bIns="0" rtlCol="0" anchor="ctr"/>
          <a:lstStyle/>
          <a:p>
            <a:pPr algn="ctr" indent="0" marL="0">
              <a:buNone/>
            </a:pPr>
            <a:r>
              <a:rPr lang="en-US" sz="1200" dirty="0">
                <a:solidFill>
                  <a:schemeClr val="tx1"/>
                </a:solidFill>
              </a:rPr>
              <a:t>Duct</a:t>
            </a:r>
            <a:endParaRPr lang="en-US" sz="1200" dirty="0"/>
          </a:p>
        </p:txBody>
      </p:sp>
      <p:sp>
        <p:nvSpPr>
          <p:cNvPr id="25" name="pipe a in"/>
          <p:cNvSpPr/>
          <p:nvPr/>
        </p:nvSpPr>
        <p:spPr>
          <a:xfrm>
            <a:off x="2697480" y="3246120"/>
            <a:ext cx="640080" cy="640080"/>
          </a:xfrm>
          <a:prstGeom prst="ellipse">
            <a:avLst/>
          </a:prstGeom>
          <a:solidFill>
            <a:srgbClr val="EEF1F4"/>
          </a:solidFill>
          <a:ln w="12700">
            <a:solidFill>
              <a:srgbClr val="52514E"/>
            </a:solidFill>
            <a:prstDash val="solid"/>
          </a:ln>
        </p:spPr>
      </p:sp>
      <p:sp>
        <p:nvSpPr>
          <p:cNvPr id="26" name="pipe b in"/>
          <p:cNvSpPr/>
          <p:nvPr/>
        </p:nvSpPr>
        <p:spPr>
          <a:xfrm>
            <a:off x="3474720" y="3474720"/>
            <a:ext cx="411480" cy="411480"/>
          </a:xfrm>
          <a:prstGeom prst="ellipse">
            <a:avLst/>
          </a:prstGeom>
          <a:solidFill>
            <a:srgbClr val="EEF1F4"/>
          </a:solidFill>
          <a:ln w="12700">
            <a:solidFill>
              <a:srgbClr val="52514E"/>
            </a:solidFill>
            <a:prstDash val="solid"/>
          </a:ln>
        </p:spPr>
      </p:sp>
      <p:sp>
        <p:nvSpPr>
          <p:cNvPr id="27" name="tray in"/>
          <p:cNvSpPr/>
          <p:nvPr/>
        </p:nvSpPr>
        <p:spPr>
          <a:xfrm>
            <a:off x="3931920" y="3611880"/>
            <a:ext cx="914400" cy="274320"/>
          </a:xfrm>
          <a:prstGeom prst="rect">
            <a:avLst/>
          </a:prstGeom>
          <a:solidFill>
            <a:srgbClr val="EEF1F4"/>
          </a:solidFill>
          <a:ln w="12700">
            <a:solidFill>
              <a:srgbClr val="52514E"/>
            </a:solidFill>
            <a:prstDash val="solid"/>
          </a:ln>
        </p:spPr>
      </p:sp>
      <p:sp>
        <p:nvSpPr>
          <p:cNvPr id="28" name="pipes label"/>
          <p:cNvSpPr txBox="1"/>
          <p:nvPr/>
        </p:nvSpPr>
        <p:spPr>
          <a:xfrm>
            <a:off x="2697480" y="395935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Pipes</a:t>
            </a:r>
            <a:endParaRPr lang="en-US" sz="1200" dirty="0"/>
          </a:p>
        </p:txBody>
      </p:sp>
      <p:sp>
        <p:nvSpPr>
          <p:cNvPr id="29" name="tray label"/>
          <p:cNvSpPr txBox="1"/>
          <p:nvPr/>
        </p:nvSpPr>
        <p:spPr>
          <a:xfrm>
            <a:off x="3840480" y="3959352"/>
            <a:ext cx="1097280" cy="274320"/>
          </a:xfrm>
          <a:prstGeom prst="rect">
            <a:avLst/>
          </a:prstGeom>
          <a:noFill/>
          <a:ln/>
        </p:spPr>
        <p:txBody>
          <a:bodyPr wrap="square" lIns="0" tIns="0" rIns="0" bIns="0" rtlCol="0" anchor="ctr"/>
          <a:lstStyle/>
          <a:p>
            <a:pPr algn="ctr" indent="0" marL="0">
              <a:buNone/>
            </a:pPr>
            <a:r>
              <a:rPr lang="en-US" sz="1200" dirty="0">
                <a:solidFill>
                  <a:schemeClr val="tx1"/>
                </a:solidFill>
              </a:rPr>
              <a:t>Cable tray</a:t>
            </a:r>
            <a:endParaRPr lang="en-US" sz="1200" dirty="0"/>
          </a:p>
        </p:txBody>
      </p:sp>
      <p:sp>
        <p:nvSpPr>
          <p:cNvPr id="30" name="in caption"/>
          <p:cNvSpPr txBox="1"/>
          <p:nvPr/>
        </p:nvSpPr>
        <p:spPr>
          <a:xfrm>
            <a:off x="548640" y="4663440"/>
            <a:ext cx="4846320" cy="502920"/>
          </a:xfrm>
          <a:prstGeom prst="rect">
            <a:avLst/>
          </a:prstGeom>
          <a:noFill/>
          <a:ln/>
        </p:spPr>
        <p:txBody>
          <a:bodyPr wrap="square" lIns="0" tIns="0" rIns="0" bIns="0" rtlCol="0" anchor="t"/>
          <a:lstStyle/>
          <a:p>
            <a:pPr indent="0" marL="0">
              <a:buNone/>
            </a:pPr>
            <a:r>
              <a:rPr lang="en-US" sz="1200" dirty="0">
                <a:solidFill>
                  <a:srgbClr val="52514E"/>
                </a:solidFill>
              </a:rPr>
              <a:t>Structure: ceiling, floor or wall, with anchor zones</a:t>
            </a:r>
            <a:endParaRPr lang="en-US" sz="1200" dirty="0"/>
          </a:p>
          <a:p>
            <a:pPr indent="0" marL="0">
              <a:buNone/>
            </a:pPr>
            <a:r>
              <a:rPr lang="en-US" sz="1200" dirty="0">
                <a:solidFill>
                  <a:srgbClr val="52514E"/>
                </a:solidFill>
              </a:rPr>
              <a:t>Services: trade, position, size and weight per metre</a:t>
            </a:r>
            <a:endParaRPr lang="en-US" sz="1200" dirty="0"/>
          </a:p>
        </p:txBody>
      </p:sp>
      <p:sp>
        <p:nvSpPr>
          <p:cNvPr id="31" name="design arrow"/>
          <p:cNvSpPr/>
          <p:nvPr/>
        </p:nvSpPr>
        <p:spPr>
          <a:xfrm>
            <a:off x="5577840" y="3200400"/>
            <a:ext cx="1033272" cy="0"/>
          </a:xfrm>
          <a:prstGeom prst="line">
            <a:avLst/>
          </a:prstGeom>
          <a:noFill/>
          <a:ln w="19050">
            <a:solidFill>
              <a:srgbClr val="52514E"/>
            </a:solidFill>
            <a:prstDash val="solid"/>
            <a:tailEnd type="triangle"/>
          </a:ln>
        </p:spPr>
      </p:sp>
      <p:sp>
        <p:nvSpPr>
          <p:cNvPr id="32" name="design label"/>
          <p:cNvSpPr txBox="1"/>
          <p:nvPr/>
        </p:nvSpPr>
        <p:spPr>
          <a:xfrm>
            <a:off x="5394960" y="2834640"/>
            <a:ext cx="1399032" cy="274320"/>
          </a:xfrm>
          <a:prstGeom prst="rect">
            <a:avLst/>
          </a:prstGeom>
          <a:noFill/>
          <a:ln/>
        </p:spPr>
        <p:txBody>
          <a:bodyPr wrap="square" lIns="0" tIns="0" rIns="0" bIns="0" rtlCol="0" anchor="ctr"/>
          <a:lstStyle/>
          <a:p>
            <a:pPr algn="ctr" indent="0" marL="0">
              <a:buNone/>
            </a:pPr>
            <a:r>
              <a:rPr lang="en-US" sz="1150" dirty="0">
                <a:solidFill>
                  <a:srgbClr val="52514E"/>
                </a:solidFill>
              </a:rPr>
              <a:t>design</a:t>
            </a:r>
            <a:endParaRPr lang="en-US" sz="1150" dirty="0"/>
          </a:p>
        </p:txBody>
      </p:sp>
      <p:sp>
        <p:nvSpPr>
          <p:cNvPr id="33" name="head out"/>
          <p:cNvSpPr txBox="1"/>
          <p:nvPr/>
        </p:nvSpPr>
        <p:spPr>
          <a:xfrm>
            <a:off x="6793992" y="1325880"/>
            <a:ext cx="4846320" cy="274320"/>
          </a:xfrm>
          <a:prstGeom prst="rect">
            <a:avLst/>
          </a:prstGeom>
          <a:noFill/>
          <a:ln/>
        </p:spPr>
        <p:txBody>
          <a:bodyPr wrap="square" lIns="0" tIns="0" rIns="0" bIns="0" rtlCol="0" anchor="ctr"/>
          <a:lstStyle/>
          <a:p>
            <a:pPr indent="0" marL="0">
              <a:buNone/>
            </a:pPr>
            <a:r>
              <a:rPr lang="en-US" sz="1600" b="1" dirty="0">
                <a:solidFill>
                  <a:schemeClr val="tx1"/>
                </a:solidFill>
              </a:rPr>
              <a:t>Out: verified support designs = assemblies</a:t>
            </a:r>
            <a:endParaRPr lang="en-US" sz="1600" dirty="0"/>
          </a:p>
        </p:txBody>
      </p:sp>
      <p:sp>
        <p:nvSpPr>
          <p:cNvPr id="34" name="frame out back 0"/>
          <p:cNvSpPr/>
          <p:nvPr/>
        </p:nvSpPr>
        <p:spPr>
          <a:xfrm>
            <a:off x="6976872" y="1645920"/>
            <a:ext cx="4846320" cy="2743200"/>
          </a:xfrm>
          <a:prstGeom prst="roundRect">
            <a:avLst>
              <a:gd name="adj" fmla="val 2000"/>
            </a:avLst>
          </a:prstGeom>
          <a:solidFill>
            <a:srgbClr val="FFFFFF"/>
          </a:solidFill>
          <a:ln w="12700">
            <a:solidFill>
              <a:srgbClr val="E1E0D9"/>
            </a:solidFill>
            <a:prstDash val="solid"/>
          </a:ln>
        </p:spPr>
      </p:sp>
      <p:sp>
        <p:nvSpPr>
          <p:cNvPr id="35" name="frame out back 1"/>
          <p:cNvSpPr/>
          <p:nvPr/>
        </p:nvSpPr>
        <p:spPr>
          <a:xfrm>
            <a:off x="6885432" y="1737360"/>
            <a:ext cx="4846320" cy="2743200"/>
          </a:xfrm>
          <a:prstGeom prst="roundRect">
            <a:avLst>
              <a:gd name="adj" fmla="val 2000"/>
            </a:avLst>
          </a:prstGeom>
          <a:solidFill>
            <a:srgbClr val="FFFFFF"/>
          </a:solidFill>
          <a:ln w="12700">
            <a:solidFill>
              <a:srgbClr val="E1E0D9"/>
            </a:solidFill>
            <a:prstDash val="solid"/>
          </a:ln>
        </p:spPr>
      </p:sp>
      <p:sp>
        <p:nvSpPr>
          <p:cNvPr id="36" name="frame out"/>
          <p:cNvSpPr/>
          <p:nvPr/>
        </p:nvSpPr>
        <p:spPr>
          <a:xfrm>
            <a:off x="6793992" y="1828800"/>
            <a:ext cx="4846320" cy="2743200"/>
          </a:xfrm>
          <a:prstGeom prst="roundRect">
            <a:avLst>
              <a:gd name="adj" fmla="val 2000"/>
            </a:avLst>
          </a:prstGeom>
          <a:solidFill>
            <a:srgbClr val="FFFFFF"/>
          </a:solidFill>
          <a:ln w="9525">
            <a:solidFill>
              <a:srgbClr val="52514E"/>
            </a:solidFill>
            <a:prstDash val="solid"/>
          </a:ln>
        </p:spPr>
      </p:sp>
      <p:sp>
        <p:nvSpPr>
          <p:cNvPr id="37" name="ceiling out"/>
          <p:cNvSpPr/>
          <p:nvPr/>
        </p:nvSpPr>
        <p:spPr>
          <a:xfrm>
            <a:off x="6976872" y="2011680"/>
            <a:ext cx="4480560" cy="384048"/>
          </a:xfrm>
          <a:prstGeom prst="rect">
            <a:avLst/>
          </a:prstGeom>
          <a:solidFill>
            <a:srgbClr val="EEF1F4"/>
          </a:solidFill>
          <a:ln w="9525">
            <a:solidFill>
              <a:srgbClr val="52514E"/>
            </a:solidFill>
            <a:prstDash val="solid"/>
          </a:ln>
        </p:spPr>
      </p:sp>
      <p:sp>
        <p:nvSpPr>
          <p:cNvPr id="38" name="hatch out 7.6"/>
          <p:cNvSpPr/>
          <p:nvPr/>
        </p:nvSpPr>
        <p:spPr>
          <a:xfrm flipV="1">
            <a:off x="6976872" y="2011680"/>
            <a:ext cx="274320" cy="384048"/>
          </a:xfrm>
          <a:prstGeom prst="line">
            <a:avLst/>
          </a:prstGeom>
          <a:noFill/>
          <a:ln w="6350">
            <a:solidFill>
              <a:srgbClr val="898781"/>
            </a:solidFill>
            <a:prstDash val="solid"/>
          </a:ln>
        </p:spPr>
      </p:sp>
      <p:sp>
        <p:nvSpPr>
          <p:cNvPr id="39" name="hatch out 7.9"/>
          <p:cNvSpPr/>
          <p:nvPr/>
        </p:nvSpPr>
        <p:spPr>
          <a:xfrm flipV="1">
            <a:off x="7251192" y="2011680"/>
            <a:ext cx="274320" cy="384048"/>
          </a:xfrm>
          <a:prstGeom prst="line">
            <a:avLst/>
          </a:prstGeom>
          <a:noFill/>
          <a:ln w="6350">
            <a:solidFill>
              <a:srgbClr val="898781"/>
            </a:solidFill>
            <a:prstDash val="solid"/>
          </a:ln>
        </p:spPr>
      </p:sp>
      <p:sp>
        <p:nvSpPr>
          <p:cNvPr id="40" name="hatch out 8.2"/>
          <p:cNvSpPr/>
          <p:nvPr/>
        </p:nvSpPr>
        <p:spPr>
          <a:xfrm flipV="1">
            <a:off x="7525512" y="2011680"/>
            <a:ext cx="274320" cy="384048"/>
          </a:xfrm>
          <a:prstGeom prst="line">
            <a:avLst/>
          </a:prstGeom>
          <a:noFill/>
          <a:ln w="6350">
            <a:solidFill>
              <a:srgbClr val="898781"/>
            </a:solidFill>
            <a:prstDash val="solid"/>
          </a:ln>
        </p:spPr>
      </p:sp>
      <p:sp>
        <p:nvSpPr>
          <p:cNvPr id="41" name="hatch out 8.5"/>
          <p:cNvSpPr/>
          <p:nvPr/>
        </p:nvSpPr>
        <p:spPr>
          <a:xfrm flipV="1">
            <a:off x="7799832" y="2011680"/>
            <a:ext cx="274320" cy="384048"/>
          </a:xfrm>
          <a:prstGeom prst="line">
            <a:avLst/>
          </a:prstGeom>
          <a:noFill/>
          <a:ln w="6350">
            <a:solidFill>
              <a:srgbClr val="898781"/>
            </a:solidFill>
            <a:prstDash val="solid"/>
          </a:ln>
        </p:spPr>
      </p:sp>
      <p:sp>
        <p:nvSpPr>
          <p:cNvPr id="42" name="hatch out 8.8"/>
          <p:cNvSpPr/>
          <p:nvPr/>
        </p:nvSpPr>
        <p:spPr>
          <a:xfrm flipV="1">
            <a:off x="8074152" y="2011680"/>
            <a:ext cx="274320" cy="384048"/>
          </a:xfrm>
          <a:prstGeom prst="line">
            <a:avLst/>
          </a:prstGeom>
          <a:noFill/>
          <a:ln w="6350">
            <a:solidFill>
              <a:srgbClr val="898781"/>
            </a:solidFill>
            <a:prstDash val="solid"/>
          </a:ln>
        </p:spPr>
      </p:sp>
      <p:sp>
        <p:nvSpPr>
          <p:cNvPr id="43" name="hatch out 9.1"/>
          <p:cNvSpPr/>
          <p:nvPr/>
        </p:nvSpPr>
        <p:spPr>
          <a:xfrm flipV="1">
            <a:off x="8348472" y="2011680"/>
            <a:ext cx="274320" cy="384048"/>
          </a:xfrm>
          <a:prstGeom prst="line">
            <a:avLst/>
          </a:prstGeom>
          <a:noFill/>
          <a:ln w="6350">
            <a:solidFill>
              <a:srgbClr val="898781"/>
            </a:solidFill>
            <a:prstDash val="solid"/>
          </a:ln>
        </p:spPr>
      </p:sp>
      <p:sp>
        <p:nvSpPr>
          <p:cNvPr id="44" name="hatch out 9.4"/>
          <p:cNvSpPr/>
          <p:nvPr/>
        </p:nvSpPr>
        <p:spPr>
          <a:xfrm flipV="1">
            <a:off x="8622792" y="2011680"/>
            <a:ext cx="274320" cy="384048"/>
          </a:xfrm>
          <a:prstGeom prst="line">
            <a:avLst/>
          </a:prstGeom>
          <a:noFill/>
          <a:ln w="6350">
            <a:solidFill>
              <a:srgbClr val="898781"/>
            </a:solidFill>
            <a:prstDash val="solid"/>
          </a:ln>
        </p:spPr>
      </p:sp>
      <p:sp>
        <p:nvSpPr>
          <p:cNvPr id="45" name="hatch out 9.7"/>
          <p:cNvSpPr/>
          <p:nvPr/>
        </p:nvSpPr>
        <p:spPr>
          <a:xfrm flipV="1">
            <a:off x="8897112" y="2011680"/>
            <a:ext cx="274320" cy="384048"/>
          </a:xfrm>
          <a:prstGeom prst="line">
            <a:avLst/>
          </a:prstGeom>
          <a:noFill/>
          <a:ln w="6350">
            <a:solidFill>
              <a:srgbClr val="898781"/>
            </a:solidFill>
            <a:prstDash val="solid"/>
          </a:ln>
        </p:spPr>
      </p:sp>
      <p:sp>
        <p:nvSpPr>
          <p:cNvPr id="46" name="hatch out 10.0"/>
          <p:cNvSpPr/>
          <p:nvPr/>
        </p:nvSpPr>
        <p:spPr>
          <a:xfrm flipV="1">
            <a:off x="9171432" y="2011680"/>
            <a:ext cx="274320" cy="384048"/>
          </a:xfrm>
          <a:prstGeom prst="line">
            <a:avLst/>
          </a:prstGeom>
          <a:noFill/>
          <a:ln w="6350">
            <a:solidFill>
              <a:srgbClr val="898781"/>
            </a:solidFill>
            <a:prstDash val="solid"/>
          </a:ln>
        </p:spPr>
      </p:sp>
      <p:sp>
        <p:nvSpPr>
          <p:cNvPr id="47" name="hatch out 10.3"/>
          <p:cNvSpPr/>
          <p:nvPr/>
        </p:nvSpPr>
        <p:spPr>
          <a:xfrm flipV="1">
            <a:off x="9445752" y="2011680"/>
            <a:ext cx="274320" cy="384048"/>
          </a:xfrm>
          <a:prstGeom prst="line">
            <a:avLst/>
          </a:prstGeom>
          <a:noFill/>
          <a:ln w="6350">
            <a:solidFill>
              <a:srgbClr val="898781"/>
            </a:solidFill>
            <a:prstDash val="solid"/>
          </a:ln>
        </p:spPr>
      </p:sp>
      <p:sp>
        <p:nvSpPr>
          <p:cNvPr id="48" name="hatch out 10.6"/>
          <p:cNvSpPr/>
          <p:nvPr/>
        </p:nvSpPr>
        <p:spPr>
          <a:xfrm flipV="1">
            <a:off x="9720072" y="2011680"/>
            <a:ext cx="274320" cy="384048"/>
          </a:xfrm>
          <a:prstGeom prst="line">
            <a:avLst/>
          </a:prstGeom>
          <a:noFill/>
          <a:ln w="6350">
            <a:solidFill>
              <a:srgbClr val="898781"/>
            </a:solidFill>
            <a:prstDash val="solid"/>
          </a:ln>
        </p:spPr>
      </p:sp>
      <p:sp>
        <p:nvSpPr>
          <p:cNvPr id="49" name="hatch out 10.9"/>
          <p:cNvSpPr/>
          <p:nvPr/>
        </p:nvSpPr>
        <p:spPr>
          <a:xfrm flipV="1">
            <a:off x="9994392" y="2011680"/>
            <a:ext cx="274320" cy="384048"/>
          </a:xfrm>
          <a:prstGeom prst="line">
            <a:avLst/>
          </a:prstGeom>
          <a:noFill/>
          <a:ln w="6350">
            <a:solidFill>
              <a:srgbClr val="898781"/>
            </a:solidFill>
            <a:prstDash val="solid"/>
          </a:ln>
        </p:spPr>
      </p:sp>
      <p:sp>
        <p:nvSpPr>
          <p:cNvPr id="50" name="hatch out 11.2"/>
          <p:cNvSpPr/>
          <p:nvPr/>
        </p:nvSpPr>
        <p:spPr>
          <a:xfrm flipV="1">
            <a:off x="10268712" y="2011680"/>
            <a:ext cx="274320" cy="384048"/>
          </a:xfrm>
          <a:prstGeom prst="line">
            <a:avLst/>
          </a:prstGeom>
          <a:noFill/>
          <a:ln w="6350">
            <a:solidFill>
              <a:srgbClr val="898781"/>
            </a:solidFill>
            <a:prstDash val="solid"/>
          </a:ln>
        </p:spPr>
      </p:sp>
      <p:sp>
        <p:nvSpPr>
          <p:cNvPr id="51" name="hatch out 11.5"/>
          <p:cNvSpPr/>
          <p:nvPr/>
        </p:nvSpPr>
        <p:spPr>
          <a:xfrm flipV="1">
            <a:off x="10543032" y="2011680"/>
            <a:ext cx="274320" cy="384048"/>
          </a:xfrm>
          <a:prstGeom prst="line">
            <a:avLst/>
          </a:prstGeom>
          <a:noFill/>
          <a:ln w="6350">
            <a:solidFill>
              <a:srgbClr val="898781"/>
            </a:solidFill>
            <a:prstDash val="solid"/>
          </a:ln>
        </p:spPr>
      </p:sp>
      <p:sp>
        <p:nvSpPr>
          <p:cNvPr id="52" name="hatch out 11.8"/>
          <p:cNvSpPr/>
          <p:nvPr/>
        </p:nvSpPr>
        <p:spPr>
          <a:xfrm flipV="1">
            <a:off x="10817352" y="2011680"/>
            <a:ext cx="274320" cy="384048"/>
          </a:xfrm>
          <a:prstGeom prst="line">
            <a:avLst/>
          </a:prstGeom>
          <a:noFill/>
          <a:ln w="6350">
            <a:solidFill>
              <a:srgbClr val="898781"/>
            </a:solidFill>
            <a:prstDash val="solid"/>
          </a:ln>
        </p:spPr>
      </p:sp>
      <p:sp>
        <p:nvSpPr>
          <p:cNvPr id="53" name="hatch out 12.1"/>
          <p:cNvSpPr/>
          <p:nvPr/>
        </p:nvSpPr>
        <p:spPr>
          <a:xfrm flipV="1">
            <a:off x="11091672" y="2011680"/>
            <a:ext cx="274320" cy="384048"/>
          </a:xfrm>
          <a:prstGeom prst="line">
            <a:avLst/>
          </a:prstGeom>
          <a:noFill/>
          <a:ln w="6350">
            <a:solidFill>
              <a:srgbClr val="898781"/>
            </a:solidFill>
            <a:prstDash val="solid"/>
          </a:ln>
        </p:spPr>
      </p:sp>
      <p:sp>
        <p:nvSpPr>
          <p:cNvPr id="54" name="ceiling label out"/>
          <p:cNvSpPr txBox="1"/>
          <p:nvPr/>
        </p:nvSpPr>
        <p:spPr>
          <a:xfrm>
            <a:off x="8439912" y="2075688"/>
            <a:ext cx="1554480" cy="256032"/>
          </a:xfrm>
          <a:prstGeom prst="rect">
            <a:avLst/>
          </a:prstGeom>
          <a:solidFill>
            <a:srgbClr val="FFFFFF"/>
          </a:solidFill>
          <a:ln/>
        </p:spPr>
        <p:txBody>
          <a:bodyPr wrap="square" lIns="0" tIns="0" rIns="0" bIns="0" rtlCol="0" anchor="ctr"/>
          <a:lstStyle/>
          <a:p>
            <a:pPr algn="ctr" indent="0" marL="0">
              <a:buNone/>
            </a:pPr>
            <a:r>
              <a:rPr lang="en-US" sz="1100" dirty="0">
                <a:solidFill>
                  <a:schemeClr val="tx1"/>
                </a:solidFill>
              </a:rPr>
              <a:t>Concrete ceiling</a:t>
            </a:r>
            <a:endParaRPr lang="en-US" sz="1100" dirty="0"/>
          </a:p>
        </p:txBody>
      </p:sp>
      <p:sp>
        <p:nvSpPr>
          <p:cNvPr id="55" name="duct out"/>
          <p:cNvSpPr/>
          <p:nvPr/>
        </p:nvSpPr>
        <p:spPr>
          <a:xfrm>
            <a:off x="7205472" y="2880360"/>
            <a:ext cx="1417320" cy="868680"/>
          </a:xfrm>
          <a:prstGeom prst="rect">
            <a:avLst/>
          </a:prstGeom>
          <a:solidFill>
            <a:srgbClr val="EEF1F4"/>
          </a:solidFill>
          <a:ln w="12700">
            <a:solidFill>
              <a:srgbClr val="52514E"/>
            </a:solidFill>
            <a:prstDash val="solid"/>
          </a:ln>
        </p:spPr>
      </p:sp>
      <p:sp>
        <p:nvSpPr>
          <p:cNvPr id="56" name="duct label out"/>
          <p:cNvSpPr txBox="1"/>
          <p:nvPr/>
        </p:nvSpPr>
        <p:spPr>
          <a:xfrm>
            <a:off x="7205472" y="2880360"/>
            <a:ext cx="1417320" cy="868680"/>
          </a:xfrm>
          <a:prstGeom prst="rect">
            <a:avLst/>
          </a:prstGeom>
          <a:noFill/>
          <a:ln/>
        </p:spPr>
        <p:txBody>
          <a:bodyPr wrap="square" lIns="0" tIns="0" rIns="0" bIns="0" rtlCol="0" anchor="ctr"/>
          <a:lstStyle/>
          <a:p>
            <a:pPr algn="ctr" indent="0" marL="0">
              <a:buNone/>
            </a:pPr>
            <a:r>
              <a:rPr lang="en-US" sz="1200" dirty="0">
                <a:solidFill>
                  <a:schemeClr val="tx1"/>
                </a:solidFill>
              </a:rPr>
              <a:t>Duct</a:t>
            </a:r>
            <a:endParaRPr lang="en-US" sz="1200" dirty="0"/>
          </a:p>
        </p:txBody>
      </p:sp>
      <p:sp>
        <p:nvSpPr>
          <p:cNvPr id="57" name="pipe a out"/>
          <p:cNvSpPr/>
          <p:nvPr/>
        </p:nvSpPr>
        <p:spPr>
          <a:xfrm>
            <a:off x="8942832" y="3108960"/>
            <a:ext cx="640080" cy="640080"/>
          </a:xfrm>
          <a:prstGeom prst="ellipse">
            <a:avLst/>
          </a:prstGeom>
          <a:solidFill>
            <a:srgbClr val="EEF1F4"/>
          </a:solidFill>
          <a:ln w="12700">
            <a:solidFill>
              <a:srgbClr val="52514E"/>
            </a:solidFill>
            <a:prstDash val="solid"/>
          </a:ln>
        </p:spPr>
      </p:sp>
      <p:sp>
        <p:nvSpPr>
          <p:cNvPr id="58" name="pipe b out"/>
          <p:cNvSpPr/>
          <p:nvPr/>
        </p:nvSpPr>
        <p:spPr>
          <a:xfrm>
            <a:off x="9720072" y="3337560"/>
            <a:ext cx="411480" cy="411480"/>
          </a:xfrm>
          <a:prstGeom prst="ellipse">
            <a:avLst/>
          </a:prstGeom>
          <a:solidFill>
            <a:srgbClr val="EEF1F4"/>
          </a:solidFill>
          <a:ln w="12700">
            <a:solidFill>
              <a:srgbClr val="52514E"/>
            </a:solidFill>
            <a:prstDash val="solid"/>
          </a:ln>
        </p:spPr>
      </p:sp>
      <p:sp>
        <p:nvSpPr>
          <p:cNvPr id="59" name="tray out"/>
          <p:cNvSpPr/>
          <p:nvPr/>
        </p:nvSpPr>
        <p:spPr>
          <a:xfrm>
            <a:off x="10177272" y="3474720"/>
            <a:ext cx="914400" cy="274320"/>
          </a:xfrm>
          <a:prstGeom prst="rect">
            <a:avLst/>
          </a:prstGeom>
          <a:solidFill>
            <a:srgbClr val="EEF1F4"/>
          </a:solidFill>
          <a:ln w="12700">
            <a:solidFill>
              <a:srgbClr val="52514E"/>
            </a:solidFill>
            <a:prstDash val="solid"/>
          </a:ln>
        </p:spPr>
      </p:sp>
      <p:sp>
        <p:nvSpPr>
          <p:cNvPr id="60" name="anchor 0"/>
          <p:cNvSpPr/>
          <p:nvPr/>
        </p:nvSpPr>
        <p:spPr>
          <a:xfrm>
            <a:off x="7123176" y="2286000"/>
            <a:ext cx="146304" cy="146304"/>
          </a:xfrm>
          <a:prstGeom prst="rect">
            <a:avLst/>
          </a:prstGeom>
          <a:solidFill>
            <a:srgbClr val="1F2933"/>
          </a:solidFill>
          <a:ln/>
        </p:spPr>
      </p:sp>
      <p:sp>
        <p:nvSpPr>
          <p:cNvPr id="61" name="rod 0"/>
          <p:cNvSpPr/>
          <p:nvPr/>
        </p:nvSpPr>
        <p:spPr>
          <a:xfrm>
            <a:off x="7178040" y="2395728"/>
            <a:ext cx="36576" cy="1353312"/>
          </a:xfrm>
          <a:prstGeom prst="rect">
            <a:avLst/>
          </a:prstGeom>
          <a:solidFill>
            <a:srgbClr val="1F2933"/>
          </a:solidFill>
          <a:ln/>
        </p:spPr>
      </p:sp>
      <p:sp>
        <p:nvSpPr>
          <p:cNvPr id="62" name="anchor 1"/>
          <p:cNvSpPr/>
          <p:nvPr/>
        </p:nvSpPr>
        <p:spPr>
          <a:xfrm>
            <a:off x="11164824" y="2286000"/>
            <a:ext cx="146304" cy="146304"/>
          </a:xfrm>
          <a:prstGeom prst="rect">
            <a:avLst/>
          </a:prstGeom>
          <a:solidFill>
            <a:srgbClr val="1F2933"/>
          </a:solidFill>
          <a:ln/>
        </p:spPr>
      </p:sp>
      <p:sp>
        <p:nvSpPr>
          <p:cNvPr id="63" name="rod 1"/>
          <p:cNvSpPr/>
          <p:nvPr/>
        </p:nvSpPr>
        <p:spPr>
          <a:xfrm>
            <a:off x="11219688" y="2395728"/>
            <a:ext cx="36576" cy="1353312"/>
          </a:xfrm>
          <a:prstGeom prst="rect">
            <a:avLst/>
          </a:prstGeom>
          <a:solidFill>
            <a:srgbClr val="1F2933"/>
          </a:solidFill>
          <a:ln/>
        </p:spPr>
      </p:sp>
      <p:sp>
        <p:nvSpPr>
          <p:cNvPr id="64" name="trapeze bar"/>
          <p:cNvSpPr/>
          <p:nvPr/>
        </p:nvSpPr>
        <p:spPr>
          <a:xfrm>
            <a:off x="7068312" y="3749040"/>
            <a:ext cx="4297680" cy="82296"/>
          </a:xfrm>
          <a:prstGeom prst="rect">
            <a:avLst/>
          </a:prstGeom>
          <a:solidFill>
            <a:srgbClr val="1F2933"/>
          </a:solidFill>
          <a:ln/>
        </p:spPr>
      </p:sp>
      <p:sp>
        <p:nvSpPr>
          <p:cNvPr id="65" name="assembly name"/>
          <p:cNvSpPr txBox="1"/>
          <p:nvPr/>
        </p:nvSpPr>
        <p:spPr>
          <a:xfrm>
            <a:off x="7022592" y="4114800"/>
            <a:ext cx="2286000" cy="320040"/>
          </a:xfrm>
          <a:prstGeom prst="rect">
            <a:avLst/>
          </a:prstGeom>
          <a:noFill/>
          <a:ln/>
        </p:spPr>
        <p:txBody>
          <a:bodyPr wrap="square" lIns="0" tIns="0" rIns="0" bIns="0" rtlCol="0" anchor="ctr"/>
          <a:lstStyle/>
          <a:p>
            <a:pPr indent="0" marL="0">
              <a:buNone/>
            </a:pPr>
            <a:r>
              <a:rPr lang="en-US" sz="1300" b="1" dirty="0">
                <a:solidFill>
                  <a:schemeClr val="tx1"/>
                </a:solidFill>
              </a:rPr>
              <a:t>Rod trapeze</a:t>
            </a:r>
            <a:endParaRPr lang="en-US" sz="1300" dirty="0"/>
          </a:p>
        </p:txBody>
      </p:sp>
      <p:sp>
        <p:nvSpPr>
          <p:cNvPr id="66" name="verified"/>
          <p:cNvSpPr txBox="1"/>
          <p:nvPr/>
        </p:nvSpPr>
        <p:spPr>
          <a:xfrm>
            <a:off x="9811512" y="4114800"/>
            <a:ext cx="1600200" cy="320040"/>
          </a:xfrm>
          <a:prstGeom prst="rect">
            <a:avLst/>
          </a:prstGeom>
          <a:noFill/>
          <a:ln/>
        </p:spPr>
        <p:txBody>
          <a:bodyPr wrap="square" lIns="0" tIns="0" rIns="0" bIns="0" rtlCol="0" anchor="ctr"/>
          <a:lstStyle/>
          <a:p>
            <a:pPr algn="r" indent="0" marL="0">
              <a:buNone/>
            </a:pPr>
            <a:r>
              <a:rPr lang="en-US" sz="1300" b="1" dirty="0">
                <a:solidFill>
                  <a:srgbClr val="008300"/>
                </a:solidFill>
              </a:rPr>
              <a:t>✓ verified</a:t>
            </a:r>
            <a:endParaRPr lang="en-US" sz="1300" dirty="0"/>
          </a:p>
        </p:txBody>
      </p:sp>
      <p:sp>
        <p:nvSpPr>
          <p:cNvPr id="67" name="out caption"/>
          <p:cNvSpPr txBox="1"/>
          <p:nvPr/>
        </p:nvSpPr>
        <p:spPr>
          <a:xfrm>
            <a:off x="6793992" y="4663440"/>
            <a:ext cx="4846320" cy="502920"/>
          </a:xfrm>
          <a:prstGeom prst="rect">
            <a:avLst/>
          </a:prstGeom>
          <a:noFill/>
          <a:ln/>
        </p:spPr>
        <p:txBody>
          <a:bodyPr wrap="square" lIns="0" tIns="0" rIns="0" bIns="0" rtlCol="0" anchor="t"/>
          <a:lstStyle/>
          <a:p>
            <a:pPr indent="0" marL="0">
              <a:buNone/>
            </a:pPr>
            <a:r>
              <a:rPr lang="en-US" sz="1200" dirty="0">
                <a:solidFill>
                  <a:srgbClr val="52514E"/>
                </a:solidFill>
              </a:rPr>
              <a:t>Up to ten designs, ranked by installed cost</a:t>
            </a:r>
            <a:endParaRPr lang="en-US" sz="1200" dirty="0"/>
          </a:p>
          <a:p>
            <a:pPr indent="0" marL="0">
              <a:buNone/>
            </a:pPr>
            <a:r>
              <a:rPr lang="en-US" sz="1200" dirty="0">
                <a:solidFill>
                  <a:srgbClr val="52514E"/>
                </a:solidFill>
              </a:rPr>
              <a:t>Each checked: statics, anchors, connectors, buildability</a:t>
            </a:r>
            <a:endParaRPr lang="en-US" sz="1200" dirty="0"/>
          </a:p>
        </p:txBody>
      </p:sp>
      <p:sp>
        <p:nvSpPr>
          <p:cNvPr id="68" name="gloss context"/>
          <p:cNvSpPr/>
          <p:nvPr/>
        </p:nvSpPr>
        <p:spPr>
          <a:xfrm>
            <a:off x="548640" y="5257800"/>
            <a:ext cx="5454396" cy="777240"/>
          </a:xfrm>
          <a:prstGeom prst="roundRect">
            <a:avLst>
              <a:gd name="adj" fmla="val 8235"/>
            </a:avLst>
          </a:prstGeom>
          <a:solidFill>
            <a:schemeClr val="bg2"/>
          </a:solidFill>
          <a:ln/>
        </p:spPr>
      </p:sp>
      <p:sp>
        <p:nvSpPr>
          <p:cNvPr id="69" name="gloss text context"/>
          <p:cNvSpPr txBox="1"/>
          <p:nvPr/>
        </p:nvSpPr>
        <p:spPr>
          <a:xfrm>
            <a:off x="777240" y="5257800"/>
            <a:ext cx="4997196" cy="777240"/>
          </a:xfrm>
          <a:prstGeom prst="rect">
            <a:avLst/>
          </a:prstGeom>
          <a:noFill/>
          <a:ln/>
        </p:spPr>
        <p:txBody>
          <a:bodyPr wrap="square" lIns="0" tIns="0" rIns="0" bIns="0" rtlCol="0" anchor="ctr"/>
          <a:lstStyle/>
          <a:p>
            <a:pPr indent="0" marL="0">
              <a:buNone/>
            </a:pPr>
            <a:r>
              <a:rPr lang="en-US" sz="1300" b="1" dirty="0">
                <a:solidFill>
                  <a:schemeClr val="accent1"/>
                </a:solidFill>
              </a:rPr>
              <a:t>Context, the brief: </a:t>
            </a:r>
            <a:pPr indent="0" marL="0">
              <a:buNone/>
            </a:pPr>
            <a:r>
              <a:rPr lang="en-US" sz="1300" dirty="0">
                <a:solidFill>
                  <a:schemeClr val="tx1"/>
                </a:solidFill>
              </a:rPr>
              <a:t>the section at one hanger, its structure and services. This is what CrossMEP contains.</a:t>
            </a:r>
            <a:endParaRPr lang="en-US" sz="1300" dirty="0"/>
          </a:p>
        </p:txBody>
      </p:sp>
      <p:sp>
        <p:nvSpPr>
          <p:cNvPr id="70" name="gloss assembly"/>
          <p:cNvSpPr/>
          <p:nvPr/>
        </p:nvSpPr>
        <p:spPr>
          <a:xfrm>
            <a:off x="6185916" y="5257800"/>
            <a:ext cx="5454396" cy="777240"/>
          </a:xfrm>
          <a:prstGeom prst="roundRect">
            <a:avLst>
              <a:gd name="adj" fmla="val 8235"/>
            </a:avLst>
          </a:prstGeom>
          <a:solidFill>
            <a:schemeClr val="bg2"/>
          </a:solidFill>
          <a:ln/>
        </p:spPr>
      </p:sp>
      <p:sp>
        <p:nvSpPr>
          <p:cNvPr id="71" name="gloss text assembly"/>
          <p:cNvSpPr txBox="1"/>
          <p:nvPr/>
        </p:nvSpPr>
        <p:spPr>
          <a:xfrm>
            <a:off x="6414516" y="5257800"/>
            <a:ext cx="4997196" cy="777240"/>
          </a:xfrm>
          <a:prstGeom prst="rect">
            <a:avLst/>
          </a:prstGeom>
          <a:noFill/>
          <a:ln/>
        </p:spPr>
        <p:txBody>
          <a:bodyPr wrap="square" lIns="0" tIns="0" rIns="0" bIns="0" rtlCol="0" anchor="ctr"/>
          <a:lstStyle/>
          <a:p>
            <a:pPr indent="0" marL="0">
              <a:buNone/>
            </a:pPr>
            <a:r>
              <a:rPr lang="en-US" sz="1300" b="1" dirty="0">
                <a:solidFill>
                  <a:schemeClr val="accent1"/>
                </a:solidFill>
              </a:rPr>
              <a:t>Assembly, the answer: </a:t>
            </a:r>
            <a:pPr indent="0" marL="0">
              <a:buNone/>
            </a:pPr>
            <a:r>
              <a:rPr lang="en-US" sz="1300" dirty="0">
                <a:solidFill>
                  <a:schemeClr val="tx1"/>
                </a:solidFill>
              </a:rPr>
              <a:t>catalog parts that carry the services to the structure. Not in CrossMEP: a method produces it.</a:t>
            </a:r>
            <a:endParaRPr lang="en-US" sz="1300" dirty="0"/>
          </a:p>
        </p:txBody>
      </p:sp>
      <p:sp>
        <p:nvSpPr>
          <p:cNvPr id="72" name="isarc note"/>
          <p:cNvSpPr txBox="1"/>
          <p:nvPr/>
        </p:nvSpPr>
        <p:spPr>
          <a:xfrm>
            <a:off x="548640" y="6108192"/>
            <a:ext cx="5486400" cy="228600"/>
          </a:xfrm>
          <a:prstGeom prst="rect">
            <a:avLst/>
          </a:prstGeom>
          <a:noFill/>
          <a:ln/>
        </p:spPr>
        <p:txBody>
          <a:bodyPr wrap="square" lIns="0" tIns="0" rIns="0" bIns="0" rtlCol="0" anchor="t"/>
          <a:lstStyle/>
          <a:p>
            <a:pPr indent="0" marL="0">
              <a:buNone/>
            </a:pPr>
            <a:r>
              <a:rPr lang="en-US" sz="1100" dirty="0">
                <a:solidFill>
                  <a:srgbClr val="52514E"/>
                </a:solidFill>
              </a:rPr>
              <a:t>The synthesis problem as defined at ISARC 2026.</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Synthesizing the assembly from a catalog and a context has resisted automation</a:t>
            </a:r>
            <a:endParaRPr lang="en-US" sz="2600" dirty="0"/>
          </a:p>
        </p:txBody>
      </p:sp>
      <p:pic>
        <p:nvPicPr>
          <p:cNvPr id="3" name="route to section" descr="/home/user/crossmep_dataset/docs/figures/paper_fig1_route_to_section.png">    </p:cNvPr>
          <p:cNvPicPr>
            <a:picLocks noChangeAspect="1"/>
          </p:cNvPicPr>
          <p:nvPr/>
        </p:nvPicPr>
        <p:blipFill>
          <a:blip r:embed="rId1"/>
          <a:stretch>
            <a:fillRect/>
          </a:stretch>
        </p:blipFill>
        <p:spPr>
          <a:xfrm>
            <a:off x="548640" y="1693919"/>
            <a:ext cx="6766560" cy="1869961"/>
          </a:xfrm>
          <a:prstGeom prst="rect">
            <a:avLst/>
          </a:prstGeom>
        </p:spPr>
      </p:pic>
      <p:sp>
        <p:nvSpPr>
          <p:cNvPr id="4" name="fig1 caption"/>
          <p:cNvSpPr txBox="1"/>
          <p:nvPr/>
        </p:nvSpPr>
        <p:spPr>
          <a:xfrm>
            <a:off x="548640" y="3655321"/>
            <a:ext cx="6766560" cy="457200"/>
          </a:xfrm>
          <a:prstGeom prst="rect">
            <a:avLst/>
          </a:prstGeom>
          <a:noFill/>
          <a:ln/>
        </p:spPr>
        <p:txBody>
          <a:bodyPr wrap="square" lIns="0" tIns="0" rIns="0" bIns="0" rtlCol="0" anchor="t"/>
          <a:lstStyle/>
          <a:p>
            <a:pPr indent="0" marL="0">
              <a:buNone/>
            </a:pPr>
            <a:r>
              <a:rPr lang="en-US" sz="1100" dirty="0">
                <a:solidFill>
                  <a:srgbClr val="52514E"/>
                </a:solidFill>
              </a:rPr>
              <a:t>Design starts after coordination: at each hanger the designer works from the section across the run, not from the whole model.</a:t>
            </a:r>
            <a:endParaRPr lang="en-US" sz="1100" dirty="0"/>
          </a:p>
        </p:txBody>
      </p:sp>
      <p:sp>
        <p:nvSpPr>
          <p:cNvPr id="5" name="practice card"/>
          <p:cNvSpPr/>
          <p:nvPr/>
        </p:nvSpPr>
        <p:spPr>
          <a:xfrm>
            <a:off x="7543800" y="1371600"/>
            <a:ext cx="4096512" cy="2606040"/>
          </a:xfrm>
          <a:prstGeom prst="roundRect">
            <a:avLst>
              <a:gd name="adj" fmla="val 2456"/>
            </a:avLst>
          </a:prstGeom>
          <a:solidFill>
            <a:schemeClr val="bg2"/>
          </a:solidFill>
          <a:ln/>
        </p:spPr>
      </p:sp>
      <p:sp>
        <p:nvSpPr>
          <p:cNvPr id="6" name="practice"/>
          <p:cNvSpPr txBox="1"/>
          <p:nvPr/>
        </p:nvSpPr>
        <p:spPr>
          <a:xfrm>
            <a:off x="7772400" y="1508760"/>
            <a:ext cx="3657600" cy="2377440"/>
          </a:xfrm>
          <a:prstGeom prst="rect">
            <a:avLst/>
          </a:prstGeom>
          <a:noFill/>
          <a:ln/>
        </p:spPr>
        <p:txBody>
          <a:bodyPr wrap="square" lIns="0" tIns="0" rIns="0" bIns="0" rtlCol="0" anchor="t"/>
          <a:lstStyle/>
          <a:p>
            <a:pPr indent="0" marL="0">
              <a:buNone/>
            </a:pPr>
            <a:r>
              <a:rPr lang="en-US" sz="1700" b="1" dirty="0">
                <a:solidFill>
                  <a:schemeClr val="tx1"/>
                </a:solidFill>
              </a:rPr>
              <a:t>Where practice stands</a:t>
            </a:r>
            <a:endParaRPr lang="en-US" sz="1500" dirty="0"/>
          </a:p>
          <a:p>
            <a:pPr indent="0" marL="0">
              <a:buNone/>
            </a:pPr>
            <a:r>
              <a:rPr lang="en-US" sz="600" dirty="0">
                <a:solidFill>
                  <a:schemeClr val="tx1"/>
                </a:solidFill>
              </a:rPr>
              <a:t> </a:t>
            </a:r>
            <a:endParaRPr lang="en-US" sz="1500" dirty="0"/>
          </a:p>
          <a:p>
            <a:pPr indent="0" marL="0">
              <a:buNone/>
            </a:pPr>
            <a:r>
              <a:rPr lang="en-US" sz="1500" dirty="0">
                <a:solidFill>
                  <a:schemeClr val="tx1"/>
                </a:solidFill>
              </a:rPr>
              <a:t>Tools coordinate the model and check a design.</a:t>
            </a:r>
            <a:endParaRPr lang="en-US" sz="1500" dirty="0"/>
          </a:p>
          <a:p>
            <a:pPr indent="0" marL="0">
              <a:buNone/>
            </a:pPr>
            <a:r>
              <a:rPr lang="en-US" sz="600" dirty="0">
                <a:solidFill>
                  <a:schemeClr val="tx1"/>
                </a:solidFill>
              </a:rPr>
              <a:t> </a:t>
            </a:r>
            <a:endParaRPr lang="en-US" sz="1500" dirty="0"/>
          </a:p>
          <a:p>
            <a:pPr indent="0" marL="0">
              <a:buNone/>
            </a:pPr>
            <a:r>
              <a:rPr lang="en-US" sz="1500" dirty="0">
                <a:solidFill>
                  <a:schemeClr val="tx1"/>
                </a:solidFill>
              </a:rPr>
              <a:t>Choosing the topology and the parts, from a fixed catalog, is still done by hand, one section at a time.</a:t>
            </a:r>
            <a:endParaRPr lang="en-US" sz="1500" dirty="0"/>
          </a:p>
        </p:txBody>
      </p:sp>
      <p:sp>
        <p:nvSpPr>
          <p:cNvPr id="7" name="why Geometric judgment"/>
          <p:cNvSpPr/>
          <p:nvPr/>
        </p:nvSpPr>
        <p:spPr>
          <a:xfrm>
            <a:off x="548640" y="4251960"/>
            <a:ext cx="3575304" cy="1463040"/>
          </a:xfrm>
          <a:prstGeom prst="roundRect">
            <a:avLst>
              <a:gd name="adj" fmla="val 4375"/>
            </a:avLst>
          </a:prstGeom>
          <a:solidFill>
            <a:schemeClr val="bg2"/>
          </a:solidFill>
          <a:ln/>
        </p:spPr>
      </p:sp>
      <p:sp>
        <p:nvSpPr>
          <p:cNvPr id="8" name="why head Geometric judgment"/>
          <p:cNvSpPr txBox="1"/>
          <p:nvPr/>
        </p:nvSpPr>
        <p:spPr>
          <a:xfrm>
            <a:off x="777240" y="4389120"/>
            <a:ext cx="3118104" cy="384048"/>
          </a:xfrm>
          <a:prstGeom prst="rect">
            <a:avLst/>
          </a:prstGeom>
          <a:noFill/>
          <a:ln/>
        </p:spPr>
        <p:txBody>
          <a:bodyPr wrap="square" lIns="0" tIns="0" rIns="0" bIns="0" rtlCol="0" anchor="ctr"/>
          <a:lstStyle/>
          <a:p>
            <a:pPr indent="0" marL="0">
              <a:buNone/>
            </a:pPr>
            <a:r>
              <a:rPr lang="en-US" sz="1700" b="1" dirty="0">
                <a:solidFill>
                  <a:schemeClr val="accent1"/>
                </a:solidFill>
              </a:rPr>
              <a:t>1. Geometric judgment</a:t>
            </a:r>
            <a:endParaRPr lang="en-US" sz="1700" dirty="0"/>
          </a:p>
        </p:txBody>
      </p:sp>
      <p:sp>
        <p:nvSpPr>
          <p:cNvPr id="9" name="why text Geometric judgment"/>
          <p:cNvSpPr txBox="1"/>
          <p:nvPr/>
        </p:nvSpPr>
        <p:spPr>
          <a:xfrm>
            <a:off x="777240" y="4828032"/>
            <a:ext cx="3118104" cy="822960"/>
          </a:xfrm>
          <a:prstGeom prst="rect">
            <a:avLst/>
          </a:prstGeom>
          <a:noFill/>
          <a:ln/>
        </p:spPr>
        <p:txBody>
          <a:bodyPr wrap="square" lIns="0" tIns="0" rIns="0" bIns="0" rtlCol="0" anchor="t"/>
          <a:lstStyle/>
          <a:p>
            <a:pPr indent="0" marL="0">
              <a:buNone/>
            </a:pPr>
            <a:r>
              <a:rPr lang="en-US" sz="1500" dirty="0">
                <a:solidFill>
                  <a:schemeClr val="tx1"/>
                </a:solidFill>
              </a:rPr>
              <a:t>Engineers choose an assembly’s topology from experience.</a:t>
            </a:r>
            <a:endParaRPr lang="en-US" sz="1500" dirty="0"/>
          </a:p>
        </p:txBody>
      </p:sp>
      <p:sp>
        <p:nvSpPr>
          <p:cNvPr id="10" name="why Rule explosion"/>
          <p:cNvSpPr/>
          <p:nvPr/>
        </p:nvSpPr>
        <p:spPr>
          <a:xfrm>
            <a:off x="4306824" y="4251960"/>
            <a:ext cx="3575304" cy="1463040"/>
          </a:xfrm>
          <a:prstGeom prst="roundRect">
            <a:avLst>
              <a:gd name="adj" fmla="val 4375"/>
            </a:avLst>
          </a:prstGeom>
          <a:solidFill>
            <a:schemeClr val="bg2"/>
          </a:solidFill>
          <a:ln/>
        </p:spPr>
      </p:sp>
      <p:sp>
        <p:nvSpPr>
          <p:cNvPr id="11" name="why head Rule explosion"/>
          <p:cNvSpPr txBox="1"/>
          <p:nvPr/>
        </p:nvSpPr>
        <p:spPr>
          <a:xfrm>
            <a:off x="4535424" y="4389120"/>
            <a:ext cx="3118104" cy="384048"/>
          </a:xfrm>
          <a:prstGeom prst="rect">
            <a:avLst/>
          </a:prstGeom>
          <a:noFill/>
          <a:ln/>
        </p:spPr>
        <p:txBody>
          <a:bodyPr wrap="square" lIns="0" tIns="0" rIns="0" bIns="0" rtlCol="0" anchor="ctr"/>
          <a:lstStyle/>
          <a:p>
            <a:pPr indent="0" marL="0">
              <a:buNone/>
            </a:pPr>
            <a:r>
              <a:rPr lang="en-US" sz="1700" b="1" dirty="0">
                <a:solidFill>
                  <a:schemeClr val="accent1"/>
                </a:solidFill>
              </a:rPr>
              <a:t>2. Rule explosion</a:t>
            </a:r>
            <a:endParaRPr lang="en-US" sz="1700" dirty="0"/>
          </a:p>
        </p:txBody>
      </p:sp>
      <p:sp>
        <p:nvSpPr>
          <p:cNvPr id="12" name="why text Rule explosion"/>
          <p:cNvSpPr txBox="1"/>
          <p:nvPr/>
        </p:nvSpPr>
        <p:spPr>
          <a:xfrm>
            <a:off x="4535424" y="4828032"/>
            <a:ext cx="3118104" cy="822960"/>
          </a:xfrm>
          <a:prstGeom prst="rect">
            <a:avLst/>
          </a:prstGeom>
          <a:noFill/>
          <a:ln/>
        </p:spPr>
        <p:txBody>
          <a:bodyPr wrap="square" lIns="0" tIns="0" rIns="0" bIns="0" rtlCol="0" anchor="t"/>
          <a:lstStyle/>
          <a:p>
            <a:pPr indent="0" marL="0">
              <a:buNone/>
            </a:pPr>
            <a:r>
              <a:rPr lang="en-US" sz="1500" dirty="0">
                <a:solidFill>
                  <a:schemeClr val="tx1"/>
                </a:solidFill>
              </a:rPr>
              <a:t>Code, load and material constraints interact across thousands of combinations.</a:t>
            </a:r>
            <a:endParaRPr lang="en-US" sz="1500" dirty="0"/>
          </a:p>
        </p:txBody>
      </p:sp>
      <p:sp>
        <p:nvSpPr>
          <p:cNvPr id="13" name="why Catalog volatility"/>
          <p:cNvSpPr/>
          <p:nvPr/>
        </p:nvSpPr>
        <p:spPr>
          <a:xfrm>
            <a:off x="8065008" y="4251960"/>
            <a:ext cx="3575304" cy="1463040"/>
          </a:xfrm>
          <a:prstGeom prst="roundRect">
            <a:avLst>
              <a:gd name="adj" fmla="val 4375"/>
            </a:avLst>
          </a:prstGeom>
          <a:solidFill>
            <a:schemeClr val="bg2"/>
          </a:solidFill>
          <a:ln/>
        </p:spPr>
      </p:sp>
      <p:sp>
        <p:nvSpPr>
          <p:cNvPr id="14" name="why head Catalog volatility"/>
          <p:cNvSpPr txBox="1"/>
          <p:nvPr/>
        </p:nvSpPr>
        <p:spPr>
          <a:xfrm>
            <a:off x="8293608" y="4389120"/>
            <a:ext cx="3118104" cy="384048"/>
          </a:xfrm>
          <a:prstGeom prst="rect">
            <a:avLst/>
          </a:prstGeom>
          <a:noFill/>
          <a:ln/>
        </p:spPr>
        <p:txBody>
          <a:bodyPr wrap="square" lIns="0" tIns="0" rIns="0" bIns="0" rtlCol="0" anchor="ctr"/>
          <a:lstStyle/>
          <a:p>
            <a:pPr indent="0" marL="0">
              <a:buNone/>
            </a:pPr>
            <a:r>
              <a:rPr lang="en-US" sz="1700" b="1" dirty="0">
                <a:solidFill>
                  <a:schemeClr val="accent1"/>
                </a:solidFill>
              </a:rPr>
              <a:t>3. Catalog volatility</a:t>
            </a:r>
            <a:endParaRPr lang="en-US" sz="1700" dirty="0"/>
          </a:p>
        </p:txBody>
      </p:sp>
      <p:sp>
        <p:nvSpPr>
          <p:cNvPr id="15" name="why text Catalog volatility"/>
          <p:cNvSpPr txBox="1"/>
          <p:nvPr/>
        </p:nvSpPr>
        <p:spPr>
          <a:xfrm>
            <a:off x="8293608" y="4828032"/>
            <a:ext cx="3118104" cy="822960"/>
          </a:xfrm>
          <a:prstGeom prst="rect">
            <a:avLst/>
          </a:prstGeom>
          <a:noFill/>
          <a:ln/>
        </p:spPr>
        <p:txBody>
          <a:bodyPr wrap="square" lIns="0" tIns="0" rIns="0" bIns="0" rtlCol="0" anchor="t"/>
          <a:lstStyle/>
          <a:p>
            <a:pPr indent="0" marL="0">
              <a:buNone/>
            </a:pPr>
            <a:r>
              <a:rPr lang="en-US" sz="1500" dirty="0">
                <a:solidFill>
                  <a:schemeClr val="tx1"/>
                </a:solidFill>
              </a:rPr>
              <a:t>Catalogs change faster than rule-based systems can be rewritten.</a:t>
            </a:r>
            <a:endParaRPr lang="en-US" sz="15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Whatever the method, it needs problems to learn from and a fixed set to compare on</a:t>
            </a:r>
            <a:endParaRPr lang="en-US" sz="2600" dirty="0"/>
          </a:p>
        </p:txBody>
      </p:sp>
      <p:sp>
        <p:nvSpPr>
          <p:cNvPr id="3" name="box context"/>
          <p:cNvSpPr/>
          <p:nvPr/>
        </p:nvSpPr>
        <p:spPr>
          <a:xfrm>
            <a:off x="548640" y="1554480"/>
            <a:ext cx="1737360" cy="1097280"/>
          </a:xfrm>
          <a:prstGeom prst="roundRect">
            <a:avLst>
              <a:gd name="adj" fmla="val 5000"/>
            </a:avLst>
          </a:prstGeom>
          <a:solidFill>
            <a:schemeClr val="bg2"/>
          </a:solidFill>
          <a:ln w="12700">
            <a:solidFill>
              <a:srgbClr val="52514E"/>
            </a:solidFill>
            <a:prstDash val="solid"/>
          </a:ln>
        </p:spPr>
      </p:sp>
      <p:sp>
        <p:nvSpPr>
          <p:cNvPr id="4" name="mini slab"/>
          <p:cNvSpPr/>
          <p:nvPr/>
        </p:nvSpPr>
        <p:spPr>
          <a:xfrm>
            <a:off x="777240" y="1664208"/>
            <a:ext cx="1280160" cy="91440"/>
          </a:xfrm>
          <a:prstGeom prst="rect">
            <a:avLst/>
          </a:prstGeom>
          <a:solidFill>
            <a:srgbClr val="EEF1F4"/>
          </a:solidFill>
          <a:ln w="6350">
            <a:solidFill>
              <a:srgbClr val="52514E"/>
            </a:solidFill>
            <a:prstDash val="solid"/>
          </a:ln>
        </p:spPr>
      </p:sp>
      <p:sp>
        <p:nvSpPr>
          <p:cNvPr id="5" name="mini duct"/>
          <p:cNvSpPr/>
          <p:nvPr/>
        </p:nvSpPr>
        <p:spPr>
          <a:xfrm>
            <a:off x="868680" y="1828800"/>
            <a:ext cx="384048" cy="219456"/>
          </a:xfrm>
          <a:prstGeom prst="rect">
            <a:avLst/>
          </a:prstGeom>
          <a:solidFill>
            <a:srgbClr val="FFFFFF"/>
          </a:solidFill>
          <a:ln w="9525">
            <a:solidFill>
              <a:srgbClr val="52514E"/>
            </a:solidFill>
            <a:prstDash val="solid"/>
          </a:ln>
        </p:spPr>
      </p:sp>
      <p:sp>
        <p:nvSpPr>
          <p:cNvPr id="6" name="mini pipe a"/>
          <p:cNvSpPr/>
          <p:nvPr/>
        </p:nvSpPr>
        <p:spPr>
          <a:xfrm>
            <a:off x="1371600" y="1856232"/>
            <a:ext cx="192024" cy="192024"/>
          </a:xfrm>
          <a:prstGeom prst="ellipse">
            <a:avLst/>
          </a:prstGeom>
          <a:solidFill>
            <a:srgbClr val="FFFFFF"/>
          </a:solidFill>
          <a:ln w="9525">
            <a:solidFill>
              <a:srgbClr val="52514E"/>
            </a:solidFill>
            <a:prstDash val="solid"/>
          </a:ln>
        </p:spPr>
      </p:sp>
      <p:sp>
        <p:nvSpPr>
          <p:cNvPr id="7" name="mini pipe b"/>
          <p:cNvSpPr/>
          <p:nvPr/>
        </p:nvSpPr>
        <p:spPr>
          <a:xfrm>
            <a:off x="1618488" y="1911096"/>
            <a:ext cx="137160" cy="137160"/>
          </a:xfrm>
          <a:prstGeom prst="ellipse">
            <a:avLst/>
          </a:prstGeom>
          <a:solidFill>
            <a:srgbClr val="FFFFFF"/>
          </a:solidFill>
          <a:ln w="9525">
            <a:solidFill>
              <a:srgbClr val="52514E"/>
            </a:solidFill>
            <a:prstDash val="solid"/>
          </a:ln>
        </p:spPr>
      </p:sp>
      <p:sp>
        <p:nvSpPr>
          <p:cNvPr id="8" name="mini tray"/>
          <p:cNvSpPr/>
          <p:nvPr/>
        </p:nvSpPr>
        <p:spPr>
          <a:xfrm>
            <a:off x="1828800" y="1965960"/>
            <a:ext cx="237744" cy="82296"/>
          </a:xfrm>
          <a:prstGeom prst="rect">
            <a:avLst/>
          </a:prstGeom>
          <a:solidFill>
            <a:srgbClr val="FFFFFF"/>
          </a:solidFill>
          <a:ln w="9525">
            <a:solidFill>
              <a:srgbClr val="52514E"/>
            </a:solidFill>
            <a:prstDash val="solid"/>
          </a:ln>
        </p:spPr>
      </p:sp>
      <p:sp>
        <p:nvSpPr>
          <p:cNvPr id="9" name="text context"/>
          <p:cNvSpPr txBox="1"/>
          <p:nvPr/>
        </p:nvSpPr>
        <p:spPr>
          <a:xfrm>
            <a:off x="548640" y="2084832"/>
            <a:ext cx="1737360" cy="548640"/>
          </a:xfrm>
          <a:prstGeom prst="rect">
            <a:avLst/>
          </a:prstGeom>
          <a:noFill/>
          <a:ln/>
        </p:spPr>
        <p:txBody>
          <a:bodyPr wrap="square" lIns="1016" tIns="1016" rIns="1016" bIns="1016" rtlCol="0" anchor="ctr"/>
          <a:lstStyle/>
          <a:p>
            <a:pPr algn="ctr" indent="0" marL="0">
              <a:buNone/>
            </a:pPr>
            <a:r>
              <a:rPr lang="en-US" sz="1400" b="1" dirty="0">
                <a:solidFill>
                  <a:schemeClr val="tx1"/>
                </a:solidFill>
              </a:rPr>
              <a:t>Context</a:t>
            </a:r>
            <a:endParaRPr lang="en-US" sz="1400" dirty="0"/>
          </a:p>
          <a:p>
            <a:pPr algn="ctr" indent="0" marL="0">
              <a:buNone/>
            </a:pPr>
            <a:r>
              <a:rPr lang="en-US" sz="1150" dirty="0">
                <a:solidFill>
                  <a:srgbClr val="52514E"/>
                </a:solidFill>
              </a:rPr>
              <a:t>structure, services, loads</a:t>
            </a:r>
            <a:endParaRPr lang="en-US" sz="1400" dirty="0"/>
          </a:p>
        </p:txBody>
      </p:sp>
      <p:sp>
        <p:nvSpPr>
          <p:cNvPr id="10" name="box catalog"/>
          <p:cNvSpPr/>
          <p:nvPr/>
        </p:nvSpPr>
        <p:spPr>
          <a:xfrm>
            <a:off x="640080" y="2743200"/>
            <a:ext cx="1554480" cy="1051560"/>
          </a:xfrm>
          <a:prstGeom prst="can">
            <a:avLst/>
          </a:prstGeom>
          <a:solidFill>
            <a:schemeClr val="bg2"/>
          </a:solidFill>
          <a:ln w="12700">
            <a:solidFill>
              <a:srgbClr val="52514E"/>
            </a:solidFill>
            <a:prstDash val="solid"/>
          </a:ln>
        </p:spPr>
      </p:sp>
      <p:sp>
        <p:nvSpPr>
          <p:cNvPr id="11" name="text catalog"/>
          <p:cNvSpPr txBox="1"/>
          <p:nvPr/>
        </p:nvSpPr>
        <p:spPr>
          <a:xfrm>
            <a:off x="548640" y="2834640"/>
            <a:ext cx="1737360" cy="914400"/>
          </a:xfrm>
          <a:prstGeom prst="rect">
            <a:avLst/>
          </a:prstGeom>
          <a:noFill/>
          <a:ln/>
        </p:spPr>
        <p:txBody>
          <a:bodyPr wrap="square" lIns="1016" tIns="1016" rIns="1016" bIns="1016" rtlCol="0" anchor="ctr"/>
          <a:lstStyle/>
          <a:p>
            <a:pPr algn="ctr" indent="0" marL="0">
              <a:buNone/>
            </a:pPr>
            <a:r>
              <a:rPr lang="en-US" sz="1400" b="1" dirty="0">
                <a:solidFill>
                  <a:schemeClr val="tx1"/>
                </a:solidFill>
              </a:rPr>
              <a:t>Catalog</a:t>
            </a:r>
            <a:endParaRPr lang="en-US" sz="1400" dirty="0"/>
          </a:p>
          <a:p>
            <a:pPr algn="ctr" indent="0" marL="0">
              <a:buNone/>
            </a:pPr>
            <a:r>
              <a:rPr lang="en-US" sz="1150" dirty="0">
                <a:solidFill>
                  <a:srgbClr val="52514E"/>
                </a:solidFill>
              </a:rPr>
              <a:t>parts, sizes, unit costs</a:t>
            </a:r>
            <a:endParaRPr lang="en-US" sz="1400" dirty="0"/>
          </a:p>
        </p:txBody>
      </p:sp>
      <p:sp>
        <p:nvSpPr>
          <p:cNvPr id="12" name="box rules"/>
          <p:cNvSpPr/>
          <p:nvPr/>
        </p:nvSpPr>
        <p:spPr>
          <a:xfrm>
            <a:off x="2743200" y="1554480"/>
            <a:ext cx="1828800" cy="2240280"/>
          </a:xfrm>
          <a:prstGeom prst="roundRect">
            <a:avLst>
              <a:gd name="adj" fmla="val 3000"/>
            </a:avLst>
          </a:prstGeom>
          <a:solidFill>
            <a:schemeClr val="bg2"/>
          </a:solidFill>
          <a:ln w="15875">
            <a:solidFill>
              <a:srgbClr val="1F2933"/>
            </a:solidFill>
            <a:prstDash val="solid"/>
          </a:ln>
        </p:spPr>
      </p:sp>
      <p:pic>
        <p:nvPicPr>
          <p:cNvPr id="13" name="icon rules" descr="preencoded.png">    </p:cNvPr>
          <p:cNvPicPr>
            <a:picLocks noChangeAspect="1"/>
          </p:cNvPicPr>
          <p:nvPr/>
        </p:nvPicPr>
        <p:blipFill>
          <a:blip r:embed="rId1"/>
          <a:stretch>
            <a:fillRect/>
          </a:stretch>
        </p:blipFill>
        <p:spPr>
          <a:xfrm>
            <a:off x="3429000" y="1828800"/>
            <a:ext cx="457200" cy="457200"/>
          </a:xfrm>
          <a:prstGeom prst="rect">
            <a:avLst/>
          </a:prstGeom>
        </p:spPr>
      </p:pic>
      <p:sp>
        <p:nvSpPr>
          <p:cNvPr id="14" name="text rules"/>
          <p:cNvSpPr txBox="1"/>
          <p:nvPr/>
        </p:nvSpPr>
        <p:spPr>
          <a:xfrm>
            <a:off x="2743200" y="2331720"/>
            <a:ext cx="1828800" cy="1371600"/>
          </a:xfrm>
          <a:prstGeom prst="rect">
            <a:avLst/>
          </a:prstGeom>
          <a:noFill/>
          <a:ln/>
        </p:spPr>
        <p:txBody>
          <a:bodyPr wrap="square" lIns="1016" tIns="1016" rIns="1016" bIns="1016" rtlCol="0" anchor="ctr"/>
          <a:lstStyle/>
          <a:p>
            <a:pPr algn="ctr" indent="0" marL="0">
              <a:buNone/>
            </a:pPr>
            <a:r>
              <a:rPr lang="en-US" sz="1400" b="1" dirty="0">
                <a:solidFill>
                  <a:schemeClr val="tx1"/>
                </a:solidFill>
              </a:rPr>
              <a:t>Rules</a:t>
            </a:r>
            <a:endParaRPr lang="en-US" sz="1400" dirty="0"/>
          </a:p>
          <a:p>
            <a:pPr algn="ctr" indent="0" marL="0">
              <a:buNone/>
            </a:pPr>
            <a:r>
              <a:rPr lang="en-US" sz="1150" dirty="0">
                <a:solidFill>
                  <a:srgbClr val="52514E"/>
                </a:solidFill>
              </a:rPr>
              <a:t>which actions are legal in a state; each action adds parts</a:t>
            </a:r>
            <a:endParaRPr lang="en-US" sz="1400" dirty="0"/>
          </a:p>
        </p:txBody>
      </p:sp>
      <p:sp>
        <p:nvSpPr>
          <p:cNvPr id="15" name="arrow context to rules"/>
          <p:cNvSpPr/>
          <p:nvPr/>
        </p:nvSpPr>
        <p:spPr>
          <a:xfrm>
            <a:off x="2286000" y="2103120"/>
            <a:ext cx="457200" cy="0"/>
          </a:xfrm>
          <a:prstGeom prst="line">
            <a:avLst/>
          </a:prstGeom>
          <a:noFill/>
          <a:ln w="15875">
            <a:solidFill>
              <a:srgbClr val="52514E"/>
            </a:solidFill>
            <a:prstDash val="solid"/>
            <a:tailEnd type="triangle"/>
          </a:ln>
        </p:spPr>
      </p:sp>
      <p:sp>
        <p:nvSpPr>
          <p:cNvPr id="16" name="arrow catalog to rules"/>
          <p:cNvSpPr/>
          <p:nvPr/>
        </p:nvSpPr>
        <p:spPr>
          <a:xfrm>
            <a:off x="2194560" y="3291840"/>
            <a:ext cx="548640" cy="0"/>
          </a:xfrm>
          <a:prstGeom prst="line">
            <a:avLst/>
          </a:prstGeom>
          <a:noFill/>
          <a:ln w="15875">
            <a:solidFill>
              <a:srgbClr val="52514E"/>
            </a:solidFill>
            <a:prstDash val="solid"/>
            <a:tailEnd type="triangle"/>
          </a:ln>
        </p:spPr>
      </p:sp>
      <p:sp>
        <p:nvSpPr>
          <p:cNvPr id="17" name="black box approach"/>
          <p:cNvSpPr/>
          <p:nvPr/>
        </p:nvSpPr>
        <p:spPr>
          <a:xfrm>
            <a:off x="5120640" y="1554480"/>
            <a:ext cx="2194560" cy="2240280"/>
          </a:xfrm>
          <a:prstGeom prst="roundRect">
            <a:avLst>
              <a:gd name="adj" fmla="val 2500"/>
            </a:avLst>
          </a:prstGeom>
          <a:solidFill>
            <a:srgbClr val="0B0B0B"/>
          </a:solidFill>
          <a:ln/>
        </p:spPr>
      </p:sp>
      <p:pic>
        <p:nvPicPr>
          <p:cNvPr id="18" name="icon approach" descr="preencoded.png">    </p:cNvPr>
          <p:cNvPicPr>
            <a:picLocks noChangeAspect="1"/>
          </p:cNvPicPr>
          <p:nvPr/>
        </p:nvPicPr>
        <p:blipFill>
          <a:blip r:embed="rId2"/>
          <a:stretch>
            <a:fillRect/>
          </a:stretch>
        </p:blipFill>
        <p:spPr>
          <a:xfrm>
            <a:off x="5989320" y="1828800"/>
            <a:ext cx="457200" cy="457200"/>
          </a:xfrm>
          <a:prstGeom prst="rect">
            <a:avLst/>
          </a:prstGeom>
        </p:spPr>
      </p:pic>
      <p:sp>
        <p:nvSpPr>
          <p:cNvPr id="19" name="text approach"/>
          <p:cNvSpPr txBox="1"/>
          <p:nvPr/>
        </p:nvSpPr>
        <p:spPr>
          <a:xfrm>
            <a:off x="5120640" y="2331720"/>
            <a:ext cx="2194560" cy="1371600"/>
          </a:xfrm>
          <a:prstGeom prst="rect">
            <a:avLst/>
          </a:prstGeom>
          <a:noFill/>
          <a:ln/>
        </p:spPr>
        <p:txBody>
          <a:bodyPr wrap="square" lIns="1016" tIns="1016" rIns="1016" bIns="1016" rtlCol="0" anchor="ctr"/>
          <a:lstStyle/>
          <a:p>
            <a:pPr algn="ctr" indent="0" marL="0">
              <a:buNone/>
            </a:pPr>
            <a:r>
              <a:rPr lang="en-US" sz="1600" b="1" dirty="0">
                <a:solidFill>
                  <a:srgbClr val="FFFFFF"/>
                </a:solidFill>
              </a:rPr>
              <a:t>Approach</a:t>
            </a:r>
            <a:endParaRPr lang="en-US" sz="1600" dirty="0"/>
          </a:p>
          <a:p>
            <a:pPr algn="ctr" indent="0" marL="0">
              <a:buNone/>
            </a:pPr>
            <a:r>
              <a:rPr lang="en-US" sz="1150" dirty="0">
                <a:solidFill>
                  <a:srgbClr val="CADCFC"/>
                </a:solidFill>
              </a:rPr>
              <a:t>a black box that chooses the next action</a:t>
            </a:r>
            <a:endParaRPr lang="en-US" sz="1600" dirty="0"/>
          </a:p>
          <a:p>
            <a:pPr algn="ctr" indent="0" marL="0">
              <a:buNone/>
            </a:pPr>
            <a:endParaRPr lang="en-US" sz="1600" dirty="0"/>
          </a:p>
          <a:p>
            <a:pPr algn="ctr" indent="0" marL="0">
              <a:buNone/>
            </a:pPr>
            <a:r>
              <a:rPr lang="en-US" sz="1150" dirty="0">
                <a:solidFill>
                  <a:srgbClr val="CADCFC"/>
                </a:solidFill>
              </a:rPr>
              <a:t>rule table · search · learned policy</a:t>
            </a:r>
            <a:endParaRPr lang="en-US" sz="1600" dirty="0"/>
          </a:p>
        </p:txBody>
      </p:sp>
      <p:sp>
        <p:nvSpPr>
          <p:cNvPr id="20" name="arrow legal actions"/>
          <p:cNvSpPr/>
          <p:nvPr/>
        </p:nvSpPr>
        <p:spPr>
          <a:xfrm>
            <a:off x="4572000" y="2354580"/>
            <a:ext cx="548640" cy="0"/>
          </a:xfrm>
          <a:prstGeom prst="line">
            <a:avLst/>
          </a:prstGeom>
          <a:noFill/>
          <a:ln w="15875">
            <a:solidFill>
              <a:srgbClr val="52514E"/>
            </a:solidFill>
            <a:prstDash val="solid"/>
            <a:tailEnd type="triangle"/>
          </a:ln>
        </p:spPr>
      </p:sp>
      <p:sp>
        <p:nvSpPr>
          <p:cNvPr id="21" name="label legal actions"/>
          <p:cNvSpPr txBox="1"/>
          <p:nvPr/>
        </p:nvSpPr>
        <p:spPr>
          <a:xfrm>
            <a:off x="4572000" y="2071116"/>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legal actions</a:t>
            </a:r>
            <a:endParaRPr lang="en-US" sz="1050" dirty="0"/>
          </a:p>
        </p:txBody>
      </p:sp>
      <p:sp>
        <p:nvSpPr>
          <p:cNvPr id="22" name="arrow chosen action"/>
          <p:cNvSpPr/>
          <p:nvPr/>
        </p:nvSpPr>
        <p:spPr>
          <a:xfrm>
            <a:off x="4572000" y="2994660"/>
            <a:ext cx="548640" cy="0"/>
          </a:xfrm>
          <a:prstGeom prst="line">
            <a:avLst/>
          </a:prstGeom>
          <a:noFill/>
          <a:ln w="15875">
            <a:solidFill>
              <a:srgbClr val="52514E"/>
            </a:solidFill>
            <a:prstDash val="solid"/>
            <a:headEnd type="triangle"/>
          </a:ln>
        </p:spPr>
      </p:sp>
      <p:sp>
        <p:nvSpPr>
          <p:cNvPr id="23" name="label chosen action"/>
          <p:cNvSpPr txBox="1"/>
          <p:nvPr/>
        </p:nvSpPr>
        <p:spPr>
          <a:xfrm>
            <a:off x="4572000" y="3040380"/>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chosen action</a:t>
            </a:r>
            <a:endParaRPr lang="en-US" sz="1050" dirty="0"/>
          </a:p>
        </p:txBody>
      </p:sp>
      <p:sp>
        <p:nvSpPr>
          <p:cNvPr id="24" name="box verifier"/>
          <p:cNvSpPr/>
          <p:nvPr/>
        </p:nvSpPr>
        <p:spPr>
          <a:xfrm>
            <a:off x="7863840" y="1554480"/>
            <a:ext cx="1828800" cy="2240280"/>
          </a:xfrm>
          <a:prstGeom prst="roundRect">
            <a:avLst>
              <a:gd name="adj" fmla="val 3000"/>
            </a:avLst>
          </a:prstGeom>
          <a:solidFill>
            <a:srgbClr val="EAF5EE"/>
          </a:solidFill>
          <a:ln w="19050">
            <a:solidFill>
              <a:srgbClr val="008300"/>
            </a:solidFill>
            <a:prstDash val="solid"/>
          </a:ln>
        </p:spPr>
      </p:sp>
      <p:pic>
        <p:nvPicPr>
          <p:cNvPr id="25" name="icon verifier" descr="preencoded.png">    </p:cNvPr>
          <p:cNvPicPr>
            <a:picLocks noChangeAspect="1"/>
          </p:cNvPicPr>
          <p:nvPr/>
        </p:nvPicPr>
        <p:blipFill>
          <a:blip r:embed="rId3"/>
          <a:stretch>
            <a:fillRect/>
          </a:stretch>
        </p:blipFill>
        <p:spPr>
          <a:xfrm>
            <a:off x="8549640" y="1828800"/>
            <a:ext cx="457200" cy="457200"/>
          </a:xfrm>
          <a:prstGeom prst="rect">
            <a:avLst/>
          </a:prstGeom>
        </p:spPr>
      </p:pic>
      <p:sp>
        <p:nvSpPr>
          <p:cNvPr id="26" name="text verifier"/>
          <p:cNvSpPr txBox="1"/>
          <p:nvPr/>
        </p:nvSpPr>
        <p:spPr>
          <a:xfrm>
            <a:off x="7863840" y="2331720"/>
            <a:ext cx="1828800" cy="1371600"/>
          </a:xfrm>
          <a:prstGeom prst="rect">
            <a:avLst/>
          </a:prstGeom>
          <a:noFill/>
          <a:ln/>
        </p:spPr>
        <p:txBody>
          <a:bodyPr wrap="square" lIns="1016" tIns="1016" rIns="1016" bIns="1016" rtlCol="0" anchor="ctr"/>
          <a:lstStyle/>
          <a:p>
            <a:pPr algn="ctr" indent="0" marL="0">
              <a:buNone/>
            </a:pPr>
            <a:r>
              <a:rPr lang="en-US" sz="1400" b="1" dirty="0">
                <a:solidFill>
                  <a:schemeClr val="tx1"/>
                </a:solidFill>
              </a:rPr>
              <a:t>Verifier</a:t>
            </a:r>
            <a:endParaRPr lang="en-US" sz="1400" dirty="0"/>
          </a:p>
          <a:p>
            <a:pPr algn="ctr" indent="0" marL="0">
              <a:buNone/>
            </a:pPr>
            <a:r>
              <a:rPr lang="en-US" sz="1150" dirty="0">
                <a:solidFill>
                  <a:srgbClr val="52514E"/>
                </a:solidFill>
              </a:rPr>
              <a:t>judges every finished design: statics, anchors, connectors, buildability</a:t>
            </a:r>
            <a:endParaRPr lang="en-US" sz="1400" dirty="0"/>
          </a:p>
        </p:txBody>
      </p:sp>
      <p:sp>
        <p:nvSpPr>
          <p:cNvPr id="27" name="arrow finished design"/>
          <p:cNvSpPr/>
          <p:nvPr/>
        </p:nvSpPr>
        <p:spPr>
          <a:xfrm>
            <a:off x="7315200" y="2674620"/>
            <a:ext cx="548640" cy="0"/>
          </a:xfrm>
          <a:prstGeom prst="line">
            <a:avLst/>
          </a:prstGeom>
          <a:noFill/>
          <a:ln w="15875">
            <a:solidFill>
              <a:srgbClr val="52514E"/>
            </a:solidFill>
            <a:prstDash val="solid"/>
            <a:tailEnd type="triangle"/>
          </a:ln>
        </p:spPr>
      </p:sp>
      <p:sp>
        <p:nvSpPr>
          <p:cNvPr id="28" name="label finished design"/>
          <p:cNvSpPr txBox="1"/>
          <p:nvPr/>
        </p:nvSpPr>
        <p:spPr>
          <a:xfrm>
            <a:off x="7315200" y="2391156"/>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finished design</a:t>
            </a:r>
            <a:endParaRPr lang="en-US" sz="1050" dirty="0"/>
          </a:p>
        </p:txBody>
      </p:sp>
      <p:sp>
        <p:nvSpPr>
          <p:cNvPr id="29" name="box output"/>
          <p:cNvSpPr/>
          <p:nvPr/>
        </p:nvSpPr>
        <p:spPr>
          <a:xfrm>
            <a:off x="10104120" y="1554480"/>
            <a:ext cx="1536192" cy="2240280"/>
          </a:xfrm>
          <a:prstGeom prst="roundRect">
            <a:avLst>
              <a:gd name="adj" fmla="val 3571"/>
            </a:avLst>
          </a:prstGeom>
          <a:solidFill>
            <a:schemeClr val="bg2"/>
          </a:solidFill>
          <a:ln w="19050">
            <a:solidFill>
              <a:srgbClr val="0B0B0B"/>
            </a:solidFill>
            <a:prstDash val="solid"/>
          </a:ln>
        </p:spPr>
      </p:sp>
      <p:sp>
        <p:nvSpPr>
          <p:cNvPr id="30" name="mini out slab"/>
          <p:cNvSpPr/>
          <p:nvPr/>
        </p:nvSpPr>
        <p:spPr>
          <a:xfrm>
            <a:off x="10287000" y="1719072"/>
            <a:ext cx="1170432" cy="91440"/>
          </a:xfrm>
          <a:prstGeom prst="rect">
            <a:avLst/>
          </a:prstGeom>
          <a:solidFill>
            <a:srgbClr val="EEF1F4"/>
          </a:solidFill>
          <a:ln w="6350">
            <a:solidFill>
              <a:srgbClr val="52514E"/>
            </a:solidFill>
            <a:prstDash val="solid"/>
          </a:ln>
        </p:spPr>
      </p:sp>
      <p:sp>
        <p:nvSpPr>
          <p:cNvPr id="31" name="mini rod 0"/>
          <p:cNvSpPr/>
          <p:nvPr/>
        </p:nvSpPr>
        <p:spPr>
          <a:xfrm>
            <a:off x="10378440" y="1810512"/>
            <a:ext cx="27432" cy="429768"/>
          </a:xfrm>
          <a:prstGeom prst="rect">
            <a:avLst/>
          </a:prstGeom>
          <a:solidFill>
            <a:srgbClr val="1F2933"/>
          </a:solidFill>
          <a:ln/>
        </p:spPr>
      </p:sp>
      <p:sp>
        <p:nvSpPr>
          <p:cNvPr id="32" name="mini rod 1"/>
          <p:cNvSpPr/>
          <p:nvPr/>
        </p:nvSpPr>
        <p:spPr>
          <a:xfrm>
            <a:off x="11338560" y="1810512"/>
            <a:ext cx="27432" cy="429768"/>
          </a:xfrm>
          <a:prstGeom prst="rect">
            <a:avLst/>
          </a:prstGeom>
          <a:solidFill>
            <a:srgbClr val="1F2933"/>
          </a:solidFill>
          <a:ln/>
        </p:spPr>
      </p:sp>
      <p:sp>
        <p:nvSpPr>
          <p:cNvPr id="33" name="mini bar"/>
          <p:cNvSpPr/>
          <p:nvPr/>
        </p:nvSpPr>
        <p:spPr>
          <a:xfrm>
            <a:off x="10305288" y="2240280"/>
            <a:ext cx="1133856" cy="36576"/>
          </a:xfrm>
          <a:prstGeom prst="rect">
            <a:avLst/>
          </a:prstGeom>
          <a:solidFill>
            <a:srgbClr val="1F2933"/>
          </a:solidFill>
          <a:ln/>
        </p:spPr>
      </p:sp>
      <p:sp>
        <p:nvSpPr>
          <p:cNvPr id="34" name="mini out pipe a"/>
          <p:cNvSpPr/>
          <p:nvPr/>
        </p:nvSpPr>
        <p:spPr>
          <a:xfrm>
            <a:off x="10543032" y="2029968"/>
            <a:ext cx="210312" cy="210312"/>
          </a:xfrm>
          <a:prstGeom prst="ellipse">
            <a:avLst/>
          </a:prstGeom>
          <a:solidFill>
            <a:srgbClr val="FFFFFF"/>
          </a:solidFill>
          <a:ln w="9525">
            <a:solidFill>
              <a:srgbClr val="52514E"/>
            </a:solidFill>
            <a:prstDash val="solid"/>
          </a:ln>
        </p:spPr>
      </p:sp>
      <p:sp>
        <p:nvSpPr>
          <p:cNvPr id="35" name="mini out pipe b"/>
          <p:cNvSpPr/>
          <p:nvPr/>
        </p:nvSpPr>
        <p:spPr>
          <a:xfrm>
            <a:off x="10890504" y="2084832"/>
            <a:ext cx="155448" cy="155448"/>
          </a:xfrm>
          <a:prstGeom prst="ellipse">
            <a:avLst/>
          </a:prstGeom>
          <a:solidFill>
            <a:srgbClr val="FFFFFF"/>
          </a:solidFill>
          <a:ln w="9525">
            <a:solidFill>
              <a:srgbClr val="52514E"/>
            </a:solidFill>
            <a:prstDash val="solid"/>
          </a:ln>
        </p:spPr>
      </p:sp>
      <p:sp>
        <p:nvSpPr>
          <p:cNvPr id="36" name="text output"/>
          <p:cNvSpPr txBox="1"/>
          <p:nvPr/>
        </p:nvSpPr>
        <p:spPr>
          <a:xfrm>
            <a:off x="10104120" y="2331720"/>
            <a:ext cx="1536192" cy="1371600"/>
          </a:xfrm>
          <a:prstGeom prst="rect">
            <a:avLst/>
          </a:prstGeom>
          <a:noFill/>
          <a:ln/>
        </p:spPr>
        <p:txBody>
          <a:bodyPr wrap="square" lIns="1016" tIns="1016" rIns="1016" bIns="1016" rtlCol="0" anchor="ctr"/>
          <a:lstStyle/>
          <a:p>
            <a:pPr algn="ctr" indent="0" marL="0">
              <a:buNone/>
            </a:pPr>
            <a:r>
              <a:rPr lang="en-US" sz="1400" b="1" dirty="0">
                <a:solidFill>
                  <a:schemeClr val="tx1"/>
                </a:solidFill>
              </a:rPr>
              <a:t>Verified designs</a:t>
            </a:r>
            <a:endParaRPr lang="en-US" sz="1400" dirty="0"/>
          </a:p>
          <a:p>
            <a:pPr algn="ctr" indent="0" marL="0">
              <a:buNone/>
            </a:pPr>
            <a:r>
              <a:rPr lang="en-US" sz="1150" dirty="0">
                <a:solidFill>
                  <a:srgbClr val="52514E"/>
                </a:solidFill>
              </a:rPr>
              <a:t>up to ten, ranked by installed cost</a:t>
            </a:r>
            <a:endParaRPr lang="en-US" sz="1400" dirty="0"/>
          </a:p>
        </p:txBody>
      </p:sp>
      <p:sp>
        <p:nvSpPr>
          <p:cNvPr id="37" name="arrow to output"/>
          <p:cNvSpPr/>
          <p:nvPr/>
        </p:nvSpPr>
        <p:spPr>
          <a:xfrm>
            <a:off x="9692640" y="2674620"/>
            <a:ext cx="411480" cy="0"/>
          </a:xfrm>
          <a:prstGeom prst="line">
            <a:avLst/>
          </a:prstGeom>
          <a:noFill/>
          <a:ln w="15875">
            <a:solidFill>
              <a:srgbClr val="52514E"/>
            </a:solidFill>
            <a:prstDash val="solid"/>
            <a:tailEnd type="triangle"/>
          </a:ln>
        </p:spPr>
      </p:sp>
      <p:sp>
        <p:nvSpPr>
          <p:cNvPr id="38" name="feedback down"/>
          <p:cNvSpPr/>
          <p:nvPr/>
        </p:nvSpPr>
        <p:spPr>
          <a:xfrm>
            <a:off x="8778240" y="3794760"/>
            <a:ext cx="0" cy="274320"/>
          </a:xfrm>
          <a:prstGeom prst="line">
            <a:avLst/>
          </a:prstGeom>
          <a:noFill/>
          <a:ln w="15875">
            <a:solidFill>
              <a:srgbClr val="008300"/>
            </a:solidFill>
            <a:prstDash val="dash"/>
          </a:ln>
        </p:spPr>
      </p:sp>
      <p:sp>
        <p:nvSpPr>
          <p:cNvPr id="39" name="feedback across"/>
          <p:cNvSpPr/>
          <p:nvPr/>
        </p:nvSpPr>
        <p:spPr>
          <a:xfrm>
            <a:off x="6217920" y="4069080"/>
            <a:ext cx="2560320" cy="0"/>
          </a:xfrm>
          <a:prstGeom prst="line">
            <a:avLst/>
          </a:prstGeom>
          <a:noFill/>
          <a:ln w="15875">
            <a:solidFill>
              <a:srgbClr val="008300"/>
            </a:solidFill>
            <a:prstDash val="dash"/>
          </a:ln>
        </p:spPr>
      </p:sp>
      <p:sp>
        <p:nvSpPr>
          <p:cNvPr id="40" name="feedback up"/>
          <p:cNvSpPr/>
          <p:nvPr/>
        </p:nvSpPr>
        <p:spPr>
          <a:xfrm>
            <a:off x="6217920" y="3794760"/>
            <a:ext cx="0" cy="274320"/>
          </a:xfrm>
          <a:prstGeom prst="line">
            <a:avLst/>
          </a:prstGeom>
          <a:noFill/>
          <a:ln w="15875">
            <a:solidFill>
              <a:srgbClr val="008300"/>
            </a:solidFill>
            <a:prstDash val="dash"/>
            <a:headEnd type="triangle"/>
          </a:ln>
        </p:spPr>
      </p:sp>
      <p:sp>
        <p:nvSpPr>
          <p:cNvPr id="41" name="label feedback"/>
          <p:cNvSpPr txBox="1"/>
          <p:nvPr/>
        </p:nvSpPr>
        <p:spPr>
          <a:xfrm>
            <a:off x="6400800" y="4096512"/>
            <a:ext cx="2194560" cy="237744"/>
          </a:xfrm>
          <a:prstGeom prst="rect">
            <a:avLst/>
          </a:prstGeom>
          <a:noFill/>
          <a:ln/>
        </p:spPr>
        <p:txBody>
          <a:bodyPr wrap="square" lIns="0" tIns="0" rIns="0" bIns="0" rtlCol="0" anchor="ctr"/>
          <a:lstStyle/>
          <a:p>
            <a:pPr algn="ctr" indent="0" marL="0">
              <a:buNone/>
            </a:pPr>
            <a:r>
              <a:rPr lang="en-US" sz="1050" dirty="0">
                <a:solidFill>
                  <a:srgbClr val="008300"/>
                </a:solidFill>
              </a:rPr>
              <a:t>pass or fail, fed back</a:t>
            </a:r>
            <a:endParaRPr lang="en-US" sz="1050" dirty="0"/>
          </a:p>
        </p:txBody>
      </p:sp>
      <p:sp>
        <p:nvSpPr>
          <p:cNvPr id="42" name="legend swatch Input"/>
          <p:cNvSpPr/>
          <p:nvPr/>
        </p:nvSpPr>
        <p:spPr>
          <a:xfrm>
            <a:off x="548640" y="4654296"/>
            <a:ext cx="274320" cy="182880"/>
          </a:xfrm>
          <a:prstGeom prst="roundRect">
            <a:avLst>
              <a:gd name="adj" fmla="val 20000"/>
            </a:avLst>
          </a:prstGeom>
          <a:solidFill>
            <a:schemeClr val="bg2"/>
          </a:solidFill>
          <a:ln w="12700">
            <a:solidFill>
              <a:srgbClr val="52514E"/>
            </a:solidFill>
            <a:prstDash val="solid"/>
          </a:ln>
        </p:spPr>
      </p:sp>
      <p:sp>
        <p:nvSpPr>
          <p:cNvPr id="43" name="legend Input"/>
          <p:cNvSpPr txBox="1"/>
          <p:nvPr/>
        </p:nvSpPr>
        <p:spPr>
          <a:xfrm>
            <a:off x="896112"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Input</a:t>
            </a:r>
            <a:endParaRPr lang="en-US" sz="1150" dirty="0"/>
          </a:p>
        </p:txBody>
      </p:sp>
      <p:sp>
        <p:nvSpPr>
          <p:cNvPr id="44" name="legend swatch Rules"/>
          <p:cNvSpPr/>
          <p:nvPr/>
        </p:nvSpPr>
        <p:spPr>
          <a:xfrm>
            <a:off x="1787652" y="4654296"/>
            <a:ext cx="274320" cy="182880"/>
          </a:xfrm>
          <a:prstGeom prst="roundRect">
            <a:avLst>
              <a:gd name="adj" fmla="val 20000"/>
            </a:avLst>
          </a:prstGeom>
          <a:solidFill>
            <a:schemeClr val="bg2"/>
          </a:solidFill>
          <a:ln w="12700">
            <a:solidFill>
              <a:srgbClr val="1F2933"/>
            </a:solidFill>
            <a:prstDash val="solid"/>
          </a:ln>
        </p:spPr>
      </p:sp>
      <p:sp>
        <p:nvSpPr>
          <p:cNvPr id="45" name="legend Rules"/>
          <p:cNvSpPr txBox="1"/>
          <p:nvPr/>
        </p:nvSpPr>
        <p:spPr>
          <a:xfrm>
            <a:off x="2135124"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Rules</a:t>
            </a:r>
            <a:endParaRPr lang="en-US" sz="1150" dirty="0"/>
          </a:p>
        </p:txBody>
      </p:sp>
      <p:sp>
        <p:nvSpPr>
          <p:cNvPr id="46" name="legend swatch Approach (black box)"/>
          <p:cNvSpPr/>
          <p:nvPr/>
        </p:nvSpPr>
        <p:spPr>
          <a:xfrm>
            <a:off x="3026664" y="4654296"/>
            <a:ext cx="274320" cy="182880"/>
          </a:xfrm>
          <a:prstGeom prst="roundRect">
            <a:avLst>
              <a:gd name="adj" fmla="val 20000"/>
            </a:avLst>
          </a:prstGeom>
          <a:solidFill>
            <a:srgbClr val="0B0B0B"/>
          </a:solidFill>
          <a:ln w="12700">
            <a:solidFill>
              <a:srgbClr val="0B0B0B"/>
            </a:solidFill>
            <a:prstDash val="solid"/>
          </a:ln>
        </p:spPr>
      </p:sp>
      <p:sp>
        <p:nvSpPr>
          <p:cNvPr id="47" name="legend Approach (black box)"/>
          <p:cNvSpPr txBox="1"/>
          <p:nvPr/>
        </p:nvSpPr>
        <p:spPr>
          <a:xfrm>
            <a:off x="3374136"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Approach (black box)</a:t>
            </a:r>
            <a:endParaRPr lang="en-US" sz="1150" dirty="0"/>
          </a:p>
        </p:txBody>
      </p:sp>
      <p:sp>
        <p:nvSpPr>
          <p:cNvPr id="48" name="legend swatch Verifier"/>
          <p:cNvSpPr/>
          <p:nvPr/>
        </p:nvSpPr>
        <p:spPr>
          <a:xfrm>
            <a:off x="5431536" y="4654296"/>
            <a:ext cx="274320" cy="182880"/>
          </a:xfrm>
          <a:prstGeom prst="roundRect">
            <a:avLst>
              <a:gd name="adj" fmla="val 20000"/>
            </a:avLst>
          </a:prstGeom>
          <a:solidFill>
            <a:srgbClr val="EAF5EE"/>
          </a:solidFill>
          <a:ln w="12700">
            <a:solidFill>
              <a:srgbClr val="008300"/>
            </a:solidFill>
            <a:prstDash val="solid"/>
          </a:ln>
        </p:spPr>
      </p:sp>
      <p:sp>
        <p:nvSpPr>
          <p:cNvPr id="49" name="legend Verifier"/>
          <p:cNvSpPr txBox="1"/>
          <p:nvPr/>
        </p:nvSpPr>
        <p:spPr>
          <a:xfrm>
            <a:off x="5779008"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Verifier</a:t>
            </a:r>
            <a:endParaRPr lang="en-US" sz="1150" dirty="0"/>
          </a:p>
        </p:txBody>
      </p:sp>
      <p:sp>
        <p:nvSpPr>
          <p:cNvPr id="50" name="legend swatch Output"/>
          <p:cNvSpPr/>
          <p:nvPr/>
        </p:nvSpPr>
        <p:spPr>
          <a:xfrm>
            <a:off x="6903720" y="4654296"/>
            <a:ext cx="274320" cy="182880"/>
          </a:xfrm>
          <a:prstGeom prst="roundRect">
            <a:avLst>
              <a:gd name="adj" fmla="val 20000"/>
            </a:avLst>
          </a:prstGeom>
          <a:solidFill>
            <a:schemeClr val="bg2"/>
          </a:solidFill>
          <a:ln w="12700">
            <a:solidFill>
              <a:srgbClr val="0B0B0B"/>
            </a:solidFill>
            <a:prstDash val="solid"/>
          </a:ln>
        </p:spPr>
      </p:sp>
      <p:sp>
        <p:nvSpPr>
          <p:cNvPr id="51" name="legend Output"/>
          <p:cNvSpPr txBox="1"/>
          <p:nvPr/>
        </p:nvSpPr>
        <p:spPr>
          <a:xfrm>
            <a:off x="7251192"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Output</a:t>
            </a:r>
            <a:endParaRPr lang="en-US" sz="1150" dirty="0"/>
          </a:p>
        </p:txBody>
      </p:sp>
      <p:sp>
        <p:nvSpPr>
          <p:cNvPr id="52" name="needs band"/>
          <p:cNvSpPr/>
          <p:nvPr/>
        </p:nvSpPr>
        <p:spPr>
          <a:xfrm>
            <a:off x="548640" y="5074920"/>
            <a:ext cx="11091672" cy="914400"/>
          </a:xfrm>
          <a:prstGeom prst="roundRect">
            <a:avLst>
              <a:gd name="adj" fmla="val 7000"/>
            </a:avLst>
          </a:prstGeom>
          <a:solidFill>
            <a:schemeClr val="tx2"/>
          </a:solidFill>
          <a:ln/>
        </p:spPr>
      </p:sp>
      <p:sp>
        <p:nvSpPr>
          <p:cNvPr id="53" name="needs text"/>
          <p:cNvSpPr txBox="1"/>
          <p:nvPr/>
        </p:nvSpPr>
        <p:spPr>
          <a:xfrm>
            <a:off x="822960" y="5074920"/>
            <a:ext cx="10515600" cy="914400"/>
          </a:xfrm>
          <a:prstGeom prst="rect">
            <a:avLst/>
          </a:prstGeom>
          <a:noFill/>
          <a:ln/>
        </p:spPr>
        <p:txBody>
          <a:bodyPr wrap="square" lIns="0" tIns="0" rIns="0" bIns="0" rtlCol="0" anchor="ctr"/>
          <a:lstStyle/>
          <a:p>
            <a:pPr indent="0" marL="0">
              <a:buNone/>
            </a:pPr>
            <a:r>
              <a:rPr lang="en-US" sz="1600" dirty="0">
                <a:solidFill>
                  <a:srgbClr val="FFFFFF"/>
                </a:solidFill>
              </a:rPr>
              <a:t>Whatever sits in the black box, it needs </a:t>
            </a:r>
            <a:pPr indent="0" marL="0">
              <a:buNone/>
            </a:pPr>
            <a:r>
              <a:rPr lang="en-US" sz="1600" b="1" dirty="0">
                <a:solidFill>
                  <a:srgbClr val="FFFFFF"/>
                </a:solidFill>
              </a:rPr>
              <a:t>problems to learn from</a:t>
            </a:r>
            <a:pPr indent="0" marL="0">
              <a:buNone/>
            </a:pPr>
            <a:r>
              <a:rPr lang="en-US" sz="1600" dirty="0">
                <a:solidFill>
                  <a:srgbClr val="FFFFFF"/>
                </a:solidFill>
              </a:rPr>
              <a:t>, </a:t>
            </a:r>
            <a:pPr indent="0" marL="0">
              <a:buNone/>
            </a:pPr>
            <a:r>
              <a:rPr lang="en-US" sz="1600" b="1" dirty="0">
                <a:solidFill>
                  <a:srgbClr val="FFFFFF"/>
                </a:solidFill>
              </a:rPr>
              <a:t>a fixed set to compare on</a:t>
            </a:r>
            <a:pPr indent="0" marL="0">
              <a:buNone/>
            </a:pPr>
            <a:r>
              <a:rPr lang="en-US" sz="1600" dirty="0">
                <a:solidFill>
                  <a:srgbClr val="FFFFFF"/>
                </a:solidFill>
              </a:rPr>
              <a:t> and </a:t>
            </a:r>
            <a:pPr indent="0" marL="0">
              <a:buNone/>
            </a:pPr>
            <a:r>
              <a:rPr lang="en-US" sz="1600" b="1" dirty="0">
                <a:solidFill>
                  <a:srgbClr val="FFFFFF"/>
                </a:solidFill>
              </a:rPr>
              <a:t>problems that look like practice</a:t>
            </a:r>
            <a:pPr indent="0" marL="0">
              <a:buNone/>
            </a:pPr>
            <a:r>
              <a:rPr lang="en-US" sz="1600" dirty="0">
                <a:solidFill>
                  <a:srgbClr val="FFFFFF"/>
                </a:solidFill>
              </a:rPr>
              <a:t>.</a:t>
            </a:r>
            <a:endParaRPr lang="en-US" sz="16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Real designs cover one corner of the design space; CrossMEP covers all of it</a:t>
            </a:r>
            <a:endParaRPr lang="en-US" sz="2600" dirty="0"/>
          </a:p>
        </p:txBody>
      </p:sp>
      <p:sp>
        <p:nvSpPr>
          <p:cNvPr id="3" name="space real"/>
          <p:cNvSpPr/>
          <p:nvPr/>
        </p:nvSpPr>
        <p:spPr>
          <a:xfrm>
            <a:off x="548640" y="1371600"/>
            <a:ext cx="5212080" cy="2103120"/>
          </a:xfrm>
          <a:prstGeom prst="roundRect">
            <a:avLst>
              <a:gd name="adj" fmla="val 3043"/>
            </a:avLst>
          </a:prstGeom>
          <a:solidFill>
            <a:schemeClr val="bg2"/>
          </a:solidFill>
          <a:ln/>
        </p:spPr>
      </p:sp>
      <p:sp>
        <p:nvSpPr>
          <p:cNvPr id="4" name="space head real"/>
          <p:cNvSpPr txBox="1"/>
          <p:nvPr/>
        </p:nvSpPr>
        <p:spPr>
          <a:xfrm>
            <a:off x="731520" y="1481328"/>
            <a:ext cx="4846320" cy="566928"/>
          </a:xfrm>
          <a:prstGeom prst="rect">
            <a:avLst/>
          </a:prstGeom>
          <a:noFill/>
          <a:ln/>
        </p:spPr>
        <p:txBody>
          <a:bodyPr wrap="square" lIns="0" tIns="0" rIns="0" bIns="0" rtlCol="0" anchor="t"/>
          <a:lstStyle/>
          <a:p>
            <a:pPr indent="0" marL="0">
              <a:buNone/>
            </a:pPr>
            <a:r>
              <a:rPr lang="en-US" sz="1400" b="1" dirty="0">
                <a:solidFill>
                  <a:schemeClr val="tx1"/>
                </a:solidFill>
              </a:rPr>
              <a:t>The real designs we had</a:t>
            </a:r>
            <a:endParaRPr lang="en-US" sz="1400" dirty="0"/>
          </a:p>
          <a:p>
            <a:pPr indent="0" marL="0">
              <a:buNone/>
            </a:pPr>
            <a:r>
              <a:rPr lang="en-US" sz="1150" dirty="0">
                <a:solidFill>
                  <a:srgbClr val="52514E"/>
                </a:solidFill>
              </a:rPr>
              <a:t>few, from one kind of project with one trade mix: one corner of the space</a:t>
            </a:r>
            <a:endParaRPr lang="en-US" sz="1400" dirty="0"/>
          </a:p>
        </p:txBody>
      </p:sp>
      <p:sp>
        <p:nvSpPr>
          <p:cNvPr id="5" name="x axis real"/>
          <p:cNvSpPr/>
          <p:nvPr/>
        </p:nvSpPr>
        <p:spPr>
          <a:xfrm>
            <a:off x="1051560" y="3063240"/>
            <a:ext cx="4480560" cy="0"/>
          </a:xfrm>
          <a:prstGeom prst="line">
            <a:avLst/>
          </a:prstGeom>
          <a:noFill/>
          <a:ln w="12700">
            <a:solidFill>
              <a:srgbClr val="52514E"/>
            </a:solidFill>
            <a:prstDash val="solid"/>
            <a:tailEnd type="triangle"/>
          </a:ln>
        </p:spPr>
      </p:sp>
      <p:sp>
        <p:nvSpPr>
          <p:cNvPr id="6" name="y axis real"/>
          <p:cNvSpPr/>
          <p:nvPr/>
        </p:nvSpPr>
        <p:spPr>
          <a:xfrm>
            <a:off x="1051560" y="2148840"/>
            <a:ext cx="0" cy="914400"/>
          </a:xfrm>
          <a:prstGeom prst="line">
            <a:avLst/>
          </a:prstGeom>
          <a:noFill/>
          <a:ln w="12700">
            <a:solidFill>
              <a:srgbClr val="52514E"/>
            </a:solidFill>
            <a:prstDash val="solid"/>
            <a:headEnd type="triangle"/>
          </a:ln>
        </p:spPr>
      </p:sp>
      <p:sp>
        <p:nvSpPr>
          <p:cNvPr id="7" name="x label real"/>
          <p:cNvSpPr txBox="1"/>
          <p:nvPr/>
        </p:nvSpPr>
        <p:spPr>
          <a:xfrm>
            <a:off x="1051560" y="3090672"/>
            <a:ext cx="4480560" cy="228600"/>
          </a:xfrm>
          <a:prstGeom prst="rect">
            <a:avLst/>
          </a:prstGeom>
          <a:noFill/>
          <a:ln/>
        </p:spPr>
        <p:txBody>
          <a:bodyPr wrap="square" lIns="0" tIns="0" rIns="0" bIns="0" rtlCol="0" anchor="ctr"/>
          <a:lstStyle/>
          <a:p>
            <a:pPr algn="ctr" indent="0" marL="0">
              <a:buNone/>
            </a:pPr>
            <a:r>
              <a:rPr lang="en-US" sz="1000" dirty="0">
                <a:solidFill>
                  <a:srgbClr val="52514E"/>
                </a:solidFill>
              </a:rPr>
              <a:t>elements at the hanger: 1 … 8</a:t>
            </a:r>
            <a:endParaRPr lang="en-US" sz="1000" dirty="0"/>
          </a:p>
        </p:txBody>
      </p:sp>
      <p:sp>
        <p:nvSpPr>
          <p:cNvPr id="8" name="y label real"/>
          <p:cNvSpPr txBox="1"/>
          <p:nvPr/>
        </p:nvSpPr>
        <p:spPr>
          <a:xfrm rot="16200000">
            <a:off x="566928" y="2148840"/>
            <a:ext cx="457200" cy="914400"/>
          </a:xfrm>
          <a:prstGeom prst="rect">
            <a:avLst/>
          </a:prstGeom>
          <a:noFill/>
          <a:ln/>
        </p:spPr>
        <p:txBody>
          <a:bodyPr wrap="square" lIns="0" tIns="0" rIns="0" bIns="0" rtlCol="0" anchor="ctr"/>
          <a:lstStyle/>
          <a:p>
            <a:pPr algn="ctr" indent="0" marL="0">
              <a:buNone/>
            </a:pPr>
            <a:r>
              <a:rPr lang="en-US" sz="1000" dirty="0">
                <a:solidFill>
                  <a:srgbClr val="52514E"/>
                </a:solidFill>
              </a:rPr>
              <a:t>kinds, trades, surface</a:t>
            </a:r>
            <a:endParaRPr lang="en-US" sz="1000" dirty="0"/>
          </a:p>
        </p:txBody>
      </p:sp>
      <p:sp>
        <p:nvSpPr>
          <p:cNvPr id="9" name="dot real 0"/>
          <p:cNvSpPr/>
          <p:nvPr/>
        </p:nvSpPr>
        <p:spPr>
          <a:xfrm>
            <a:off x="1516075" y="2807208"/>
            <a:ext cx="146304" cy="146304"/>
          </a:xfrm>
          <a:prstGeom prst="ellipse">
            <a:avLst/>
          </a:prstGeom>
          <a:solidFill>
            <a:srgbClr val="EB6834"/>
          </a:solidFill>
          <a:ln w="6350">
            <a:solidFill>
              <a:srgbClr val="FFFFFF"/>
            </a:solidFill>
            <a:prstDash val="solid"/>
          </a:ln>
        </p:spPr>
      </p:sp>
      <p:sp>
        <p:nvSpPr>
          <p:cNvPr id="10" name="dot real 1"/>
          <p:cNvSpPr/>
          <p:nvPr/>
        </p:nvSpPr>
        <p:spPr>
          <a:xfrm>
            <a:off x="1784909" y="2752344"/>
            <a:ext cx="146304" cy="146304"/>
          </a:xfrm>
          <a:prstGeom prst="ellipse">
            <a:avLst/>
          </a:prstGeom>
          <a:solidFill>
            <a:srgbClr val="EB6834"/>
          </a:solidFill>
          <a:ln w="6350">
            <a:solidFill>
              <a:srgbClr val="FFFFFF"/>
            </a:solidFill>
            <a:prstDash val="solid"/>
          </a:ln>
        </p:spPr>
      </p:sp>
      <p:sp>
        <p:nvSpPr>
          <p:cNvPr id="11" name="dot real 2"/>
          <p:cNvSpPr/>
          <p:nvPr/>
        </p:nvSpPr>
        <p:spPr>
          <a:xfrm>
            <a:off x="1964131" y="2834640"/>
            <a:ext cx="146304" cy="146304"/>
          </a:xfrm>
          <a:prstGeom prst="ellipse">
            <a:avLst/>
          </a:prstGeom>
          <a:solidFill>
            <a:srgbClr val="EB6834"/>
          </a:solidFill>
          <a:ln w="6350">
            <a:solidFill>
              <a:srgbClr val="FFFFFF"/>
            </a:solidFill>
            <a:prstDash val="solid"/>
          </a:ln>
        </p:spPr>
      </p:sp>
      <p:sp>
        <p:nvSpPr>
          <p:cNvPr id="12" name="dot real 3"/>
          <p:cNvSpPr/>
          <p:nvPr/>
        </p:nvSpPr>
        <p:spPr>
          <a:xfrm>
            <a:off x="1650492" y="2688336"/>
            <a:ext cx="146304" cy="146304"/>
          </a:xfrm>
          <a:prstGeom prst="ellipse">
            <a:avLst/>
          </a:prstGeom>
          <a:solidFill>
            <a:srgbClr val="EB6834"/>
          </a:solidFill>
          <a:ln w="6350">
            <a:solidFill>
              <a:srgbClr val="FFFFFF"/>
            </a:solidFill>
            <a:prstDash val="solid"/>
          </a:ln>
        </p:spPr>
      </p:sp>
      <p:sp>
        <p:nvSpPr>
          <p:cNvPr id="13" name="dot real 4"/>
          <p:cNvSpPr/>
          <p:nvPr/>
        </p:nvSpPr>
        <p:spPr>
          <a:xfrm>
            <a:off x="2188159" y="2770632"/>
            <a:ext cx="146304" cy="146304"/>
          </a:xfrm>
          <a:prstGeom prst="ellipse">
            <a:avLst/>
          </a:prstGeom>
          <a:solidFill>
            <a:srgbClr val="EB6834"/>
          </a:solidFill>
          <a:ln w="6350">
            <a:solidFill>
              <a:srgbClr val="FFFFFF"/>
            </a:solidFill>
            <a:prstDash val="solid"/>
          </a:ln>
        </p:spPr>
      </p:sp>
      <p:sp>
        <p:nvSpPr>
          <p:cNvPr id="14" name="dot real 5"/>
          <p:cNvSpPr/>
          <p:nvPr/>
        </p:nvSpPr>
        <p:spPr>
          <a:xfrm>
            <a:off x="1874520" y="2880360"/>
            <a:ext cx="146304" cy="146304"/>
          </a:xfrm>
          <a:prstGeom prst="ellipse">
            <a:avLst/>
          </a:prstGeom>
          <a:solidFill>
            <a:srgbClr val="EB6834"/>
          </a:solidFill>
          <a:ln w="6350">
            <a:solidFill>
              <a:srgbClr val="FFFFFF"/>
            </a:solidFill>
            <a:prstDash val="solid"/>
          </a:ln>
        </p:spPr>
      </p:sp>
      <p:sp>
        <p:nvSpPr>
          <p:cNvPr id="15" name="dot real 6"/>
          <p:cNvSpPr/>
          <p:nvPr/>
        </p:nvSpPr>
        <p:spPr>
          <a:xfrm>
            <a:off x="2367382" y="2715768"/>
            <a:ext cx="146304" cy="146304"/>
          </a:xfrm>
          <a:prstGeom prst="ellipse">
            <a:avLst/>
          </a:prstGeom>
          <a:solidFill>
            <a:srgbClr val="EB6834"/>
          </a:solidFill>
          <a:ln w="6350">
            <a:solidFill>
              <a:srgbClr val="FFFFFF"/>
            </a:solidFill>
            <a:prstDash val="solid"/>
          </a:ln>
        </p:spPr>
      </p:sp>
      <p:sp>
        <p:nvSpPr>
          <p:cNvPr id="16" name="dot real 7"/>
          <p:cNvSpPr/>
          <p:nvPr/>
        </p:nvSpPr>
        <p:spPr>
          <a:xfrm>
            <a:off x="1381658" y="2734056"/>
            <a:ext cx="146304" cy="146304"/>
          </a:xfrm>
          <a:prstGeom prst="ellipse">
            <a:avLst/>
          </a:prstGeom>
          <a:solidFill>
            <a:srgbClr val="EB6834"/>
          </a:solidFill>
          <a:ln w="6350">
            <a:solidFill>
              <a:srgbClr val="FFFFFF"/>
            </a:solidFill>
            <a:prstDash val="solid"/>
          </a:ln>
        </p:spPr>
      </p:sp>
      <p:sp>
        <p:nvSpPr>
          <p:cNvPr id="17" name="dot real 8"/>
          <p:cNvSpPr/>
          <p:nvPr/>
        </p:nvSpPr>
        <p:spPr>
          <a:xfrm>
            <a:off x="2098548" y="2660904"/>
            <a:ext cx="146304" cy="146304"/>
          </a:xfrm>
          <a:prstGeom prst="ellipse">
            <a:avLst/>
          </a:prstGeom>
          <a:solidFill>
            <a:srgbClr val="EB6834"/>
          </a:solidFill>
          <a:ln w="6350">
            <a:solidFill>
              <a:srgbClr val="FFFFFF"/>
            </a:solidFill>
            <a:prstDash val="solid"/>
          </a:ln>
        </p:spPr>
      </p:sp>
      <p:sp>
        <p:nvSpPr>
          <p:cNvPr id="18" name="dot real 9"/>
          <p:cNvSpPr/>
          <p:nvPr/>
        </p:nvSpPr>
        <p:spPr>
          <a:xfrm>
            <a:off x="2456993" y="2816352"/>
            <a:ext cx="146304" cy="146304"/>
          </a:xfrm>
          <a:prstGeom prst="ellipse">
            <a:avLst/>
          </a:prstGeom>
          <a:solidFill>
            <a:srgbClr val="EB6834"/>
          </a:solidFill>
          <a:ln w="6350">
            <a:solidFill>
              <a:srgbClr val="FFFFFF"/>
            </a:solidFill>
            <a:prstDash val="solid"/>
          </a:ln>
        </p:spPr>
      </p:sp>
      <p:sp>
        <p:nvSpPr>
          <p:cNvPr id="19" name="dot real 10"/>
          <p:cNvSpPr/>
          <p:nvPr/>
        </p:nvSpPr>
        <p:spPr>
          <a:xfrm>
            <a:off x="1740103" y="2624328"/>
            <a:ext cx="146304" cy="146304"/>
          </a:xfrm>
          <a:prstGeom prst="ellipse">
            <a:avLst/>
          </a:prstGeom>
          <a:solidFill>
            <a:srgbClr val="EB6834"/>
          </a:solidFill>
          <a:ln w="6350">
            <a:solidFill>
              <a:srgbClr val="FFFFFF"/>
            </a:solidFill>
            <a:prstDash val="solid"/>
          </a:ln>
        </p:spPr>
      </p:sp>
      <p:sp>
        <p:nvSpPr>
          <p:cNvPr id="20" name="dot real 11"/>
          <p:cNvSpPr/>
          <p:nvPr/>
        </p:nvSpPr>
        <p:spPr>
          <a:xfrm>
            <a:off x="2322576" y="2898648"/>
            <a:ext cx="146304" cy="146304"/>
          </a:xfrm>
          <a:prstGeom prst="ellipse">
            <a:avLst/>
          </a:prstGeom>
          <a:solidFill>
            <a:srgbClr val="EB6834"/>
          </a:solidFill>
          <a:ln w="6350">
            <a:solidFill>
              <a:srgbClr val="FFFFFF"/>
            </a:solidFill>
            <a:prstDash val="solid"/>
          </a:ln>
        </p:spPr>
      </p:sp>
      <p:sp>
        <p:nvSpPr>
          <p:cNvPr id="21" name="real cluster ring"/>
          <p:cNvSpPr/>
          <p:nvPr/>
        </p:nvSpPr>
        <p:spPr>
          <a:xfrm>
            <a:off x="1141171" y="2624328"/>
            <a:ext cx="1702613" cy="420624"/>
          </a:xfrm>
          <a:prstGeom prst="ellipse">
            <a:avLst/>
          </a:prstGeom>
          <a:ln w="12700">
            <a:solidFill>
              <a:srgbClr val="EB6834"/>
            </a:solidFill>
            <a:prstDash val="dash"/>
          </a:ln>
        </p:spPr>
      </p:sp>
      <p:sp>
        <p:nvSpPr>
          <p:cNvPr id="22" name="real note"/>
          <p:cNvSpPr txBox="1"/>
          <p:nvPr/>
        </p:nvSpPr>
        <p:spPr>
          <a:xfrm>
            <a:off x="3023006" y="2377440"/>
            <a:ext cx="2464308" cy="457200"/>
          </a:xfrm>
          <a:prstGeom prst="rect">
            <a:avLst/>
          </a:prstGeom>
          <a:noFill/>
          <a:ln/>
        </p:spPr>
        <p:txBody>
          <a:bodyPr wrap="square" lIns="0" tIns="0" rIns="0" bIns="0" rtlCol="0" anchor="ctr"/>
          <a:lstStyle/>
          <a:p>
            <a:pPr indent="0" marL="0">
              <a:buNone/>
            </a:pPr>
            <a:r>
              <a:rPr lang="en-US" sz="1100" i="1" dirty="0">
                <a:solidFill>
                  <a:srgbClr val="52514E"/>
                </a:solidFill>
              </a:rPr>
              <a:t>a method tuned here measures fit to that project</a:t>
            </a:r>
            <a:endParaRPr lang="en-US" sz="1100" dirty="0"/>
          </a:p>
        </p:txBody>
      </p:sp>
      <p:sp>
        <p:nvSpPr>
          <p:cNvPr id="23" name="space synthetic"/>
          <p:cNvSpPr/>
          <p:nvPr/>
        </p:nvSpPr>
        <p:spPr>
          <a:xfrm>
            <a:off x="548640" y="3611880"/>
            <a:ext cx="5212080" cy="2103120"/>
          </a:xfrm>
          <a:prstGeom prst="roundRect">
            <a:avLst>
              <a:gd name="adj" fmla="val 3043"/>
            </a:avLst>
          </a:prstGeom>
          <a:solidFill>
            <a:schemeClr val="bg2"/>
          </a:solidFill>
          <a:ln/>
        </p:spPr>
      </p:sp>
      <p:sp>
        <p:nvSpPr>
          <p:cNvPr id="24" name="space head synthetic"/>
          <p:cNvSpPr txBox="1"/>
          <p:nvPr/>
        </p:nvSpPr>
        <p:spPr>
          <a:xfrm>
            <a:off x="731520" y="3721608"/>
            <a:ext cx="4846320" cy="566928"/>
          </a:xfrm>
          <a:prstGeom prst="rect">
            <a:avLst/>
          </a:prstGeom>
          <a:noFill/>
          <a:ln/>
        </p:spPr>
        <p:txBody>
          <a:bodyPr wrap="square" lIns="0" tIns="0" rIns="0" bIns="0" rtlCol="0" anchor="t"/>
          <a:lstStyle/>
          <a:p>
            <a:pPr indent="0" marL="0">
              <a:buNone/>
            </a:pPr>
            <a:r>
              <a:rPr lang="en-US" sz="1400" b="1" dirty="0">
                <a:solidFill>
                  <a:schemeClr val="tx1"/>
                </a:solidFill>
              </a:rPr>
              <a:t>CrossMEP</a:t>
            </a:r>
            <a:endParaRPr lang="en-US" sz="1400" dirty="0"/>
          </a:p>
          <a:p>
            <a:pPr indent="0" marL="0">
              <a:buNone/>
            </a:pPr>
            <a:r>
              <a:rPr lang="en-US" sz="1150" dirty="0">
                <a:solidFill>
                  <a:srgbClr val="52514E"/>
                </a:solidFill>
              </a:rPr>
              <a:t>the space filled by construction, without limit: a new seed is a new set; uniform over the tiers, or any mix you ask for (generate_custom)</a:t>
            </a:r>
            <a:endParaRPr lang="en-US" sz="1400" dirty="0"/>
          </a:p>
        </p:txBody>
      </p:sp>
      <p:sp>
        <p:nvSpPr>
          <p:cNvPr id="25" name="x axis synthetic"/>
          <p:cNvSpPr/>
          <p:nvPr/>
        </p:nvSpPr>
        <p:spPr>
          <a:xfrm>
            <a:off x="1051560" y="5303520"/>
            <a:ext cx="4480560" cy="0"/>
          </a:xfrm>
          <a:prstGeom prst="line">
            <a:avLst/>
          </a:prstGeom>
          <a:noFill/>
          <a:ln w="12700">
            <a:solidFill>
              <a:srgbClr val="52514E"/>
            </a:solidFill>
            <a:prstDash val="solid"/>
            <a:tailEnd type="triangle"/>
          </a:ln>
        </p:spPr>
      </p:sp>
      <p:sp>
        <p:nvSpPr>
          <p:cNvPr id="26" name="y axis synthetic"/>
          <p:cNvSpPr/>
          <p:nvPr/>
        </p:nvSpPr>
        <p:spPr>
          <a:xfrm>
            <a:off x="1051560" y="4389120"/>
            <a:ext cx="0" cy="914400"/>
          </a:xfrm>
          <a:prstGeom prst="line">
            <a:avLst/>
          </a:prstGeom>
          <a:noFill/>
          <a:ln w="12700">
            <a:solidFill>
              <a:srgbClr val="52514E"/>
            </a:solidFill>
            <a:prstDash val="solid"/>
            <a:headEnd type="triangle"/>
          </a:ln>
        </p:spPr>
      </p:sp>
      <p:sp>
        <p:nvSpPr>
          <p:cNvPr id="27" name="x label synthetic"/>
          <p:cNvSpPr txBox="1"/>
          <p:nvPr/>
        </p:nvSpPr>
        <p:spPr>
          <a:xfrm>
            <a:off x="1051560" y="5330952"/>
            <a:ext cx="4480560" cy="228600"/>
          </a:xfrm>
          <a:prstGeom prst="rect">
            <a:avLst/>
          </a:prstGeom>
          <a:noFill/>
          <a:ln/>
        </p:spPr>
        <p:txBody>
          <a:bodyPr wrap="square" lIns="0" tIns="0" rIns="0" bIns="0" rtlCol="0" anchor="ctr"/>
          <a:lstStyle/>
          <a:p>
            <a:pPr algn="ctr" indent="0" marL="0">
              <a:buNone/>
            </a:pPr>
            <a:r>
              <a:rPr lang="en-US" sz="1000" dirty="0">
                <a:solidFill>
                  <a:srgbClr val="52514E"/>
                </a:solidFill>
              </a:rPr>
              <a:t>elements at the hanger: 1 … 8</a:t>
            </a:r>
            <a:endParaRPr lang="en-US" sz="1000" dirty="0"/>
          </a:p>
        </p:txBody>
      </p:sp>
      <p:sp>
        <p:nvSpPr>
          <p:cNvPr id="28" name="y label synthetic"/>
          <p:cNvSpPr txBox="1"/>
          <p:nvPr/>
        </p:nvSpPr>
        <p:spPr>
          <a:xfrm rot="16200000">
            <a:off x="566928" y="4389120"/>
            <a:ext cx="457200" cy="914400"/>
          </a:xfrm>
          <a:prstGeom prst="rect">
            <a:avLst/>
          </a:prstGeom>
          <a:noFill/>
          <a:ln/>
        </p:spPr>
        <p:txBody>
          <a:bodyPr wrap="square" lIns="0" tIns="0" rIns="0" bIns="0" rtlCol="0" anchor="ctr"/>
          <a:lstStyle/>
          <a:p>
            <a:pPr algn="ctr" indent="0" marL="0">
              <a:buNone/>
            </a:pPr>
            <a:r>
              <a:rPr lang="en-US" sz="1000" dirty="0">
                <a:solidFill>
                  <a:srgbClr val="52514E"/>
                </a:solidFill>
              </a:rPr>
              <a:t>kinds, trades, surface</a:t>
            </a:r>
            <a:endParaRPr lang="en-US" sz="1000" dirty="0"/>
          </a:p>
        </p:txBody>
      </p:sp>
      <p:sp>
        <p:nvSpPr>
          <p:cNvPr id="29" name="dot syn 00"/>
          <p:cNvSpPr/>
          <p:nvPr/>
        </p:nvSpPr>
        <p:spPr>
          <a:xfrm>
            <a:off x="1350569" y="5134356"/>
            <a:ext cx="118872" cy="118872"/>
          </a:xfrm>
          <a:prstGeom prst="ellipse">
            <a:avLst/>
          </a:prstGeom>
          <a:solidFill>
            <a:schemeClr val="accent1"/>
          </a:solidFill>
          <a:ln w="6350">
            <a:solidFill>
              <a:srgbClr val="FFFFFF"/>
            </a:solidFill>
            <a:prstDash val="solid"/>
          </a:ln>
        </p:spPr>
      </p:sp>
      <p:sp>
        <p:nvSpPr>
          <p:cNvPr id="30" name="dot syn 01"/>
          <p:cNvSpPr/>
          <p:nvPr/>
        </p:nvSpPr>
        <p:spPr>
          <a:xfrm>
            <a:off x="1350569" y="4896612"/>
            <a:ext cx="118872" cy="118872"/>
          </a:xfrm>
          <a:prstGeom prst="ellipse">
            <a:avLst/>
          </a:prstGeom>
          <a:solidFill>
            <a:schemeClr val="accent1"/>
          </a:solidFill>
          <a:ln w="6350">
            <a:solidFill>
              <a:srgbClr val="FFFFFF"/>
            </a:solidFill>
            <a:prstDash val="solid"/>
          </a:ln>
        </p:spPr>
      </p:sp>
      <p:sp>
        <p:nvSpPr>
          <p:cNvPr id="31" name="dot syn 02"/>
          <p:cNvSpPr/>
          <p:nvPr/>
        </p:nvSpPr>
        <p:spPr>
          <a:xfrm>
            <a:off x="1350569" y="4658868"/>
            <a:ext cx="118872" cy="118872"/>
          </a:xfrm>
          <a:prstGeom prst="ellipse">
            <a:avLst/>
          </a:prstGeom>
          <a:solidFill>
            <a:schemeClr val="accent1"/>
          </a:solidFill>
          <a:ln w="6350">
            <a:solidFill>
              <a:srgbClr val="FFFFFF"/>
            </a:solidFill>
            <a:prstDash val="solid"/>
          </a:ln>
        </p:spPr>
      </p:sp>
      <p:sp>
        <p:nvSpPr>
          <p:cNvPr id="32" name="dot syn 03"/>
          <p:cNvSpPr/>
          <p:nvPr/>
        </p:nvSpPr>
        <p:spPr>
          <a:xfrm>
            <a:off x="1350569" y="4421124"/>
            <a:ext cx="118872" cy="118872"/>
          </a:xfrm>
          <a:prstGeom prst="ellipse">
            <a:avLst/>
          </a:prstGeom>
          <a:solidFill>
            <a:schemeClr val="accent1"/>
          </a:solidFill>
          <a:ln w="6350">
            <a:solidFill>
              <a:srgbClr val="FFFFFF"/>
            </a:solidFill>
            <a:prstDash val="solid"/>
          </a:ln>
        </p:spPr>
      </p:sp>
      <p:sp>
        <p:nvSpPr>
          <p:cNvPr id="33" name="dot syn 10"/>
          <p:cNvSpPr/>
          <p:nvPr/>
        </p:nvSpPr>
        <p:spPr>
          <a:xfrm>
            <a:off x="1910639" y="5134356"/>
            <a:ext cx="118872" cy="118872"/>
          </a:xfrm>
          <a:prstGeom prst="ellipse">
            <a:avLst/>
          </a:prstGeom>
          <a:solidFill>
            <a:schemeClr val="accent1"/>
          </a:solidFill>
          <a:ln w="6350">
            <a:solidFill>
              <a:srgbClr val="FFFFFF"/>
            </a:solidFill>
            <a:prstDash val="solid"/>
          </a:ln>
        </p:spPr>
      </p:sp>
      <p:sp>
        <p:nvSpPr>
          <p:cNvPr id="34" name="dot syn 11"/>
          <p:cNvSpPr/>
          <p:nvPr/>
        </p:nvSpPr>
        <p:spPr>
          <a:xfrm>
            <a:off x="1910639" y="4896612"/>
            <a:ext cx="118872" cy="118872"/>
          </a:xfrm>
          <a:prstGeom prst="ellipse">
            <a:avLst/>
          </a:prstGeom>
          <a:solidFill>
            <a:schemeClr val="accent1"/>
          </a:solidFill>
          <a:ln w="6350">
            <a:solidFill>
              <a:srgbClr val="FFFFFF"/>
            </a:solidFill>
            <a:prstDash val="solid"/>
          </a:ln>
        </p:spPr>
      </p:sp>
      <p:sp>
        <p:nvSpPr>
          <p:cNvPr id="35" name="dot syn 12"/>
          <p:cNvSpPr/>
          <p:nvPr/>
        </p:nvSpPr>
        <p:spPr>
          <a:xfrm>
            <a:off x="1910639" y="4658868"/>
            <a:ext cx="118872" cy="118872"/>
          </a:xfrm>
          <a:prstGeom prst="ellipse">
            <a:avLst/>
          </a:prstGeom>
          <a:solidFill>
            <a:schemeClr val="accent1"/>
          </a:solidFill>
          <a:ln w="6350">
            <a:solidFill>
              <a:srgbClr val="FFFFFF"/>
            </a:solidFill>
            <a:prstDash val="solid"/>
          </a:ln>
        </p:spPr>
      </p:sp>
      <p:sp>
        <p:nvSpPr>
          <p:cNvPr id="36" name="dot syn 13"/>
          <p:cNvSpPr/>
          <p:nvPr/>
        </p:nvSpPr>
        <p:spPr>
          <a:xfrm>
            <a:off x="1910639" y="4421124"/>
            <a:ext cx="118872" cy="118872"/>
          </a:xfrm>
          <a:prstGeom prst="ellipse">
            <a:avLst/>
          </a:prstGeom>
          <a:solidFill>
            <a:schemeClr val="accent1"/>
          </a:solidFill>
          <a:ln w="6350">
            <a:solidFill>
              <a:srgbClr val="FFFFFF"/>
            </a:solidFill>
            <a:prstDash val="solid"/>
          </a:ln>
        </p:spPr>
      </p:sp>
      <p:sp>
        <p:nvSpPr>
          <p:cNvPr id="37" name="dot syn 20"/>
          <p:cNvSpPr/>
          <p:nvPr/>
        </p:nvSpPr>
        <p:spPr>
          <a:xfrm>
            <a:off x="2470709" y="5134356"/>
            <a:ext cx="118872" cy="118872"/>
          </a:xfrm>
          <a:prstGeom prst="ellipse">
            <a:avLst/>
          </a:prstGeom>
          <a:solidFill>
            <a:schemeClr val="accent1"/>
          </a:solidFill>
          <a:ln w="6350">
            <a:solidFill>
              <a:srgbClr val="FFFFFF"/>
            </a:solidFill>
            <a:prstDash val="solid"/>
          </a:ln>
        </p:spPr>
      </p:sp>
      <p:sp>
        <p:nvSpPr>
          <p:cNvPr id="38" name="dot syn 21"/>
          <p:cNvSpPr/>
          <p:nvPr/>
        </p:nvSpPr>
        <p:spPr>
          <a:xfrm>
            <a:off x="2470709" y="4896612"/>
            <a:ext cx="118872" cy="118872"/>
          </a:xfrm>
          <a:prstGeom prst="ellipse">
            <a:avLst/>
          </a:prstGeom>
          <a:solidFill>
            <a:schemeClr val="accent1"/>
          </a:solidFill>
          <a:ln w="6350">
            <a:solidFill>
              <a:srgbClr val="FFFFFF"/>
            </a:solidFill>
            <a:prstDash val="solid"/>
          </a:ln>
        </p:spPr>
      </p:sp>
      <p:sp>
        <p:nvSpPr>
          <p:cNvPr id="39" name="dot syn 22"/>
          <p:cNvSpPr/>
          <p:nvPr/>
        </p:nvSpPr>
        <p:spPr>
          <a:xfrm>
            <a:off x="2470709" y="4658868"/>
            <a:ext cx="118872" cy="118872"/>
          </a:xfrm>
          <a:prstGeom prst="ellipse">
            <a:avLst/>
          </a:prstGeom>
          <a:solidFill>
            <a:schemeClr val="accent1"/>
          </a:solidFill>
          <a:ln w="6350">
            <a:solidFill>
              <a:srgbClr val="FFFFFF"/>
            </a:solidFill>
            <a:prstDash val="solid"/>
          </a:ln>
        </p:spPr>
      </p:sp>
      <p:sp>
        <p:nvSpPr>
          <p:cNvPr id="40" name="dot syn 23"/>
          <p:cNvSpPr/>
          <p:nvPr/>
        </p:nvSpPr>
        <p:spPr>
          <a:xfrm>
            <a:off x="2470709" y="4421124"/>
            <a:ext cx="118872" cy="118872"/>
          </a:xfrm>
          <a:prstGeom prst="ellipse">
            <a:avLst/>
          </a:prstGeom>
          <a:solidFill>
            <a:schemeClr val="accent1"/>
          </a:solidFill>
          <a:ln w="6350">
            <a:solidFill>
              <a:srgbClr val="FFFFFF"/>
            </a:solidFill>
            <a:prstDash val="solid"/>
          </a:ln>
        </p:spPr>
      </p:sp>
      <p:sp>
        <p:nvSpPr>
          <p:cNvPr id="41" name="dot syn 30"/>
          <p:cNvSpPr/>
          <p:nvPr/>
        </p:nvSpPr>
        <p:spPr>
          <a:xfrm>
            <a:off x="3030779" y="5134356"/>
            <a:ext cx="118872" cy="118872"/>
          </a:xfrm>
          <a:prstGeom prst="ellipse">
            <a:avLst/>
          </a:prstGeom>
          <a:solidFill>
            <a:schemeClr val="accent1"/>
          </a:solidFill>
          <a:ln w="6350">
            <a:solidFill>
              <a:srgbClr val="FFFFFF"/>
            </a:solidFill>
            <a:prstDash val="solid"/>
          </a:ln>
        </p:spPr>
      </p:sp>
      <p:sp>
        <p:nvSpPr>
          <p:cNvPr id="42" name="dot syn 31"/>
          <p:cNvSpPr/>
          <p:nvPr/>
        </p:nvSpPr>
        <p:spPr>
          <a:xfrm>
            <a:off x="3030779" y="4896612"/>
            <a:ext cx="118872" cy="118872"/>
          </a:xfrm>
          <a:prstGeom prst="ellipse">
            <a:avLst/>
          </a:prstGeom>
          <a:solidFill>
            <a:schemeClr val="accent1"/>
          </a:solidFill>
          <a:ln w="6350">
            <a:solidFill>
              <a:srgbClr val="FFFFFF"/>
            </a:solidFill>
            <a:prstDash val="solid"/>
          </a:ln>
        </p:spPr>
      </p:sp>
      <p:sp>
        <p:nvSpPr>
          <p:cNvPr id="43" name="dot syn 32"/>
          <p:cNvSpPr/>
          <p:nvPr/>
        </p:nvSpPr>
        <p:spPr>
          <a:xfrm>
            <a:off x="3030779" y="4658868"/>
            <a:ext cx="118872" cy="118872"/>
          </a:xfrm>
          <a:prstGeom prst="ellipse">
            <a:avLst/>
          </a:prstGeom>
          <a:solidFill>
            <a:schemeClr val="accent1"/>
          </a:solidFill>
          <a:ln w="6350">
            <a:solidFill>
              <a:srgbClr val="FFFFFF"/>
            </a:solidFill>
            <a:prstDash val="solid"/>
          </a:ln>
        </p:spPr>
      </p:sp>
      <p:sp>
        <p:nvSpPr>
          <p:cNvPr id="44" name="dot syn 33"/>
          <p:cNvSpPr/>
          <p:nvPr/>
        </p:nvSpPr>
        <p:spPr>
          <a:xfrm>
            <a:off x="3030779" y="4421124"/>
            <a:ext cx="118872" cy="118872"/>
          </a:xfrm>
          <a:prstGeom prst="ellipse">
            <a:avLst/>
          </a:prstGeom>
          <a:solidFill>
            <a:schemeClr val="accent1"/>
          </a:solidFill>
          <a:ln w="6350">
            <a:solidFill>
              <a:srgbClr val="FFFFFF"/>
            </a:solidFill>
            <a:prstDash val="solid"/>
          </a:ln>
        </p:spPr>
      </p:sp>
      <p:sp>
        <p:nvSpPr>
          <p:cNvPr id="45" name="dot syn 40"/>
          <p:cNvSpPr/>
          <p:nvPr/>
        </p:nvSpPr>
        <p:spPr>
          <a:xfrm>
            <a:off x="3590849" y="5134356"/>
            <a:ext cx="118872" cy="118872"/>
          </a:xfrm>
          <a:prstGeom prst="ellipse">
            <a:avLst/>
          </a:prstGeom>
          <a:solidFill>
            <a:schemeClr val="accent1"/>
          </a:solidFill>
          <a:ln w="6350">
            <a:solidFill>
              <a:srgbClr val="FFFFFF"/>
            </a:solidFill>
            <a:prstDash val="solid"/>
          </a:ln>
        </p:spPr>
      </p:sp>
      <p:sp>
        <p:nvSpPr>
          <p:cNvPr id="46" name="dot syn 41"/>
          <p:cNvSpPr/>
          <p:nvPr/>
        </p:nvSpPr>
        <p:spPr>
          <a:xfrm>
            <a:off x="3590849" y="4896612"/>
            <a:ext cx="118872" cy="118872"/>
          </a:xfrm>
          <a:prstGeom prst="ellipse">
            <a:avLst/>
          </a:prstGeom>
          <a:solidFill>
            <a:schemeClr val="accent1"/>
          </a:solidFill>
          <a:ln w="6350">
            <a:solidFill>
              <a:srgbClr val="FFFFFF"/>
            </a:solidFill>
            <a:prstDash val="solid"/>
          </a:ln>
        </p:spPr>
      </p:sp>
      <p:sp>
        <p:nvSpPr>
          <p:cNvPr id="47" name="dot syn 42"/>
          <p:cNvSpPr/>
          <p:nvPr/>
        </p:nvSpPr>
        <p:spPr>
          <a:xfrm>
            <a:off x="3590849" y="4658868"/>
            <a:ext cx="118872" cy="118872"/>
          </a:xfrm>
          <a:prstGeom prst="ellipse">
            <a:avLst/>
          </a:prstGeom>
          <a:solidFill>
            <a:schemeClr val="accent1"/>
          </a:solidFill>
          <a:ln w="6350">
            <a:solidFill>
              <a:srgbClr val="FFFFFF"/>
            </a:solidFill>
            <a:prstDash val="solid"/>
          </a:ln>
        </p:spPr>
      </p:sp>
      <p:sp>
        <p:nvSpPr>
          <p:cNvPr id="48" name="dot syn 43"/>
          <p:cNvSpPr/>
          <p:nvPr/>
        </p:nvSpPr>
        <p:spPr>
          <a:xfrm>
            <a:off x="3590849" y="4421124"/>
            <a:ext cx="118872" cy="118872"/>
          </a:xfrm>
          <a:prstGeom prst="ellipse">
            <a:avLst/>
          </a:prstGeom>
          <a:solidFill>
            <a:schemeClr val="accent1"/>
          </a:solidFill>
          <a:ln w="6350">
            <a:solidFill>
              <a:srgbClr val="FFFFFF"/>
            </a:solidFill>
            <a:prstDash val="solid"/>
          </a:ln>
        </p:spPr>
      </p:sp>
      <p:sp>
        <p:nvSpPr>
          <p:cNvPr id="49" name="dot syn 50"/>
          <p:cNvSpPr/>
          <p:nvPr/>
        </p:nvSpPr>
        <p:spPr>
          <a:xfrm>
            <a:off x="4150919" y="5134356"/>
            <a:ext cx="118872" cy="118872"/>
          </a:xfrm>
          <a:prstGeom prst="ellipse">
            <a:avLst/>
          </a:prstGeom>
          <a:solidFill>
            <a:schemeClr val="accent1"/>
          </a:solidFill>
          <a:ln w="6350">
            <a:solidFill>
              <a:srgbClr val="FFFFFF"/>
            </a:solidFill>
            <a:prstDash val="solid"/>
          </a:ln>
        </p:spPr>
      </p:sp>
      <p:sp>
        <p:nvSpPr>
          <p:cNvPr id="50" name="dot syn 51"/>
          <p:cNvSpPr/>
          <p:nvPr/>
        </p:nvSpPr>
        <p:spPr>
          <a:xfrm>
            <a:off x="4150919" y="4896612"/>
            <a:ext cx="118872" cy="118872"/>
          </a:xfrm>
          <a:prstGeom prst="ellipse">
            <a:avLst/>
          </a:prstGeom>
          <a:solidFill>
            <a:schemeClr val="accent1"/>
          </a:solidFill>
          <a:ln w="6350">
            <a:solidFill>
              <a:srgbClr val="FFFFFF"/>
            </a:solidFill>
            <a:prstDash val="solid"/>
          </a:ln>
        </p:spPr>
      </p:sp>
      <p:sp>
        <p:nvSpPr>
          <p:cNvPr id="51" name="dot syn 52"/>
          <p:cNvSpPr/>
          <p:nvPr/>
        </p:nvSpPr>
        <p:spPr>
          <a:xfrm>
            <a:off x="4150919" y="4658868"/>
            <a:ext cx="118872" cy="118872"/>
          </a:xfrm>
          <a:prstGeom prst="ellipse">
            <a:avLst/>
          </a:prstGeom>
          <a:solidFill>
            <a:schemeClr val="accent1"/>
          </a:solidFill>
          <a:ln w="6350">
            <a:solidFill>
              <a:srgbClr val="FFFFFF"/>
            </a:solidFill>
            <a:prstDash val="solid"/>
          </a:ln>
        </p:spPr>
      </p:sp>
      <p:sp>
        <p:nvSpPr>
          <p:cNvPr id="52" name="dot syn 53"/>
          <p:cNvSpPr/>
          <p:nvPr/>
        </p:nvSpPr>
        <p:spPr>
          <a:xfrm>
            <a:off x="4150919" y="4421124"/>
            <a:ext cx="118872" cy="118872"/>
          </a:xfrm>
          <a:prstGeom prst="ellipse">
            <a:avLst/>
          </a:prstGeom>
          <a:solidFill>
            <a:schemeClr val="accent1"/>
          </a:solidFill>
          <a:ln w="6350">
            <a:solidFill>
              <a:srgbClr val="FFFFFF"/>
            </a:solidFill>
            <a:prstDash val="solid"/>
          </a:ln>
        </p:spPr>
      </p:sp>
      <p:sp>
        <p:nvSpPr>
          <p:cNvPr id="53" name="dot syn 60"/>
          <p:cNvSpPr/>
          <p:nvPr/>
        </p:nvSpPr>
        <p:spPr>
          <a:xfrm>
            <a:off x="4710989" y="5134356"/>
            <a:ext cx="118872" cy="118872"/>
          </a:xfrm>
          <a:prstGeom prst="ellipse">
            <a:avLst/>
          </a:prstGeom>
          <a:solidFill>
            <a:schemeClr val="accent1"/>
          </a:solidFill>
          <a:ln w="6350">
            <a:solidFill>
              <a:srgbClr val="FFFFFF"/>
            </a:solidFill>
            <a:prstDash val="solid"/>
          </a:ln>
        </p:spPr>
      </p:sp>
      <p:sp>
        <p:nvSpPr>
          <p:cNvPr id="54" name="dot syn 61"/>
          <p:cNvSpPr/>
          <p:nvPr/>
        </p:nvSpPr>
        <p:spPr>
          <a:xfrm>
            <a:off x="4710989" y="4896612"/>
            <a:ext cx="118872" cy="118872"/>
          </a:xfrm>
          <a:prstGeom prst="ellipse">
            <a:avLst/>
          </a:prstGeom>
          <a:solidFill>
            <a:schemeClr val="accent1"/>
          </a:solidFill>
          <a:ln w="6350">
            <a:solidFill>
              <a:srgbClr val="FFFFFF"/>
            </a:solidFill>
            <a:prstDash val="solid"/>
          </a:ln>
        </p:spPr>
      </p:sp>
      <p:sp>
        <p:nvSpPr>
          <p:cNvPr id="55" name="dot syn 62"/>
          <p:cNvSpPr/>
          <p:nvPr/>
        </p:nvSpPr>
        <p:spPr>
          <a:xfrm>
            <a:off x="4710989" y="4658868"/>
            <a:ext cx="118872" cy="118872"/>
          </a:xfrm>
          <a:prstGeom prst="ellipse">
            <a:avLst/>
          </a:prstGeom>
          <a:solidFill>
            <a:schemeClr val="accent1"/>
          </a:solidFill>
          <a:ln w="6350">
            <a:solidFill>
              <a:srgbClr val="FFFFFF"/>
            </a:solidFill>
            <a:prstDash val="solid"/>
          </a:ln>
        </p:spPr>
      </p:sp>
      <p:sp>
        <p:nvSpPr>
          <p:cNvPr id="56" name="dot syn 63"/>
          <p:cNvSpPr/>
          <p:nvPr/>
        </p:nvSpPr>
        <p:spPr>
          <a:xfrm>
            <a:off x="4710989" y="4421124"/>
            <a:ext cx="118872" cy="118872"/>
          </a:xfrm>
          <a:prstGeom prst="ellipse">
            <a:avLst/>
          </a:prstGeom>
          <a:solidFill>
            <a:schemeClr val="accent1"/>
          </a:solidFill>
          <a:ln w="6350">
            <a:solidFill>
              <a:srgbClr val="FFFFFF"/>
            </a:solidFill>
            <a:prstDash val="solid"/>
          </a:ln>
        </p:spPr>
      </p:sp>
      <p:sp>
        <p:nvSpPr>
          <p:cNvPr id="57" name="dot syn 70"/>
          <p:cNvSpPr/>
          <p:nvPr/>
        </p:nvSpPr>
        <p:spPr>
          <a:xfrm>
            <a:off x="5271059" y="5134356"/>
            <a:ext cx="118872" cy="118872"/>
          </a:xfrm>
          <a:prstGeom prst="ellipse">
            <a:avLst/>
          </a:prstGeom>
          <a:solidFill>
            <a:schemeClr val="accent1"/>
          </a:solidFill>
          <a:ln w="6350">
            <a:solidFill>
              <a:srgbClr val="FFFFFF"/>
            </a:solidFill>
            <a:prstDash val="solid"/>
          </a:ln>
        </p:spPr>
      </p:sp>
      <p:sp>
        <p:nvSpPr>
          <p:cNvPr id="58" name="dot syn 71"/>
          <p:cNvSpPr/>
          <p:nvPr/>
        </p:nvSpPr>
        <p:spPr>
          <a:xfrm>
            <a:off x="5271059" y="4896612"/>
            <a:ext cx="118872" cy="118872"/>
          </a:xfrm>
          <a:prstGeom prst="ellipse">
            <a:avLst/>
          </a:prstGeom>
          <a:solidFill>
            <a:schemeClr val="accent1"/>
          </a:solidFill>
          <a:ln w="6350">
            <a:solidFill>
              <a:srgbClr val="FFFFFF"/>
            </a:solidFill>
            <a:prstDash val="solid"/>
          </a:ln>
        </p:spPr>
      </p:sp>
      <p:sp>
        <p:nvSpPr>
          <p:cNvPr id="59" name="dot syn 72"/>
          <p:cNvSpPr/>
          <p:nvPr/>
        </p:nvSpPr>
        <p:spPr>
          <a:xfrm>
            <a:off x="5271059" y="4658868"/>
            <a:ext cx="118872" cy="118872"/>
          </a:xfrm>
          <a:prstGeom prst="ellipse">
            <a:avLst/>
          </a:prstGeom>
          <a:solidFill>
            <a:schemeClr val="accent1"/>
          </a:solidFill>
          <a:ln w="6350">
            <a:solidFill>
              <a:srgbClr val="FFFFFF"/>
            </a:solidFill>
            <a:prstDash val="solid"/>
          </a:ln>
        </p:spPr>
      </p:sp>
      <p:sp>
        <p:nvSpPr>
          <p:cNvPr id="60" name="dot syn 73"/>
          <p:cNvSpPr/>
          <p:nvPr/>
        </p:nvSpPr>
        <p:spPr>
          <a:xfrm>
            <a:off x="5271059" y="4421124"/>
            <a:ext cx="118872" cy="118872"/>
          </a:xfrm>
          <a:prstGeom prst="ellipse">
            <a:avLst/>
          </a:prstGeom>
          <a:solidFill>
            <a:schemeClr val="accent1"/>
          </a:solidFill>
          <a:ln w="6350">
            <a:solidFill>
              <a:srgbClr val="FFFFFF"/>
            </a:solidFill>
            <a:prstDash val="solid"/>
          </a:ln>
        </p:spPr>
      </p:sp>
      <p:sp>
        <p:nvSpPr>
          <p:cNvPr id="61" name="glance heading"/>
          <p:cNvSpPr txBox="1"/>
          <p:nvPr/>
        </p:nvSpPr>
        <p:spPr>
          <a:xfrm>
            <a:off x="5806440" y="1371600"/>
            <a:ext cx="5833872" cy="365760"/>
          </a:xfrm>
          <a:prstGeom prst="rect">
            <a:avLst/>
          </a:prstGeom>
          <a:noFill/>
          <a:ln/>
        </p:spPr>
        <p:txBody>
          <a:bodyPr wrap="square" lIns="0" tIns="0" rIns="0" bIns="0" rtlCol="0" anchor="ctr"/>
          <a:lstStyle/>
          <a:p>
            <a:pPr indent="0" marL="0">
              <a:buNone/>
            </a:pPr>
            <a:r>
              <a:rPr lang="en-US" sz="1600" b="1" dirty="0">
                <a:solidFill>
                  <a:schemeClr val="tx1"/>
                </a:solidFill>
              </a:rPr>
              <a:t>CrossMEP at a glance</a:t>
            </a:r>
            <a:endParaRPr lang="en-US" sz="1600" dirty="0"/>
          </a:p>
        </p:txBody>
      </p:sp>
      <p:sp>
        <p:nvSpPr>
          <p:cNvPr id="62" name="tile contexts in four splits on disjoint seeds"/>
          <p:cNvSpPr/>
          <p:nvPr/>
        </p:nvSpPr>
        <p:spPr>
          <a:xfrm>
            <a:off x="5806440" y="1874520"/>
            <a:ext cx="1822704" cy="1965960"/>
          </a:xfrm>
          <a:prstGeom prst="roundRect">
            <a:avLst>
              <a:gd name="adj" fmla="val 3512"/>
            </a:avLst>
          </a:prstGeom>
          <a:solidFill>
            <a:schemeClr val="bg2"/>
          </a:solidFill>
          <a:ln/>
        </p:spPr>
      </p:sp>
      <p:sp>
        <p:nvSpPr>
          <p:cNvPr id="63" name="value contexts in four splits on disjoint seeds"/>
          <p:cNvSpPr txBox="1"/>
          <p:nvPr/>
        </p:nvSpPr>
        <p:spPr>
          <a:xfrm>
            <a:off x="6007608"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7,000</a:t>
            </a:r>
            <a:endParaRPr lang="en-US" sz="2600" dirty="0"/>
          </a:p>
        </p:txBody>
      </p:sp>
      <p:sp>
        <p:nvSpPr>
          <p:cNvPr id="64" name="label contexts in four splits on disjoint seeds"/>
          <p:cNvSpPr txBox="1"/>
          <p:nvPr/>
        </p:nvSpPr>
        <p:spPr>
          <a:xfrm>
            <a:off x="6007608"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contexts in four splits on disjoint seeds</a:t>
            </a:r>
            <a:endParaRPr lang="en-US" sz="1150" dirty="0"/>
          </a:p>
        </p:txBody>
      </p:sp>
      <p:sp>
        <p:nvSpPr>
          <p:cNvPr id="65" name="tile elements: pipes, cable trays, ducts and conduits; six trades"/>
          <p:cNvSpPr/>
          <p:nvPr/>
        </p:nvSpPr>
        <p:spPr>
          <a:xfrm>
            <a:off x="7812024" y="1874520"/>
            <a:ext cx="1822704" cy="1965960"/>
          </a:xfrm>
          <a:prstGeom prst="roundRect">
            <a:avLst>
              <a:gd name="adj" fmla="val 3512"/>
            </a:avLst>
          </a:prstGeom>
          <a:solidFill>
            <a:schemeClr val="bg2"/>
          </a:solidFill>
          <a:ln/>
        </p:spPr>
      </p:sp>
      <p:sp>
        <p:nvSpPr>
          <p:cNvPr id="66" name="value elements: pipes, cable trays, ducts and conduits; six trades"/>
          <p:cNvSpPr txBox="1"/>
          <p:nvPr/>
        </p:nvSpPr>
        <p:spPr>
          <a:xfrm>
            <a:off x="8013192"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31,484</a:t>
            </a:r>
            <a:endParaRPr lang="en-US" sz="2600" dirty="0"/>
          </a:p>
        </p:txBody>
      </p:sp>
      <p:sp>
        <p:nvSpPr>
          <p:cNvPr id="67" name="label elements: pipes, cable trays, ducts and conduits; six trades"/>
          <p:cNvSpPr txBox="1"/>
          <p:nvPr/>
        </p:nvSpPr>
        <p:spPr>
          <a:xfrm>
            <a:off x="8013192"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elements: pipes, cable trays, ducts and conduits; six trades</a:t>
            </a:r>
            <a:endParaRPr lang="en-US" sz="1150" dirty="0"/>
          </a:p>
        </p:txBody>
      </p:sp>
      <p:sp>
        <p:nvSpPr>
          <p:cNvPr id="68" name="tile eight difficulty tiers by exact element count"/>
          <p:cNvSpPr/>
          <p:nvPr/>
        </p:nvSpPr>
        <p:spPr>
          <a:xfrm>
            <a:off x="9817608" y="1874520"/>
            <a:ext cx="1822704" cy="1965960"/>
          </a:xfrm>
          <a:prstGeom prst="roundRect">
            <a:avLst>
              <a:gd name="adj" fmla="val 3512"/>
            </a:avLst>
          </a:prstGeom>
          <a:solidFill>
            <a:schemeClr val="bg2"/>
          </a:solidFill>
          <a:ln/>
        </p:spPr>
      </p:sp>
      <p:sp>
        <p:nvSpPr>
          <p:cNvPr id="69" name="value eight difficulty tiers by exact element count"/>
          <p:cNvSpPr txBox="1"/>
          <p:nvPr/>
        </p:nvSpPr>
        <p:spPr>
          <a:xfrm>
            <a:off x="10018776"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C1–C8</a:t>
            </a:r>
            <a:endParaRPr lang="en-US" sz="2600" dirty="0"/>
          </a:p>
        </p:txBody>
      </p:sp>
      <p:sp>
        <p:nvSpPr>
          <p:cNvPr id="70" name="label eight difficulty tiers by exact element count"/>
          <p:cNvSpPr txBox="1"/>
          <p:nvPr/>
        </p:nvSpPr>
        <p:spPr>
          <a:xfrm>
            <a:off x="10018776"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eight difficulty tiers by exact element count</a:t>
            </a:r>
            <a:endParaRPr lang="en-US" sz="1150" dirty="0"/>
          </a:p>
        </p:txBody>
      </p:sp>
      <p:sp>
        <p:nvSpPr>
          <p:cNvPr id="71" name="tile the brief, not the answer: no support-assembly information"/>
          <p:cNvSpPr/>
          <p:nvPr/>
        </p:nvSpPr>
        <p:spPr>
          <a:xfrm>
            <a:off x="5806440" y="4023360"/>
            <a:ext cx="1822704" cy="1965960"/>
          </a:xfrm>
          <a:prstGeom prst="roundRect">
            <a:avLst>
              <a:gd name="adj" fmla="val 3512"/>
            </a:avLst>
          </a:prstGeom>
          <a:solidFill>
            <a:schemeClr val="bg2"/>
          </a:solidFill>
          <a:ln/>
        </p:spPr>
      </p:sp>
      <p:sp>
        <p:nvSpPr>
          <p:cNvPr id="72" name="value the brief, not the answer: no support-assembly information"/>
          <p:cNvSpPr txBox="1"/>
          <p:nvPr/>
        </p:nvSpPr>
        <p:spPr>
          <a:xfrm>
            <a:off x="6007608"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0 labels</a:t>
            </a:r>
            <a:endParaRPr lang="en-US" sz="2600" dirty="0"/>
          </a:p>
        </p:txBody>
      </p:sp>
      <p:sp>
        <p:nvSpPr>
          <p:cNvPr id="73" name="label the brief, not the answer: no support-assembly information"/>
          <p:cNvSpPr txBox="1"/>
          <p:nvPr/>
        </p:nvSpPr>
        <p:spPr>
          <a:xfrm>
            <a:off x="6007608"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the brief, not the answer: no support-assembly information</a:t>
            </a:r>
            <a:endParaRPr lang="en-US" sz="1150" dirty="0"/>
          </a:p>
        </p:txBody>
      </p:sp>
      <p:sp>
        <p:nvSpPr>
          <p:cNvPr id="74" name="tile every constant with its source, or declared a design choice"/>
          <p:cNvSpPr/>
          <p:nvPr/>
        </p:nvSpPr>
        <p:spPr>
          <a:xfrm>
            <a:off x="7812024" y="4023360"/>
            <a:ext cx="1822704" cy="1965960"/>
          </a:xfrm>
          <a:prstGeom prst="roundRect">
            <a:avLst>
              <a:gd name="adj" fmla="val 3512"/>
            </a:avLst>
          </a:prstGeom>
          <a:solidFill>
            <a:schemeClr val="bg2"/>
          </a:solidFill>
          <a:ln/>
        </p:spPr>
      </p:sp>
      <p:sp>
        <p:nvSpPr>
          <p:cNvPr id="75" name="value every constant with its source, or declared a design choice"/>
          <p:cNvSpPr txBox="1"/>
          <p:nvPr/>
        </p:nvSpPr>
        <p:spPr>
          <a:xfrm>
            <a:off x="8013192"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Traced</a:t>
            </a:r>
            <a:endParaRPr lang="en-US" sz="2600" dirty="0"/>
          </a:p>
        </p:txBody>
      </p:sp>
      <p:sp>
        <p:nvSpPr>
          <p:cNvPr id="76" name="label every constant with its source, or declared a design choice"/>
          <p:cNvSpPr txBox="1"/>
          <p:nvPr/>
        </p:nvSpPr>
        <p:spPr>
          <a:xfrm>
            <a:off x="8013192"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every constant with its source, or declared a design choice</a:t>
            </a:r>
            <a:endParaRPr lang="en-US" sz="1150" dirty="0"/>
          </a:p>
        </p:txBody>
      </p:sp>
      <p:sp>
        <p:nvSpPr>
          <p:cNvPr id="77" name="tile data CC BY 4.0, code MIT; a seeded, deterministic generator"/>
          <p:cNvSpPr/>
          <p:nvPr/>
        </p:nvSpPr>
        <p:spPr>
          <a:xfrm>
            <a:off x="9817608" y="4023360"/>
            <a:ext cx="1822704" cy="1965960"/>
          </a:xfrm>
          <a:prstGeom prst="roundRect">
            <a:avLst>
              <a:gd name="adj" fmla="val 3512"/>
            </a:avLst>
          </a:prstGeom>
          <a:solidFill>
            <a:schemeClr val="bg2"/>
          </a:solidFill>
          <a:ln/>
        </p:spPr>
      </p:sp>
      <p:sp>
        <p:nvSpPr>
          <p:cNvPr id="78" name="value data CC BY 4.0, code MIT; a seeded, deterministic generator"/>
          <p:cNvSpPr txBox="1"/>
          <p:nvPr/>
        </p:nvSpPr>
        <p:spPr>
          <a:xfrm>
            <a:off x="10018776"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Open</a:t>
            </a:r>
            <a:endParaRPr lang="en-US" sz="2600" dirty="0"/>
          </a:p>
        </p:txBody>
      </p:sp>
      <p:sp>
        <p:nvSpPr>
          <p:cNvPr id="79" name="label data CC BY 4.0, code MIT; a seeded, deterministic generator"/>
          <p:cNvSpPr txBox="1"/>
          <p:nvPr/>
        </p:nvSpPr>
        <p:spPr>
          <a:xfrm>
            <a:off x="10018776"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data CC BY 4.0, code MIT; a seeded, deterministic generator</a:t>
            </a:r>
            <a:endParaRPr lang="en-US" sz="11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We generate what a designer receives: the section at one hanger</a:t>
            </a:r>
            <a:endParaRPr lang="en-US" sz="2600" dirty="0"/>
          </a:p>
        </p:txBody>
      </p:sp>
      <p:pic>
        <p:nvPicPr>
          <p:cNvPr id="3" name="context figure" descr="/home/user/crossmep_dataset/docs/figures/01_what_a_context_is.png">    </p:cNvPr>
          <p:cNvPicPr>
            <a:picLocks noChangeAspect="1"/>
          </p:cNvPicPr>
          <p:nvPr/>
        </p:nvPicPr>
        <p:blipFill>
          <a:blip r:embed="rId1"/>
          <a:stretch>
            <a:fillRect/>
          </a:stretch>
        </p:blipFill>
        <p:spPr>
          <a:xfrm>
            <a:off x="1174606" y="1325880"/>
            <a:ext cx="9839739" cy="4526280"/>
          </a:xfrm>
          <a:prstGeom prst="rect">
            <a:avLst/>
          </a:prstGeom>
        </p:spPr>
      </p:pic>
      <p:sp>
        <p:nvSpPr>
          <p:cNvPr id="4" name="context caption"/>
          <p:cNvSpPr txBox="1"/>
          <p:nvPr/>
        </p:nvSpPr>
        <p:spPr>
          <a:xfrm>
            <a:off x="548640" y="5943600"/>
            <a:ext cx="11091672" cy="502920"/>
          </a:xfrm>
          <a:prstGeom prst="rect">
            <a:avLst/>
          </a:prstGeom>
          <a:noFill/>
          <a:ln/>
        </p:spPr>
        <p:txBody>
          <a:bodyPr wrap="square" lIns="0" tIns="0" rIns="0" bIns="0" rtlCol="0" anchor="t"/>
          <a:lstStyle/>
          <a:p>
            <a:pPr indent="0" marL="0">
              <a:buNone/>
            </a:pPr>
            <a:r>
              <a:rPr lang="en-US" sz="1100" dirty="0">
                <a:solidFill>
                  <a:srgbClr val="52514E"/>
                </a:solidFill>
              </a:rPr>
              <a:t>Per element: kind, service and trade · bare size · insulation per side · load per metre × the span it was sized at = load at the support · position along and out from the surface. Per context: slab or wall, substrate, thickness. Absent by design: channel, rods, clamps, anchors — and any “correct” answer, since a feasible support depends on the catalog you build from.</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Sections follow trade practice and measured spacing, not random shapes</a:t>
            </a:r>
            <a:endParaRPr lang="en-US" sz="2600" dirty="0"/>
          </a:p>
        </p:txBody>
      </p:sp>
      <p:sp>
        <p:nvSpPr>
          <p:cNvPr id="3" name="step circle 1"/>
          <p:cNvSpPr/>
          <p:nvPr/>
        </p:nvSpPr>
        <p:spPr>
          <a:xfrm>
            <a:off x="548640" y="1453896"/>
            <a:ext cx="402336" cy="402336"/>
          </a:xfrm>
          <a:prstGeom prst="ellipse">
            <a:avLst/>
          </a:prstGeom>
          <a:solidFill>
            <a:schemeClr val="accent1"/>
          </a:solidFill>
          <a:ln/>
        </p:spPr>
      </p:sp>
      <p:sp>
        <p:nvSpPr>
          <p:cNvPr id="4" name="step number 1"/>
          <p:cNvSpPr txBox="1"/>
          <p:nvPr/>
        </p:nvSpPr>
        <p:spPr>
          <a:xfrm>
            <a:off x="548640" y="14538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step 1"/>
          <p:cNvSpPr txBox="1"/>
          <p:nvPr/>
        </p:nvSpPr>
        <p:spPr>
          <a:xfrm>
            <a:off x="1143000" y="1325880"/>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Tier. </a:t>
            </a:r>
            <a:pPr indent="0" marL="0">
              <a:buNone/>
            </a:pPr>
            <a:r>
              <a:rPr lang="en-US" sz="1300" dirty="0">
                <a:solidFill>
                  <a:schemeClr val="tx1"/>
                </a:solidFill>
              </a:rPr>
              <a:t>Cn fixes the exact element count, n = 1 … 8.</a:t>
            </a:r>
            <a:endParaRPr lang="en-US" sz="1300" dirty="0"/>
          </a:p>
        </p:txBody>
      </p:sp>
      <p:sp>
        <p:nvSpPr>
          <p:cNvPr id="6" name="step circle 2"/>
          <p:cNvSpPr/>
          <p:nvPr/>
        </p:nvSpPr>
        <p:spPr>
          <a:xfrm>
            <a:off x="548640" y="2240280"/>
            <a:ext cx="402336" cy="402336"/>
          </a:xfrm>
          <a:prstGeom prst="ellipse">
            <a:avLst/>
          </a:prstGeom>
          <a:solidFill>
            <a:schemeClr val="accent1"/>
          </a:solidFill>
          <a:ln/>
        </p:spPr>
      </p:sp>
      <p:sp>
        <p:nvSpPr>
          <p:cNvPr id="7" name="step number 2"/>
          <p:cNvSpPr txBox="1"/>
          <p:nvPr/>
        </p:nvSpPr>
        <p:spPr>
          <a:xfrm>
            <a:off x="548640" y="22402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8" name="step 2"/>
          <p:cNvSpPr txBox="1"/>
          <p:nvPr/>
        </p:nvSpPr>
        <p:spPr>
          <a:xfrm>
            <a:off x="1143000" y="2112264"/>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Surface. </a:t>
            </a:r>
            <a:pPr indent="0" marL="0">
              <a:buNone/>
            </a:pPr>
            <a:r>
              <a:rPr lang="en-US" sz="1300" dirty="0">
                <a:solidFill>
                  <a:schemeClr val="tx1"/>
                </a:solidFill>
              </a:rPr>
              <a:t>Ceiling or wall (78 / 22 %); concrete slab or wall, 150–300 mm thick.</a:t>
            </a:r>
            <a:endParaRPr lang="en-US" sz="1300" dirty="0"/>
          </a:p>
        </p:txBody>
      </p:sp>
      <p:sp>
        <p:nvSpPr>
          <p:cNvPr id="9" name="step circle 3"/>
          <p:cNvSpPr/>
          <p:nvPr/>
        </p:nvSpPr>
        <p:spPr>
          <a:xfrm>
            <a:off x="548640" y="3026664"/>
            <a:ext cx="402336" cy="402336"/>
          </a:xfrm>
          <a:prstGeom prst="ellipse">
            <a:avLst/>
          </a:prstGeom>
          <a:solidFill>
            <a:schemeClr val="accent1"/>
          </a:solidFill>
          <a:ln/>
        </p:spPr>
      </p:sp>
      <p:sp>
        <p:nvSpPr>
          <p:cNvPr id="10" name="step number 3"/>
          <p:cNvSpPr txBox="1"/>
          <p:nvPr/>
        </p:nvSpPr>
        <p:spPr>
          <a:xfrm>
            <a:off x="548640" y="3026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1" name="step 3"/>
          <p:cNvSpPr txBox="1"/>
          <p:nvPr/>
        </p:nvSpPr>
        <p:spPr>
          <a:xfrm>
            <a:off x="1143000" y="2898648"/>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Services. </a:t>
            </a:r>
            <a:pPr indent="0" marL="0">
              <a:buNone/>
            </a:pPr>
            <a:r>
              <a:rPr lang="en-US" sz="1300" dirty="0">
                <a:solidFill>
                  <a:schemeClr val="tx1"/>
                </a:solidFill>
              </a:rPr>
              <a:t>Grouped as trades run: hot + cold pairs, flow + return, chilled banks, sprinkler mains, 1–2 trays, ducts, conduit groups of 2–6.</a:t>
            </a:r>
            <a:endParaRPr lang="en-US" sz="1300" dirty="0"/>
          </a:p>
        </p:txBody>
      </p:sp>
      <p:sp>
        <p:nvSpPr>
          <p:cNvPr id="12" name="step circle 4"/>
          <p:cNvSpPr/>
          <p:nvPr/>
        </p:nvSpPr>
        <p:spPr>
          <a:xfrm>
            <a:off x="548640" y="3813048"/>
            <a:ext cx="402336" cy="402336"/>
          </a:xfrm>
          <a:prstGeom prst="ellipse">
            <a:avLst/>
          </a:prstGeom>
          <a:solidFill>
            <a:schemeClr val="accent1"/>
          </a:solidFill>
          <a:ln/>
        </p:spPr>
      </p:sp>
      <p:sp>
        <p:nvSpPr>
          <p:cNvPr id="13" name="step number 4"/>
          <p:cNvSpPr txBox="1"/>
          <p:nvPr/>
        </p:nvSpPr>
        <p:spPr>
          <a:xfrm>
            <a:off x="548640" y="381304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4" name="step 4"/>
          <p:cNvSpPr txBox="1"/>
          <p:nvPr/>
        </p:nvSpPr>
        <p:spPr>
          <a:xfrm>
            <a:off x="1143000" y="3685032"/>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Rows. </a:t>
            </a:r>
            <a:pPr indent="0" marL="0">
              <a:buNone/>
            </a:pPr>
            <a:r>
              <a:rPr lang="en-US" sz="1300" dirty="0">
                <a:solidFill>
                  <a:schemeClr val="tx1"/>
                </a:solidFill>
              </a:rPr>
              <a:t>Bulky first: ducts nearest the surface, then trays and conduits, then pipes.</a:t>
            </a:r>
            <a:endParaRPr lang="en-US" sz="1300" dirty="0"/>
          </a:p>
        </p:txBody>
      </p:sp>
      <p:sp>
        <p:nvSpPr>
          <p:cNvPr id="15" name="step circle 5"/>
          <p:cNvSpPr/>
          <p:nvPr/>
        </p:nvSpPr>
        <p:spPr>
          <a:xfrm>
            <a:off x="548640" y="4599432"/>
            <a:ext cx="402336" cy="402336"/>
          </a:xfrm>
          <a:prstGeom prst="ellipse">
            <a:avLst/>
          </a:prstGeom>
          <a:solidFill>
            <a:schemeClr val="accent1"/>
          </a:solidFill>
          <a:ln/>
        </p:spPr>
      </p:sp>
      <p:sp>
        <p:nvSpPr>
          <p:cNvPr id="16" name="step number 5"/>
          <p:cNvSpPr txBox="1"/>
          <p:nvPr/>
        </p:nvSpPr>
        <p:spPr>
          <a:xfrm>
            <a:off x="548640" y="459943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7" name="step 5"/>
          <p:cNvSpPr txBox="1"/>
          <p:nvPr/>
        </p:nvSpPr>
        <p:spPr>
          <a:xfrm>
            <a:off x="1143000" y="4471416"/>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Spacing. </a:t>
            </a:r>
            <a:pPr indent="0" marL="0">
              <a:buNone/>
            </a:pPr>
            <a:r>
              <a:rPr lang="en-US" sz="1300" dirty="0">
                <a:solidFill>
                  <a:schemeClr val="tx1"/>
                </a:solidFill>
              </a:rPr>
              <a:t>Gaps drawn from gaps measured on a built project (at least 25 mm); stagger within rows; electrical above wet on walls.</a:t>
            </a:r>
            <a:endParaRPr lang="en-US" sz="1300" dirty="0"/>
          </a:p>
        </p:txBody>
      </p:sp>
      <p:sp>
        <p:nvSpPr>
          <p:cNvPr id="18" name="step circle 6"/>
          <p:cNvSpPr/>
          <p:nvPr/>
        </p:nvSpPr>
        <p:spPr>
          <a:xfrm>
            <a:off x="548640" y="5385816"/>
            <a:ext cx="402336" cy="402336"/>
          </a:xfrm>
          <a:prstGeom prst="ellipse">
            <a:avLst/>
          </a:prstGeom>
          <a:solidFill>
            <a:schemeClr val="accent1"/>
          </a:solidFill>
          <a:ln/>
        </p:spPr>
      </p:sp>
      <p:sp>
        <p:nvSpPr>
          <p:cNvPr id="19" name="step number 6"/>
          <p:cNvSpPr txBox="1"/>
          <p:nvPr/>
        </p:nvSpPr>
        <p:spPr>
          <a:xfrm>
            <a:off x="548640" y="538581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0" name="step 6"/>
          <p:cNvSpPr txBox="1"/>
          <p:nvPr/>
        </p:nvSpPr>
        <p:spPr>
          <a:xfrm>
            <a:off x="1143000" y="5257800"/>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Check. </a:t>
            </a:r>
            <a:pPr indent="0" marL="0">
              <a:buNone/>
            </a:pPr>
            <a:r>
              <a:rPr lang="en-US" sz="1300" dirty="0">
                <a:solidFill>
                  <a:schemeClr val="tx1"/>
                </a:solidFill>
              </a:rPr>
              <a:t>Every pair at least 25 mm clear; rows centred; sizes, insulation, loads and positions recorded.</a:t>
            </a:r>
            <a:endParaRPr lang="en-US" sz="1300" dirty="0"/>
          </a:p>
        </p:txBody>
      </p:sp>
      <p:pic>
        <p:nvPicPr>
          <p:cNvPr id="21" name="generation example" descr="/home/user/crossmep_dataset/docs/figures/05_generation_example.png">    </p:cNvPr>
          <p:cNvPicPr>
            <a:picLocks noChangeAspect="1"/>
          </p:cNvPicPr>
          <p:nvPr/>
        </p:nvPicPr>
        <p:blipFill>
          <a:blip r:embed="rId1"/>
          <a:stretch>
            <a:fillRect/>
          </a:stretch>
        </p:blipFill>
        <p:spPr>
          <a:xfrm>
            <a:off x="6309360" y="1708403"/>
            <a:ext cx="5330952" cy="3258315"/>
          </a:xfrm>
          <a:prstGeom prst="rect">
            <a:avLst/>
          </a:prstGeom>
        </p:spPr>
      </p:pic>
      <p:sp>
        <p:nvSpPr>
          <p:cNvPr id="22" name="generation caption"/>
          <p:cNvSpPr txBox="1"/>
          <p:nvPr/>
        </p:nvSpPr>
        <p:spPr>
          <a:xfrm>
            <a:off x="6309360" y="5076445"/>
            <a:ext cx="5330952" cy="685800"/>
          </a:xfrm>
          <a:prstGeom prst="rect">
            <a:avLst/>
          </a:prstGeom>
          <a:noFill/>
          <a:ln/>
        </p:spPr>
        <p:txBody>
          <a:bodyPr wrap="square" lIns="0" tIns="0" rIns="0" bIns="0" rtlCol="0" anchor="t"/>
          <a:lstStyle/>
          <a:p>
            <a:pPr indent="0" marL="0">
              <a:buNone/>
            </a:pPr>
            <a:r>
              <a:rPr lang="en-US" sz="1100" dirty="0">
                <a:solidFill>
                  <a:srgbClr val="52514E"/>
                </a:solidFill>
              </a:rPr>
              <a:t>One generated benchmark context, three rows by priority; the gap marked is one draw from the measured distribution. Every context is seeded: the same seed gives the same file, byte for byte.</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Sizes, spans and loads come from standards; the choices are declared</a:t>
            </a:r>
            <a:endParaRPr lang="en-US" sz="2600" dirty="0"/>
          </a:p>
        </p:txBody>
      </p:sp>
      <p:graphicFrame>
        <p:nvGraphicFramePr>
          <p:cNvPr id="10" name="sources table"/>
          <p:cNvGraphicFramePr>
            <a:graphicFrameLocks noGrp="1"/>
          </p:cNvGraphicFramePr>
          <p:nvPr>
            <p:extLst>
              <p:ext uri="{D42A27DB-BD31-4B8C-83A1-F6EECF244321}">
                <p14:modId xmlns:p14="http://schemas.microsoft.com/office/powerpoint/2010/main" val="1579011935"/>
              </p:ext>
            </p:extLst>
          </p:nvPr>
        </p:nvGraphicFramePr>
        <p:xfrm>
          <a:off x="548640" y="1417320"/>
          <a:ext cx="7223760" cy="914400"/>
        </p:xfrm>
        <a:graphic>
          <a:graphicData uri="http://schemas.openxmlformats.org/drawingml/2006/table">
            <a:tbl>
              <a:tblPr/>
              <a:tblGrid>
                <a:gridCol w="1737360"/>
                <a:gridCol w="2560320"/>
                <a:gridCol w="2926080"/>
              </a:tblGrid>
              <a:tr h="38404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Element</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Sizes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Load basis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713232">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Pipes DN15–100</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EN 10220 / EN 10255 medium series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steel + water × ASME B31.1 water-service span (published points only)</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713232">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Insulation</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GEG Anlage 8 (heated); 30/50 mm condensation control (chilled)</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Cable trays 150–600</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IEC 61537 systems, NEMA VE 1 widths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full tray: 50 kg/m at 300 mm datum, × 2.0 m (NEMA VE 1 class span)</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Ducts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EN 1505 rectangular; EN 1506 round</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manufacturer duct-weight table incl. flanges, × 2.4 m (SMACNA)</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Conduits Ø20–50</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IEC 61386-1, parallel groups of 2–6</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steel tube + 40 %-of-bore cable fill, × 2.0 m (IET / BS 7671)</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conventions heading"/>
          <p:cNvSpPr txBox="1"/>
          <p:nvPr/>
        </p:nvSpPr>
        <p:spPr>
          <a:xfrm>
            <a:off x="8092440" y="1417320"/>
            <a:ext cx="3566160" cy="411480"/>
          </a:xfrm>
          <a:prstGeom prst="rect">
            <a:avLst/>
          </a:prstGeom>
          <a:noFill/>
          <a:ln/>
        </p:spPr>
        <p:txBody>
          <a:bodyPr wrap="square" lIns="0" tIns="0" rIns="0" bIns="0" rtlCol="0" anchor="ctr"/>
          <a:lstStyle/>
          <a:p>
            <a:pPr indent="0" marL="0">
              <a:buNone/>
            </a:pPr>
            <a:r>
              <a:rPr lang="en-US" sz="1800" b="1" dirty="0">
                <a:solidFill>
                  <a:schemeClr val="tx1"/>
                </a:solidFill>
              </a:rPr>
              <a:t>Layout conventions</a:t>
            </a:r>
            <a:endParaRPr lang="en-US" sz="1800" dirty="0"/>
          </a:p>
        </p:txBody>
      </p:sp>
      <p:sp>
        <p:nvSpPr>
          <p:cNvPr id="5" name="conventions"/>
          <p:cNvSpPr txBox="1"/>
          <p:nvPr/>
        </p:nvSpPr>
        <p:spPr>
          <a:xfrm>
            <a:off x="8092440" y="1920240"/>
            <a:ext cx="3566160" cy="3291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Bulky services nearest the slab: ducts, then containment, then pipes</a:t>
            </a:r>
            <a:endParaRPr lang="en-US" sz="1300" dirty="0"/>
          </a:p>
          <a:p>
            <a:pPr marL="342900" indent="-342900">
              <a:spcAft>
                <a:spcPts val="600"/>
              </a:spcAft>
              <a:buSzPct val="100000"/>
              <a:buChar char="•"/>
            </a:pPr>
            <a:r>
              <a:rPr lang="en-US" sz="1300" dirty="0">
                <a:solidFill>
                  <a:schemeClr val="tx1"/>
                </a:solidFill>
              </a:rPr>
              <a:t>Trades run in banks: hot + cold pairs, flow + return, conduit groups</a:t>
            </a:r>
            <a:endParaRPr lang="en-US" sz="1300" dirty="0"/>
          </a:p>
          <a:p>
            <a:pPr marL="342900" indent="-342900">
              <a:spcAft>
                <a:spcPts val="600"/>
              </a:spcAft>
              <a:buSzPct val="100000"/>
              <a:buChar char="•"/>
            </a:pPr>
            <a:r>
              <a:rPr lang="en-US" sz="1300" dirty="0">
                <a:solidFill>
                  <a:schemeClr val="tx1"/>
                </a:solidFill>
              </a:rPr>
              <a:t>Electrical kept above wet services on walls (drip; BS 7671 528.3.2)</a:t>
            </a:r>
            <a:endParaRPr lang="en-US" sz="1300" dirty="0"/>
          </a:p>
          <a:p>
            <a:pPr marL="342900" indent="-342900">
              <a:spcAft>
                <a:spcPts val="600"/>
              </a:spcAft>
              <a:buSzPct val="100000"/>
              <a:buChar char="•"/>
            </a:pPr>
            <a:r>
              <a:rPr lang="en-US" sz="1300" dirty="0">
                <a:solidFill>
                  <a:schemeClr val="tx1"/>
                </a:solidFill>
              </a:rPr>
              <a:t>Clear gaps drawn from a distribution measured on a built project; 25 mm minimum</a:t>
            </a:r>
            <a:endParaRPr lang="en-US" sz="1300" dirty="0"/>
          </a:p>
          <a:p>
            <a:pPr marL="342900" indent="-342900">
              <a:spcAft>
                <a:spcPts val="600"/>
              </a:spcAft>
              <a:buSzPct val="100000"/>
              <a:buChar char="•"/>
            </a:pPr>
            <a:r>
              <a:rPr lang="en-US" sz="1300" dirty="0">
                <a:solidFill>
                  <a:schemeClr val="tx1"/>
                </a:solidFill>
              </a:rPr>
              <a:t>Within-row stagger calibrated to measured elevation spread</a:t>
            </a:r>
            <a:endParaRPr lang="en-US" sz="1300" dirty="0"/>
          </a:p>
        </p:txBody>
      </p:sp>
      <p:sp>
        <p:nvSpPr>
          <p:cNvPr id="6" name="sources note card"/>
          <p:cNvSpPr/>
          <p:nvPr/>
        </p:nvSpPr>
        <p:spPr>
          <a:xfrm>
            <a:off x="548640" y="5257800"/>
            <a:ext cx="11091672" cy="777240"/>
          </a:xfrm>
          <a:prstGeom prst="roundRect">
            <a:avLst>
              <a:gd name="adj" fmla="val 8235"/>
            </a:avLst>
          </a:prstGeom>
          <a:solidFill>
            <a:schemeClr val="bg2"/>
          </a:solidFill>
          <a:ln/>
        </p:spPr>
      </p:sp>
      <p:sp>
        <p:nvSpPr>
          <p:cNvPr id="7" name="sources note"/>
          <p:cNvSpPr txBox="1"/>
          <p:nvPr/>
        </p:nvSpPr>
        <p:spPr>
          <a:xfrm>
            <a:off x="822960" y="5303520"/>
            <a:ext cx="10515600" cy="685800"/>
          </a:xfrm>
          <a:prstGeom prst="rect">
            <a:avLst/>
          </a:prstGeom>
          <a:noFill/>
          <a:ln/>
        </p:spPr>
        <p:txBody>
          <a:bodyPr wrap="square" lIns="0" tIns="0" rIns="0" bIns="0" rtlCol="0" anchor="ctr"/>
          <a:lstStyle/>
          <a:p>
            <a:pPr indent="0" marL="0">
              <a:buNone/>
            </a:pPr>
            <a:r>
              <a:rPr lang="en-US" sz="1300" dirty="0">
                <a:solidFill>
                  <a:schemeClr val="tx1"/>
                </a:solidFill>
              </a:rPr>
              <a:t>Three kinds of ground: standards (what each element is and weighs), measured open buildings (how close neighbours sit) and declared design choices (trade mix, surface mix, number of rows). Every constant carries its source and status in the repository, and the log says why each standard was chosen over its alternatives.</a:t>
            </a:r>
            <a:endParaRPr lang="en-US" sz="13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7,000 contexts in four splits; the test seeds are never trained on</a:t>
            </a:r>
            <a:endParaRPr lang="en-US" sz="2600" dirty="0"/>
          </a:p>
        </p:txBody>
      </p:sp>
      <p:graphicFrame>
        <p:nvGraphicFramePr>
          <p:cNvPr id="11" name="splits table"/>
          <p:cNvGraphicFramePr>
            <a:graphicFrameLocks noGrp="1"/>
          </p:cNvGraphicFramePr>
          <p:nvPr>
            <p:extLst>
              <p:ext uri="{D42A27DB-BD31-4B8C-83A1-F6EECF244321}">
                <p14:modId xmlns:p14="http://schemas.microsoft.com/office/powerpoint/2010/main" val="1579011935"/>
              </p:ext>
            </p:extLst>
          </p:nvPr>
        </p:nvGraphicFramePr>
        <p:xfrm>
          <a:off x="548640" y="1417320"/>
          <a:ext cx="5120640" cy="914400"/>
        </p:xfrm>
        <a:graphic>
          <a:graphicData uri="http://schemas.openxmlformats.org/drawingml/2006/table">
            <a:tbl>
              <a:tblPr/>
              <a:tblGrid>
                <a:gridCol w="1554480"/>
                <a:gridCol w="1188720"/>
                <a:gridCol w="1280160"/>
                <a:gridCol w="1097280"/>
              </a:tblGrid>
              <a:tr h="384048">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split</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contexts</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elements</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seed</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train</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5,000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22,500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validation</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2,242</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test</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2,242</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3000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benchmark</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4,500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42</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b="1" dirty="0">
                          <a:solidFill>
                            <a:srgbClr val="0B0B0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b="1" dirty="0">
                          <a:solidFill>
                            <a:srgbClr val="0B0B0B"/>
                          </a:solidFill>
                          <a:latin typeface="Calibri" pitchFamily="34" charset="0"/>
                          <a:ea typeface="Calibri" pitchFamily="34" charset="-122"/>
                          <a:cs typeface="Calibri" pitchFamily="34" charset="-120"/>
                        </a:rPr>
                        <a:t>7,000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b="1" dirty="0">
                          <a:solidFill>
                            <a:srgbClr val="0B0B0B"/>
                          </a:solidFill>
                          <a:latin typeface="Calibri" pitchFamily="34" charset="0"/>
                          <a:ea typeface="Calibri" pitchFamily="34" charset="-122"/>
                          <a:cs typeface="Calibri" pitchFamily="34" charset="-120"/>
                        </a:rPr>
                        <a:t>31,484</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release facts"/>
          <p:cNvSpPr txBox="1"/>
          <p:nvPr/>
        </p:nvSpPr>
        <p:spPr>
          <a:xfrm>
            <a:off x="548640" y="3977640"/>
            <a:ext cx="5120640" cy="2148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Tiers assigned round-robin: 625 per tier in train, 125 in the benchmark</a:t>
            </a:r>
            <a:endParaRPr lang="en-US" sz="1300" dirty="0"/>
          </a:p>
          <a:p>
            <a:pPr marL="342900" indent="-342900">
              <a:spcAft>
                <a:spcPts val="600"/>
              </a:spcAft>
              <a:buSzPct val="100000"/>
              <a:buChar char="•"/>
            </a:pPr>
            <a:r>
              <a:rPr lang="en-US" sz="1300" dirty="0">
                <a:solidFill>
                  <a:schemeClr val="tx1"/>
                </a:solidFill>
              </a:rPr>
              <a:t>Four in five contexts hang from a ceiling, one in five from a wall</a:t>
            </a:r>
            <a:endParaRPr lang="en-US" sz="1300" dirty="0"/>
          </a:p>
          <a:p>
            <a:pPr marL="342900" indent="-342900">
              <a:spcAft>
                <a:spcPts val="600"/>
              </a:spcAft>
              <a:buSzPct val="100000"/>
              <a:buChar char="•"/>
            </a:pPr>
            <a:r>
              <a:rPr lang="en-US" sz="1300" dirty="0">
                <a:solidFill>
                  <a:schemeClr val="tx1"/>
                </a:solidFill>
              </a:rPr>
              <a:t>Six trades: electrical 10,494, domestic water 5,725, heating 5,788, chilled water 3,987, sprinkler 2,073, ventilation 3,417 elements</a:t>
            </a:r>
            <a:endParaRPr lang="en-US" sz="1300" dirty="0"/>
          </a:p>
          <a:p>
            <a:pPr marL="342900" indent="-342900">
              <a:spcAft>
                <a:spcPts val="600"/>
              </a:spcAft>
              <a:buSzPct val="100000"/>
              <a:buChar char="•"/>
            </a:pPr>
            <a:r>
              <a:rPr lang="en-US" sz="1300" dirty="0">
                <a:solidFill>
                  <a:schemeClr val="tx1"/>
                </a:solidFill>
              </a:rPr>
              <a:t>Plain JSON, with a JSON Schema, Croissant metadata and a datasheet</a:t>
            </a:r>
            <a:endParaRPr lang="en-US" sz="1300" dirty="0"/>
          </a:p>
        </p:txBody>
      </p:sp>
      <p:graphicFrame>
        <p:nvGraphicFramePr>
          <p:cNvPr id="5" name="kinds chart" descr=""/>
          <p:cNvGraphicFramePr/>
          <p:nvPr/>
        </p:nvGraphicFramePr>
        <p:xfrm>
          <a:off x="5989320" y="1371600"/>
          <a:ext cx="5650992" cy="22402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dn chart" descr=""/>
          <p:cNvGraphicFramePr/>
          <p:nvPr/>
        </p:nvGraphicFramePr>
        <p:xfrm>
          <a:off x="5989320" y="3749040"/>
          <a:ext cx="5650992" cy="237744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Difficulty is one number: tier Cn holds exactly n elements</a:t>
            </a:r>
            <a:endParaRPr lang="en-US" sz="2600" dirty="0"/>
          </a:p>
        </p:txBody>
      </p:sp>
      <p:pic>
        <p:nvPicPr>
          <p:cNvPr id="3" name="tier gallery" descr="/home/user/crossmep_dataset/docs/figures/02_tier_gallery.png">    </p:cNvPr>
          <p:cNvPicPr>
            <a:picLocks noChangeAspect="1"/>
          </p:cNvPicPr>
          <p:nvPr/>
        </p:nvPicPr>
        <p:blipFill>
          <a:blip r:embed="rId1"/>
          <a:stretch>
            <a:fillRect/>
          </a:stretch>
        </p:blipFill>
        <p:spPr>
          <a:xfrm>
            <a:off x="1244890" y="1280160"/>
            <a:ext cx="9699171" cy="4526280"/>
          </a:xfrm>
          <a:prstGeom prst="rect">
            <a:avLst/>
          </a:prstGeom>
        </p:spPr>
      </p:pic>
      <p:sp>
        <p:nvSpPr>
          <p:cNvPr id="4" name="gallery caption"/>
          <p:cNvSpPr txBox="1"/>
          <p:nvPr/>
        </p:nvSpPr>
        <p:spPr>
          <a:xfrm>
            <a:off x="548640" y="5897880"/>
            <a:ext cx="11091672" cy="502920"/>
          </a:xfrm>
          <a:prstGeom prst="rect">
            <a:avLst/>
          </a:prstGeom>
          <a:noFill/>
          <a:ln/>
        </p:spPr>
        <p:txBody>
          <a:bodyPr wrap="square" lIns="0" tIns="0" rIns="0" bIns="0" rtlCol="0" anchor="t"/>
          <a:lstStyle/>
          <a:p>
            <a:pPr indent="0" marL="0">
              <a:buNone/>
            </a:pPr>
            <a:r>
              <a:rPr lang="en-US" sz="1100" dirty="0">
                <a:solidFill>
                  <a:srgbClr val="52514E"/>
                </a:solidFill>
              </a:rPr>
              <a:t>One benchmark context per tier; dashed rings are insulation. Within a tier, kinds, trades, services, surfaces and stacking all vary, so element count is the one controlled difficulty axis. C1 is the most common support in any building; C8 is a congested rack.</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Higher tiers are heavier and tighter, as designed</a:t>
            </a:r>
            <a:endParaRPr lang="en-US" sz="2600" dirty="0"/>
          </a:p>
        </p:txBody>
      </p:sp>
      <p:pic>
        <p:nvPicPr>
          <p:cNvPr id="3" name="tier statistics" descr="preencoded.png">    </p:cNvPr>
          <p:cNvPicPr>
            <a:picLocks noChangeAspect="1"/>
          </p:cNvPicPr>
          <p:nvPr/>
        </p:nvPicPr>
        <p:blipFill>
          <a:blip r:embed="rId1"/>
          <a:stretch>
            <a:fillRect/>
          </a:stretch>
        </p:blipFill>
        <p:spPr>
          <a:xfrm>
            <a:off x="548640" y="1325880"/>
            <a:ext cx="11091672" cy="3965273"/>
          </a:xfrm>
          <a:prstGeom prst="rect">
            <a:avLst/>
          </a:prstGeom>
        </p:spPr>
      </p:pic>
      <p:sp>
        <p:nvSpPr>
          <p:cNvPr id="4" name="experiment 1 caption"/>
          <p:cNvSpPr txBox="1"/>
          <p:nvPr/>
        </p:nvSpPr>
        <p:spPr>
          <a:xfrm>
            <a:off x="548640" y="5400881"/>
            <a:ext cx="11091672" cy="731520"/>
          </a:xfrm>
          <a:prstGeom prst="rect">
            <a:avLst/>
          </a:prstGeom>
          <a:noFill/>
          <a:ln/>
        </p:spPr>
        <p:txBody>
          <a:bodyPr wrap="square" lIns="0" tIns="0" rIns="0" bIns="0" rtlCol="0" anchor="t"/>
          <a:lstStyle/>
          <a:p>
            <a:pPr indent="0" marL="0">
              <a:buNone/>
            </a:pPr>
            <a:r>
              <a:rPr lang="en-US" sz="1250" dirty="0">
                <a:solidFill>
                  <a:srgbClr val="52514E"/>
                </a:solidFill>
              </a:rPr>
              <a:t>A check that the dataset behaves as designed: the tier fixes the element count; load and congestion follow from the rules. Boxes: benchmark, 125 contexts per tier (IQR, whiskers 1.5 IQR); diamonds: medians of 2,000 generated contexts per tier. Load rises with the tier (rank correlation +0.46; the population medians rise at every step) and the closest gap narrows at every step (−0.38; 149 → 55 mm in the population).</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Spacing holds up on a clinic the generator never saw</a:t>
            </a:r>
            <a:endParaRPr lang="en-US" sz="2600" dirty="0"/>
          </a:p>
        </p:txBody>
      </p:sp>
      <p:pic>
        <p:nvPicPr>
          <p:cNvPr id="3" name="gap distributions" descr="preencoded.png">    </p:cNvPr>
          <p:cNvPicPr>
            <a:picLocks noChangeAspect="1"/>
          </p:cNvPicPr>
          <p:nvPr/>
        </p:nvPicPr>
        <p:blipFill>
          <a:blip r:embed="rId1"/>
          <a:stretch>
            <a:fillRect/>
          </a:stretch>
        </p:blipFill>
        <p:spPr>
          <a:xfrm>
            <a:off x="548640" y="1325880"/>
            <a:ext cx="11091672" cy="4133217"/>
          </a:xfrm>
          <a:prstGeom prst="rect">
            <a:avLst/>
          </a:prstGeom>
        </p:spPr>
      </p:pic>
      <p:sp>
        <p:nvSpPr>
          <p:cNvPr id="4" name="experiment 2 caption"/>
          <p:cNvSpPr txBox="1"/>
          <p:nvPr/>
        </p:nvSpPr>
        <p:spPr>
          <a:xfrm>
            <a:off x="548640" y="5568825"/>
            <a:ext cx="11091672" cy="731520"/>
          </a:xfrm>
          <a:prstGeom prst="rect">
            <a:avLst/>
          </a:prstGeom>
          <a:noFill/>
          <a:ln/>
        </p:spPr>
        <p:txBody>
          <a:bodyPr wrap="square" lIns="0" tIns="0" rIns="0" bIns="0" rtlCol="0" anchor="t"/>
          <a:lstStyle/>
          <a:p>
            <a:pPr indent="0" marL="0">
              <a:buNone/>
            </a:pPr>
            <a:r>
              <a:rPr lang="en-US" sz="1250" dirty="0">
                <a:solidFill>
                  <a:srgbClr val="52514E"/>
                </a:solidFill>
              </a:rPr>
              <a:t>The gap distribution was fitted on the duplex; the clinic was held out. Clear gaps between side-by-side pipes, on sections every 250 mm. Clinic (797 pipe pairs): 32 mm from the generated gaps (95 % CI 17–48), more than the 8 mm a perfect generator would show, and about as close as the duplex’s own two models are to each other (26 mm). Models: buildingSMART Duplex Apartment and Medical-Dental Clinic, CC BY 4.0.</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two-size catalog attaches 1 pipe in 7; the dataset shows what to cover</a:t>
            </a:r>
            <a:endParaRPr lang="en-US" sz="2600" dirty="0"/>
          </a:p>
        </p:txBody>
      </p:sp>
      <p:graphicFrame>
        <p:nvGraphicFramePr>
          <p:cNvPr id="3" name="attach by size chart" descr=""/>
          <p:cNvGraphicFramePr/>
          <p:nvPr/>
        </p:nvGraphicFramePr>
        <p:xfrm>
          <a:off x="548640" y="1325880"/>
          <a:ext cx="5486400" cy="32461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demand chart" descr=""/>
          <p:cNvGraphicFramePr/>
          <p:nvPr/>
        </p:nvGraphicFramePr>
        <p:xfrm>
          <a:off x="6172200" y="1325880"/>
          <a:ext cx="5468112" cy="3246120"/>
        </p:xfrm>
        <a:graphic xmlns:a="http://schemas.openxmlformats.org/drawingml/2006/main">
          <a:graphicData uri="http://schemas.openxmlformats.org/drawingml/2006/chart">
            <c:chart xmlns:c="http://schemas.openxmlformats.org/drawingml/2006/chart" r:id="rId2"/>
          </a:graphicData>
        </a:graphic>
      </p:graphicFrame>
      <p:sp>
        <p:nvSpPr>
          <p:cNvPr id="5" name="tile of benchmark pipes attachable with the paper’s two sizes (95 % CI 12.7–16.2); every one is DN40"/>
          <p:cNvSpPr/>
          <p:nvPr/>
        </p:nvSpPr>
        <p:spPr>
          <a:xfrm>
            <a:off x="548640" y="4663440"/>
            <a:ext cx="3575304" cy="1463040"/>
          </a:xfrm>
          <a:prstGeom prst="roundRect">
            <a:avLst>
              <a:gd name="adj" fmla="val 4375"/>
            </a:avLst>
          </a:prstGeom>
          <a:solidFill>
            <a:schemeClr val="bg2"/>
          </a:solidFill>
          <a:ln/>
        </p:spPr>
      </p:sp>
      <p:sp>
        <p:nvSpPr>
          <p:cNvPr id="6" name="value of benchmark pipes attachable with the paper’s two sizes (95 % CI 12.7–16.2); every one is DN40"/>
          <p:cNvSpPr txBox="1"/>
          <p:nvPr/>
        </p:nvSpPr>
        <p:spPr>
          <a:xfrm>
            <a:off x="749808"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14.5 %</a:t>
            </a:r>
            <a:endParaRPr lang="en-US" sz="3200" dirty="0"/>
          </a:p>
        </p:txBody>
      </p:sp>
      <p:sp>
        <p:nvSpPr>
          <p:cNvPr id="7" name="label of benchmark pipes attachable with the paper’s two sizes (95 % CI 12.7–16.2); every one is DN40"/>
          <p:cNvSpPr txBox="1"/>
          <p:nvPr/>
        </p:nvSpPr>
        <p:spPr>
          <a:xfrm>
            <a:off x="749808"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of benchmark pipes attachable with the paper’s two sizes (95 % CI 12.7–16.2); every one is DN40</a:t>
            </a:r>
            <a:endParaRPr lang="en-US" sz="1100" dirty="0"/>
          </a:p>
        </p:txBody>
      </p:sp>
      <p:sp>
        <p:nvSpPr>
          <p:cNvPr id="8" name="tile with two sizes placed where the pipes are; 76 % with six, and every pipe with 15"/>
          <p:cNvSpPr/>
          <p:nvPr/>
        </p:nvSpPr>
        <p:spPr>
          <a:xfrm>
            <a:off x="4306824" y="4663440"/>
            <a:ext cx="3575304" cy="1463040"/>
          </a:xfrm>
          <a:prstGeom prst="roundRect">
            <a:avLst>
              <a:gd name="adj" fmla="val 4375"/>
            </a:avLst>
          </a:prstGeom>
          <a:solidFill>
            <a:schemeClr val="bg2"/>
          </a:solidFill>
          <a:ln/>
        </p:spPr>
      </p:sp>
      <p:sp>
        <p:nvSpPr>
          <p:cNvPr id="9" name="value with two sizes placed where the pipes are; 76 % with six, and every pipe with 15"/>
          <p:cNvSpPr txBox="1"/>
          <p:nvPr/>
        </p:nvSpPr>
        <p:spPr>
          <a:xfrm>
            <a:off x="4507992"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38.1 %</a:t>
            </a:r>
            <a:endParaRPr lang="en-US" sz="3200" dirty="0"/>
          </a:p>
        </p:txBody>
      </p:sp>
      <p:sp>
        <p:nvSpPr>
          <p:cNvPr id="10" name="label with two sizes placed where the pipes are; 76 % with six, and every pipe with 15"/>
          <p:cNvSpPr txBox="1"/>
          <p:nvPr/>
        </p:nvSpPr>
        <p:spPr>
          <a:xfrm>
            <a:off x="4507992"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with two sizes placed where the pipes are; 76 % with six, and every pipe with 15</a:t>
            </a:r>
            <a:endParaRPr lang="en-US" sz="1100" dirty="0"/>
          </a:p>
        </p:txBody>
      </p:sp>
      <p:sp>
        <p:nvSpPr>
          <p:cNvPr id="11" name="tile trays, ducts and conduits: a pipe-clamp catalog defines no attachment. Load never binds (1.97 vs 2.5 kN)"/>
          <p:cNvSpPr/>
          <p:nvPr/>
        </p:nvSpPr>
        <p:spPr>
          <a:xfrm>
            <a:off x="8065008" y="4663440"/>
            <a:ext cx="3575304" cy="1463040"/>
          </a:xfrm>
          <a:prstGeom prst="roundRect">
            <a:avLst>
              <a:gd name="adj" fmla="val 4375"/>
            </a:avLst>
          </a:prstGeom>
          <a:solidFill>
            <a:schemeClr val="bg2"/>
          </a:solidFill>
          <a:ln/>
        </p:spPr>
      </p:sp>
      <p:sp>
        <p:nvSpPr>
          <p:cNvPr id="12" name="value trays, ducts and conduits: a pipe-clamp catalog defines no attachment. Load never binds (1.97 vs 2.5 kN)"/>
          <p:cNvSpPr txBox="1"/>
          <p:nvPr/>
        </p:nvSpPr>
        <p:spPr>
          <a:xfrm>
            <a:off x="8266176"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0 of 2,012</a:t>
            </a:r>
            <a:endParaRPr lang="en-US" sz="3200" dirty="0"/>
          </a:p>
        </p:txBody>
      </p:sp>
      <p:sp>
        <p:nvSpPr>
          <p:cNvPr id="13" name="label trays, ducts and conduits: a pipe-clamp catalog defines no attachment. Load never binds (1.97 vs 2.5 kN)"/>
          <p:cNvSpPr txBox="1"/>
          <p:nvPr/>
        </p:nvSpPr>
        <p:spPr>
          <a:xfrm>
            <a:off x="8266176"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trays, ducts and conduits: a pipe-clamp catalog defines no attachment. Load never binds (1.97 vs 2.5 kN)</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Set the parameters and the generator returns the designer’s brief</a:t>
            </a:r>
            <a:endParaRPr lang="en-US" sz="2600" dirty="0"/>
          </a:p>
        </p:txBody>
      </p:sp>
      <p:pic>
        <p:nvPicPr>
          <p:cNvPr id="3" name="studio parameters" descr="preencoded.png">    </p:cNvPr>
          <p:cNvPicPr>
            <a:picLocks noChangeAspect="1"/>
          </p:cNvPicPr>
          <p:nvPr/>
        </p:nvPicPr>
        <p:blipFill>
          <a:blip r:embed="rId1"/>
          <a:stretch>
            <a:fillRect/>
          </a:stretch>
        </p:blipFill>
        <p:spPr>
          <a:xfrm>
            <a:off x="548640" y="1280160"/>
            <a:ext cx="11091672" cy="733885"/>
          </a:xfrm>
          <a:prstGeom prst="rect">
            <a:avLst/>
          </a:prstGeom>
        </p:spPr>
      </p:pic>
      <p:pic>
        <p:nvPicPr>
          <p:cNvPr id="4" name="studio section" descr="preencoded.png">    </p:cNvPr>
          <p:cNvPicPr>
            <a:picLocks noChangeAspect="1"/>
          </p:cNvPicPr>
          <p:nvPr/>
        </p:nvPicPr>
        <p:blipFill>
          <a:blip r:embed="rId2"/>
          <a:stretch>
            <a:fillRect/>
          </a:stretch>
        </p:blipFill>
        <p:spPr>
          <a:xfrm>
            <a:off x="548640" y="2196925"/>
            <a:ext cx="7726680" cy="3000652"/>
          </a:xfrm>
          <a:prstGeom prst="rect">
            <a:avLst/>
          </a:prstGeom>
        </p:spPr>
      </p:pic>
      <p:sp>
        <p:nvSpPr>
          <p:cNvPr id="5" name="studio caption"/>
          <p:cNvSpPr txBox="1"/>
          <p:nvPr/>
        </p:nvSpPr>
        <p:spPr>
          <a:xfrm>
            <a:off x="548640" y="5334737"/>
            <a:ext cx="7726680" cy="731520"/>
          </a:xfrm>
          <a:prstGeom prst="rect">
            <a:avLst/>
          </a:prstGeom>
          <a:noFill/>
          <a:ln/>
        </p:spPr>
        <p:txBody>
          <a:bodyPr wrap="square" lIns="0" tIns="0" rIns="0" bIns="0" rtlCol="0" anchor="t"/>
          <a:lstStyle/>
          <a:p>
            <a:pPr indent="0" marL="0">
              <a:buNone/>
            </a:pPr>
            <a:r>
              <a:rPr lang="en-US" sz="1250" dirty="0">
                <a:solidFill>
                  <a:srgbClr val="52514E"/>
                </a:solidFill>
              </a:rPr>
              <a:t>In: the parameters (tier C7, seed 0). Out: section A–A at the support, as the support designer receives it (scale 1:20), and the same run in 3D. Every section is a stored output of the released generator, with the Python call that reproduces it.</a:t>
            </a:r>
            <a:endParaRPr lang="en-US" sz="1250" dirty="0"/>
          </a:p>
        </p:txBody>
      </p:sp>
      <p:pic>
        <p:nvPicPr>
          <p:cNvPr id="6" name="studio 3D" descr="preencoded.png">    </p:cNvPr>
          <p:cNvPicPr>
            <a:picLocks noChangeAspect="1"/>
          </p:cNvPicPr>
          <p:nvPr/>
        </p:nvPicPr>
        <p:blipFill>
          <a:blip r:embed="rId3"/>
          <a:stretch>
            <a:fillRect/>
          </a:stretch>
        </p:blipFill>
        <p:spPr>
          <a:xfrm>
            <a:off x="8503920" y="2196925"/>
            <a:ext cx="3136392" cy="2240280"/>
          </a:xfrm>
          <a:prstGeom prst="rect">
            <a:avLst/>
          </a:prstGeom>
        </p:spPr>
      </p:pic>
      <p:pic>
        <p:nvPicPr>
          <p:cNvPr id="7" name="qr studio" descr="/home/user/crossmep_dataset/docs/figures/qr_studio.png">    </p:cNvPr>
          <p:cNvPicPr>
            <a:picLocks noChangeAspect="1"/>
          </p:cNvPicPr>
          <p:nvPr/>
        </p:nvPicPr>
        <p:blipFill>
          <a:blip r:embed="rId4"/>
          <a:stretch>
            <a:fillRect/>
          </a:stretch>
        </p:blipFill>
        <p:spPr>
          <a:xfrm>
            <a:off x="9454896" y="4665805"/>
            <a:ext cx="1234440" cy="1234440"/>
          </a:xfrm>
          <a:prstGeom prst="rect">
            <a:avLst/>
          </a:prstGeom>
        </p:spPr>
      </p:pic>
      <p:sp>
        <p:nvSpPr>
          <p:cNvPr id="8" name="studio link"/>
          <p:cNvSpPr txBox="1"/>
          <p:nvPr/>
        </p:nvSpPr>
        <p:spPr>
          <a:xfrm>
            <a:off x="8503920" y="5945965"/>
            <a:ext cx="3136392" cy="274320"/>
          </a:xfrm>
          <a:prstGeom prst="rect">
            <a:avLst/>
          </a:prstGeom>
          <a:noFill/>
          <a:ln/>
        </p:spPr>
        <p:txBody>
          <a:bodyPr wrap="square" lIns="0" tIns="0" rIns="0" bIns="0" rtlCol="0" anchor="t"/>
          <a:lstStyle/>
          <a:p>
            <a:pPr algn="ctr" indent="0" marL="0">
              <a:buNone/>
            </a:pPr>
            <a:r>
              <a:rPr lang="en-US" sz="1200" dirty="0">
                <a:solidFill>
                  <a:srgbClr val="52514E"/>
                </a:solidFill>
              </a:rPr>
              <a:t>Scan to open the studio</a:t>
            </a:r>
            <a:endParaRPr lang="en-US" sz="12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Train on the generator, evaluate on the benchmark, report per tier</a:t>
            </a:r>
            <a:endParaRPr lang="en-US" sz="2600" dirty="0"/>
          </a:p>
        </p:txBody>
      </p:sp>
      <p:sp>
        <p:nvSpPr>
          <p:cNvPr id="3" name="code card"/>
          <p:cNvSpPr/>
          <p:nvPr/>
        </p:nvSpPr>
        <p:spPr>
          <a:xfrm>
            <a:off x="548640" y="1417320"/>
            <a:ext cx="5486400" cy="1874520"/>
          </a:xfrm>
          <a:prstGeom prst="roundRect">
            <a:avLst>
              <a:gd name="adj" fmla="val 3415"/>
            </a:avLst>
          </a:prstGeom>
          <a:solidFill>
            <a:schemeClr val="tx2"/>
          </a:solidFill>
          <a:ln/>
        </p:spPr>
      </p:sp>
      <p:sp>
        <p:nvSpPr>
          <p:cNvPr id="4" name="code"/>
          <p:cNvSpPr txBox="1"/>
          <p:nvPr/>
        </p:nvSpPr>
        <p:spPr>
          <a:xfrm>
            <a:off x="777240" y="1600200"/>
            <a:ext cx="5029200" cy="1508760"/>
          </a:xfrm>
          <a:prstGeom prst="rect">
            <a:avLst/>
          </a:prstGeom>
          <a:noFill/>
          <a:ln/>
        </p:spPr>
        <p:txBody>
          <a:bodyPr wrap="square" lIns="0" tIns="0" rIns="0" bIns="0" rtlCol="0" anchor="t"/>
          <a:lstStyle/>
          <a:p>
            <a:pPr indent="0" marL="0">
              <a:buNone/>
            </a:pPr>
            <a:r>
              <a:rPr lang="en-US" sz="1300" dirty="0">
                <a:solidFill>
                  <a:srgbClr val="FFFFFF"/>
                </a:solidFill>
                <a:latin typeface="Courier New" pitchFamily="34" charset="0"/>
                <a:ea typeface="Courier New" pitchFamily="34" charset="-122"/>
                <a:cs typeface="Courier New" pitchFamily="34" charset="-120"/>
              </a:rPr>
              <a:t>import crossmep.tasks as cm</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data = cm.load("benchmark")</a:t>
            </a:r>
            <a:pPr indent="0" marL="0">
              <a:buNone/>
            </a:pPr>
            <a:r>
              <a:rPr lang="en-US" sz="1300" dirty="0">
                <a:solidFill>
                  <a:srgbClr val="CADCFC"/>
                </a:solidFill>
                <a:latin typeface="Courier New" pitchFamily="34" charset="0"/>
                <a:ea typeface="Courier New" pitchFamily="34" charset="-122"/>
                <a:cs typeface="Courier New" pitchFamily="34" charset="-120"/>
              </a:rPr>
              <a:t>  # 1,000 contexts</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cm.filter_contexts(data, pipes=2, trays=1)</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from crossmep.evaluate import score, compare</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score(my_results, data)</a:t>
            </a:r>
            <a:pPr indent="0" marL="0">
              <a:buNone/>
            </a:pPr>
            <a:r>
              <a:rPr lang="en-US" sz="1300" dirty="0">
                <a:solidFill>
                  <a:srgbClr val="CADCFC"/>
                </a:solidFill>
                <a:latin typeface="Courier New" pitchFamily="34" charset="0"/>
                <a:ea typeface="Courier New" pitchFamily="34" charset="-122"/>
                <a:cs typeface="Courier New" pitchFamily="34" charset="-120"/>
              </a:rPr>
              <a:t>  # per tier, 95 % CI</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compare(mine, baseline, data)</a:t>
            </a:r>
            <a:pPr indent="0" marL="0">
              <a:buNone/>
            </a:pPr>
            <a:r>
              <a:rPr lang="en-US" sz="1300" dirty="0">
                <a:solidFill>
                  <a:srgbClr val="CADCFC"/>
                </a:solidFill>
                <a:latin typeface="Courier New" pitchFamily="34" charset="0"/>
                <a:ea typeface="Courier New" pitchFamily="34" charset="-122"/>
                <a:cs typeface="Courier New" pitchFamily="34" charset="-120"/>
              </a:rPr>
              <a:t>  # paired test</a:t>
            </a:r>
            <a:endParaRPr lang="en-US" sz="1300" dirty="0"/>
          </a:p>
        </p:txBody>
      </p:sp>
      <p:sp>
        <p:nvSpPr>
          <p:cNvPr id="5" name="code caption"/>
          <p:cNvSpPr txBox="1"/>
          <p:nvPr/>
        </p:nvSpPr>
        <p:spPr>
          <a:xfrm>
            <a:off x="548640" y="3429000"/>
            <a:ext cx="5486400" cy="548640"/>
          </a:xfrm>
          <a:prstGeom prst="rect">
            <a:avLst/>
          </a:prstGeom>
          <a:noFill/>
          <a:ln/>
        </p:spPr>
        <p:txBody>
          <a:bodyPr wrap="square" lIns="0" tIns="0" rIns="0" bIns="0" rtlCol="0" anchor="t"/>
          <a:lstStyle/>
          <a:p>
            <a:pPr indent="0" marL="0">
              <a:buNone/>
            </a:pPr>
            <a:r>
              <a:rPr lang="en-US" sz="1100" dirty="0">
                <a:solidFill>
                  <a:srgbClr val="52514E"/>
                </a:solidFill>
              </a:rPr>
              <a:t>Loading, metrics and scoring need only the Python standard library; the generator needs NumPy. Command line: python -m crossmep generate | validate | evaluate.</a:t>
            </a:r>
            <a:endParaRPr lang="en-US" sz="1100" dirty="0"/>
          </a:p>
        </p:txBody>
      </p:sp>
      <p:pic>
        <p:nvPicPr>
          <p:cNvPr id="6" name="gallery screenshot" descr="preencoded.png">    </p:cNvPr>
          <p:cNvPicPr>
            <a:picLocks noChangeAspect="1"/>
          </p:cNvPicPr>
          <p:nvPr/>
        </p:nvPicPr>
        <p:blipFill>
          <a:blip r:embed="rId1"/>
          <a:stretch>
            <a:fillRect/>
          </a:stretch>
        </p:blipFill>
        <p:spPr>
          <a:xfrm>
            <a:off x="6570536" y="1417320"/>
            <a:ext cx="4854321" cy="2834640"/>
          </a:xfrm>
          <a:prstGeom prst="rect">
            <a:avLst/>
          </a:prstGeom>
        </p:spPr>
      </p:pic>
      <p:sp>
        <p:nvSpPr>
          <p:cNvPr id="7" name="gallery screenshot caption"/>
          <p:cNvSpPr txBox="1"/>
          <p:nvPr/>
        </p:nvSpPr>
        <p:spPr>
          <a:xfrm>
            <a:off x="6570536" y="4325112"/>
            <a:ext cx="4854321" cy="274320"/>
          </a:xfrm>
          <a:prstGeom prst="rect">
            <a:avLst/>
          </a:prstGeom>
          <a:noFill/>
          <a:ln/>
        </p:spPr>
        <p:txBody>
          <a:bodyPr wrap="square" lIns="0" tIns="0" rIns="0" bIns="0" rtlCol="0" anchor="t"/>
          <a:lstStyle/>
          <a:p>
            <a:pPr indent="0" marL="0">
              <a:buNone/>
            </a:pPr>
            <a:r>
              <a:rPr lang="en-US" sz="1100" dirty="0">
                <a:solidFill>
                  <a:srgbClr val="52514E"/>
                </a:solidFill>
              </a:rPr>
              <a:t>Interactive gallery: filter the benchmark by tier, kind, trade and surface.</a:t>
            </a:r>
            <a:endParaRPr lang="en-US" sz="1100" dirty="0"/>
          </a:p>
        </p:txBody>
      </p:sp>
      <p:sp>
        <p:nvSpPr>
          <p:cNvPr id="8" name="use Train"/>
          <p:cNvSpPr/>
          <p:nvPr/>
        </p:nvSpPr>
        <p:spPr>
          <a:xfrm>
            <a:off x="548640" y="4754880"/>
            <a:ext cx="3575304" cy="1280160"/>
          </a:xfrm>
          <a:prstGeom prst="roundRect">
            <a:avLst>
              <a:gd name="adj" fmla="val 5000"/>
            </a:avLst>
          </a:prstGeom>
          <a:solidFill>
            <a:schemeClr val="bg2"/>
          </a:solidFill>
          <a:ln/>
        </p:spPr>
      </p:sp>
      <p:sp>
        <p:nvSpPr>
          <p:cNvPr id="9" name="use head Train"/>
          <p:cNvSpPr txBox="1"/>
          <p:nvPr/>
        </p:nvSpPr>
        <p:spPr>
          <a:xfrm>
            <a:off x="777240"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Train</a:t>
            </a:r>
            <a:endParaRPr lang="en-US" sz="1500" dirty="0"/>
          </a:p>
        </p:txBody>
      </p:sp>
      <p:sp>
        <p:nvSpPr>
          <p:cNvPr id="10" name="use text Train"/>
          <p:cNvSpPr txBox="1"/>
          <p:nvPr/>
        </p:nvSpPr>
        <p:spPr>
          <a:xfrm>
            <a:off x="777240"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on the generator: unlimited seeds, a curriculum from C1 up to C8</a:t>
            </a:r>
            <a:endParaRPr lang="en-US" sz="1250" dirty="0"/>
          </a:p>
        </p:txBody>
      </p:sp>
      <p:sp>
        <p:nvSpPr>
          <p:cNvPr id="11" name="use Evaluate"/>
          <p:cNvSpPr/>
          <p:nvPr/>
        </p:nvSpPr>
        <p:spPr>
          <a:xfrm>
            <a:off x="4306824" y="4754880"/>
            <a:ext cx="3575304" cy="1280160"/>
          </a:xfrm>
          <a:prstGeom prst="roundRect">
            <a:avLst>
              <a:gd name="adj" fmla="val 5000"/>
            </a:avLst>
          </a:prstGeom>
          <a:solidFill>
            <a:schemeClr val="bg2"/>
          </a:solidFill>
          <a:ln/>
        </p:spPr>
      </p:sp>
      <p:sp>
        <p:nvSpPr>
          <p:cNvPr id="12" name="use head Evaluate"/>
          <p:cNvSpPr txBox="1"/>
          <p:nvPr/>
        </p:nvSpPr>
        <p:spPr>
          <a:xfrm>
            <a:off x="4535424"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Evaluate</a:t>
            </a:r>
            <a:endParaRPr lang="en-US" sz="1500" dirty="0"/>
          </a:p>
        </p:txBody>
      </p:sp>
      <p:sp>
        <p:nvSpPr>
          <p:cNvPr id="13" name="use text Evaluate"/>
          <p:cNvSpPr txBox="1"/>
          <p:nvPr/>
        </p:nvSpPr>
        <p:spPr>
          <a:xfrm>
            <a:off x="4535424"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on the benchmark: 125 held-out contexts per tier, the same for every method</a:t>
            </a:r>
            <a:endParaRPr lang="en-US" sz="1250" dirty="0"/>
          </a:p>
        </p:txBody>
      </p:sp>
      <p:sp>
        <p:nvSpPr>
          <p:cNvPr id="14" name="use Report"/>
          <p:cNvSpPr/>
          <p:nvPr/>
        </p:nvSpPr>
        <p:spPr>
          <a:xfrm>
            <a:off x="8065008" y="4754880"/>
            <a:ext cx="3575304" cy="1280160"/>
          </a:xfrm>
          <a:prstGeom prst="roundRect">
            <a:avLst>
              <a:gd name="adj" fmla="val 5000"/>
            </a:avLst>
          </a:prstGeom>
          <a:solidFill>
            <a:schemeClr val="bg2"/>
          </a:solidFill>
          <a:ln/>
        </p:spPr>
      </p:sp>
      <p:sp>
        <p:nvSpPr>
          <p:cNvPr id="15" name="use head Report"/>
          <p:cNvSpPr txBox="1"/>
          <p:nvPr/>
        </p:nvSpPr>
        <p:spPr>
          <a:xfrm>
            <a:off x="8293608"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Report</a:t>
            </a:r>
            <a:endParaRPr lang="en-US" sz="1500" dirty="0"/>
          </a:p>
        </p:txBody>
      </p:sp>
      <p:sp>
        <p:nvSpPr>
          <p:cNvPr id="16" name="use text Report"/>
          <p:cNvSpPr txBox="1"/>
          <p:nvPr/>
        </p:nvSpPr>
        <p:spPr>
          <a:xfrm>
            <a:off x="8293608"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per tier with 95 % intervals, paired tests between methods</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One section at one support today; a checker and real data come next</a:t>
            </a:r>
            <a:endParaRPr lang="en-US" sz="2600" dirty="0"/>
          </a:p>
        </p:txBody>
      </p:sp>
      <p:sp>
        <p:nvSpPr>
          <p:cNvPr id="3" name="scope card"/>
          <p:cNvSpPr/>
          <p:nvPr/>
        </p:nvSpPr>
        <p:spPr>
          <a:xfrm>
            <a:off x="548640" y="1371600"/>
            <a:ext cx="5431536" cy="3246120"/>
          </a:xfrm>
          <a:prstGeom prst="roundRect">
            <a:avLst>
              <a:gd name="adj" fmla="val 1972"/>
            </a:avLst>
          </a:prstGeom>
          <a:solidFill>
            <a:schemeClr val="bg2"/>
          </a:solidFill>
          <a:ln/>
        </p:spPr>
      </p:sp>
      <p:sp>
        <p:nvSpPr>
          <p:cNvPr id="4" name="scope heading"/>
          <p:cNvSpPr txBox="1"/>
          <p:nvPr/>
        </p:nvSpPr>
        <p:spPr>
          <a:xfrm>
            <a:off x="822960" y="1508760"/>
            <a:ext cx="4882896" cy="411480"/>
          </a:xfrm>
          <a:prstGeom prst="rect">
            <a:avLst/>
          </a:prstGeom>
          <a:noFill/>
          <a:ln/>
        </p:spPr>
        <p:txBody>
          <a:bodyPr wrap="square" lIns="0" tIns="0" rIns="0" bIns="0" rtlCol="0" anchor="ctr"/>
          <a:lstStyle/>
          <a:p>
            <a:pPr indent="0" marL="0">
              <a:buNone/>
            </a:pPr>
            <a:r>
              <a:rPr lang="en-US" sz="1800" b="1" dirty="0">
                <a:solidFill>
                  <a:schemeClr val="tx1"/>
                </a:solidFill>
              </a:rPr>
              <a:t>Scope</a:t>
            </a:r>
            <a:endParaRPr lang="en-US" sz="1800" dirty="0"/>
          </a:p>
        </p:txBody>
      </p:sp>
      <p:sp>
        <p:nvSpPr>
          <p:cNvPr id="5" name="scope bullets"/>
          <p:cNvSpPr txBox="1"/>
          <p:nvPr/>
        </p:nvSpPr>
        <p:spPr>
          <a:xfrm>
            <a:off x="822960" y="2011680"/>
            <a:ext cx="4882896" cy="2514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One cross-section at one support: routing, branches and elevation changes are outside it; so is support spacing — the span is recorded per element, so a method can vary it</a:t>
            </a:r>
            <a:endParaRPr lang="en-US" sz="1400" dirty="0"/>
          </a:p>
          <a:p>
            <a:pPr marL="342900" indent="-342900">
              <a:spcAft>
                <a:spcPts val="600"/>
              </a:spcAft>
              <a:buSzPct val="100000"/>
              <a:buChar char="•"/>
            </a:pPr>
            <a:r>
              <a:rPr lang="en-US" sz="1400" dirty="0">
                <a:solidFill>
                  <a:schemeClr val="tx1"/>
                </a:solidFill>
              </a:rPr>
              <a:t>Realism checked on sections of two open buildings, a residential duplex and a medical clinic; congested racks rest on coordination practice and standards</a:t>
            </a:r>
            <a:endParaRPr lang="en-US" sz="1400" dirty="0"/>
          </a:p>
          <a:p>
            <a:pPr marL="342900" indent="-342900">
              <a:spcAft>
                <a:spcPts val="600"/>
              </a:spcAft>
              <a:buSzPct val="100000"/>
              <a:buChar char="•"/>
            </a:pPr>
            <a:r>
              <a:rPr lang="en-US" sz="1400" dirty="0">
                <a:solidFill>
                  <a:schemeClr val="tx1"/>
                </a:solidFill>
              </a:rPr>
              <a:t>Trade mix and tier composition are design choices, not survey results</a:t>
            </a:r>
            <a:endParaRPr lang="en-US" sz="1400" dirty="0"/>
          </a:p>
          <a:p>
            <a:pPr marL="342900" indent="-342900">
              <a:spcAft>
                <a:spcPts val="600"/>
              </a:spcAft>
              <a:buSzPct val="100000"/>
              <a:buChar char="•"/>
            </a:pPr>
            <a:r>
              <a:rPr lang="en-US" sz="1400" dirty="0">
                <a:solidFill>
                  <a:schemeClr val="tx1"/>
                </a:solidFill>
              </a:rPr>
              <a:t>Synthetic: not for the structural design of real installations</a:t>
            </a:r>
            <a:endParaRPr lang="en-US" sz="1400" dirty="0"/>
          </a:p>
        </p:txBody>
      </p:sp>
      <p:sp>
        <p:nvSpPr>
          <p:cNvPr id="6" name="next card"/>
          <p:cNvSpPr/>
          <p:nvPr/>
        </p:nvSpPr>
        <p:spPr>
          <a:xfrm>
            <a:off x="6208776" y="1371600"/>
            <a:ext cx="5431536" cy="3246120"/>
          </a:xfrm>
          <a:prstGeom prst="roundRect">
            <a:avLst>
              <a:gd name="adj" fmla="val 1972"/>
            </a:avLst>
          </a:prstGeom>
          <a:solidFill>
            <a:schemeClr val="bg2"/>
          </a:solidFill>
          <a:ln/>
        </p:spPr>
      </p:sp>
      <p:sp>
        <p:nvSpPr>
          <p:cNvPr id="7" name="next heading"/>
          <p:cNvSpPr txBox="1"/>
          <p:nvPr/>
        </p:nvSpPr>
        <p:spPr>
          <a:xfrm>
            <a:off x="6483096" y="1508760"/>
            <a:ext cx="4882896" cy="411480"/>
          </a:xfrm>
          <a:prstGeom prst="rect">
            <a:avLst/>
          </a:prstGeom>
          <a:noFill/>
          <a:ln/>
        </p:spPr>
        <p:txBody>
          <a:bodyPr wrap="square" lIns="0" tIns="0" rIns="0" bIns="0" rtlCol="0" anchor="ctr"/>
          <a:lstStyle/>
          <a:p>
            <a:pPr indent="0" marL="0">
              <a:buNone/>
            </a:pPr>
            <a:r>
              <a:rPr lang="en-US" sz="1800" b="1" dirty="0">
                <a:solidFill>
                  <a:schemeClr val="tx1"/>
                </a:solidFill>
              </a:rPr>
              <a:t>Next</a:t>
            </a:r>
            <a:endParaRPr lang="en-US" sz="1800" dirty="0"/>
          </a:p>
        </p:txBody>
      </p:sp>
      <p:sp>
        <p:nvSpPr>
          <p:cNvPr id="8" name="next bullets"/>
          <p:cNvSpPr txBox="1"/>
          <p:nvPr/>
        </p:nvSpPr>
        <p:spPr>
          <a:xfrm>
            <a:off x="6483096" y="2011680"/>
            <a:ext cx="4882896" cy="2514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A public checker for support designs, with best-known costs from an exact solver on the small tiers</a:t>
            </a:r>
            <a:endParaRPr lang="en-US" sz="1400" dirty="0"/>
          </a:p>
          <a:p>
            <a:pPr marL="342900" indent="-342900">
              <a:spcAft>
                <a:spcPts val="600"/>
              </a:spcAft>
              <a:buSzPct val="100000"/>
              <a:buChar char="•"/>
            </a:pPr>
            <a:r>
              <a:rPr lang="en-US" sz="1400" dirty="0">
                <a:solidFill>
                  <a:schemeClr val="tx1"/>
                </a:solidFill>
              </a:rPr>
              <a:t>The catalog as an input: generated catalogs, and tests on catalogs a method has never seen</a:t>
            </a:r>
            <a:endParaRPr lang="en-US" sz="1400" dirty="0"/>
          </a:p>
          <a:p>
            <a:pPr marL="342900" indent="-342900">
              <a:spcAft>
                <a:spcPts val="600"/>
              </a:spcAft>
              <a:buSzPct val="100000"/>
              <a:buChar char="•"/>
            </a:pPr>
            <a:r>
              <a:rPr lang="en-US" sz="1400" dirty="0">
                <a:solidFill>
                  <a:schemeClr val="tx1"/>
                </a:solidFill>
              </a:rPr>
              <a:t>A real test set: sections from commercial projects with supports designed by engineers</a:t>
            </a:r>
            <a:endParaRPr lang="en-US" sz="1400" dirty="0"/>
          </a:p>
        </p:txBody>
      </p:sp>
      <p:sp>
        <p:nvSpPr>
          <p:cNvPr id="9" name="ask band"/>
          <p:cNvSpPr/>
          <p:nvPr/>
        </p:nvSpPr>
        <p:spPr>
          <a:xfrm>
            <a:off x="548640" y="4846320"/>
            <a:ext cx="11091672" cy="1234440"/>
          </a:xfrm>
          <a:prstGeom prst="roundRect">
            <a:avLst>
              <a:gd name="adj" fmla="val 5185"/>
            </a:avLst>
          </a:prstGeom>
          <a:solidFill>
            <a:schemeClr val="tx2"/>
          </a:solidFill>
          <a:ln/>
        </p:spPr>
      </p:sp>
      <p:sp>
        <p:nvSpPr>
          <p:cNvPr id="10" name="ask"/>
          <p:cNvSpPr txBox="1"/>
          <p:nvPr/>
        </p:nvSpPr>
        <p:spPr>
          <a:xfrm>
            <a:off x="868680" y="4937760"/>
            <a:ext cx="9144000" cy="1051560"/>
          </a:xfrm>
          <a:prstGeom prst="rect">
            <a:avLst/>
          </a:prstGeom>
          <a:noFill/>
          <a:ln/>
        </p:spPr>
        <p:txBody>
          <a:bodyPr wrap="square" lIns="0" tIns="0" rIns="0" bIns="0" rtlCol="0" anchor="ctr"/>
          <a:lstStyle/>
          <a:p>
            <a:pPr indent="0" marL="0">
              <a:buNone/>
            </a:pPr>
            <a:r>
              <a:rPr lang="en-US" sz="1500" b="1" dirty="0">
                <a:solidFill>
                  <a:schemeClr val="bg1"/>
                </a:solidFill>
              </a:rPr>
              <a:t>If you coordinate services or design supports, </a:t>
            </a:r>
            <a:pPr indent="0" marL="0">
              <a:buNone/>
            </a:pPr>
            <a:r>
              <a:rPr lang="en-US" sz="1500" dirty="0">
                <a:solidFill>
                  <a:schemeClr val="bg1"/>
                </a:solidFill>
              </a:rPr>
              <a:t>open the gallery, filter for the scenes you know, and tell us what looks wrong. Every rule is one documented constant away from being changed.</a:t>
            </a:r>
            <a:endParaRPr lang="en-US" sz="1500" dirty="0"/>
          </a:p>
        </p:txBody>
      </p:sp>
      <p:pic>
        <p:nvPicPr>
          <p:cNvPr id="11" name="qr ask" descr="/home/user/crossmep_dataset/docs/figures/qr_repo.png">    </p:cNvPr>
          <p:cNvPicPr>
            <a:picLocks noChangeAspect="1"/>
          </p:cNvPicPr>
          <p:nvPr/>
        </p:nvPicPr>
        <p:blipFill>
          <a:blip r:embed="rId1"/>
          <a:stretch>
            <a:fillRect/>
          </a:stretch>
        </p:blipFill>
        <p:spPr>
          <a:xfrm>
            <a:off x="10561320" y="4956048"/>
            <a:ext cx="1005840" cy="1005840"/>
          </a:xfrm>
          <a:prstGeom prst="rect">
            <a:avLst/>
          </a:prstGeom>
        </p:spPr>
      </p:pic>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lIns="0" tIns="0" rIns="0" bIns="0" rtlCol="0" anchor="b"/>
          <a:lstStyle/>
          <a:p>
            <a:pPr algn="l" indent="0" marL="0">
              <a:buNone/>
            </a:pPr>
            <a:r>
              <a:rPr lang="en-US" sz="3600" b="1" dirty="0">
                <a:solidFill>
                  <a:schemeClr val="bg1"/>
                </a:solidFill>
              </a:rPr>
              <a:t>Support design now has open problems to learn from</a:t>
            </a: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lIns="0" tIns="0" rIns="0" bIns="0" rtlCol="0" anchor="t"/>
          <a:lstStyle/>
          <a:p>
            <a:pPr indent="0" marL="0">
              <a:buNone/>
            </a:pPr>
            <a:r>
              <a:rPr lang="en-US" sz="1600" dirty="0">
                <a:solidFill>
                  <a:srgbClr val="CADCFC"/>
                </a:solidFill>
              </a:rPr>
              <a:t>7,000 support-design problems  ·  every constant sourced or declared</a:t>
            </a:r>
            <a:endParaRPr lang="en-US" sz="1600" dirty="0"/>
          </a:p>
          <a:p>
            <a:pPr indent="0" marL="0">
              <a:buNone/>
            </a:pPr>
            <a:r>
              <a:rPr lang="en-US" sz="1600" dirty="0">
                <a:solidFill>
                  <a:srgbClr val="CADCFC"/>
                </a:solidFill>
              </a:rPr>
              <a:t>pipe gaps checked on two open buildings  ·  open data and code</a:t>
            </a:r>
            <a:endParaRPr lang="en-US" sz="1600" dirty="0"/>
          </a:p>
          <a:p>
            <a:pPr indent="0" marL="0">
              <a:buNone/>
            </a:pPr>
            <a:r>
              <a:rPr lang="en-US" sz="800" dirty="0">
                <a:solidFill>
                  <a:srgbClr val="CADCFC"/>
                </a:solidFill>
              </a:rPr>
              <a:t> </a:t>
            </a:r>
            <a:endParaRPr lang="en-US" sz="1600" dirty="0"/>
          </a:p>
          <a:p>
            <a:pPr indent="0" marL="0">
              <a:buNone/>
            </a:pPr>
            <a:r>
              <a:rPr lang="en-US" sz="1300" dirty="0">
                <a:solidFill>
                  <a:srgbClr val="CADCFC"/>
                </a:solidFill>
              </a:rPr>
              <a:t>Data CC BY 4.0, code MIT.  Not for the structural design of real installations.</a:t>
            </a:r>
            <a:endParaRPr lang="en-US" sz="1600" dirty="0"/>
          </a:p>
        </p:txBody>
      </p:sp>
      <p:pic>
        <p:nvPicPr>
          <p:cNvPr id="4" name="qr closing" descr="/home/user/crossmep_dataset/docs/figures/qr_repo.png">    </p:cNvPr>
          <p:cNvPicPr>
            <a:picLocks noChangeAspect="1"/>
          </p:cNvPicPr>
          <p:nvPr/>
        </p:nvPicPr>
        <p:blipFill>
          <a:blip r:embed="rId1"/>
          <a:stretch>
            <a:fillRect/>
          </a:stretch>
        </p:blipFill>
        <p:spPr>
          <a:xfrm>
            <a:off x="8778240" y="2286000"/>
            <a:ext cx="2103120" cy="2103120"/>
          </a:xfrm>
          <a:prstGeom prst="rect">
            <a:avLst/>
          </a:prstGeom>
        </p:spPr>
      </p:pic>
      <p:sp>
        <p:nvSpPr>
          <p:cNvPr id="5" name="closing link"/>
          <p:cNvSpPr txBox="1"/>
          <p:nvPr/>
        </p:nvSpPr>
        <p:spPr>
          <a:xfrm>
            <a:off x="8503920" y="4480560"/>
            <a:ext cx="3108960" cy="731520"/>
          </a:xfrm>
          <a:prstGeom prst="rect">
            <a:avLst/>
          </a:prstGeom>
          <a:noFill/>
          <a:ln/>
        </p:spPr>
        <p:txBody>
          <a:bodyPr wrap="square" lIns="0" tIns="0" rIns="0" bIns="0" rtlCol="0" anchor="t"/>
          <a:lstStyle/>
          <a:p>
            <a:pPr algn="ctr" indent="0" marL="0">
              <a:buNone/>
            </a:pPr>
            <a:r>
              <a:rPr lang="en-US" sz="1200" b="1" dirty="0">
                <a:solidFill>
                  <a:schemeClr val="bg1"/>
                </a:solidFill>
              </a:rPr>
              <a:t>github.com/lavinia-ped/CrossMEP_Dataset</a:t>
            </a:r>
            <a:endParaRPr lang="en-US" sz="1200" dirty="0"/>
          </a:p>
          <a:p>
            <a:pPr algn="ctr" indent="0" marL="0">
              <a:buNone/>
            </a:pPr>
            <a:r>
              <a:rPr lang="en-US" sz="1200" dirty="0">
                <a:solidFill>
                  <a:schemeClr val="bg1"/>
                </a:solidFill>
              </a:rPr>
              <a:t>laviniap@stanford.edu</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wall with six pipes, and a slab with a duct, a tray and conduits</a:t>
            </a:r>
            <a:endParaRPr lang="en-US" sz="2600" dirty="0"/>
          </a:p>
        </p:txBody>
      </p:sp>
      <p:pic>
        <p:nvPicPr>
          <p:cNvPr id="3" name="studio wall sheet" descr="preencoded.png">    </p:cNvPr>
          <p:cNvPicPr>
            <a:picLocks noChangeAspect="1"/>
          </p:cNvPicPr>
          <p:nvPr/>
        </p:nvPicPr>
        <p:blipFill>
          <a:blip r:embed="rId1"/>
          <a:stretch>
            <a:fillRect/>
          </a:stretch>
        </p:blipFill>
        <p:spPr>
          <a:xfrm>
            <a:off x="1564579" y="1325880"/>
            <a:ext cx="3399657" cy="4297680"/>
          </a:xfrm>
          <a:prstGeom prst="rect">
            <a:avLst/>
          </a:prstGeom>
        </p:spPr>
      </p:pic>
      <p:pic>
        <p:nvPicPr>
          <p:cNvPr id="4" name="studio mix sheet" descr="preencoded.png">    </p:cNvPr>
          <p:cNvPicPr>
            <a:picLocks noChangeAspect="1"/>
          </p:cNvPicPr>
          <p:nvPr/>
        </p:nvPicPr>
        <p:blipFill>
          <a:blip r:embed="rId2"/>
          <a:stretch>
            <a:fillRect/>
          </a:stretch>
        </p:blipFill>
        <p:spPr>
          <a:xfrm>
            <a:off x="6542497" y="1325880"/>
            <a:ext cx="4764095" cy="4297680"/>
          </a:xfrm>
          <a:prstGeom prst="rect">
            <a:avLst/>
          </a:prstGeom>
        </p:spPr>
      </p:pic>
      <p:sp>
        <p:nvSpPr>
          <p:cNvPr id="5" name="wall caption"/>
          <p:cNvSpPr txBox="1"/>
          <p:nvPr/>
        </p:nvSpPr>
        <p:spPr>
          <a:xfrm>
            <a:off x="1564579" y="5696712"/>
            <a:ext cx="3399657" cy="457200"/>
          </a:xfrm>
          <a:prstGeom prst="rect">
            <a:avLst/>
          </a:prstGeom>
          <a:noFill/>
          <a:ln/>
        </p:spPr>
        <p:txBody>
          <a:bodyPr wrap="square" lIns="0" tIns="0" rIns="0" bIns="0" rtlCol="0" anchor="t"/>
          <a:lstStyle/>
          <a:p>
            <a:pPr indent="0" marL="0">
              <a:buNone/>
            </a:pPr>
            <a:r>
              <a:rPr lang="en-US" sz="1100" dirty="0">
                <a:solidFill>
                  <a:srgbClr val="52514E"/>
                </a:solidFill>
              </a:rPr>
              <a:t>Tier C6, seed 0, section 5: six pipes fixed to a wall; offsets from the wall face, the closest clear gap 25 mm.</a:t>
            </a:r>
            <a:endParaRPr lang="en-US" sz="1100" dirty="0"/>
          </a:p>
        </p:txBody>
      </p:sp>
      <p:sp>
        <p:nvSpPr>
          <p:cNvPr id="6" name="mix caption"/>
          <p:cNvSpPr txBox="1"/>
          <p:nvPr/>
        </p:nvSpPr>
        <p:spPr>
          <a:xfrm>
            <a:off x="6542497" y="5696712"/>
            <a:ext cx="4764095" cy="457200"/>
          </a:xfrm>
          <a:prstGeom prst="rect">
            <a:avLst/>
          </a:prstGeom>
          <a:noFill/>
          <a:ln/>
        </p:spPr>
        <p:txBody>
          <a:bodyPr wrap="square" lIns="0" tIns="0" rIns="0" bIns="0" rtlCol="0" anchor="t"/>
          <a:lstStyle/>
          <a:p>
            <a:pPr indent="0" marL="0">
              <a:buNone/>
            </a:pPr>
            <a:r>
              <a:rPr lang="en-US" sz="1100" dirty="0">
                <a:solidFill>
                  <a:srgbClr val="52514E"/>
                </a:solidFill>
              </a:rPr>
              <a:t>Exact mix: 2 pipes, 1 tray, 1 duct, 2 conduits on a slab; levels below the soffit and the load at the support.</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Median load rises from 0.30 kN at C1 to 2.04 kN at C8 as the gap narrows</a:t>
            </a:r>
            <a:endParaRPr lang="en-US" sz="2600" dirty="0"/>
          </a:p>
        </p:txBody>
      </p:sp>
      <p:graphicFrame>
        <p:nvGraphicFramePr>
          <p:cNvPr id="21" name="tier table"/>
          <p:cNvGraphicFramePr>
            <a:graphicFrameLocks noGrp="1"/>
          </p:cNvGraphicFramePr>
          <p:nvPr>
            <p:extLst>
              <p:ext uri="{D42A27DB-BD31-4B8C-83A1-F6EECF244321}">
                <p14:modId xmlns:p14="http://schemas.microsoft.com/office/powerpoint/2010/main" val="1579011935"/>
              </p:ext>
            </p:extLst>
          </p:nvPr>
        </p:nvGraphicFramePr>
        <p:xfrm>
          <a:off x="548640" y="1417320"/>
          <a:ext cx="6949440" cy="914400"/>
        </p:xfrm>
        <a:graphic>
          <a:graphicData uri="http://schemas.openxmlformats.org/drawingml/2006/table">
            <a:tbl>
              <a:tblPr/>
              <a:tblGrid>
                <a:gridCol w="822960"/>
                <a:gridCol w="1097280"/>
                <a:gridCol w="1828800"/>
                <a:gridCol w="1554480"/>
                <a:gridCol w="1645920"/>
              </a:tblGrid>
              <a:tr h="384048">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contexts</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median clear gap (mm)</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median load (kN)</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median width (mm)</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0.30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140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C2</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130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0.24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431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C3</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89</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1.04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776</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77</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0.94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1037</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72</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1.22</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1275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C6</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1.36</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1494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C7</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61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2.24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1861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51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2.04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2225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tile 2,488 pipes · 968 conduits · 559 trays · 485 ducts"/>
          <p:cNvSpPr/>
          <p:nvPr/>
        </p:nvSpPr>
        <p:spPr>
          <a:xfrm>
            <a:off x="7772400" y="1417320"/>
            <a:ext cx="3867912" cy="1097280"/>
          </a:xfrm>
          <a:prstGeom prst="roundRect">
            <a:avLst>
              <a:gd name="adj" fmla="val 5833"/>
            </a:avLst>
          </a:prstGeom>
          <a:solidFill>
            <a:schemeClr val="bg2"/>
          </a:solidFill>
          <a:ln/>
        </p:spPr>
      </p:sp>
      <p:sp>
        <p:nvSpPr>
          <p:cNvPr id="5" name="value 2,488 pipes · 968 conduits · 559 trays · 485 ducts"/>
          <p:cNvSpPr txBox="1"/>
          <p:nvPr/>
        </p:nvSpPr>
        <p:spPr>
          <a:xfrm>
            <a:off x="7973568" y="1508760"/>
            <a:ext cx="3465576" cy="548640"/>
          </a:xfrm>
          <a:prstGeom prst="rect">
            <a:avLst/>
          </a:prstGeom>
          <a:noFill/>
          <a:ln/>
        </p:spPr>
        <p:txBody>
          <a:bodyPr wrap="square" lIns="0" tIns="0" rIns="0" bIns="0" rtlCol="0" anchor="ctr"/>
          <a:lstStyle/>
          <a:p>
            <a:pPr indent="0" marL="0">
              <a:buNone/>
            </a:pPr>
            <a:r>
              <a:rPr lang="en-US" sz="2400" b="1" dirty="0">
                <a:solidFill>
                  <a:schemeClr val="accent1"/>
                </a:solidFill>
              </a:rPr>
              <a:t>4,500 elements</a:t>
            </a:r>
            <a:endParaRPr lang="en-US" sz="2400" dirty="0"/>
          </a:p>
        </p:txBody>
      </p:sp>
      <p:sp>
        <p:nvSpPr>
          <p:cNvPr id="6" name="label 2,488 pipes · 968 conduits · 559 trays · 485 ducts"/>
          <p:cNvSpPr txBox="1"/>
          <p:nvPr/>
        </p:nvSpPr>
        <p:spPr>
          <a:xfrm>
            <a:off x="7973568" y="2053742"/>
            <a:ext cx="3465576" cy="416966"/>
          </a:xfrm>
          <a:prstGeom prst="rect">
            <a:avLst/>
          </a:prstGeom>
          <a:noFill/>
          <a:ln/>
        </p:spPr>
        <p:txBody>
          <a:bodyPr wrap="square" lIns="0" tIns="0" rIns="0" bIns="0" rtlCol="0" anchor="t"/>
          <a:lstStyle/>
          <a:p>
            <a:pPr indent="0" marL="0">
              <a:buNone/>
            </a:pPr>
            <a:r>
              <a:rPr lang="en-US" sz="1100" dirty="0">
                <a:solidFill>
                  <a:srgbClr val="52514E"/>
                </a:solidFill>
              </a:rPr>
              <a:t>2,488 pipes · 968 conduits · 559 trays · 485 ducts</a:t>
            </a:r>
            <a:endParaRPr lang="en-US" sz="1100" dirty="0"/>
          </a:p>
        </p:txBody>
      </p:sp>
      <p:sp>
        <p:nvSpPr>
          <p:cNvPr id="7" name="tile Wasserstein-1, generated to measured pipe gaps of the clinic (95 % CI 17–48)"/>
          <p:cNvSpPr/>
          <p:nvPr/>
        </p:nvSpPr>
        <p:spPr>
          <a:xfrm>
            <a:off x="7772400" y="2697480"/>
            <a:ext cx="3867912" cy="1097280"/>
          </a:xfrm>
          <a:prstGeom prst="roundRect">
            <a:avLst>
              <a:gd name="adj" fmla="val 5833"/>
            </a:avLst>
          </a:prstGeom>
          <a:solidFill>
            <a:schemeClr val="bg2"/>
          </a:solidFill>
          <a:ln/>
        </p:spPr>
      </p:sp>
      <p:sp>
        <p:nvSpPr>
          <p:cNvPr id="8" name="value Wasserstein-1, generated to measured pipe gaps of the clinic (95 % CI 17–48)"/>
          <p:cNvSpPr txBox="1"/>
          <p:nvPr/>
        </p:nvSpPr>
        <p:spPr>
          <a:xfrm>
            <a:off x="7973568" y="2788920"/>
            <a:ext cx="3465576" cy="548640"/>
          </a:xfrm>
          <a:prstGeom prst="rect">
            <a:avLst/>
          </a:prstGeom>
          <a:noFill/>
          <a:ln/>
        </p:spPr>
        <p:txBody>
          <a:bodyPr wrap="square" lIns="0" tIns="0" rIns="0" bIns="0" rtlCol="0" anchor="ctr"/>
          <a:lstStyle/>
          <a:p>
            <a:pPr indent="0" marL="0">
              <a:buNone/>
            </a:pPr>
            <a:r>
              <a:rPr lang="en-US" sz="2400" b="1" dirty="0">
                <a:solidFill>
                  <a:schemeClr val="accent1"/>
                </a:solidFill>
              </a:rPr>
              <a:t>32 mm</a:t>
            </a:r>
            <a:endParaRPr lang="en-US" sz="2400" dirty="0"/>
          </a:p>
        </p:txBody>
      </p:sp>
      <p:sp>
        <p:nvSpPr>
          <p:cNvPr id="9" name="label Wasserstein-1, generated to measured pipe gaps of the clinic (95 % CI 17–48)"/>
          <p:cNvSpPr txBox="1"/>
          <p:nvPr/>
        </p:nvSpPr>
        <p:spPr>
          <a:xfrm>
            <a:off x="7973568" y="3333902"/>
            <a:ext cx="3465576" cy="416966"/>
          </a:xfrm>
          <a:prstGeom prst="rect">
            <a:avLst/>
          </a:prstGeom>
          <a:noFill/>
          <a:ln/>
        </p:spPr>
        <p:txBody>
          <a:bodyPr wrap="square" lIns="0" tIns="0" rIns="0" bIns="0" rtlCol="0" anchor="t"/>
          <a:lstStyle/>
          <a:p>
            <a:pPr indent="0" marL="0">
              <a:buNone/>
            </a:pPr>
            <a:r>
              <a:rPr lang="en-US" sz="1100" dirty="0">
                <a:solidFill>
                  <a:srgbClr val="52514E"/>
                </a:solidFill>
              </a:rPr>
              <a:t>Wasserstein-1, generated to measured pipe gaps of the clinic (95 % CI 17–48)</a:t>
            </a:r>
            <a:endParaRPr lang="en-US" sz="1100" dirty="0"/>
          </a:p>
        </p:txBody>
      </p:sp>
      <p:sp>
        <p:nvSpPr>
          <p:cNvPr id="10" name="tile rank correlation of tier with the closest gap / with the load"/>
          <p:cNvSpPr/>
          <p:nvPr/>
        </p:nvSpPr>
        <p:spPr>
          <a:xfrm>
            <a:off x="7772400" y="3977640"/>
            <a:ext cx="3867912" cy="1097280"/>
          </a:xfrm>
          <a:prstGeom prst="roundRect">
            <a:avLst>
              <a:gd name="adj" fmla="val 5833"/>
            </a:avLst>
          </a:prstGeom>
          <a:solidFill>
            <a:schemeClr val="bg2"/>
          </a:solidFill>
          <a:ln/>
        </p:spPr>
      </p:sp>
      <p:sp>
        <p:nvSpPr>
          <p:cNvPr id="11" name="value rank correlation of tier with the closest gap / with the load"/>
          <p:cNvSpPr txBox="1"/>
          <p:nvPr/>
        </p:nvSpPr>
        <p:spPr>
          <a:xfrm>
            <a:off x="7973568" y="4069080"/>
            <a:ext cx="3465576" cy="548640"/>
          </a:xfrm>
          <a:prstGeom prst="rect">
            <a:avLst/>
          </a:prstGeom>
          <a:noFill/>
          <a:ln/>
        </p:spPr>
        <p:txBody>
          <a:bodyPr wrap="square" lIns="0" tIns="0" rIns="0" bIns="0" rtlCol="0" anchor="ctr"/>
          <a:lstStyle/>
          <a:p>
            <a:pPr indent="0" marL="0">
              <a:buNone/>
            </a:pPr>
            <a:r>
              <a:rPr lang="en-US" sz="2400" b="1" dirty="0">
                <a:solidFill>
                  <a:schemeClr val="accent1"/>
                </a:solidFill>
              </a:rPr>
              <a:t>−0.38 / +0.46</a:t>
            </a:r>
            <a:endParaRPr lang="en-US" sz="2400" dirty="0"/>
          </a:p>
        </p:txBody>
      </p:sp>
      <p:sp>
        <p:nvSpPr>
          <p:cNvPr id="12" name="label rank correlation of tier with the closest gap / with the load"/>
          <p:cNvSpPr txBox="1"/>
          <p:nvPr/>
        </p:nvSpPr>
        <p:spPr>
          <a:xfrm>
            <a:off x="7973568" y="4614062"/>
            <a:ext cx="3465576" cy="416966"/>
          </a:xfrm>
          <a:prstGeom prst="rect">
            <a:avLst/>
          </a:prstGeom>
          <a:noFill/>
          <a:ln/>
        </p:spPr>
        <p:txBody>
          <a:bodyPr wrap="square" lIns="0" tIns="0" rIns="0" bIns="0" rtlCol="0" anchor="t"/>
          <a:lstStyle/>
          <a:p>
            <a:pPr indent="0" marL="0">
              <a:buNone/>
            </a:pPr>
            <a:r>
              <a:rPr lang="en-US" sz="1100" dirty="0">
                <a:solidFill>
                  <a:srgbClr val="52514E"/>
                </a:solidFill>
              </a:rPr>
              <a:t>rank correlation of tier with the closest gap / with the load</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Against the clinic the generator is 32 mm off; the small duplex is 76 to 88</a:t>
            </a:r>
            <a:endParaRPr lang="en-US" sz="2600" dirty="0"/>
          </a:p>
        </p:txBody>
      </p:sp>
      <p:graphicFrame>
        <p:nvGraphicFramePr>
          <p:cNvPr id="22" name="samples table"/>
          <p:cNvGraphicFramePr>
            <a:graphicFrameLocks noGrp="1"/>
          </p:cNvGraphicFramePr>
          <p:nvPr>
            <p:extLst>
              <p:ext uri="{D42A27DB-BD31-4B8C-83A1-F6EECF244321}">
                <p14:modId xmlns:p14="http://schemas.microsoft.com/office/powerpoint/2010/main" val="1579011935"/>
              </p:ext>
            </p:extLst>
          </p:nvPr>
        </p:nvGraphicFramePr>
        <p:xfrm>
          <a:off x="548640" y="1371600"/>
          <a:ext cx="5394960" cy="914400"/>
        </p:xfrm>
        <a:graphic>
          <a:graphicData uri="http://schemas.openxmlformats.org/drawingml/2006/table">
            <a:tbl>
              <a:tblPr/>
              <a:tblGrid>
                <a:gridCol w="1828800"/>
                <a:gridCol w="822960"/>
                <a:gridCol w="914400"/>
                <a:gridCol w="1005840"/>
                <a:gridCol w="822960"/>
              </a:tblGrid>
              <a:tr h="310896">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pipe gaps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pairs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sections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median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&lt; 25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(benchmark)</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1,690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216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0 %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Clinic,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797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3,833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203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Duplex, MEP</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204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177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23 %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41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32 %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graphicFrame>
        <p:nvGraphicFramePr>
          <p:cNvPr id="43" name="distances table"/>
          <p:cNvGraphicFramePr>
            <a:graphicFrameLocks noGrp="1"/>
          </p:cNvGraphicFramePr>
          <p:nvPr>
            <p:extLst>
              <p:ext uri="{D42A27DB-BD31-4B8C-83A1-F6EECF244321}">
                <p14:modId xmlns:p14="http://schemas.microsoft.com/office/powerpoint/2010/main" val="1579011935"/>
              </p:ext>
            </p:extLst>
          </p:nvPr>
        </p:nvGraphicFramePr>
        <p:xfrm>
          <a:off x="6172200" y="1371600"/>
          <a:ext cx="5468112" cy="914400"/>
        </p:xfrm>
        <a:graphic>
          <a:graphicData uri="http://schemas.openxmlformats.org/drawingml/2006/table">
            <a:tbl>
              <a:tblPr/>
              <a:tblGrid>
                <a:gridCol w="2176272"/>
                <a:gridCol w="1143000"/>
                <a:gridCol w="1234440"/>
                <a:gridCol w="914400"/>
              </a:tblGrid>
              <a:tr h="310896">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Wasserstein-1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by length</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each pair once</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noise floor</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 Clinic</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32 (17–48)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18 (13–27)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 Duplex MEP</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76 (61–103)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97 (78–120)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 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88 (62–132)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104 (89–127)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Clinic ↔ Duplex MEP</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71 (54–101)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88 (70–118)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Clinic ↔ 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85 (55–137)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94 (77–121)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Duplex MEP ↔ 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26 (24–124)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25 (21–108)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5" name="realism bullets"/>
          <p:cNvSpPr txBox="1"/>
          <p:nvPr/>
        </p:nvSpPr>
        <p:spPr>
          <a:xfrm>
            <a:off x="548640" y="3154680"/>
            <a:ext cx="5394960" cy="292608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Sections every 250 mm; runs within 400 mm of height form a row; gaps between bare pipe surfaces, below 600 mm</a:t>
            </a:r>
            <a:endParaRPr lang="en-US" sz="1250" dirty="0"/>
          </a:p>
          <a:p>
            <a:pPr marL="342900" indent="-342900">
              <a:spcAft>
                <a:spcPts val="600"/>
              </a:spcAft>
              <a:buSzPct val="100000"/>
              <a:buChar char="•"/>
            </a:pPr>
            <a:r>
              <a:rPr lang="en-US" sz="1250" dirty="0">
                <a:solidFill>
                  <a:schemeClr val="tx1"/>
                </a:solidFill>
              </a:rPr>
              <a:t>Robust: across 11 settings of the cut (spacing, row band, axis tolerance, run length) generated ↔ clinic stays at 31–41 mm</a:t>
            </a:r>
            <a:endParaRPr lang="en-US" sz="1250" dirty="0"/>
          </a:p>
          <a:p>
            <a:pPr marL="342900" indent="-342900">
              <a:spcAft>
                <a:spcPts val="600"/>
              </a:spcAft>
              <a:buSzPct val="100000"/>
              <a:buChar char="•"/>
            </a:pPr>
            <a:r>
              <a:rPr lang="en-US" sz="1250" dirty="0">
                <a:solidFill>
                  <a:schemeClr val="tx1"/>
                </a:solidFill>
              </a:rPr>
              <a:t>Noise floor: the distance a perfect generator would still show at that sample size</a:t>
            </a:r>
            <a:endParaRPr lang="en-US" sz="1250" dirty="0"/>
          </a:p>
          <a:p>
            <a:pPr marL="342900" indent="-342900">
              <a:spcAft>
                <a:spcPts val="600"/>
              </a:spcAft>
              <a:buSzPct val="100000"/>
              <a:buChar char="•"/>
            </a:pPr>
            <a:r>
              <a:rPr lang="en-US" sz="1250" dirty="0">
                <a:solidFill>
                  <a:schemeClr val="tx1"/>
                </a:solidFill>
              </a:rPr>
              <a:t>The duplex samples are small, hence the wide intervals</a:t>
            </a:r>
            <a:endParaRPr lang="en-US" sz="1250" dirty="0"/>
          </a:p>
        </p:txBody>
      </p:sp>
      <p:sp>
        <p:nvSpPr>
          <p:cNvPr id="6" name="distances caption"/>
          <p:cNvSpPr txBox="1"/>
          <p:nvPr/>
        </p:nvSpPr>
        <p:spPr>
          <a:xfrm>
            <a:off x="6172200" y="3931920"/>
            <a:ext cx="5468112" cy="731520"/>
          </a:xfrm>
          <a:prstGeom prst="rect">
            <a:avLst/>
          </a:prstGeom>
          <a:noFill/>
          <a:ln/>
        </p:spPr>
        <p:txBody>
          <a:bodyPr wrap="square" lIns="0" tIns="0" rIns="0" bIns="0" rtlCol="0" anchor="t"/>
          <a:lstStyle/>
          <a:p>
            <a:pPr indent="0" marL="0">
              <a:buNone/>
            </a:pPr>
            <a:r>
              <a:rPr lang="en-US" sz="1100" dirty="0">
                <a:solidFill>
                  <a:srgbClr val="52514E"/>
                </a:solidFill>
              </a:rPr>
              <a:t>Intervals: 95 % bootstrap over contexts (generated) and pipe pairs (measured). Models: buildingSMART Duplex Apartment and Medical-Dental Clinic, CC BY 4.0; derived measurements and attribution in verify/measured/.</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The diameter rule moves catalog coverage more than tier or split does</a:t>
            </a:r>
            <a:endParaRPr lang="en-US" sz="2600" dirty="0"/>
          </a:p>
        </p:txBody>
      </p:sp>
      <p:graphicFrame>
        <p:nvGraphicFramePr>
          <p:cNvPr id="23" name="per tier catalog table"/>
          <p:cNvGraphicFramePr>
            <a:graphicFrameLocks noGrp="1"/>
          </p:cNvGraphicFramePr>
          <p:nvPr>
            <p:extLst>
              <p:ext uri="{D42A27DB-BD31-4B8C-83A1-F6EECF244321}">
                <p14:modId xmlns:p14="http://schemas.microsoft.com/office/powerpoint/2010/main" val="1579011935"/>
              </p:ext>
            </p:extLst>
          </p:nvPr>
        </p:nvGraphicFramePr>
        <p:xfrm>
          <a:off x="548640" y="1371600"/>
          <a:ext cx="5852160" cy="914400"/>
        </p:xfrm>
        <a:graphic>
          <a:graphicData uri="http://schemas.openxmlformats.org/drawingml/2006/table">
            <a:tbl>
              <a:tblPr/>
              <a:tblGrid>
                <a:gridCol w="731520"/>
                <a:gridCol w="822960"/>
                <a:gridCol w="2148840"/>
                <a:gridCol w="2148840"/>
              </a:tblGrid>
              <a:tr h="301752">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tier</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pipes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benchmark %  (95 % CI)</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population %  (95 % CI)</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16.7 (8.3–26.6)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12.7 (10.7–14.7)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11.4 (5.0–18.4)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13.5 (11.8–15.4)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212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15.6 (10.5–21.1)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13.8 (12.4–15.2)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284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16.9 (11.8–22.1)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13.2 (12.0–14.4)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365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11.5 (7.3–16.0)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14.7 (13.5–15.9)</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366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10.7 (7.2–14.5)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14.3 (13.3–15.4)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517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17.2 (13.4–21.1)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14.9 (13.9–16.0)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546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15.2 (11.7–19.1)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14.4 (13.5–15.4)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graphicFrame>
        <p:nvGraphicFramePr>
          <p:cNvPr id="45" name="sensitivity table"/>
          <p:cNvGraphicFramePr>
            <a:graphicFrameLocks noGrp="1"/>
          </p:cNvGraphicFramePr>
          <p:nvPr>
            <p:extLst>
              <p:ext uri="{D42A27DB-BD31-4B8C-83A1-F6EECF244321}">
                <p14:modId xmlns:p14="http://schemas.microsoft.com/office/powerpoint/2010/main" val="1579011935"/>
              </p:ext>
            </p:extLst>
          </p:nvPr>
        </p:nvGraphicFramePr>
        <p:xfrm>
          <a:off x="548640" y="4434840"/>
          <a:ext cx="5852160" cy="914400"/>
        </p:xfrm>
        <a:graphic>
          <a:graphicData uri="http://schemas.openxmlformats.org/drawingml/2006/table">
            <a:tbl>
              <a:tblPr/>
              <a:tblGrid>
                <a:gridCol w="2011680"/>
                <a:gridCol w="1280160"/>
                <a:gridCol w="1280160"/>
                <a:gridCol w="1280160"/>
              </a:tblGrid>
              <a:tr h="30175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attach diameter rule</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bins ±0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bins ±0.5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bins ±1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01752">
                <a:tc>
                  <a:txBody>
                    <a:bodyPr/>
                    <a:lstStyle/>
                    <a:p>
                      <a:pPr algn="l" indent="0" marL="0">
                        <a:buNone/>
                      </a:pPr>
                      <a:r>
                        <a:rPr lang="en-US" sz="1100" b="1" dirty="0">
                          <a:solidFill>
                            <a:srgbClr val="0B0B0B"/>
                          </a:solidFill>
                          <a:latin typeface="Calibri" pitchFamily="34" charset="0"/>
                          <a:ea typeface="Calibri" pitchFamily="34" charset="-122"/>
                          <a:cs typeface="Calibri" pitchFamily="34" charset="-120"/>
                        </a:rPr>
                        <a:t>service (paper)</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19.8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19.8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bare</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22.0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22.0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insulated</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5" name="sensitivity caption"/>
          <p:cNvSpPr txBox="1"/>
          <p:nvPr/>
        </p:nvSpPr>
        <p:spPr>
          <a:xfrm>
            <a:off x="548640" y="5715000"/>
            <a:ext cx="5852160" cy="502920"/>
          </a:xfrm>
          <a:prstGeom prst="rect">
            <a:avLst/>
          </a:prstGeom>
          <a:noFill/>
          <a:ln/>
        </p:spPr>
        <p:txBody>
          <a:bodyPr wrap="square" lIns="0" tIns="0" rIns="0" bIns="0" rtlCol="0" anchor="t"/>
          <a:lstStyle/>
          <a:p>
            <a:pPr indent="0" marL="0">
              <a:buNone/>
            </a:pPr>
            <a:r>
              <a:rPr lang="en-US" sz="1100" dirty="0">
                <a:solidFill>
                  <a:srgbClr val="52514E"/>
                </a:solidFill>
              </a:rPr>
              <a:t>% of benchmark pipes attachable when both bin edges are widened by the stated amount. DN100 (114.3 mm) lies 0.3 mm above the 108–114 mm bin, so the headline moves with the diameter rule and the edge tolerance.</a:t>
            </a:r>
            <a:endParaRPr lang="en-US" sz="1100" dirty="0"/>
          </a:p>
        </p:txBody>
      </p:sp>
      <p:graphicFrame>
        <p:nvGraphicFramePr>
          <p:cNvPr id="67" name="split catalog table"/>
          <p:cNvGraphicFramePr>
            <a:graphicFrameLocks noGrp="1"/>
          </p:cNvGraphicFramePr>
          <p:nvPr>
            <p:extLst>
              <p:ext uri="{D42A27DB-BD31-4B8C-83A1-F6EECF244321}">
                <p14:modId xmlns:p14="http://schemas.microsoft.com/office/powerpoint/2010/main" val="1579011935"/>
              </p:ext>
            </p:extLst>
          </p:nvPr>
        </p:nvGraphicFramePr>
        <p:xfrm>
          <a:off x="6675120" y="1371600"/>
          <a:ext cx="4965192" cy="914400"/>
        </p:xfrm>
        <a:graphic>
          <a:graphicData uri="http://schemas.openxmlformats.org/drawingml/2006/table">
            <a:tbl>
              <a:tblPr/>
              <a:tblGrid>
                <a:gridCol w="1280160"/>
                <a:gridCol w="1097280"/>
                <a:gridCol w="2587752"/>
              </a:tblGrid>
              <a:tr h="30175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split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pipes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 attachable (95 % CI)</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train</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12,590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14.4 (13.7–15.2)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val</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1,295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13.2 (11.2–15.6)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test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1,200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13.8 (11.5–16.4)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benchmark</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2,488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14.5 (12.7–16.2)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7" name="stress method bullets"/>
          <p:cNvSpPr txBox="1"/>
          <p:nvPr/>
        </p:nvSpPr>
        <p:spPr>
          <a:xfrm>
            <a:off x="6675120" y="3108960"/>
            <a:ext cx="4965192" cy="301752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Intervals: cluster bootstrap over contexts (2,000 resamples), because the elements of one context are correlated</a:t>
            </a:r>
            <a:endParaRPr lang="en-US" sz="1200" dirty="0"/>
          </a:p>
          <a:p>
            <a:pPr marL="342900" indent="-342900">
              <a:spcAft>
                <a:spcPts val="600"/>
              </a:spcAft>
              <a:buSzPct val="100000"/>
              <a:buChar char="•"/>
            </a:pPr>
            <a:r>
              <a:rPr lang="en-US" sz="1200" dirty="0">
                <a:solidFill>
                  <a:schemeClr val="tx1"/>
                </a:solidFill>
              </a:rPr>
              <a:t>Population: 2,000 freshly generated contexts per tier; overall 14.3 % (95 % CI 13.8–14.7)</a:t>
            </a:r>
            <a:endParaRPr lang="en-US" sz="1200" dirty="0"/>
          </a:p>
          <a:p>
            <a:pPr marL="342900" indent="-342900">
              <a:spcAft>
                <a:spcPts val="600"/>
              </a:spcAft>
              <a:buSzPct val="100000"/>
              <a:buChar char="•"/>
            </a:pPr>
            <a:r>
              <a:rPr lang="en-US" sz="1200" dirty="0">
                <a:solidFill>
                  <a:schemeClr val="tx1"/>
                </a:solidFill>
              </a:rPr>
              <a:t>Only size and capacity are tested, so coverage is an upper bound on what can be installed</a:t>
            </a:r>
            <a:endParaRPr lang="en-US" sz="1200" dirty="0"/>
          </a:p>
          <a:p>
            <a:pPr marL="342900" indent="-342900">
              <a:spcAft>
                <a:spcPts val="600"/>
              </a:spcAft>
              <a:buSzPct val="100000"/>
              <a:buChar char="•"/>
            </a:pPr>
            <a:r>
              <a:rPr lang="en-US" sz="1200" dirty="0">
                <a:solidFill>
                  <a:schemeClr val="tx1"/>
                </a:solidFill>
              </a:rPr>
              <a:t>Best possible share with k sizes: exact optimum over the distinct attach diameters</a:t>
            </a:r>
            <a:endParaRPr lang="en-US" sz="12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context is stored as plain JSON: elements, sizes, loads, positions</a:t>
            </a:r>
            <a:endParaRPr lang="en-US" sz="2600" dirty="0"/>
          </a:p>
        </p:txBody>
      </p:sp>
      <p:sp>
        <p:nvSpPr>
          <p:cNvPr id="3" name="record card"/>
          <p:cNvSpPr/>
          <p:nvPr/>
        </p:nvSpPr>
        <p:spPr>
          <a:xfrm>
            <a:off x="548640" y="1417320"/>
            <a:ext cx="7818120" cy="2560320"/>
          </a:xfrm>
          <a:prstGeom prst="roundRect">
            <a:avLst>
              <a:gd name="adj" fmla="val 2500"/>
            </a:avLst>
          </a:prstGeom>
          <a:solidFill>
            <a:schemeClr val="tx2"/>
          </a:solidFill>
          <a:ln/>
        </p:spPr>
      </p:sp>
      <p:sp>
        <p:nvSpPr>
          <p:cNvPr id="4" name="record"/>
          <p:cNvSpPr txBox="1"/>
          <p:nvPr/>
        </p:nvSpPr>
        <p:spPr>
          <a:xfrm>
            <a:off x="777240" y="1600200"/>
            <a:ext cx="7360920" cy="2194560"/>
          </a:xfrm>
          <a:prstGeom prst="rect">
            <a:avLst/>
          </a:prstGeom>
          <a:noFill/>
          <a:ln/>
        </p:spPr>
        <p:txBody>
          <a:bodyPr wrap="square" lIns="0" tIns="0" rIns="0" bIns="0" rtlCol="0" anchor="t"/>
          <a:lstStyle/>
          <a:p>
            <a:pPr indent="0" marL="0">
              <a:buNone/>
            </a:pPr>
            <a:r>
              <a:rPr lang="en-US" sz="1050" dirty="0">
                <a:solidFill>
                  <a:srgbClr val="FFFFFF"/>
                </a:solidFill>
                <a:latin typeface="Courier New" pitchFamily="34" charset="0"/>
                <a:ea typeface="Courier New" pitchFamily="34" charset="-122"/>
                <a:cs typeface="Courier New" pitchFamily="34" charset="-120"/>
              </a:rPr>
              <a:t>{"context_id": "mep_9", "tier": "C2",</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"surface": {"kind": "ceiling", "substrate": "concrete_C25", "thickness_mm": 200.0},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"n_elements": 2, "n_levels": 1, "total_load_kN": 0.76, "bundle_width_mm": 1527.0,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"elements": [</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{"kind": "duct", "service": "duct", "trade": "ventilation", "shape": "rect",</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"label": "1000x500 duct", "width_mm": 1000.0, "height_mm": 500.0, "insulation_mm": 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"load_kN": 0.72, "span_m": 2.4, "load_kN_per_m": 0.3002,</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"level": 0, "along_mm": -263.5, "out_mm": 340.0},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{"kind": "pipe", "service": "domestic_cold", "trade": "domestic", "shape": "round",</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"label": "DN20", "width_mm": 26.9, "height_mm": 26.9, "insulation_mm": 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"load_kN": 0.04, "span_m": 2.1, "load_kN_per_m": 0.0189,</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"level": 0, "along_mm": 750.0, "out_mm": 341.3}</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a:t>
            </a:r>
            <a:endParaRPr lang="en-US" sz="1050" dirty="0"/>
          </a:p>
        </p:txBody>
      </p:sp>
      <p:sp>
        <p:nvSpPr>
          <p:cNvPr id="5" name="record notes"/>
          <p:cNvSpPr txBox="1"/>
          <p:nvPr/>
        </p:nvSpPr>
        <p:spPr>
          <a:xfrm>
            <a:off x="8641080" y="1463040"/>
            <a:ext cx="2999232" cy="37490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Units: millimetres, kilonewtons, metres (span)</a:t>
            </a:r>
            <a:endParaRPr lang="en-US" sz="1300" dirty="0"/>
          </a:p>
          <a:p>
            <a:pPr marL="342900" indent="-342900">
              <a:spcAft>
                <a:spcPts val="600"/>
              </a:spcAft>
              <a:buSzPct val="100000"/>
              <a:buChar char="•"/>
            </a:pPr>
            <a:r>
              <a:rPr lang="en-US" sz="1300" dirty="0">
                <a:solidFill>
                  <a:schemeClr val="tx1"/>
                </a:solidFill>
              </a:rPr>
              <a:t>Widths are bare; insulation_mm is per side</a:t>
            </a:r>
            <a:endParaRPr lang="en-US" sz="1300" dirty="0"/>
          </a:p>
          <a:p>
            <a:pPr marL="342900" indent="-342900">
              <a:spcAft>
                <a:spcPts val="600"/>
              </a:spcAft>
              <a:buSzPct val="100000"/>
              <a:buChar char="•"/>
            </a:pPr>
            <a:r>
              <a:rPr lang="en-US" sz="1300" dirty="0">
                <a:solidFill>
                  <a:schemeClr val="tx1"/>
                </a:solidFill>
              </a:rPr>
              <a:t>load_kN = load_kN_per_m × span_m</a:t>
            </a:r>
            <a:endParaRPr lang="en-US" sz="1300" dirty="0"/>
          </a:p>
          <a:p>
            <a:pPr marL="342900" indent="-342900">
              <a:spcAft>
                <a:spcPts val="600"/>
              </a:spcAft>
              <a:buSzPct val="100000"/>
              <a:buChar char="•"/>
            </a:pPr>
            <a:r>
              <a:rPr lang="en-US" sz="1300" dirty="0">
                <a:solidFill>
                  <a:schemeClr val="tx1"/>
                </a:solidFill>
              </a:rPr>
              <a:t>along_mm, out_mm: position along and out from the surface</a:t>
            </a:r>
            <a:endParaRPr lang="en-US" sz="1300" dirty="0"/>
          </a:p>
          <a:p>
            <a:pPr marL="342900" indent="-342900">
              <a:spcAft>
                <a:spcPts val="600"/>
              </a:spcAft>
              <a:buSzPct val="100000"/>
              <a:buChar char="•"/>
            </a:pPr>
            <a:r>
              <a:rPr lang="en-US" sz="1300" dirty="0">
                <a:solidFill>
                  <a:schemeClr val="tx1"/>
                </a:solidFill>
              </a:rPr>
              <a:t>level: the generative row (metadata)</a:t>
            </a:r>
            <a:endParaRPr lang="en-US" sz="13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Office Theme">
  <a:themeElements>
    <a:clrScheme name="CrossMEP">
      <a:dk1>
        <a:srgbClr val="0B0B0B"/>
      </a:dk1>
      <a:lt1>
        <a:srgbClr val="FFFFFF"/>
      </a:lt1>
      <a:dk2>
        <a:srgbClr val="1F2933"/>
      </a:dk2>
      <a:lt2>
        <a:srgbClr val="EEF1F4"/>
      </a:lt2>
      <a:accent1>
        <a:srgbClr val="2A78D6"/>
      </a:accent1>
      <a:accent2>
        <a:srgbClr val="EB6834"/>
      </a:accent2>
      <a:accent3>
        <a:srgbClr val="1BAF7A"/>
      </a:accent3>
      <a:accent4>
        <a:srgbClr val="4A3AA7"/>
      </a:accent4>
      <a:accent5>
        <a:srgbClr val="E34948"/>
      </a:accent5>
      <a:accent6>
        <a:srgbClr val="008300"/>
      </a:accent6>
      <a:hlink>
        <a:srgbClr val="2A78D6"/>
      </a:hlink>
      <a:folHlink>
        <a:srgbClr val="4A3AA7"/>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Stanford University, CIFE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CrossMEP: A Tiered Synthetic Dataset of Multi-Trade MEP Cross-Sections</dc:title>
  <dc:subject>43rd International CIB W78 Conference, New Delhi, 2026</dc:subject>
  <dc:creator>Lavinia Pedrollo</dc:creator>
  <cp:lastModifiedBy>Lavinia Pedrollo</cp:lastModifiedBy>
  <cp:revision>1</cp:revision>
  <dcterms:created xsi:type="dcterms:W3CDTF">2026-10-06T22:34:26Z</dcterms:created>
  <dcterms:modified xsi:type="dcterms:W3CDTF">2026-10-06T22:34:26Z</dcterms:modified>
</cp:coreProperties>
</file>