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ecd03bf-27e8-cac9-d6fc-a4c6572562ce}">
          <p14:sldIdLst>
            <p14:sldId id="256"/>
          </p14:sldIdLst>
        </p14:section>
        <p14:section name="Motivation" id="{47d5fc43-069d-ad00-3223-c7cb4e1e356f}">
          <p14:sldIdLst>
            <p14:sldId id="257"/>
            <p14:sldId id="258"/>
            <p14:sldId id="259"/>
          </p14:sldIdLst>
        </p14:section>
        <p14:section name="The dataset" id="{cf077af1-df7b-ee94-fe34-93b4edc9517d}">
          <p14:sldIdLst>
            <p14:sldId id="260"/>
            <p14:sldId id="261"/>
            <p14:sldId id="262"/>
            <p14:sldId id="263"/>
            <p14:sldId id="264"/>
          </p14:sldIdLst>
        </p14:section>
        <p14:section name="Experiments" id="{6f77a037-3f3e-cf5c-b7be-10f2ed2d4500}">
          <p14:sldIdLst>
            <p14:sldId id="265"/>
            <p14:sldId id="266"/>
            <p14:sldId id="267"/>
          </p14:sldIdLst>
        </p14:section>
        <p14:section name="Use" id="{50420905-d810-d3e8-c453-8db36bb35d74}">
          <p14:sldIdLst>
            <p14:sldId id="268"/>
            <p14:sldId id="269"/>
            <p14:sldId id="270"/>
            <p14:sldId id="271"/>
          </p14:sldIdLst>
        </p14:section>
        <p14:section name="Appendix" id="{f19a98a8-2692-b28d-8571-0f5c497b70f5}">
          <p14:sldIdLst>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Lavinia Pedrollo, from Stanford. Every pipe, duct and cable tray in a building hangs from a support that an engineer designs by hand, from the section at that spot. We want to teach machines to do some of that work, and the first thing we found missing was data: there was no public set of support-design problems. So, with David Gvadzabia, Torben Graeber and Martin Fischer, we built one. It's called CrossMEP.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that looks like. In this hospital, every red mark is a place where pipes, ducts or cable trays hang from the structure. A modular support system groups several services onto one prefabricated frame, installed as a single unit: a structural support assembly. A hospital of two hundred thousand square feet needs about ten thousand of them. Each takes twenty minutes to two hours to design by hand, roughly a quarter of the whole MEP design effort. These are practitioner estimates.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task? At ISARC we defined it like this. You're given a fixed catalog of components and the context: which services cross the hanger, and what they hang from. You must find a feasible assembly that carries them to the structure. Designers don't work from the whole model. They work from one section at each hanger, like this one. Today's tools help coordinate the model and check a design, but choosing the layout and the parts is still manual. It takes judgment, interacting rules, and ever-changing catalogs. That section is the unit of this work, and the unit of our dataset.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teach a machine this, you need many examples, and there were none. Project models are proprietary, the open ones aren't organized around supports, and any one project is a narrow slice. So we built CrossMEP: seven thousand contexts, about thirty-one and a half thousand elements, in eight difficulty tiers. They are deliberately unlabeled: you get the problem, never the answer. Every constant is sourced or declared a design choice, and everything is open.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context: a two-dimensional section at one support location. Each element has its kind, service and trade, its size, its insulation, and its load, which is weight per metre times the span it was sized at, plus its position. Add the surface, a slab or a wall, and that's all. What you won't find is the support: no channel, no rods, no anchors, and no correct answer, because a feasible support depends on the catalog you build from. The context is the brief. The assembly is the answer.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make a context? Not by free randomness, but by rules an engineer would recognize. The tier fixes how many elements there are. We pick the surface and fill it the way trades really run services: hot and cold together, flow and return together, conduits in groups, bulky services nearest the slab. Gaps between neighbors are drawn from gaps measured on a built project, never below twenty-five millimeters. On walls, electrical stays above water. Every context is checked, and it's seeded: the same seed gives the same file, byte for byte.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Three places. Sizes, weights and spans come from standards: European steel pipe and duct standards, IEC for conduits and trays, ASME for spans, the German GEG for insulation. How close neighbors sit comes from measured open buildings. And a few things are simply our choices, like the trade mix, and we label them that way. Loads are computed in code from all of this.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so a method is never tested on what it trained on: five thousand contexts for training, five hundred each for validation and test, and a benchmark of one thousand, a hundred and twenty-five per tier. Everything is plain JSON with a schema and a datasheet. (4:05)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benchmark context per tier. C1 is a single element, the most common support in any building. By C8 you have eight services on three rows. Within a tier everything else varies: kinds, trades, surfaces, stacking. So the element count is the one controlled axis of difficulty. And notice the walls: the section rotates, and electrical sits above water. (4:25)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three analyses. The first is a design check, not a discovery: does difficulty grow with the tier? The count is fixed by construction, and load and congestion follow from the rules, so this shows the dataset behaves as designed. The load at the support rises with the tier, from about 0.3 to 2.0 kilonewtons. The closest gap narrows at every step, from 130 to about 51 millimeters. So: report methods tier by tier. (4:50)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analysis is the one the generator could fail. Is the spacing realistic in a building it has never seen? The gap distribution was fitted on a residential duplex. We kept a second open building aside, a medical-dental clinic, cut it into sections every 250 millimeters, the way a context is defined, and measured the gaps between pipes running side by side. On the left, the clinic: generated gaps are close to measured ones, though not identical. On the right, the distances. Generator to clinic: 32 millimeters. That is above the 8 a perfect generator would show, so not a perfect match, but about as close as the duplex's own two models are to each other. A fixed 25-millimeter gap would be about 190 off.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analysis is a use of the dataset, not a test of it: what must a catalog of clamps cover? Our paper's two-size catalog attaches 14.5 percent of the pipes, with an interval of 13 to 16, all one size, DN40. Load is never the limit, and trays, ducts and conduits aren't covered at all. On the right is what the dataset asks of any catalog: two well-placed sizes could attach 38 percent, six sizes 76, fifteen sizes every pipe. So 'what should the catalog contain' becomes a measurement. (6:10)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support designer receives, drawn the way an engineer would issue it: every service at true size, its level below the slab, its load, the closest clear gap, and the same run in 3D. Every section is a stored output of the released generator, with the Python call that reproduces it. Scan the code to try it yourself. [Live: switch to the studio, click C3, then Generate another twice, then Exact mix with a duct. If the demo fails, stay on this slide; slide 17 shows two more sections. Before the talk: open the studio once with internet, set its link sharing to public, scan the QR from a phone not logged in.] (6:50)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Because there are no labels, the same files serve reinforcement learning, constraint programming, and benchmarking people. We ship the scoring too. Train on the generator, from C1 up to C8. Evaluate on the benchmark, the same 125 contexts per tier for every method. Report per tier, with 95 percent intervals and paired tests. (8:00)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scope. CrossMEP is one section at one support. Routing and branches are outside it, but the span is recorded, so a method can vary it. Pipe spacing was checked on two open buildings; the rest rests on practice and standards, and the trade mix is a design choice. It's not for structural design of real installations. Next: a public checker, with best-known costs, so we can compare methods on the answer; the catalog as an input; and a real test set from commercial projects, with supports designed by engineers. That's where I'd value your eye. (8:30)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a design choice, pipe spacing checked on two open buildings, and all of it open. If you coordinate services or design supports, try the studio and tell me what looks wrong. Thank you. (9:10)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an assembly from a catalog and a section has resisted automation</a:t>
            </a:r>
            <a:endParaRPr lang="en-US" sz="2600" dirty="0"/>
          </a:p>
        </p:txBody>
      </p:sp>
      <p:sp>
        <p:nvSpPr>
          <p:cNvPr id="3" name="problem card"/>
          <p:cNvSpPr/>
          <p:nvPr/>
        </p:nvSpPr>
        <p:spPr>
          <a:xfrm>
            <a:off x="548640" y="1371600"/>
            <a:ext cx="5212080" cy="2606040"/>
          </a:xfrm>
          <a:prstGeom prst="roundRect">
            <a:avLst>
              <a:gd name="adj" fmla="val 2456"/>
            </a:avLst>
          </a:prstGeom>
          <a:solidFill>
            <a:schemeClr val="bg2"/>
          </a:solidFill>
          <a:ln/>
        </p:spPr>
      </p:sp>
      <p:sp>
        <p:nvSpPr>
          <p:cNvPr id="4" name="problem"/>
          <p:cNvSpPr txBox="1"/>
          <p:nvPr/>
        </p:nvSpPr>
        <p:spPr>
          <a:xfrm>
            <a:off x="777240" y="1508760"/>
            <a:ext cx="4754880" cy="2377440"/>
          </a:xfrm>
          <a:prstGeom prst="rect">
            <a:avLst/>
          </a:prstGeom>
          <a:noFill/>
          <a:ln/>
        </p:spPr>
        <p:txBody>
          <a:bodyPr wrap="square" lIns="0" tIns="0" rIns="0" bIns="0" rtlCol="0" anchor="t"/>
          <a:lstStyle/>
          <a:p>
            <a:pPr indent="0" marL="0">
              <a:buNone/>
            </a:pPr>
            <a:r>
              <a:rPr lang="en-US" sz="1700" b="1" dirty="0">
                <a:solidFill>
                  <a:schemeClr val="tx1"/>
                </a:solidFill>
              </a:rPr>
              <a:t>The synthesis problem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Given </a:t>
            </a:r>
            <a:pPr indent="0" marL="0">
              <a:buNone/>
            </a:pPr>
            <a:r>
              <a:rPr lang="en-US" sz="1500" dirty="0">
                <a:solidFill>
                  <a:schemeClr val="tx1"/>
                </a:solidFill>
              </a:rPr>
              <a:t>a fixed catalog of components and the MEP context: the services crossing the hanger and the surface they hang from.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Find </a:t>
            </a:r>
            <a:pPr indent="0" marL="0">
              <a:buNone/>
            </a:pPr>
            <a:r>
              <a:rPr lang="en-US" sz="1500" dirty="0">
                <a:solidFill>
                  <a:schemeClr val="tx1"/>
                </a:solidFill>
              </a:rPr>
              <a:t>a feasible assembly that carries the services to the structure.</a:t>
            </a:r>
            <a:endParaRPr lang="en-US" sz="1500" dirty="0"/>
          </a:p>
          <a:p>
            <a:pPr indent="0" marL="0">
              <a:buNone/>
            </a:pPr>
            <a:r>
              <a:rPr lang="en-US" sz="600" dirty="0">
                <a:solidFill>
                  <a:schemeClr val="tx1"/>
                </a:solidFill>
              </a:rPr>
              <a:t> </a:t>
            </a:r>
            <a:endParaRPr lang="en-US" sz="1500" dirty="0"/>
          </a:p>
          <a:p>
            <a:pPr indent="0" marL="0">
              <a:buNone/>
            </a:pPr>
            <a:r>
              <a:rPr lang="en-US" sz="1500" i="1" dirty="0">
                <a:solidFill>
                  <a:schemeClr val="tx1"/>
                </a:solidFill>
              </a:rPr>
              <a:t>Tools coordinate the model and check a design; choosing the topology and the parts is still done by hand.</a:t>
            </a:r>
            <a:endParaRPr lang="en-US" sz="1500" dirty="0"/>
          </a:p>
        </p:txBody>
      </p:sp>
      <p:pic>
        <p:nvPicPr>
          <p:cNvPr id="5" name="route to section" descr="/home/user/crossmep_dataset/docs/figures/paper_fig1_route_to_section.png">    </p:cNvPr>
          <p:cNvPicPr>
            <a:picLocks noChangeAspect="1"/>
          </p:cNvPicPr>
          <p:nvPr/>
        </p:nvPicPr>
        <p:blipFill>
          <a:blip r:embed="rId1"/>
          <a:stretch>
            <a:fillRect/>
          </a:stretch>
        </p:blipFill>
        <p:spPr>
          <a:xfrm>
            <a:off x="5989320" y="1642325"/>
            <a:ext cx="5650992" cy="1561670"/>
          </a:xfrm>
          <a:prstGeom prst="rect">
            <a:avLst/>
          </a:prstGeom>
        </p:spPr>
      </p:pic>
      <p:sp>
        <p:nvSpPr>
          <p:cNvPr id="6" name="fig1 caption"/>
          <p:cNvSpPr txBox="1"/>
          <p:nvPr/>
        </p:nvSpPr>
        <p:spPr>
          <a:xfrm>
            <a:off x="5989320" y="3295435"/>
            <a:ext cx="5650992"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Learning to design supports needs many problems, and none were public</a:t>
            </a:r>
            <a:endParaRPr lang="en-US" sz="2600" dirty="0"/>
          </a:p>
        </p:txBody>
      </p:sp>
      <p:sp>
        <p:nvSpPr>
          <p:cNvPr id="3" name="why heading"/>
          <p:cNvSpPr txBox="1"/>
          <p:nvPr/>
        </p:nvSpPr>
        <p:spPr>
          <a:xfrm>
            <a:off x="548640" y="1371600"/>
            <a:ext cx="4937760" cy="365760"/>
          </a:xfrm>
          <a:prstGeom prst="rect">
            <a:avLst/>
          </a:prstGeom>
          <a:noFill/>
          <a:ln/>
        </p:spPr>
        <p:txBody>
          <a:bodyPr wrap="square" lIns="0" tIns="0" rIns="0" bIns="0" rtlCol="0" anchor="ctr"/>
          <a:lstStyle/>
          <a:p>
            <a:pPr indent="0" marL="0">
              <a:buNone/>
            </a:pPr>
            <a:r>
              <a:rPr lang="en-US" sz="1600" b="1" dirty="0">
                <a:solidFill>
                  <a:schemeClr val="tx1"/>
                </a:solidFill>
              </a:rPr>
              <a:t>Why it has to be synthetic</a:t>
            </a:r>
            <a:endParaRPr lang="en-US" sz="1600" dirty="0"/>
          </a:p>
        </p:txBody>
      </p:sp>
      <p:sp>
        <p:nvSpPr>
          <p:cNvPr id="4" name="icon ring Scarcity"/>
          <p:cNvSpPr/>
          <p:nvPr/>
        </p:nvSpPr>
        <p:spPr>
          <a:xfrm>
            <a:off x="548640" y="1874520"/>
            <a:ext cx="530352" cy="530352"/>
          </a:xfrm>
          <a:prstGeom prst="ellipse">
            <a:avLst/>
          </a:prstGeom>
          <a:solidFill>
            <a:schemeClr val="accent1"/>
          </a:solidFill>
          <a:ln/>
        </p:spPr>
      </p:sp>
      <p:pic>
        <p:nvPicPr>
          <p:cNvPr id="5" name="icon Scarcity" descr="preencoded.png">    </p:cNvPr>
          <p:cNvPicPr>
            <a:picLocks noChangeAspect="1"/>
          </p:cNvPicPr>
          <p:nvPr/>
        </p:nvPicPr>
        <p:blipFill>
          <a:blip r:embed="rId1"/>
          <a:stretch>
            <a:fillRect/>
          </a:stretch>
        </p:blipFill>
        <p:spPr>
          <a:xfrm>
            <a:off x="660014" y="1985894"/>
            <a:ext cx="307604" cy="307604"/>
          </a:xfrm>
          <a:prstGeom prst="rect">
            <a:avLst/>
          </a:prstGeom>
        </p:spPr>
      </p:pic>
      <p:sp>
        <p:nvSpPr>
          <p:cNvPr id="6" name="reason Scarcity"/>
          <p:cNvSpPr txBox="1"/>
          <p:nvPr/>
        </p:nvSpPr>
        <p:spPr>
          <a:xfrm>
            <a:off x="1280160" y="18562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Scarcity</a:t>
            </a:r>
            <a:endParaRPr lang="en-US" sz="1500" dirty="0"/>
          </a:p>
        </p:txBody>
      </p:sp>
      <p:sp>
        <p:nvSpPr>
          <p:cNvPr id="7" name="reason text Scarcity"/>
          <p:cNvSpPr txBox="1"/>
          <p:nvPr/>
        </p:nvSpPr>
        <p:spPr>
          <a:xfrm>
            <a:off x="1280160" y="2221992"/>
            <a:ext cx="4206240" cy="868680"/>
          </a:xfrm>
          <a:prstGeom prst="rect">
            <a:avLst/>
          </a:prstGeom>
          <a:noFill/>
          <a:ln/>
        </p:spPr>
        <p:txBody>
          <a:bodyPr wrap="square" lIns="0" tIns="0" rIns="0" bIns="0" rtlCol="0" anchor="t"/>
          <a:lstStyle/>
          <a:p>
            <a:pPr indent="0" marL="0">
              <a:buNone/>
            </a:pPr>
            <a:r>
              <a:rPr lang="en-US" sz="1250" dirty="0">
                <a:solidFill>
                  <a:schemeClr val="tx1"/>
                </a:solidFill>
              </a:rPr>
              <a:t>Project models are proprietary; the few open ones are not organised around supports and often export no element sizes.</a:t>
            </a:r>
            <a:endParaRPr lang="en-US" sz="1250" dirty="0"/>
          </a:p>
        </p:txBody>
      </p:sp>
      <p:sp>
        <p:nvSpPr>
          <p:cNvPr id="8" name="icon ring Coverage"/>
          <p:cNvSpPr/>
          <p:nvPr/>
        </p:nvSpPr>
        <p:spPr>
          <a:xfrm>
            <a:off x="548640" y="3246120"/>
            <a:ext cx="530352" cy="530352"/>
          </a:xfrm>
          <a:prstGeom prst="ellipse">
            <a:avLst/>
          </a:prstGeom>
          <a:solidFill>
            <a:schemeClr val="accent1"/>
          </a:solidFill>
          <a:ln/>
        </p:spPr>
      </p:sp>
      <p:pic>
        <p:nvPicPr>
          <p:cNvPr id="9" name="icon Coverage" descr="preencoded.png">    </p:cNvPr>
          <p:cNvPicPr>
            <a:picLocks noChangeAspect="1"/>
          </p:cNvPicPr>
          <p:nvPr/>
        </p:nvPicPr>
        <p:blipFill>
          <a:blip r:embed="rId2"/>
          <a:stretch>
            <a:fillRect/>
          </a:stretch>
        </p:blipFill>
        <p:spPr>
          <a:xfrm>
            <a:off x="660014" y="3357494"/>
            <a:ext cx="307604" cy="307604"/>
          </a:xfrm>
          <a:prstGeom prst="rect">
            <a:avLst/>
          </a:prstGeom>
        </p:spPr>
      </p:pic>
      <p:sp>
        <p:nvSpPr>
          <p:cNvPr id="10" name="reason Coverage"/>
          <p:cNvSpPr txBox="1"/>
          <p:nvPr/>
        </p:nvSpPr>
        <p:spPr>
          <a:xfrm>
            <a:off x="1280160" y="32278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Coverage</a:t>
            </a:r>
            <a:endParaRPr lang="en-US" sz="1500" dirty="0"/>
          </a:p>
        </p:txBody>
      </p:sp>
      <p:sp>
        <p:nvSpPr>
          <p:cNvPr id="11" name="reason text Coverage"/>
          <p:cNvSpPr txBox="1"/>
          <p:nvPr/>
        </p:nvSpPr>
        <p:spPr>
          <a:xfrm>
            <a:off x="1280160" y="3593592"/>
            <a:ext cx="4206240" cy="868680"/>
          </a:xfrm>
          <a:prstGeom prst="rect">
            <a:avLst/>
          </a:prstGeom>
          <a:noFill/>
          <a:ln/>
        </p:spPr>
        <p:txBody>
          <a:bodyPr wrap="square" lIns="0" tIns="0" rIns="0" bIns="0" rtlCol="0" anchor="t"/>
          <a:lstStyle/>
          <a:p>
            <a:pPr indent="0" marL="0">
              <a:buNone/>
            </a:pPr>
            <a:r>
              <a:rPr lang="en-US" sz="1250" dirty="0">
                <a:solidFill>
                  <a:schemeClr val="tx1"/>
                </a:solidFill>
              </a:rPr>
              <a:t>One project is one narrow slice: one building type, one trade mix. A method tuned to it measures fit to that project.</a:t>
            </a:r>
            <a:endParaRPr lang="en-US" sz="1250" dirty="0"/>
          </a:p>
        </p:txBody>
      </p:sp>
      <p:sp>
        <p:nvSpPr>
          <p:cNvPr id="12" name="icon ring Control"/>
          <p:cNvSpPr/>
          <p:nvPr/>
        </p:nvSpPr>
        <p:spPr>
          <a:xfrm>
            <a:off x="548640" y="4617720"/>
            <a:ext cx="530352" cy="530352"/>
          </a:xfrm>
          <a:prstGeom prst="ellipse">
            <a:avLst/>
          </a:prstGeom>
          <a:solidFill>
            <a:schemeClr val="accent1"/>
          </a:solidFill>
          <a:ln/>
        </p:spPr>
      </p:sp>
      <p:pic>
        <p:nvPicPr>
          <p:cNvPr id="13" name="icon Control" descr="preencoded.png">    </p:cNvPr>
          <p:cNvPicPr>
            <a:picLocks noChangeAspect="1"/>
          </p:cNvPicPr>
          <p:nvPr/>
        </p:nvPicPr>
        <p:blipFill>
          <a:blip r:embed="rId3"/>
          <a:stretch>
            <a:fillRect/>
          </a:stretch>
        </p:blipFill>
        <p:spPr>
          <a:xfrm>
            <a:off x="660014" y="4729094"/>
            <a:ext cx="307604" cy="307604"/>
          </a:xfrm>
          <a:prstGeom prst="rect">
            <a:avLst/>
          </a:prstGeom>
        </p:spPr>
      </p:pic>
      <p:sp>
        <p:nvSpPr>
          <p:cNvPr id="14" name="reason Control"/>
          <p:cNvSpPr txBox="1"/>
          <p:nvPr/>
        </p:nvSpPr>
        <p:spPr>
          <a:xfrm>
            <a:off x="1280160" y="45994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Control</a:t>
            </a:r>
            <a:endParaRPr lang="en-US" sz="1500" dirty="0"/>
          </a:p>
        </p:txBody>
      </p:sp>
      <p:sp>
        <p:nvSpPr>
          <p:cNvPr id="15" name="reason text Control"/>
          <p:cNvSpPr txBox="1"/>
          <p:nvPr/>
        </p:nvSpPr>
        <p:spPr>
          <a:xfrm>
            <a:off x="1280160" y="4965192"/>
            <a:ext cx="4206240" cy="868680"/>
          </a:xfrm>
          <a:prstGeom prst="rect">
            <a:avLst/>
          </a:prstGeom>
          <a:noFill/>
          <a:ln/>
        </p:spPr>
        <p:txBody>
          <a:bodyPr wrap="square" lIns="0" tIns="0" rIns="0" bIns="0" rtlCol="0" anchor="t"/>
          <a:lstStyle/>
          <a:p>
            <a:pPr indent="0" marL="0">
              <a:buNone/>
            </a:pPr>
            <a:r>
              <a:rPr lang="en-US" sz="1250" dirty="0">
                <a:solidFill>
                  <a:schemeClr val="tx1"/>
                </a:solidFill>
              </a:rPr>
              <a:t>A seeded generator gives unlimited problems with a known distribution, difficulty by construction and held-out seeds.</a:t>
            </a:r>
            <a:endParaRPr lang="en-US" sz="1250" dirty="0"/>
          </a:p>
        </p:txBody>
      </p:sp>
      <p:sp>
        <p:nvSpPr>
          <p:cNvPr id="16"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17"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18"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19"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21"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22"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23"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24"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25"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26"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27"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28"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29"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30"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31"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32"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33"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34"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708403"/>
            <a:ext cx="5330952" cy="3258315"/>
          </a:xfrm>
          <a:prstGeom prst="rect">
            <a:avLst/>
          </a:prstGeom>
        </p:spPr>
      </p:pic>
      <p:sp>
        <p:nvSpPr>
          <p:cNvPr id="22" name="generation caption"/>
          <p:cNvSpPr txBox="1"/>
          <p:nvPr/>
        </p:nvSpPr>
        <p:spPr>
          <a:xfrm>
            <a:off x="6309360" y="5076445"/>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8"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 NEMA VE 1 widths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 (NEMA VE 1 class span)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 (SMACNA)</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 (IET / BS 7671)</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9"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0.30 kN at C1 to 2.04 kN at C8 as the gap narrows</a:t>
            </a:r>
            <a:endParaRPr lang="en-US" sz="2600" dirty="0"/>
          </a:p>
        </p:txBody>
      </p:sp>
      <p:graphicFrame>
        <p:nvGraphicFramePr>
          <p:cNvPr id="19"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431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1037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1275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1861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488 pipes · 968 conduits · 559 trays · 485 ducts"/>
          <p:cNvSpPr/>
          <p:nvPr/>
        </p:nvSpPr>
        <p:spPr>
          <a:xfrm>
            <a:off x="7772400" y="1417320"/>
            <a:ext cx="3867912" cy="1097280"/>
          </a:xfrm>
          <a:prstGeom prst="roundRect">
            <a:avLst>
              <a:gd name="adj" fmla="val 5833"/>
            </a:avLst>
          </a:prstGeom>
          <a:solidFill>
            <a:schemeClr val="bg2"/>
          </a:solidFill>
          <a:ln/>
        </p:spPr>
      </p:sp>
      <p:sp>
        <p:nvSpPr>
          <p:cNvPr id="5" name="value 2,488 pipes · 968 conduits · 559 trays · 485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488 pipes · 968 conduits · 559 trays · 485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2,488 pipes · 968 conduits · 559 trays · 485 ducts</a:t>
            </a:r>
            <a:endParaRPr lang="en-US" sz="1100" dirty="0"/>
          </a:p>
        </p:txBody>
      </p:sp>
      <p:sp>
        <p:nvSpPr>
          <p:cNvPr id="7" name="tile Wasserstein-1, generated to measured pipe gaps of the clinic (95 % CI 17–48)"/>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7–48)"/>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32 mm</a:t>
            </a:r>
            <a:endParaRPr lang="en-US" sz="2400" dirty="0"/>
          </a:p>
        </p:txBody>
      </p:sp>
      <p:sp>
        <p:nvSpPr>
          <p:cNvPr id="9" name="label Wasserstein-1, generated to measured pipe gaps of the clinic (95 % CI 17–48)"/>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17–48)</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−0.38 / +0.46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32 mm off; the small duplex is 76 to 88</a:t>
            </a:r>
            <a:endParaRPr lang="en-US" sz="2600" dirty="0"/>
          </a:p>
        </p:txBody>
      </p:sp>
      <p:graphicFrame>
        <p:nvGraphicFramePr>
          <p:cNvPr id="20"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39"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(17–48)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18 (13–27)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76 (61–103)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97 (78–120)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(62–132)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(89–127)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31–41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1"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16.7 (8.3–26.6)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 (10.7–14.7)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(5.0–18.4)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13.5 (11.8–15.4)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15.6 (10.5–21.1)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(12.4–15.2)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 (11.8–22.1)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(12.0–14.4)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(7.3–16.0)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 (13.5–15.9)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10.7 (7.2–14.5)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14.3 (13.3–15.4)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517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17.2 (13.4–21.1)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14.9 (13.9–16.0)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546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15.2 (11.7–19.1)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(13.5–15.4)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1"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61"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(13.7–15.2)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(11.2–15.6)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1,200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(11.5–16.4)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2,488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 (12.7–16.2)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14.3 % (95 % CI 13.8–14.7)</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"mep_9",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0.76, "bundle_width_mm": 1527.0,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"duct", "service": "duct", "trade": "ventilation",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"1000x500 duct", "width_mm": 1000.0, "height_mm": 500.0,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0.72, "span_m": 2.4, "load_kN_per_m": 0.3002,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-263.5, "out_mm": 340.0},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"domestic_cold", "trade": "domestic",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750.0, "out_mm": 341.3}</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2026-10-06T20:34:44Z</dcterms:created>
  <dcterms:modified xsi:type="dcterms:W3CDTF">2026-10-06T20:34:44Z</dcterms:modified>
</cp:coreProperties>
</file>