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d55ca8e-65ae-d9cc-cbde-8d694977a650}">
          <p14:sldIdLst>
            <p14:sldId id="256"/>
          </p14:sldIdLst>
        </p14:section>
        <p14:section name="Motivation" id="{398e56f7-b272-22ad-397b-1c63fb8deb7d}">
          <p14:sldIdLst>
            <p14:sldId id="257"/>
            <p14:sldId id="258"/>
            <p14:sldId id="259"/>
          </p14:sldIdLst>
        </p14:section>
        <p14:section name="The dataset" id="{0f711070-7125-3e0f-fbc5-3ef5ce34b63c}">
          <p14:sldIdLst>
            <p14:sldId id="260"/>
            <p14:sldId id="261"/>
            <p14:sldId id="262"/>
            <p14:sldId id="263"/>
            <p14:sldId id="264"/>
          </p14:sldIdLst>
        </p14:section>
        <p14:section name="Experiments" id="{7454a8f7-c38c-5428-c566-a382a6171289}">
          <p14:sldIdLst>
            <p14:sldId id="265"/>
            <p14:sldId id="266"/>
            <p14:sldId id="267"/>
          </p14:sldIdLst>
        </p14:section>
        <p14:section name="Use" id="{b954cbcf-8d57-270e-3fd0-5d5b8327e0fe}">
          <p14:sldIdLst>
            <p14:sldId id="268"/>
            <p14:sldId id="269"/>
            <p14:sldId id="270"/>
            <p14:sldId id="271"/>
          </p14:sldIdLst>
        </p14:section>
        <p14:section name="Appendix" id="{20d71cb3-5a9d-b9f6-85a9-517588e27e90}">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0</c:v>
                </c:pt>
                <c:pt idx="1">
                  <c:v>0</c:v>
                </c:pt>
                <c:pt idx="2">
                  <c:v>0</c:v>
                </c:pt>
                <c:pt idx="3">
                  <c:v>0</c:v>
                </c:pt>
                <c:pt idx="4">
                  <c:v>293</c:v>
                </c:pt>
                <c:pt idx="5">
                  <c:v>0</c:v>
                </c:pt>
                <c:pt idx="6">
                  <c:v>0</c:v>
                </c:pt>
                <c:pt idx="7">
                  <c:v>0</c:v>
                </c:pt>
                <c:pt idx="8">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Sheet1!$C$2:$C$10</c:f>
              <c:numCache>
                <c:formatCode>General</c:formatCode>
                <c:ptCount val="9"/>
                <c:pt idx="0">
                  <c:v>221</c:v>
                </c:pt>
                <c:pt idx="1">
                  <c:v>294</c:v>
                </c:pt>
                <c:pt idx="2">
                  <c:v>523</c:v>
                </c:pt>
                <c:pt idx="3">
                  <c:v>463</c:v>
                </c:pt>
                <c:pt idx="4">
                  <c:v>0</c:v>
                </c:pt>
                <c:pt idx="5">
                  <c:v>245</c:v>
                </c:pt>
                <c:pt idx="6">
                  <c:v>250</c:v>
                </c:pt>
                <c:pt idx="7">
                  <c:v>117</c:v>
                </c:pt>
                <c:pt idx="8">
                  <c:v>123</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22.61763542902333</c:v>
                </c:pt>
                <c:pt idx="1">
                  <c:v>42.981415579280345</c:v>
                </c:pt>
                <c:pt idx="2">
                  <c:v>60.41913799920918</c:v>
                </c:pt>
                <c:pt idx="3">
                  <c:v>67.69474100434955</c:v>
                </c:pt>
                <c:pt idx="4">
                  <c:v>74.06089363384737</c:v>
                </c:pt>
                <c:pt idx="5">
                  <c:v>80.11071569790431</c:v>
                </c:pt>
                <c:pt idx="6">
                  <c:v>84.53934361407671</c:v>
                </c:pt>
                <c:pt idx="7">
                  <c:v>88.1771451166469</c:v>
                </c:pt>
                <c:pt idx="8">
                  <c:v>91.73586397785687</c:v>
                </c:pt>
                <c:pt idx="9">
                  <c:v>95.25504151838672</c:v>
                </c:pt>
                <c:pt idx="10">
                  <c:v>98.69513641755634</c:v>
                </c:pt>
                <c:pt idx="11">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help coordinate the model and check a design, but choosing the layout and the parts is still manual. It takes judgment, interacting rules, and ever-changing catalogs.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teach a machine this, you need many examples, and there were none. Project models are proprietary, the open ones aren't organized around supports, and any one project is a narrow slice. So we built CrossMEP: seven thousand contexts, about thirty-one and a half thousand elements, in eight difficulty tiers. They are deliberately unlabeled: you get the problem, never the answer. Every constant is sourced or declared a design choice, and everything is open.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Loads are computed in code from all of this.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does difficulty grow with the tier? The count is fixed by construction, and load and congestion follow from the rules, so this shows the dataset behaves as designed. The load at the support rises at every step, from 0.1 to 1.7 kilonewtons. The closest gap shrinks from 120 to about 62 millimeters, but widens again at C6, where elements start stacking in two or three rows. So: report methods tier by tier.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left, the clinic: generated gaps are close to measured ones, though not identical. On the right, the distances. Generator to clinic: 28 millimeters. That is above the 8 a perfect generator would show, so not a perfect match, but about as close as the duplex's own two models are to each other. A fixed 25-millimeter gap would be about 190 off.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11.6 percent of the pipes, with an interval of 10 to 13, all one size, DN40. Load is never the limit, and trays, ducts and conduits aren't covered at all. On the right is what the dataset asks of any catalog: two well-placed sizes could attach 43 percent, six sizes 80, twelve sizes every pipe. So 'what should the catalog contain' becomes a measurement.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17 shows two more sections. Before the talk: open the studio once with internet, set its link sharing to public, scan the QR from a phone not logged in.] (6:55)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Routing and branches are outside it, but the span is recorded, so a method can vary it.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8"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9"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overall,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at every tier (rank correlation +0.56); the closest gap shrinks overall (−0.36) but widens at C6 (70 → 75 mm), where elements start to stack in two or three rows.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28 mm from the generated gaps (95 % CI 16–44),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9;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0.1–13.0);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0.1–13.0);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7" name="label of benchmark pipes attachable with the paper’s two sizes (95 % CI 10.1–13.0);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10.1–13.0); every one is DN40</a:t>
            </a:r>
            <a:endParaRPr lang="en-US" sz="1100" dirty="0"/>
          </a:p>
        </p:txBody>
      </p:sp>
      <p:sp>
        <p:nvSpPr>
          <p:cNvPr id="8" name="tile with two sizes placed where the pipes are; 80 % with six, and every pipe with 12"/>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80 % with six, and every pipe with 12"/>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43.0 %</a:t>
            </a:r>
            <a:endParaRPr lang="en-US" sz="3200" dirty="0"/>
          </a:p>
        </p:txBody>
      </p:sp>
      <p:sp>
        <p:nvSpPr>
          <p:cNvPr id="10" name="label with two sizes placed where the pipes are; 80 % with six, and every pipe with 12"/>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80 % with six, and every pipe with 12</a:t>
            </a:r>
            <a:endParaRPr lang="en-US" sz="1100" dirty="0"/>
          </a:p>
        </p:txBody>
      </p:sp>
      <p:sp>
        <p:nvSpPr>
          <p:cNvPr id="11" name="tile trays, ducts and conduits: a pipe-clamp catalog defines no attachment. Load never binds (0.88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0.88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13" name="label trays, ducts and conduits: a pipe-clamp catalog defines no attachment. Load never binds (0.88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(0.88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0.10 kN at C1 to 1.71 kN at C8 as the gap narrows</a:t>
            </a:r>
            <a:endParaRPr lang="en-US" sz="2600" dirty="0"/>
          </a:p>
        </p:txBody>
      </p:sp>
      <p:graphicFrame>
        <p:nvGraphicFramePr>
          <p:cNvPr id="19"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pipe gaps of the clinic (95 % CI 16–44)"/>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6–44)"/>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28 mm</a:t>
            </a:r>
            <a:endParaRPr lang="en-US" sz="2400" dirty="0"/>
          </a:p>
        </p:txBody>
      </p:sp>
      <p:sp>
        <p:nvSpPr>
          <p:cNvPr id="9" name="label Wasserstein-1, generated to measured pipe gaps of the clinic (95 % CI 16–44)"/>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16–44)</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−0.36 / +0.56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28 mm off; the small duplex is 70 to 85</a:t>
            </a:r>
            <a:endParaRPr lang="en-US" sz="2600" dirty="0"/>
          </a:p>
        </p:txBody>
      </p:sp>
      <p:graphicFrame>
        <p:nvGraphicFramePr>
          <p:cNvPr id="20"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1,543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9"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 (16–44)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 (11–24)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70 (57–99)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(59–132)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100 (85–125)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27–36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1"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11.3 (4.1–19.1)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(9.6–13.3)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12.2 (6.5–18.8)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10.9 (9.4–12.5)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10.3 (5.7–15.6)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(9.6–12.0)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13.6 (8.4–19.3)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(9.4–11.4)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9.2 (6.1–12.6)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10.5 (9.6–11.5)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(7.9–15.4)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(9.9–11.8)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(7.5–14.1)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11.0 (10.1–11.8)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585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13.3 (9.8–17.1)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 (10.4–12.0)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1"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(10.2–11.5)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9.0 (7.2–11.0)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 (10.1–13.0)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10.8 % (95 % CI 10.5–11.2)</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2026-10-06T20:03:46Z</dcterms:created>
  <dcterms:modified xsi:type="dcterms:W3CDTF">2026-10-06T20:03:46Z</dcterms:modified>
</cp:coreProperties>
</file>