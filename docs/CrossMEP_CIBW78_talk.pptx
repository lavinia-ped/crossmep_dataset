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e27408b-89b1-49b7-d13f-4a7a61d8a484}">
          <p14:sldIdLst>
            <p14:sldId id="256"/>
          </p14:sldIdLst>
        </p14:section>
        <p14:section name="Motivation" id="{be1eb483-1da7-b5a9-df59-dc2c937fb447}">
          <p14:sldIdLst>
            <p14:sldId id="257"/>
            <p14:sldId id="258"/>
            <p14:sldId id="259"/>
          </p14:sldIdLst>
        </p14:section>
        <p14:section name="The dataset" id="{d5581d54-24e7-c1a7-196e-a250db613ccb}">
          <p14:sldIdLst>
            <p14:sldId id="260"/>
            <p14:sldId id="261"/>
            <p14:sldId id="262"/>
            <p14:sldId id="263"/>
            <p14:sldId id="264"/>
          </p14:sldIdLst>
        </p14:section>
        <p14:section name="Experiments" id="{437b6458-ef8d-1a1a-ab56-424bd354df7a}">
          <p14:sldIdLst>
            <p14:sldId id="265"/>
            <p14:sldId id="266"/>
            <p14:sldId id="267"/>
          </p14:sldIdLst>
        </p14:section>
        <p14:section name="Use" id="{396ec00b-1b79-9267-fcad-67ca0a727990}">
          <p14:sldIdLst>
            <p14:sldId id="268"/>
            <p14:sldId id="269"/>
            <p14:sldId id="270"/>
            <p14:sldId id="271"/>
          </p14:sldIdLst>
        </p14:section>
        <p14:section name="Appendix" id="{12241547-dc0d-39ab-e9cf-83eff5387825}">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17984</c:v>
                </c:pt>
                <c:pt idx="1">
                  <c:v>7617</c:v>
                </c:pt>
                <c:pt idx="2">
                  <c:v>3975</c:v>
                </c:pt>
                <c:pt idx="3">
                  <c:v>1908</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1495</c:v>
                </c:pt>
                <c:pt idx="1">
                  <c:v>2415</c:v>
                </c:pt>
                <c:pt idx="2">
                  <c:v>3399</c:v>
                </c:pt>
                <c:pt idx="3">
                  <c:v>3431</c:v>
                </c:pt>
                <c:pt idx="4">
                  <c:v>1924</c:v>
                </c:pt>
                <c:pt idx="5">
                  <c:v>1777</c:v>
                </c:pt>
                <c:pt idx="6">
                  <c:v>1804</c:v>
                </c:pt>
                <c:pt idx="7">
                  <c:v>865</c:v>
                </c:pt>
                <c:pt idx="8">
                  <c:v>874</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0</c:v>
                </c:pt>
                <c:pt idx="1">
                  <c:v>0</c:v>
                </c:pt>
                <c:pt idx="2">
                  <c:v>0</c:v>
                </c:pt>
                <c:pt idx="3">
                  <c:v>0</c:v>
                </c:pt>
                <c:pt idx="4">
                  <c:v>293</c:v>
                </c:pt>
                <c:pt idx="5">
                  <c:v>0</c:v>
                </c:pt>
                <c:pt idx="6">
                  <c:v>0</c:v>
                </c:pt>
                <c:pt idx="7">
                  <c:v>0</c:v>
                </c:pt>
                <c:pt idx="8">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Sheet1!$C$2:$C$10</c:f>
              <c:numCache>
                <c:formatCode>General</c:formatCode>
                <c:ptCount val="9"/>
                <c:pt idx="0">
                  <c:v>221</c:v>
                </c:pt>
                <c:pt idx="1">
                  <c:v>294</c:v>
                </c:pt>
                <c:pt idx="2">
                  <c:v>523</c:v>
                </c:pt>
                <c:pt idx="3">
                  <c:v>463</c:v>
                </c:pt>
                <c:pt idx="4">
                  <c:v>0</c:v>
                </c:pt>
                <c:pt idx="5">
                  <c:v>245</c:v>
                </c:pt>
                <c:pt idx="6">
                  <c:v>250</c:v>
                </c:pt>
                <c:pt idx="7">
                  <c:v>117</c:v>
                </c:pt>
                <c:pt idx="8">
                  <c:v>123</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22.61763542902333</c:v>
                </c:pt>
                <c:pt idx="1">
                  <c:v>42.981415579280345</c:v>
                </c:pt>
                <c:pt idx="2">
                  <c:v>60.41913799920918</c:v>
                </c:pt>
                <c:pt idx="3">
                  <c:v>67.69474100434955</c:v>
                </c:pt>
                <c:pt idx="4">
                  <c:v>74.06089363384737</c:v>
                </c:pt>
                <c:pt idx="5">
                  <c:v>80.11071569790431</c:v>
                </c:pt>
                <c:pt idx="6">
                  <c:v>84.53934361407671</c:v>
                </c:pt>
                <c:pt idx="7">
                  <c:v>88.1771451166469</c:v>
                </c:pt>
                <c:pt idx="8">
                  <c:v>91.73586397785687</c:v>
                </c:pt>
                <c:pt idx="9">
                  <c:v>95.25504151838672</c:v>
                </c:pt>
                <c:pt idx="10">
                  <c:v>98.69513641755634</c:v>
                </c:pt>
                <c:pt idx="11">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time you're in a hospital, look up. Above the ceiling, pipes, ducts and cable trays run in every direction, and not one of them floats. Each hangs from a support that an engineer designed by hand, one at a time. And until now, there was no public data to teach a machine to do that. I'm Lavinia Pedrollo, from Stanford, and with David Gvadzabia, Torben Graeber and Martin Fischer, we built that data: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help coordinate the model and check a design, but choosing the layout and the parts is still manual. It takes judgment, interacting rules, and ever-changing catalogs. That section is the unit of this work, and the unit of our dataset.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teach a machine this, you need many examples, and there were none. Project models are proprietary, the open ones aren't organized around supports, and any one project is a narrow slice. So we built CrossMEP: seven thousand contexts, about thirty-one and a half thousand elements, in eight difficulty tiers. They are deliberately unlabeled: you get the problem, never the answer. Every constant is sourced or declared a design choice, and everything is open.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it's seeded: the same seed gives the same file, byte for byte.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Each comes from a cited source or is declared a design choice. Pipes follow the European steel pipe standards, filled with water, at ASME B31.1 spans. Insulation follows the German GEG, and a condensation schedule for chilled water. Trays and conduits follow IEC standards, ducts European sizes with a manufacturer's weight table. Loads are computed in code, and pure choices, like the trade mix, are labeled as choices.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Mostly pipes, then conduits, trays and ducts. Four in five hang from a ceiling, one in five from a wall. Everything is plain JSON with a schema and a datasheet. (4:05)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experiments. The first is a design check, not a discovery: does difficulty grow with the tier? The count is fixed by construction, and load and congestion follow from the rules, so this shows the dataset behaves as designed. The load at the support rises at every step, from 0.1 to 1.7 kilonewtons. The closest gap shrinks from 120 to about 62 millimeters, but widens again at C6, where elements start stacking in two or three rows. So: report methods tier by tier.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experiment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left, the clinic: generated gaps are close to measured ones, though not identical. On the right, the distances. Generator to clinic: 28 millimeters. That is above the 8 a perfect generator would show, so not a perfect match, but about as close as the duplex's own two models are to each other. A fixed 25-millimeter gap would be about 190 off.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experiment is a use of the dataset, not a test of it: what must a catalog of clamps cover? Our paper's two-size catalog attaches 11.6 percent of the pipes, with an interval of 10 to 13, all one size, DN40. Load is never the limit, and trays, ducts and conduits aren't covered at all. On the right is what the dataset asks of any catalog: two well-placed sizes could attach 43 percent, six sizes 80, twelve sizes every pipe. So 'what should the catalog contain' becomes a measurement.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17 shows two more sections. Before the talk: open the studio once with internet, set its link sharing to public, scan the QR from a phone not logged in.] (7:05)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Routing and branches are outside it, but the span is recorded, so a method can vary it.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(8:45)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many problems, and none were public</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582022"/>
            <a:ext cx="5330952" cy="3511075"/>
          </a:xfrm>
          <a:prstGeom prst="rect">
            <a:avLst/>
          </a:prstGeom>
        </p:spPr>
      </p:pic>
      <p:sp>
        <p:nvSpPr>
          <p:cNvPr id="22" name="generation caption"/>
          <p:cNvSpPr txBox="1"/>
          <p:nvPr/>
        </p:nvSpPr>
        <p:spPr>
          <a:xfrm>
            <a:off x="6309360" y="5202826"/>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8"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Every constant carries a source and a status (verified, practice-cited, or a declared design choice) in the repository. Loads are derived in code from those sources, so each number can be traced and checked.</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9"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11,592, domestic water 5,889, heating 5,766, chilled water 4,129, sprinkler 2,200, ventilation 1,908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overall,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at every tier (rank correlation +0.56); the closest gap shrinks overall (−0.36) but widens at C6 (70 → 75 mm), where elements start to stack in two or three rows.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28 mm from the generated gaps (95 % CI 16–44),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9;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0.1–13.0);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0.1–13.0);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11.6 %</a:t>
            </a:r>
            <a:endParaRPr lang="en-US" sz="3200" dirty="0"/>
          </a:p>
        </p:txBody>
      </p:sp>
      <p:sp>
        <p:nvSpPr>
          <p:cNvPr id="7" name="label of benchmark pipes attachable with the paper’s two sizes (95 % CI 10.1–13.0);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10.1–13.0); every one is DN40</a:t>
            </a:r>
            <a:endParaRPr lang="en-US" sz="1100" dirty="0"/>
          </a:p>
        </p:txBody>
      </p:sp>
      <p:sp>
        <p:nvSpPr>
          <p:cNvPr id="8" name="tile with two sizes placed where the pipes are; 80 % with six, and every pipe with 12"/>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80 % with six, and every pipe with 12"/>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43.0 %</a:t>
            </a:r>
            <a:endParaRPr lang="en-US" sz="3200" dirty="0"/>
          </a:p>
        </p:txBody>
      </p:sp>
      <p:sp>
        <p:nvSpPr>
          <p:cNvPr id="10" name="label with two sizes placed where the pipes are; 80 % with six, and every pipe with 12"/>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80 % with six, and every pipe with 12</a:t>
            </a:r>
            <a:endParaRPr lang="en-US" sz="1100" dirty="0"/>
          </a:p>
        </p:txBody>
      </p:sp>
      <p:sp>
        <p:nvSpPr>
          <p:cNvPr id="11" name="tile trays, ducts and conduits: a pipe-clamp catalog defines no attachment. Load never binds (0.88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0.88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1,971</a:t>
            </a:r>
            <a:endParaRPr lang="en-US" sz="3200" dirty="0"/>
          </a:p>
        </p:txBody>
      </p:sp>
      <p:sp>
        <p:nvSpPr>
          <p:cNvPr id="13" name="label trays, ducts and conduits: a pipe-clamp catalog defines no attachment. Load never binds (0.88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(0.88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0.10 kN at C1 to 1.71 kN at C8 as the gap narrows</a:t>
            </a:r>
            <a:endParaRPr lang="en-US" sz="2600" dirty="0"/>
          </a:p>
        </p:txBody>
      </p:sp>
      <p:graphicFrame>
        <p:nvGraphicFramePr>
          <p:cNvPr id="19"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344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993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1138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1448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529 pipes · 1,141 conduits · 569 trays · 261 ducts"/>
          <p:cNvSpPr/>
          <p:nvPr/>
        </p:nvSpPr>
        <p:spPr>
          <a:xfrm>
            <a:off x="7772400" y="1417320"/>
            <a:ext cx="3867912" cy="1097280"/>
          </a:xfrm>
          <a:prstGeom prst="roundRect">
            <a:avLst>
              <a:gd name="adj" fmla="val 5833"/>
            </a:avLst>
          </a:prstGeom>
          <a:solidFill>
            <a:schemeClr val="bg2"/>
          </a:solidFill>
          <a:ln/>
        </p:spPr>
      </p:sp>
      <p:sp>
        <p:nvSpPr>
          <p:cNvPr id="5" name="value 2,529 pipes · 1,141 conduits · 569 trays · 261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529 pipes · 1,141 conduits · 569 trays · 261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2,529 pipes · 1,141 conduits · 569 trays · 261 ducts</a:t>
            </a:r>
            <a:endParaRPr lang="en-US" sz="1100" dirty="0"/>
          </a:p>
        </p:txBody>
      </p:sp>
      <p:sp>
        <p:nvSpPr>
          <p:cNvPr id="7" name="tile Wasserstein-1, generated to measured pipe gaps of the clinic (95 % CI 16–44)"/>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6–44)"/>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28 mm</a:t>
            </a:r>
            <a:endParaRPr lang="en-US" sz="2400" dirty="0"/>
          </a:p>
        </p:txBody>
      </p:sp>
      <p:sp>
        <p:nvSpPr>
          <p:cNvPr id="9" name="label Wasserstein-1, generated to measured pipe gaps of the clinic (95 % CI 16–44)"/>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16–44)</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−0.36 / +0.56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28 mm off; the small duplex is 70 to 85</a:t>
            </a:r>
            <a:endParaRPr lang="en-US" sz="2600" dirty="0"/>
          </a:p>
        </p:txBody>
      </p:sp>
      <p:graphicFrame>
        <p:nvGraphicFramePr>
          <p:cNvPr id="20"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1,543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9"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 (16–44)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 (11–24)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70 (57–99)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(59–132)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100 (85–125)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27–36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1"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11.3 (4.1–19.1)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(9.6–13.3)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12.2 (6.5–18.8)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10.9 (9.4–12.5)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10.3 (5.7–15.6)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(9.6–12.0)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13.6 (8.4–19.3)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(9.4–11.4)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9.2 (6.1–12.6)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10.5 (9.6–11.5)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(7.9–15.4)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(9.9–11.8)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(7.5–14.1)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11.0 (10.1–11.8)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585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13.3 (9.8–17.1)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 (10.4–12.0)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1"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(10.2–11.5)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9.0 (7.2–11.0)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 (10.1–13.0)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10.8 % (95 % CI 10.5–11.2)</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"mep_57",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1.12, "bundle_width_mm": 588.0,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"cable_tray", "service": "tray", "trade": "electrical",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"300 tray", "width_mm": 300.0, "height_mm": 60.0,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1.08, "span_m": 2.0, "load_kN_per_m": 0.5396,</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-144.0, "out_mm": 120.0},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"heating", "trade": "heating",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260.5, "out_mm": 156.2}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2026-10-06T19:32:37Z</dcterms:created>
  <dcterms:modified xsi:type="dcterms:W3CDTF">2026-10-06T19:32:37Z</dcterms:modified>
</cp:coreProperties>
</file>