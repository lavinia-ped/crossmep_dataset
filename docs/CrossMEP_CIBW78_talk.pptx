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c4030de-114d-c0e5-2726-f3fd4d80ce72}">
          <p14:sldIdLst>
            <p14:sldId id="256"/>
          </p14:sldIdLst>
        </p14:section>
        <p14:section name="Motivation" id="{440fec81-15e4-8400-ac1c-88370ec92a30}">
          <p14:sldIdLst>
            <p14:sldId id="257"/>
            <p14:sldId id="258"/>
            <p14:sldId id="259"/>
            <p14:sldId id="260"/>
          </p14:sldIdLst>
        </p14:section>
        <p14:section name="The dataset" id="{fbb90206-4df6-db85-45e7-00e33dbb79c2}">
          <p14:sldIdLst>
            <p14:sldId id="261"/>
            <p14:sldId id="262"/>
            <p14:sldId id="263"/>
            <p14:sldId id="264"/>
            <p14:sldId id="265"/>
          </p14:sldIdLst>
        </p14:section>
        <p14:section name="Experiments" id="{f17f2e08-4f9a-6e76-ba2f-aa957f1f4829}">
          <p14:sldIdLst>
            <p14:sldId id="266"/>
            <p14:sldId id="267"/>
            <p14:sldId id="268"/>
          </p14:sldIdLst>
        </p14:section>
        <p14:section name="Use" id="{067e71b8-6d08-0ff0-feb5-621cf1b493f5}">
          <p14:sldIdLst>
            <p14:sldId id="269"/>
            <p14:sldId id="270"/>
            <p14:sldId id="271"/>
            <p14:sldId id="272"/>
          </p14:sldIdLst>
        </p14:section>
        <p14:section name="Appendix" id="{6be03e17-062f-bf95-f71e-21b3fc8c0610}">
          <p14:sldIdLst>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 Every pipe, duct and cable tray in a building hangs from a support that an engineer designs by hand, from the section at that spot. We want to teach machines to do some of that work, and the first thing we found missing was data: there was no public set of support-design problems. So, with David Gvadzabia, Torben Graeber and Martin Fischer, we built one. It's called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In this hospital, every red mark is a place where pipes, ducts or cable trays hang from the structure. A modular support system groups several services onto one prefabricated frame, installed as a single unit: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task? At ISARC we defined it like this. You're given a fixed catalog of components and the context: which services cross the hanger, and what they hang from. You must find a feasible assembly that carries them to the structure. Designers don't work from the whole model. They work from one section at each hanger, like this one. Today's tools coordinate and check; choosing the layout and the parts is still manual. That section is the unit of this work, and the unit of our dataset.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One section in, verified supports out. Build the assembly step by step from a catalog, each step allowed by the rules and chosen by a rule table, by search, or by a learned policy; then check every finished design: statics, anchors, buildability. That is learnable. But anything that learns needs problems to learn from, a fixed set to compare on, and problems that look like practice.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there were none. Project models are proprietary, the open ones aren't organized around supports, and any one project is a narrow slice. So we built CrossMEP: seven thousand contexts, about thirty-one and a half thousand elements, in eight difficulty tiers. They are deliberately unlabeled: you get the problem, never the answer. Every constant is sourced or declared a design choice, and everything is open. (2:10)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The context is the brief. The assembly is the answer. (2:40)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Not by free randomness, but by rules an engineer would recognize.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and it's seeded: the same seed gives the same file, byte for byte.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Three places. Sizes, weights and spans come from standards: European steel pipe and duct standards, IEC for conduits and trays, ASME for spans, the German GEG for insulation. How close neighbors sit comes from measured open buildings. And a few things are simply our choices, like the trade mix, and we label them that way. Loads are computed in code from all of this. (3:55)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Everything is plain JSON with a schema and a datasheet. (4:25)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kinds, trades, surfaces, stacking. So the element count is the one controlled axis of difficulty. And notice the walls: the section rotates, and electrical sits above water. (4:45)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analyses. The first is a design check, not a discovery: does difficulty grow with the tier? The count is fixed by construction, and load and congestion follow from the rules, so this shows the dataset behaves as designed. The load at the support rises with the tier, from about 0.3 to 2.0 kilonewtons. The closest gap narrows at every step, from 130 to about 51 millimeters. So: report methods tier by tier.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analysis is the one the generator could fail. Is the spacing realistic in a building it has never seen? The gap distribution was fitted on a residential duplex. We kept a second open building aside, a medical-dental clinic, cut it into sections every 250 millimeters, the way a context is defined, and measured the gaps between pipes running side by side. On the left, the clinic: generated gaps are close to measured ones, though not identical. On the right, the distances. Generator to clinic: 32 millimeters. That is above the 8 a perfect generator would show, so not a perfect match, but about as close as the duplex's own two models are to each other. A fixed 25-millimeter gap would be about 190 off.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analysis is a use of the dataset, not a test of it: what must a catalog of clamps cover? Our paper's two-size catalog attaches 14.5 percent of the pipes, with an interval of 13 to 16, all one size, DN40. Load is never the limit, and trays, ducts and conduits aren't covered at all. On the right is what the dataset asks of any catalog: two well-placed sizes could attach 38 percent, six sizes 76, fifteen sizes every pipe. So 'what should the catalog contain' becomes a measurement. (6:35)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Python call that reproduces it. Scan the code to try it yourself. [Live: switch to the studio, click C3, then Generate another twice, then Exact mix with a duct. If the demo fails, stay on this slide; slide 18 shows two more sections. Before the talk: open the studio once with internet, set its link sharing to public, scan the QR from a phone not logged in.] (7:10)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Because there are no labels, the same files serve reinforcement learning, constraint programming, and benchmarking people. We ship the scoring too. Train on the generator, from C1 up to C8. Evaluate on the benchmark, the same 125 contexts per tier for every method. Report per tier, with 95 percent intervals and paired tests. (8:20)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Routing and branches are outside it, but the span is recorded, so a method can vary it. Pipe spacing was checked on two open buildings; the rest rests on practice and standards, and the trade mix is a design choice. It's not for structural design of real installations. Next: a public checker, with best-known costs, so we can compare methods on the answer; the catalog as an input; and a real test set from commercial projects, with supports designed by engineers. That's where I'd value your eye. (8:50)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an assembly from a catalog and a section has resisted automation</a:t>
            </a:r>
            <a:endParaRPr lang="en-US" sz="2600" dirty="0"/>
          </a:p>
        </p:txBody>
      </p:sp>
      <p:sp>
        <p:nvSpPr>
          <p:cNvPr id="3" name="problem card"/>
          <p:cNvSpPr/>
          <p:nvPr/>
        </p:nvSpPr>
        <p:spPr>
          <a:xfrm>
            <a:off x="548640" y="1371600"/>
            <a:ext cx="5212080" cy="2606040"/>
          </a:xfrm>
          <a:prstGeom prst="roundRect">
            <a:avLst>
              <a:gd name="adj" fmla="val 2456"/>
            </a:avLst>
          </a:prstGeom>
          <a:solidFill>
            <a:schemeClr val="bg2"/>
          </a:solidFill>
          <a:ln/>
        </p:spPr>
      </p:sp>
      <p:sp>
        <p:nvSpPr>
          <p:cNvPr id="4" name="problem"/>
          <p:cNvSpPr txBox="1"/>
          <p:nvPr/>
        </p:nvSpPr>
        <p:spPr>
          <a:xfrm>
            <a:off x="777240" y="1508760"/>
            <a:ext cx="4754880" cy="2377440"/>
          </a:xfrm>
          <a:prstGeom prst="rect">
            <a:avLst/>
          </a:prstGeom>
          <a:noFill/>
          <a:ln/>
        </p:spPr>
        <p:txBody>
          <a:bodyPr wrap="square" lIns="0" tIns="0" rIns="0" bIns="0" rtlCol="0" anchor="t"/>
          <a:lstStyle/>
          <a:p>
            <a:pPr indent="0" marL="0">
              <a:buNone/>
            </a:pPr>
            <a:r>
              <a:rPr lang="en-US" sz="1700" b="1" dirty="0">
                <a:solidFill>
                  <a:schemeClr val="tx1"/>
                </a:solidFill>
              </a:rPr>
              <a:t>The synthesis problem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Given </a:t>
            </a:r>
            <a:pPr indent="0" marL="0">
              <a:buNone/>
            </a:pPr>
            <a:r>
              <a:rPr lang="en-US" sz="1500" dirty="0">
                <a:solidFill>
                  <a:schemeClr val="tx1"/>
                </a:solidFill>
              </a:rPr>
              <a:t>a fixed catalog of components and the MEP context: the services crossing the hanger and the surface they hang from.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Find </a:t>
            </a:r>
            <a:pPr indent="0" marL="0">
              <a:buNone/>
            </a:pPr>
            <a:r>
              <a:rPr lang="en-US" sz="1500" dirty="0">
                <a:solidFill>
                  <a:schemeClr val="tx1"/>
                </a:solidFill>
              </a:rPr>
              <a:t>a feasible assembly that carries the services to the structure.</a:t>
            </a:r>
            <a:endParaRPr lang="en-US" sz="1500" dirty="0"/>
          </a:p>
          <a:p>
            <a:pPr indent="0" marL="0">
              <a:buNone/>
            </a:pPr>
            <a:r>
              <a:rPr lang="en-US" sz="600" dirty="0">
                <a:solidFill>
                  <a:schemeClr val="tx1"/>
                </a:solidFill>
              </a:rPr>
              <a:t> </a:t>
            </a:r>
            <a:endParaRPr lang="en-US" sz="1500" dirty="0"/>
          </a:p>
          <a:p>
            <a:pPr indent="0" marL="0">
              <a:buNone/>
            </a:pPr>
            <a:r>
              <a:rPr lang="en-US" sz="1500" i="1" dirty="0">
                <a:solidFill>
                  <a:schemeClr val="tx1"/>
                </a:solidFill>
              </a:rPr>
              <a:t>Tools coordinate the model and check a design; choosing the topology and the parts is still done by hand.</a:t>
            </a:r>
            <a:endParaRPr lang="en-US" sz="1500" dirty="0"/>
          </a:p>
        </p:txBody>
      </p:sp>
      <p:pic>
        <p:nvPicPr>
          <p:cNvPr id="5" name="route to section" descr="/home/user/crossmep_dataset/docs/figures/paper_fig1_route_to_section.png">    </p:cNvPr>
          <p:cNvPicPr>
            <a:picLocks noChangeAspect="1"/>
          </p:cNvPicPr>
          <p:nvPr/>
        </p:nvPicPr>
        <p:blipFill>
          <a:blip r:embed="rId1"/>
          <a:stretch>
            <a:fillRect/>
          </a:stretch>
        </p:blipFill>
        <p:spPr>
          <a:xfrm>
            <a:off x="5989320" y="1642325"/>
            <a:ext cx="5650992" cy="1561670"/>
          </a:xfrm>
          <a:prstGeom prst="rect">
            <a:avLst/>
          </a:prstGeom>
        </p:spPr>
      </p:pic>
      <p:sp>
        <p:nvSpPr>
          <p:cNvPr id="6" name="fig1 caption"/>
          <p:cNvSpPr txBox="1"/>
          <p:nvPr/>
        </p:nvSpPr>
        <p:spPr>
          <a:xfrm>
            <a:off x="5989320" y="3295435"/>
            <a:ext cx="5650992"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in, verified supports out: learnable, given problems to learn from</a:t>
            </a:r>
            <a:endParaRPr lang="en-US" sz="2600" dirty="0"/>
          </a:p>
        </p:txBody>
      </p:sp>
      <p:sp>
        <p:nvSpPr>
          <p:cNvPr id="3" name="flow box brief"/>
          <p:cNvSpPr/>
          <p:nvPr/>
        </p:nvSpPr>
        <p:spPr>
          <a:xfrm>
            <a:off x="548640" y="1600200"/>
            <a:ext cx="2148840" cy="1554480"/>
          </a:xfrm>
          <a:prstGeom prst="roundRect">
            <a:avLst>
              <a:gd name="adj" fmla="val 4118"/>
            </a:avLst>
          </a:prstGeom>
          <a:solidFill>
            <a:schemeClr val="bg2"/>
          </a:solidFill>
          <a:ln/>
        </p:spPr>
      </p:sp>
      <p:sp>
        <p:nvSpPr>
          <p:cNvPr id="4" name="flow text brief"/>
          <p:cNvSpPr txBox="1"/>
          <p:nvPr/>
        </p:nvSpPr>
        <p:spPr>
          <a:xfrm>
            <a:off x="713232" y="1709928"/>
            <a:ext cx="1819656" cy="1335024"/>
          </a:xfrm>
          <a:prstGeom prst="rect">
            <a:avLst/>
          </a:prstGeom>
          <a:noFill/>
          <a:ln/>
        </p:spPr>
        <p:txBody>
          <a:bodyPr wrap="square" lIns="0" tIns="0" rIns="0" bIns="0" rtlCol="0" anchor="ctr"/>
          <a:lstStyle/>
          <a:p>
            <a:pPr algn="ctr" indent="0" marL="0">
              <a:buNone/>
            </a:pPr>
            <a:r>
              <a:rPr lang="en-US" sz="1500" b="1" dirty="0">
                <a:solidFill>
                  <a:schemeClr val="tx1"/>
                </a:solidFill>
              </a:rPr>
              <a:t>The brief</a:t>
            </a:r>
            <a:endParaRPr lang="en-US" sz="1500" dirty="0"/>
          </a:p>
          <a:p>
            <a:pPr algn="ctr" indent="0" marL="0">
              <a:buNone/>
            </a:pPr>
            <a:r>
              <a:rPr lang="en-US" sz="1250" dirty="0">
                <a:solidFill>
                  <a:srgbClr val="52514E"/>
                </a:solidFill>
              </a:rPr>
              <a:t>the section at one hanger: structure, services and their loads, plus a catalog of parts with unit costs</a:t>
            </a:r>
            <a:endParaRPr lang="en-US" sz="1500" dirty="0"/>
          </a:p>
        </p:txBody>
      </p:sp>
      <p:sp>
        <p:nvSpPr>
          <p:cNvPr id="5" name="flow arrow 1"/>
          <p:cNvSpPr/>
          <p:nvPr/>
        </p:nvSpPr>
        <p:spPr>
          <a:xfrm>
            <a:off x="2697480" y="2377440"/>
            <a:ext cx="457200" cy="0"/>
          </a:xfrm>
          <a:prstGeom prst="line">
            <a:avLst/>
          </a:prstGeom>
          <a:noFill/>
          <a:ln w="19050">
            <a:solidFill>
              <a:srgbClr val="52514E"/>
            </a:solidFill>
            <a:prstDash val="solid"/>
            <a:tailEnd type="triangle"/>
          </a:ln>
        </p:spPr>
      </p:sp>
      <p:sp>
        <p:nvSpPr>
          <p:cNvPr id="6" name="flow box build"/>
          <p:cNvSpPr/>
          <p:nvPr/>
        </p:nvSpPr>
        <p:spPr>
          <a:xfrm>
            <a:off x="3154680" y="1600200"/>
            <a:ext cx="3017520" cy="1554480"/>
          </a:xfrm>
          <a:prstGeom prst="roundRect">
            <a:avLst>
              <a:gd name="adj" fmla="val 4118"/>
            </a:avLst>
          </a:prstGeom>
          <a:solidFill>
            <a:schemeClr val="bg2"/>
          </a:solidFill>
          <a:ln w="19050">
            <a:solidFill>
              <a:schemeClr val="accent1"/>
            </a:solidFill>
            <a:prstDash val="solid"/>
          </a:ln>
        </p:spPr>
      </p:sp>
      <p:sp>
        <p:nvSpPr>
          <p:cNvPr id="7" name="flow text build"/>
          <p:cNvSpPr txBox="1"/>
          <p:nvPr/>
        </p:nvSpPr>
        <p:spPr>
          <a:xfrm>
            <a:off x="3319272" y="1709928"/>
            <a:ext cx="2688336" cy="1335024"/>
          </a:xfrm>
          <a:prstGeom prst="rect">
            <a:avLst/>
          </a:prstGeom>
          <a:noFill/>
          <a:ln/>
        </p:spPr>
        <p:txBody>
          <a:bodyPr wrap="square" lIns="0" tIns="0" rIns="0" bIns="0" rtlCol="0" anchor="ctr"/>
          <a:lstStyle/>
          <a:p>
            <a:pPr algn="ctr" indent="0" marL="0">
              <a:buNone/>
            </a:pPr>
            <a:r>
              <a:rPr lang="en-US" sz="1500" b="1" dirty="0">
                <a:solidFill>
                  <a:schemeClr val="tx1"/>
                </a:solidFill>
              </a:rPr>
              <a:t>Build the assembly step by step</a:t>
            </a:r>
            <a:endParaRPr lang="en-US" sz="1500" dirty="0"/>
          </a:p>
          <a:p>
            <a:pPr algn="ctr" indent="0" marL="0">
              <a:buNone/>
            </a:pPr>
            <a:r>
              <a:rPr lang="en-US" sz="1250" dirty="0">
                <a:solidFill>
                  <a:srgbClr val="52514E"/>
                </a:solidFill>
              </a:rPr>
              <a:t>each step adds parts the rules allow; the step is chosen by a rule table, by search, or by a learned policy</a:t>
            </a:r>
            <a:endParaRPr lang="en-US" sz="1500" dirty="0"/>
          </a:p>
        </p:txBody>
      </p:sp>
      <p:sp>
        <p:nvSpPr>
          <p:cNvPr id="8" name="flow arrow 2"/>
          <p:cNvSpPr/>
          <p:nvPr/>
        </p:nvSpPr>
        <p:spPr>
          <a:xfrm>
            <a:off x="6172200" y="2377440"/>
            <a:ext cx="457200" cy="0"/>
          </a:xfrm>
          <a:prstGeom prst="line">
            <a:avLst/>
          </a:prstGeom>
          <a:noFill/>
          <a:ln w="19050">
            <a:solidFill>
              <a:srgbClr val="52514E"/>
            </a:solidFill>
            <a:prstDash val="solid"/>
            <a:tailEnd type="triangle"/>
          </a:ln>
        </p:spPr>
      </p:sp>
      <p:sp>
        <p:nvSpPr>
          <p:cNvPr id="9" name="flow box check"/>
          <p:cNvSpPr/>
          <p:nvPr/>
        </p:nvSpPr>
        <p:spPr>
          <a:xfrm>
            <a:off x="6629400" y="1600200"/>
            <a:ext cx="2697480" cy="1554480"/>
          </a:xfrm>
          <a:prstGeom prst="roundRect">
            <a:avLst>
              <a:gd name="adj" fmla="val 4118"/>
            </a:avLst>
          </a:prstGeom>
          <a:solidFill>
            <a:schemeClr val="bg2"/>
          </a:solidFill>
          <a:ln w="19050">
            <a:solidFill>
              <a:srgbClr val="008300"/>
            </a:solidFill>
            <a:prstDash val="solid"/>
          </a:ln>
        </p:spPr>
      </p:sp>
      <p:sp>
        <p:nvSpPr>
          <p:cNvPr id="10" name="flow text check"/>
          <p:cNvSpPr txBox="1"/>
          <p:nvPr/>
        </p:nvSpPr>
        <p:spPr>
          <a:xfrm>
            <a:off x="6793992" y="1709928"/>
            <a:ext cx="2368296" cy="1335024"/>
          </a:xfrm>
          <a:prstGeom prst="rect">
            <a:avLst/>
          </a:prstGeom>
          <a:noFill/>
          <a:ln/>
        </p:spPr>
        <p:txBody>
          <a:bodyPr wrap="square" lIns="0" tIns="0" rIns="0" bIns="0" rtlCol="0" anchor="ctr"/>
          <a:lstStyle/>
          <a:p>
            <a:pPr algn="ctr" indent="0" marL="0">
              <a:buNone/>
            </a:pPr>
            <a:r>
              <a:rPr lang="en-US" sz="1500" b="1" dirty="0">
                <a:solidFill>
                  <a:schemeClr val="tx1"/>
                </a:solidFill>
              </a:rPr>
              <a:t>Check every finished design</a:t>
            </a:r>
            <a:endParaRPr lang="en-US" sz="1500" dirty="0"/>
          </a:p>
          <a:p>
            <a:pPr algn="ctr" indent="0" marL="0">
              <a:buNone/>
            </a:pPr>
            <a:r>
              <a:rPr lang="en-US" sz="1250" dirty="0">
                <a:solidFill>
                  <a:srgbClr val="52514E"/>
                </a:solidFill>
              </a:rPr>
              <a:t>statics, anchors, connectors, buildability</a:t>
            </a:r>
            <a:endParaRPr lang="en-US" sz="1500" dirty="0"/>
          </a:p>
        </p:txBody>
      </p:sp>
      <p:sp>
        <p:nvSpPr>
          <p:cNvPr id="11" name="flow arrow 3"/>
          <p:cNvSpPr/>
          <p:nvPr/>
        </p:nvSpPr>
        <p:spPr>
          <a:xfrm>
            <a:off x="9326880" y="2377440"/>
            <a:ext cx="457200" cy="0"/>
          </a:xfrm>
          <a:prstGeom prst="line">
            <a:avLst/>
          </a:prstGeom>
          <a:noFill/>
          <a:ln w="19050">
            <a:solidFill>
              <a:srgbClr val="52514E"/>
            </a:solidFill>
            <a:prstDash val="solid"/>
            <a:tailEnd type="triangle"/>
          </a:ln>
        </p:spPr>
      </p:sp>
      <p:sp>
        <p:nvSpPr>
          <p:cNvPr id="12" name="flow box out"/>
          <p:cNvSpPr/>
          <p:nvPr/>
        </p:nvSpPr>
        <p:spPr>
          <a:xfrm>
            <a:off x="9784080" y="1600200"/>
            <a:ext cx="1856232" cy="1554480"/>
          </a:xfrm>
          <a:prstGeom prst="roundRect">
            <a:avLst>
              <a:gd name="adj" fmla="val 4118"/>
            </a:avLst>
          </a:prstGeom>
          <a:solidFill>
            <a:schemeClr val="tx2"/>
          </a:solidFill>
          <a:ln/>
        </p:spPr>
      </p:sp>
      <p:sp>
        <p:nvSpPr>
          <p:cNvPr id="13" name="flow text out"/>
          <p:cNvSpPr txBox="1"/>
          <p:nvPr/>
        </p:nvSpPr>
        <p:spPr>
          <a:xfrm>
            <a:off x="9948672" y="1709928"/>
            <a:ext cx="1527048" cy="1335024"/>
          </a:xfrm>
          <a:prstGeom prst="rect">
            <a:avLst/>
          </a:prstGeom>
          <a:noFill/>
          <a:ln/>
        </p:spPr>
        <p:txBody>
          <a:bodyPr wrap="square" lIns="0" tIns="0" rIns="0" bIns="0" rtlCol="0" anchor="ctr"/>
          <a:lstStyle/>
          <a:p>
            <a:pPr algn="ctr" indent="0" marL="0">
              <a:buNone/>
            </a:pPr>
            <a:r>
              <a:rPr lang="en-US" sz="1500" b="1" dirty="0">
                <a:solidFill>
                  <a:srgbClr val="FFFFFF"/>
                </a:solidFill>
              </a:rPr>
              <a:t>Verified designs</a:t>
            </a:r>
            <a:endParaRPr lang="en-US" sz="1500" dirty="0"/>
          </a:p>
          <a:p>
            <a:pPr algn="ctr" indent="0" marL="0">
              <a:buNone/>
            </a:pPr>
            <a:r>
              <a:rPr lang="en-US" sz="1250" dirty="0">
                <a:solidFill>
                  <a:srgbClr val="CADCFC"/>
                </a:solidFill>
              </a:rPr>
              <a:t>up to ten, ranked by installed cost</a:t>
            </a:r>
            <a:endParaRPr lang="en-US" sz="1500" dirty="0"/>
          </a:p>
        </p:txBody>
      </p:sp>
      <p:sp>
        <p:nvSpPr>
          <p:cNvPr id="14" name="feedback line"/>
          <p:cNvSpPr/>
          <p:nvPr/>
        </p:nvSpPr>
        <p:spPr>
          <a:xfrm>
            <a:off x="4663440" y="3227832"/>
            <a:ext cx="3291840" cy="0"/>
          </a:xfrm>
          <a:prstGeom prst="line">
            <a:avLst/>
          </a:prstGeom>
          <a:noFill/>
          <a:ln w="15875">
            <a:solidFill>
              <a:srgbClr val="008300"/>
            </a:solidFill>
            <a:prstDash val="dash"/>
            <a:headEnd type="triangle"/>
          </a:ln>
        </p:spPr>
      </p:sp>
      <p:sp>
        <p:nvSpPr>
          <p:cNvPr id="15" name="feedback label"/>
          <p:cNvSpPr txBox="1"/>
          <p:nvPr/>
        </p:nvSpPr>
        <p:spPr>
          <a:xfrm>
            <a:off x="4663440" y="3264408"/>
            <a:ext cx="3291840" cy="274320"/>
          </a:xfrm>
          <a:prstGeom prst="rect">
            <a:avLst/>
          </a:prstGeom>
          <a:noFill/>
          <a:ln/>
        </p:spPr>
        <p:txBody>
          <a:bodyPr wrap="square" lIns="0" tIns="0" rIns="0" bIns="0" rtlCol="0" anchor="ctr"/>
          <a:lstStyle/>
          <a:p>
            <a:pPr algn="ctr" indent="0" marL="0">
              <a:buNone/>
            </a:pPr>
            <a:r>
              <a:rPr lang="en-US" sz="1100" dirty="0">
                <a:solidFill>
                  <a:srgbClr val="008300"/>
                </a:solidFill>
              </a:rPr>
              <a:t>pass or fail, fed back to the next attempt</a:t>
            </a:r>
            <a:endParaRPr lang="en-US" sz="1100" dirty="0"/>
          </a:p>
        </p:txBody>
      </p:sp>
      <p:sp>
        <p:nvSpPr>
          <p:cNvPr id="16" name="needs heading"/>
          <p:cNvSpPr txBox="1"/>
          <p:nvPr/>
        </p:nvSpPr>
        <p:spPr>
          <a:xfrm>
            <a:off x="548640" y="3931920"/>
            <a:ext cx="11091672" cy="365760"/>
          </a:xfrm>
          <a:prstGeom prst="rect">
            <a:avLst/>
          </a:prstGeom>
          <a:noFill/>
          <a:ln/>
        </p:spPr>
        <p:txBody>
          <a:bodyPr wrap="square" lIns="0" tIns="0" rIns="0" bIns="0" rtlCol="0" anchor="ctr"/>
          <a:lstStyle/>
          <a:p>
            <a:pPr indent="0" marL="0">
              <a:buNone/>
            </a:pPr>
            <a:r>
              <a:rPr lang="en-US" sz="1700" b="1" dirty="0">
                <a:solidFill>
                  <a:schemeClr val="tx1"/>
                </a:solidFill>
              </a:rPr>
              <a:t>What any such method needs before it can be built or compared</a:t>
            </a:r>
            <a:endParaRPr lang="en-US" sz="1700" dirty="0"/>
          </a:p>
        </p:txBody>
      </p:sp>
      <p:sp>
        <p:nvSpPr>
          <p:cNvPr id="17" name="need Problems to learn from"/>
          <p:cNvSpPr/>
          <p:nvPr/>
        </p:nvSpPr>
        <p:spPr>
          <a:xfrm>
            <a:off x="548640" y="4434840"/>
            <a:ext cx="3575304" cy="1325880"/>
          </a:xfrm>
          <a:prstGeom prst="roundRect">
            <a:avLst>
              <a:gd name="adj" fmla="val 4828"/>
            </a:avLst>
          </a:prstGeom>
          <a:solidFill>
            <a:schemeClr val="bg2"/>
          </a:solidFill>
          <a:ln/>
        </p:spPr>
      </p:sp>
      <p:sp>
        <p:nvSpPr>
          <p:cNvPr id="18" name="need head Problems to learn from"/>
          <p:cNvSpPr txBox="1"/>
          <p:nvPr/>
        </p:nvSpPr>
        <p:spPr>
          <a:xfrm>
            <a:off x="777240" y="4553712"/>
            <a:ext cx="3118104" cy="384048"/>
          </a:xfrm>
          <a:prstGeom prst="rect">
            <a:avLst/>
          </a:prstGeom>
          <a:noFill/>
          <a:ln/>
        </p:spPr>
        <p:txBody>
          <a:bodyPr wrap="square" lIns="0" tIns="0" rIns="0" bIns="0" rtlCol="0" anchor="ctr"/>
          <a:lstStyle/>
          <a:p>
            <a:pPr indent="0" marL="0">
              <a:buNone/>
            </a:pPr>
            <a:r>
              <a:rPr lang="en-US" sz="1600" b="1" dirty="0">
                <a:solidFill>
                  <a:schemeClr val="accent1"/>
                </a:solidFill>
              </a:rPr>
              <a:t>1. Problems to learn from</a:t>
            </a:r>
            <a:endParaRPr lang="en-US" sz="1600" dirty="0"/>
          </a:p>
        </p:txBody>
      </p:sp>
      <p:sp>
        <p:nvSpPr>
          <p:cNvPr id="19" name="need text Problems to learn from"/>
          <p:cNvSpPr txBox="1"/>
          <p:nvPr/>
        </p:nvSpPr>
        <p:spPr>
          <a:xfrm>
            <a:off x="777240" y="4983480"/>
            <a:ext cx="3118104" cy="685800"/>
          </a:xfrm>
          <a:prstGeom prst="rect">
            <a:avLst/>
          </a:prstGeom>
          <a:noFill/>
          <a:ln/>
        </p:spPr>
        <p:txBody>
          <a:bodyPr wrap="square" lIns="0" tIns="0" rIns="0" bIns="0" rtlCol="0" anchor="t"/>
          <a:lstStyle/>
          <a:p>
            <a:pPr indent="0" marL="0">
              <a:buNone/>
            </a:pPr>
            <a:r>
              <a:rPr lang="en-US" sz="1400" dirty="0">
                <a:solidFill>
                  <a:schemeClr val="tx1"/>
                </a:solidFill>
              </a:rPr>
              <a:t>many sections at hangers, varied the way buildings vary</a:t>
            </a:r>
            <a:endParaRPr lang="en-US" sz="1400" dirty="0"/>
          </a:p>
        </p:txBody>
      </p:sp>
      <p:sp>
        <p:nvSpPr>
          <p:cNvPr id="20" name="need A fixed set to compare on"/>
          <p:cNvSpPr/>
          <p:nvPr/>
        </p:nvSpPr>
        <p:spPr>
          <a:xfrm>
            <a:off x="4306824" y="4434840"/>
            <a:ext cx="3575304" cy="1325880"/>
          </a:xfrm>
          <a:prstGeom prst="roundRect">
            <a:avLst>
              <a:gd name="adj" fmla="val 4828"/>
            </a:avLst>
          </a:prstGeom>
          <a:solidFill>
            <a:schemeClr val="bg2"/>
          </a:solidFill>
          <a:ln/>
        </p:spPr>
      </p:sp>
      <p:sp>
        <p:nvSpPr>
          <p:cNvPr id="21" name="need head A fixed set to compare on"/>
          <p:cNvSpPr txBox="1"/>
          <p:nvPr/>
        </p:nvSpPr>
        <p:spPr>
          <a:xfrm>
            <a:off x="4535424" y="4553712"/>
            <a:ext cx="3118104" cy="384048"/>
          </a:xfrm>
          <a:prstGeom prst="rect">
            <a:avLst/>
          </a:prstGeom>
          <a:noFill/>
          <a:ln/>
        </p:spPr>
        <p:txBody>
          <a:bodyPr wrap="square" lIns="0" tIns="0" rIns="0" bIns="0" rtlCol="0" anchor="ctr"/>
          <a:lstStyle/>
          <a:p>
            <a:pPr indent="0" marL="0">
              <a:buNone/>
            </a:pPr>
            <a:r>
              <a:rPr lang="en-US" sz="1600" b="1" dirty="0">
                <a:solidFill>
                  <a:schemeClr val="accent1"/>
                </a:solidFill>
              </a:rPr>
              <a:t>2. A fixed set to compare on</a:t>
            </a:r>
            <a:endParaRPr lang="en-US" sz="1600" dirty="0"/>
          </a:p>
        </p:txBody>
      </p:sp>
      <p:sp>
        <p:nvSpPr>
          <p:cNvPr id="22" name="need text A fixed set to compare on"/>
          <p:cNvSpPr txBox="1"/>
          <p:nvPr/>
        </p:nvSpPr>
        <p:spPr>
          <a:xfrm>
            <a:off x="4535424" y="4983480"/>
            <a:ext cx="3118104" cy="685800"/>
          </a:xfrm>
          <a:prstGeom prst="rect">
            <a:avLst/>
          </a:prstGeom>
          <a:noFill/>
          <a:ln/>
        </p:spPr>
        <p:txBody>
          <a:bodyPr wrap="square" lIns="0" tIns="0" rIns="0" bIns="0" rtlCol="0" anchor="t"/>
          <a:lstStyle/>
          <a:p>
            <a:pPr indent="0" marL="0">
              <a:buNone/>
            </a:pPr>
            <a:r>
              <a:rPr lang="en-US" sz="1400" dirty="0">
                <a:solidFill>
                  <a:schemeClr val="tx1"/>
                </a:solidFill>
              </a:rPr>
              <a:t>the same problems for every method, by difficulty</a:t>
            </a:r>
            <a:endParaRPr lang="en-US" sz="1400" dirty="0"/>
          </a:p>
        </p:txBody>
      </p:sp>
      <p:sp>
        <p:nvSpPr>
          <p:cNvPr id="23" name="need Problems that look like practice"/>
          <p:cNvSpPr/>
          <p:nvPr/>
        </p:nvSpPr>
        <p:spPr>
          <a:xfrm>
            <a:off x="8065008" y="4434840"/>
            <a:ext cx="3575304" cy="1325880"/>
          </a:xfrm>
          <a:prstGeom prst="roundRect">
            <a:avLst>
              <a:gd name="adj" fmla="val 4828"/>
            </a:avLst>
          </a:prstGeom>
          <a:solidFill>
            <a:schemeClr val="bg2"/>
          </a:solidFill>
          <a:ln/>
        </p:spPr>
      </p:sp>
      <p:sp>
        <p:nvSpPr>
          <p:cNvPr id="24" name="need head Problems that look like practice"/>
          <p:cNvSpPr txBox="1"/>
          <p:nvPr/>
        </p:nvSpPr>
        <p:spPr>
          <a:xfrm>
            <a:off x="8293608" y="4553712"/>
            <a:ext cx="3118104" cy="384048"/>
          </a:xfrm>
          <a:prstGeom prst="rect">
            <a:avLst/>
          </a:prstGeom>
          <a:noFill/>
          <a:ln/>
        </p:spPr>
        <p:txBody>
          <a:bodyPr wrap="square" lIns="0" tIns="0" rIns="0" bIns="0" rtlCol="0" anchor="ctr"/>
          <a:lstStyle/>
          <a:p>
            <a:pPr indent="0" marL="0">
              <a:buNone/>
            </a:pPr>
            <a:r>
              <a:rPr lang="en-US" sz="1600" b="1" dirty="0">
                <a:solidFill>
                  <a:schemeClr val="accent1"/>
                </a:solidFill>
              </a:rPr>
              <a:t>3. Problems that look like practice</a:t>
            </a:r>
            <a:endParaRPr lang="en-US" sz="1600" dirty="0"/>
          </a:p>
        </p:txBody>
      </p:sp>
      <p:sp>
        <p:nvSpPr>
          <p:cNvPr id="25" name="need text Problems that look like practice"/>
          <p:cNvSpPr txBox="1"/>
          <p:nvPr/>
        </p:nvSpPr>
        <p:spPr>
          <a:xfrm>
            <a:off x="8293608" y="4983480"/>
            <a:ext cx="3118104" cy="685800"/>
          </a:xfrm>
          <a:prstGeom prst="rect">
            <a:avLst/>
          </a:prstGeom>
          <a:noFill/>
          <a:ln/>
        </p:spPr>
        <p:txBody>
          <a:bodyPr wrap="square" lIns="0" tIns="0" rIns="0" bIns="0" rtlCol="0" anchor="t"/>
          <a:lstStyle/>
          <a:p>
            <a:pPr indent="0" marL="0">
              <a:buNone/>
            </a:pPr>
            <a:r>
              <a:rPr lang="en-US" sz="1400" dirty="0">
                <a:solidFill>
                  <a:schemeClr val="tx1"/>
                </a:solidFill>
              </a:rPr>
              <a:t>sizes, spacing and loads an engineer would recognise</a:t>
            </a:r>
            <a:endParaRPr lang="en-US" sz="14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Learning to design supports needs many problems, and none were public</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30"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9"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 NEMA VE 1 widths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 (NEMA VE 1 class span)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 (SMACNA)</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 (IET / BS 7671)</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0"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0.30 kN at C1 to 2.04 kN at C8 as the gap narrows</a:t>
            </a:r>
            <a:endParaRPr lang="en-US" sz="2600" dirty="0"/>
          </a:p>
        </p:txBody>
      </p:sp>
      <p:graphicFrame>
        <p:nvGraphicFramePr>
          <p:cNvPr id="20"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431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1037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1275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1861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488 pipes · 968 conduits · 559 trays · 485 ducts"/>
          <p:cNvSpPr/>
          <p:nvPr/>
        </p:nvSpPr>
        <p:spPr>
          <a:xfrm>
            <a:off x="7772400" y="1417320"/>
            <a:ext cx="3867912" cy="1097280"/>
          </a:xfrm>
          <a:prstGeom prst="roundRect">
            <a:avLst>
              <a:gd name="adj" fmla="val 5833"/>
            </a:avLst>
          </a:prstGeom>
          <a:solidFill>
            <a:schemeClr val="bg2"/>
          </a:solidFill>
          <a:ln/>
        </p:spPr>
      </p:sp>
      <p:sp>
        <p:nvSpPr>
          <p:cNvPr id="5" name="value 2,488 pipes · 968 conduits · 559 trays · 485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488 pipes · 968 conduits · 559 trays · 485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2,488 pipes · 968 conduits · 559 trays · 485 ducts</a:t>
            </a:r>
            <a:endParaRPr lang="en-US" sz="1100" dirty="0"/>
          </a:p>
        </p:txBody>
      </p:sp>
      <p:sp>
        <p:nvSpPr>
          <p:cNvPr id="7" name="tile Wasserstein-1, generated to measured pipe gaps of the clinic (95 % CI 17–48)"/>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7–48)"/>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32 mm</a:t>
            </a:r>
            <a:endParaRPr lang="en-US" sz="2400" dirty="0"/>
          </a:p>
        </p:txBody>
      </p:sp>
      <p:sp>
        <p:nvSpPr>
          <p:cNvPr id="9" name="label Wasserstein-1, generated to measured pipe gaps of the clinic (95 % CI 17–48)"/>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17–48)</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−0.38 / +0.46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32 mm off; the small duplex is 76 to 88</a:t>
            </a:r>
            <a:endParaRPr lang="en-US" sz="2600" dirty="0"/>
          </a:p>
        </p:txBody>
      </p:sp>
      <p:graphicFrame>
        <p:nvGraphicFramePr>
          <p:cNvPr id="21"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1"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(17–48)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18 (13–27)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76 (61–103)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97 (78–120)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(62–132)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(89–127)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31–41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2"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16.7 (8.3–26.6)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 (10.7–14.7)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(5.0–18.4)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13.5 (11.8–15.4)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15.6 (10.5–21.1)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(12.4–15.2)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 (11.8–22.1)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(12.0–14.4)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(7.3–16.0)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 (13.5–15.9)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10.7 (7.2–14.5)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14.3 (13.3–15.4)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517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17.2 (13.4–21.1)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14.9 (13.9–16.0)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546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15.2 (11.7–19.1)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(13.5–15.4)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3"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4"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(13.7–15.2)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(11.2–15.6)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1,200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(11.5–16.4)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2,488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 (12.7–16.2)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14.3 % (95 % CI 13.8–14.7)</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"mep_9",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0.76, "bundle_width_mm": 1527.0,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"duct", "service": "duct", "trade": "ventilation",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"1000x500 duct", "width_mm": 1000.0, "height_mm": 500.0,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0.72, "span_m": 2.4, "load_kN_per_m": 0.3002,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-263.5, "out_mm": 340.0},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"domestic_cold", "trade": "domestic",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750.0, "out_mm": 341.3}</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2026-10-06T21:08:43Z</dcterms:created>
  <dcterms:modified xsi:type="dcterms:W3CDTF">2026-10-06T21:08:43Z</dcterms:modified>
</cp:coreProperties>
</file>