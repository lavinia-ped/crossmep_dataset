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9446530-2452-98e5-5e6c-27b3f4b4821c}">
          <p14:sldIdLst>
            <p14:sldId id="256"/>
          </p14:sldIdLst>
        </p14:section>
        <p14:section name="Motivation" id="{fb6506e2-6730-1a37-1cbd-dae2fb478759}">
          <p14:sldIdLst>
            <p14:sldId id="257"/>
            <p14:sldId id="258"/>
            <p14:sldId id="259"/>
            <p14:sldId id="260"/>
            <p14:sldId id="261"/>
          </p14:sldIdLst>
        </p14:section>
        <p14:section name="The dataset" id="{55dead16-14fe-c812-5d04-afebdcf01b88}">
          <p14:sldIdLst>
            <p14:sldId id="262"/>
            <p14:sldId id="263"/>
            <p14:sldId id="264"/>
          </p14:sldIdLst>
        </p14:section>
        <p14:section name="Experiments" id="{27ba7f4d-723a-81de-47d5-bd23908bd1e5}">
          <p14:sldIdLst>
            <p14:sldId id="265"/>
            <p14:sldId id="266"/>
            <p14:sldId id="267"/>
          </p14:sldIdLst>
        </p14:section>
        <p14:section name="Use" id="{259df7ca-d0ab-fc76-4fbd-141d18091964}">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tickLblSkip val="4"/>
        <c:noMultiLvlLbl val="1"/>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Lavinia, a PhD student at Stanford University, and today I am happy to present CrossMEP, which is the dataset we built when we found that the data to learn support design from did not exist. Support design is the one part of MEP that every tool coordinates, every tool checks, and no tool does. A hospital has ten thousand of these supports, each chosen by hand from a catalog. We think a machine can learn to choose them, and what has stopped anyone trying is not the algorithm. It is that nobody had the problems to practise on. So we built the problems.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This is a hospital, and every red mark is a place where services hang from the structure. A modular support groups several services on one prefabricated frame: a structural support assembly. A hospital this size needs about ten thousand of them, each designed individually, twenty minutes to two hours apiece. Add it up and it is about a quarter of the MEP design effort. Practitioner estimates, but these are the numbers people live with.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designed, and from what? In: one cross-section at a hanger. The structure it hangs from, and the services crossing it, each with its trade, position, size and weight per metre. We call that the context. It is the brief. Out: assemblies of catalog parts that carry those services to the structure, checked for statics, anchors, connectors and buildability, ranked by cost. That is the answer. Hold on to these two words, because CrossMEP is contexts only. It contains no assemblies.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A designer works from one section at each hanger, after coordination. Tools coordinate the model and check a design, but they do not choose the layout or the parts. Three reasons it has resisted automation: the topology comes from experience, the rules interact across thousands of combinations, and catalogs change faster than rule systems can be rewritten.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would a machine learn it? Give it a context. Let it propose an assembly. Check the assembly, and feed pass or fail back. Round after round, it gets better. But every round needs a new context, and that is where it stops. Real projects give a handful of sections, all from the same kind of job and confidential: too few to practise on, and a method tuned on them only fits that job. So we generate the contexts, as many as a method needs, and we fix one benchmark to judge every method on. (2:15)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scarce? The real designs we could get were ninety, from one project. Nearly every one had a duct and many pipes. Not one had a cable tray, and not one was as simple as a single pipe: one corner of the design space. A method tuned on them measures fit to that project. So CrossMEP fills the space by construction: every tier from one element to eight, kinds and surfaces varied, without limit. A new seed is a new set. Seven thousand contexts are the release, not the ceiling.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(8:05)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sp>
        <p:nvSpPr>
          <p:cNvPr id="5" name="title art panel"/>
          <p:cNvSpPr/>
          <p:nvPr/>
        </p:nvSpPr>
        <p:spPr>
          <a:xfrm>
            <a:off x="8479705" y="256032"/>
            <a:ext cx="3407495" cy="6345936"/>
          </a:xfrm>
          <a:prstGeom prst="roundRect">
            <a:avLst>
              <a:gd name="adj" fmla="val 2683"/>
            </a:avLst>
          </a:prstGeom>
          <a:solidFill>
            <a:srgbClr val="FFFFFF"/>
          </a:solidFill>
          <a:ln/>
        </p:spPr>
      </p:sp>
      <p:pic>
        <p:nvPicPr>
          <p:cNvPr id="6" name="title art" descr="/home/user/crossmep_dataset/docs/CrossMEP_title_art_idea_white.png">    </p:cNvPr>
          <p:cNvPicPr>
            <a:picLocks noChangeAspect="1"/>
          </p:cNvPicPr>
          <p:nvPr/>
        </p:nvPicPr>
        <p:blipFill>
          <a:blip r:embed="rId1"/>
          <a:stretch>
            <a:fillRect/>
          </a:stretch>
        </p:blipFill>
        <p:spPr>
          <a:xfrm>
            <a:off x="8589433" y="365760"/>
            <a:ext cx="3188039" cy="6126480"/>
          </a:xfrm>
          <a:prstGeom prst="rect">
            <a:avLst/>
          </a:prstGeom>
        </p:spPr>
      </p:pic>
      <p:sp>
        <p:nvSpPr>
          <p:cNvPr id="7" name="logo chip"/>
          <p:cNvSpPr/>
          <p:nvPr/>
        </p:nvSpPr>
        <p:spPr>
          <a:xfrm>
            <a:off x="640080" y="553212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22960" y="571855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3017520" y="600426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The synthesis of structural support assemblies (SSAs) takes 25% of MEP design effort because every assembly must be designed individually</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C00000"/>
            </a:solidFill>
            <a:prstDash val="solid"/>
          </a:ln>
        </p:spPr>
      </p:sp>
      <p:sp>
        <p:nvSpPr>
          <p:cNvPr id="5" name="zoom line top"/>
          <p:cNvSpPr/>
          <p:nvPr/>
        </p:nvSpPr>
        <p:spPr>
          <a:xfrm flipV="1">
            <a:off x="3897484" y="1783080"/>
            <a:ext cx="3051956" cy="1008636"/>
          </a:xfrm>
          <a:prstGeom prst="line">
            <a:avLst/>
          </a:prstGeom>
          <a:noFill/>
          <a:ln w="19050">
            <a:solidFill>
              <a:srgbClr val="C00000"/>
            </a:solidFill>
            <a:prstDash val="solid"/>
          </a:ln>
        </p:spPr>
      </p:sp>
      <p:sp>
        <p:nvSpPr>
          <p:cNvPr id="6" name="zoom line bottom"/>
          <p:cNvSpPr/>
          <p:nvPr/>
        </p:nvSpPr>
        <p:spPr>
          <a:xfrm>
            <a:off x="3897484" y="3265617"/>
            <a:ext cx="3051956" cy="1210645"/>
          </a:xfrm>
          <a:prstGeom prst="line">
            <a:avLst/>
          </a:prstGeom>
          <a:noFill/>
          <a:ln w="19050">
            <a:solidFill>
              <a:srgbClr val="C00000"/>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C00000"/>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model chip"/>
          <p:cNvSpPr/>
          <p:nvPr/>
        </p:nvSpPr>
        <p:spPr>
          <a:xfrm>
            <a:off x="685800" y="4245102"/>
            <a:ext cx="3429000" cy="329184"/>
          </a:xfrm>
          <a:prstGeom prst="roundRect">
            <a:avLst>
              <a:gd name="adj" fmla="val 50000"/>
            </a:avLst>
          </a:prstGeom>
          <a:solidFill>
            <a:srgbClr val="FFFFFF"/>
          </a:solidFill>
          <a:ln w="9525">
            <a:solidFill>
              <a:srgbClr val="E1E0D9"/>
            </a:solidFill>
            <a:prstDash val="solid"/>
          </a:ln>
        </p:spPr>
      </p:sp>
      <p:sp>
        <p:nvSpPr>
          <p:cNvPr id="11" name="model chip dot"/>
          <p:cNvSpPr/>
          <p:nvPr/>
        </p:nvSpPr>
        <p:spPr>
          <a:xfrm>
            <a:off x="822960" y="4336542"/>
            <a:ext cx="146304" cy="146304"/>
          </a:xfrm>
          <a:prstGeom prst="ellipse">
            <a:avLst/>
          </a:prstGeom>
          <a:solidFill>
            <a:srgbClr val="C00000"/>
          </a:solidFill>
          <a:ln/>
        </p:spPr>
      </p:sp>
      <p:sp>
        <p:nvSpPr>
          <p:cNvPr id="12" name="model chip text"/>
          <p:cNvSpPr txBox="1"/>
          <p:nvPr/>
        </p:nvSpPr>
        <p:spPr>
          <a:xfrm>
            <a:off x="1024128" y="4245102"/>
            <a:ext cx="3063240" cy="329184"/>
          </a:xfrm>
          <a:prstGeom prst="rect">
            <a:avLst/>
          </a:prstGeom>
          <a:noFill/>
          <a:ln/>
        </p:spPr>
        <p:txBody>
          <a:bodyPr wrap="square" lIns="0" tIns="0" rIns="0" bIns="0" rtlCol="0" anchor="ctr"/>
          <a:lstStyle/>
          <a:p>
            <a:pPr indent="0" marL="0">
              <a:buNone/>
            </a:pPr>
            <a:r>
              <a:rPr lang="en-US" sz="1050" dirty="0">
                <a:solidFill>
                  <a:schemeClr val="tx1"/>
                </a:solidFill>
              </a:rPr>
              <a:t>200,000 sq ft hospital · every red mark is one support</a:t>
            </a:r>
            <a:endParaRPr lang="en-US" sz="1050" dirty="0"/>
          </a:p>
        </p:txBody>
      </p:sp>
      <p:sp>
        <p:nvSpPr>
          <p:cNvPr id="13" name="tile assemblies"/>
          <p:cNvSpPr/>
          <p:nvPr/>
        </p:nvSpPr>
        <p:spPr>
          <a:xfrm>
            <a:off x="548640" y="4892040"/>
            <a:ext cx="3258312" cy="1188720"/>
          </a:xfrm>
          <a:prstGeom prst="roundRect">
            <a:avLst>
              <a:gd name="adj" fmla="val 5385"/>
            </a:avLst>
          </a:prstGeom>
          <a:solidFill>
            <a:schemeClr val="bg2"/>
          </a:solidFill>
          <a:ln/>
        </p:spPr>
      </p:sp>
      <p:sp>
        <p:nvSpPr>
          <p:cNvPr id="14" name="icon ring assemblies"/>
          <p:cNvSpPr/>
          <p:nvPr/>
        </p:nvSpPr>
        <p:spPr>
          <a:xfrm>
            <a:off x="777240" y="5193792"/>
            <a:ext cx="585216" cy="585216"/>
          </a:xfrm>
          <a:prstGeom prst="ellipse">
            <a:avLst/>
          </a:prstGeom>
          <a:solidFill>
            <a:srgbClr val="C00000"/>
          </a:solidFill>
          <a:ln/>
        </p:spPr>
      </p:sp>
      <p:pic>
        <p:nvPicPr>
          <p:cNvPr id="15"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6" name="value assemblies"/>
          <p:cNvSpPr txBox="1"/>
          <p:nvPr/>
        </p:nvSpPr>
        <p:spPr>
          <a:xfrm>
            <a:off x="1554480" y="4956048"/>
            <a:ext cx="2115312" cy="548640"/>
          </a:xfrm>
          <a:prstGeom prst="rect">
            <a:avLst/>
          </a:prstGeom>
          <a:noFill/>
          <a:ln/>
        </p:spPr>
        <p:txBody>
          <a:bodyPr wrap="square" lIns="0" tIns="0" rIns="0" bIns="0" rtlCol="0" anchor="ctr"/>
          <a:lstStyle/>
          <a:p>
            <a:pPr indent="0" marL="0">
              <a:buNone/>
            </a:pPr>
            <a:r>
              <a:rPr lang="en-US" sz="2800" b="1" dirty="0">
                <a:solidFill>
                  <a:srgbClr val="C00000"/>
                </a:solidFill>
              </a:rPr>
              <a:t>≈ 10,000</a:t>
            </a:r>
            <a:endParaRPr lang="en-US" sz="2800" dirty="0"/>
          </a:p>
        </p:txBody>
      </p:sp>
      <p:sp>
        <p:nvSpPr>
          <p:cNvPr id="17" name="label assemblies"/>
          <p:cNvSpPr txBox="1"/>
          <p:nvPr/>
        </p:nvSpPr>
        <p:spPr>
          <a:xfrm>
            <a:off x="1554480" y="5504688"/>
            <a:ext cx="2115312" cy="548640"/>
          </a:xfrm>
          <a:prstGeom prst="rect">
            <a:avLst/>
          </a:prstGeom>
          <a:noFill/>
          <a:ln/>
        </p:spPr>
        <p:txBody>
          <a:bodyPr wrap="square" lIns="0" tIns="0" rIns="0" bIns="0" rtlCol="0" anchor="t"/>
          <a:lstStyle/>
          <a:p>
            <a:pPr indent="0" marL="0">
              <a:buNone/>
            </a:pPr>
            <a:r>
              <a:rPr lang="en-US" sz="1150" b="1" dirty="0">
                <a:solidFill>
                  <a:srgbClr val="C00000"/>
                </a:solidFill>
              </a:rPr>
              <a:t>support assemblies </a:t>
            </a:r>
            <a:r>
              <a:rPr lang="en-US" sz="1150" dirty="0">
                <a:solidFill>
                  <a:srgbClr val="52514E"/>
                </a:solidFill>
              </a:rPr>
              <a:t>in one hospital project, each one its own design</a:t>
            </a:r>
            <a:endParaRPr lang="en-US" sz="1150" dirty="0"/>
          </a:p>
        </p:txBody>
      </p:sp>
      <p:sp>
        <p:nvSpPr>
          <p:cNvPr id="18" name="op times"/>
          <p:cNvSpPr/>
          <p:nvPr/>
        </p:nvSpPr>
        <p:spPr>
          <a:xfrm>
            <a:off x="3944112" y="5294376"/>
            <a:ext cx="384048" cy="384048"/>
          </a:xfrm>
          <a:prstGeom prst="ellipse">
            <a:avLst/>
          </a:prstGeom>
          <a:solidFill>
            <a:srgbClr val="FFFFFF"/>
          </a:solidFill>
          <a:ln w="19050">
            <a:solidFill>
              <a:srgbClr val="C00000"/>
            </a:solidFill>
            <a:prstDash val="solid"/>
          </a:ln>
        </p:spPr>
      </p:sp>
      <p:sp>
        <p:nvSpPr>
          <p:cNvPr id="19" name="op text times"/>
          <p:cNvSpPr txBox="1"/>
          <p:nvPr/>
        </p:nvSpPr>
        <p:spPr>
          <a:xfrm>
            <a:off x="3944112" y="5294376"/>
            <a:ext cx="384048" cy="384048"/>
          </a:xfrm>
          <a:prstGeom prst="rect">
            <a:avLst/>
          </a:prstGeom>
          <a:noFill/>
          <a:ln/>
        </p:spPr>
        <p:txBody>
          <a:bodyPr wrap="square" lIns="0" tIns="0" rIns="0" bIns="0" rtlCol="0" anchor="ctr"/>
          <a:lstStyle/>
          <a:p>
            <a:pPr algn="ctr" indent="0" marL="0">
              <a:buNone/>
            </a:pPr>
            <a:r>
              <a:rPr lang="en-US" sz="1800" b="1" dirty="0">
                <a:solidFill>
                  <a:srgbClr val="C00000"/>
                </a:solidFill>
              </a:rPr>
              <a:t>×</a:t>
            </a:r>
            <a:endParaRPr lang="en-US" sz="1800" dirty="0"/>
          </a:p>
        </p:txBody>
      </p:sp>
      <p:sp>
        <p:nvSpPr>
          <p:cNvPr id="20" name="tile time"/>
          <p:cNvSpPr/>
          <p:nvPr/>
        </p:nvSpPr>
        <p:spPr>
          <a:xfrm>
            <a:off x="4465320" y="4892040"/>
            <a:ext cx="3258312" cy="1188720"/>
          </a:xfrm>
          <a:prstGeom prst="roundRect">
            <a:avLst>
              <a:gd name="adj" fmla="val 5385"/>
            </a:avLst>
          </a:prstGeom>
          <a:solidFill>
            <a:schemeClr val="bg2"/>
          </a:solidFill>
          <a:ln/>
        </p:spPr>
      </p:sp>
      <p:sp>
        <p:nvSpPr>
          <p:cNvPr id="21" name="icon ring time"/>
          <p:cNvSpPr/>
          <p:nvPr/>
        </p:nvSpPr>
        <p:spPr>
          <a:xfrm>
            <a:off x="4693920" y="5193792"/>
            <a:ext cx="585216" cy="585216"/>
          </a:xfrm>
          <a:prstGeom prst="ellipse">
            <a:avLst/>
          </a:prstGeom>
          <a:solidFill>
            <a:srgbClr val="C00000"/>
          </a:solidFill>
          <a:ln/>
        </p:spPr>
      </p:sp>
      <p:pic>
        <p:nvPicPr>
          <p:cNvPr id="22" name="icon time" descr="preencoded.png">    </p:cNvPr>
          <p:cNvPicPr>
            <a:picLocks noChangeAspect="1"/>
          </p:cNvPicPr>
          <p:nvPr/>
        </p:nvPicPr>
        <p:blipFill>
          <a:blip r:embed="rId4"/>
          <a:stretch>
            <a:fillRect/>
          </a:stretch>
        </p:blipFill>
        <p:spPr>
          <a:xfrm>
            <a:off x="4816815" y="5316687"/>
            <a:ext cx="339425" cy="339425"/>
          </a:xfrm>
          <a:prstGeom prst="rect">
            <a:avLst/>
          </a:prstGeom>
        </p:spPr>
      </p:pic>
      <p:sp>
        <p:nvSpPr>
          <p:cNvPr id="23" name="value time"/>
          <p:cNvSpPr txBox="1"/>
          <p:nvPr/>
        </p:nvSpPr>
        <p:spPr>
          <a:xfrm>
            <a:off x="5471160" y="4956048"/>
            <a:ext cx="2115312" cy="548640"/>
          </a:xfrm>
          <a:prstGeom prst="rect">
            <a:avLst/>
          </a:prstGeom>
          <a:noFill/>
          <a:ln/>
        </p:spPr>
        <p:txBody>
          <a:bodyPr wrap="square" lIns="0" tIns="0" rIns="0" bIns="0" rtlCol="0" anchor="ctr"/>
          <a:lstStyle/>
          <a:p>
            <a:pPr indent="0" marL="0">
              <a:buNone/>
            </a:pPr>
            <a:r>
              <a:rPr lang="en-US" sz="2800" b="1" dirty="0">
                <a:solidFill>
                  <a:srgbClr val="C00000"/>
                </a:solidFill>
              </a:rPr>
              <a:t>20 min – 2 h</a:t>
            </a:r>
            <a:endParaRPr lang="en-US" sz="2800" dirty="0"/>
          </a:p>
        </p:txBody>
      </p:sp>
      <p:sp>
        <p:nvSpPr>
          <p:cNvPr id="24" name="label time"/>
          <p:cNvSpPr txBox="1"/>
          <p:nvPr/>
        </p:nvSpPr>
        <p:spPr>
          <a:xfrm>
            <a:off x="5471160" y="5504688"/>
            <a:ext cx="2115312" cy="548640"/>
          </a:xfrm>
          <a:prstGeom prst="rect">
            <a:avLst/>
          </a:prstGeom>
          <a:noFill/>
          <a:ln/>
        </p:spPr>
        <p:txBody>
          <a:bodyPr wrap="square" lIns="0" tIns="0" rIns="0" bIns="0" rtlCol="0" anchor="t"/>
          <a:lstStyle/>
          <a:p>
            <a:pPr indent="0" marL="0">
              <a:buNone/>
            </a:pPr>
            <a:r>
              <a:rPr lang="en-US" sz="1150" b="1" dirty="0">
                <a:solidFill>
                  <a:srgbClr val="C00000"/>
                </a:solidFill>
              </a:rPr>
              <a:t>of engineering time </a:t>
            </a:r>
            <a:r>
              <a:rPr lang="en-US" sz="1150" dirty="0">
                <a:solidFill>
                  <a:srgbClr val="52514E"/>
                </a:solidFill>
              </a:rPr>
              <a:t>for each assembly, designed one by one</a:t>
            </a:r>
            <a:endParaRPr lang="en-US" sz="1150" dirty="0"/>
          </a:p>
        </p:txBody>
      </p:sp>
      <p:sp>
        <p:nvSpPr>
          <p:cNvPr id="25" name="op equals"/>
          <p:cNvSpPr/>
          <p:nvPr/>
        </p:nvSpPr>
        <p:spPr>
          <a:xfrm>
            <a:off x="7860792" y="5294376"/>
            <a:ext cx="384048" cy="384048"/>
          </a:xfrm>
          <a:prstGeom prst="ellipse">
            <a:avLst/>
          </a:prstGeom>
          <a:solidFill>
            <a:srgbClr val="FFFFFF"/>
          </a:solidFill>
          <a:ln w="19050">
            <a:solidFill>
              <a:srgbClr val="C00000"/>
            </a:solidFill>
            <a:prstDash val="solid"/>
          </a:ln>
        </p:spPr>
      </p:sp>
      <p:sp>
        <p:nvSpPr>
          <p:cNvPr id="26" name="op text equals"/>
          <p:cNvSpPr txBox="1"/>
          <p:nvPr/>
        </p:nvSpPr>
        <p:spPr>
          <a:xfrm>
            <a:off x="7860792" y="5294376"/>
            <a:ext cx="384048" cy="384048"/>
          </a:xfrm>
          <a:prstGeom prst="rect">
            <a:avLst/>
          </a:prstGeom>
          <a:noFill/>
          <a:ln/>
        </p:spPr>
        <p:txBody>
          <a:bodyPr wrap="square" lIns="0" tIns="0" rIns="0" bIns="0" rtlCol="0" anchor="ctr"/>
          <a:lstStyle/>
          <a:p>
            <a:pPr algn="ctr" indent="0" marL="0">
              <a:buNone/>
            </a:pPr>
            <a:r>
              <a:rPr lang="en-US" sz="1800" b="1" dirty="0">
                <a:solidFill>
                  <a:srgbClr val="C00000"/>
                </a:solidFill>
              </a:rPr>
              <a:t>=</a:t>
            </a:r>
            <a:endParaRPr lang="en-US" sz="1800" dirty="0"/>
          </a:p>
        </p:txBody>
      </p:sp>
      <p:sp>
        <p:nvSpPr>
          <p:cNvPr id="27" name="tile effort"/>
          <p:cNvSpPr/>
          <p:nvPr/>
        </p:nvSpPr>
        <p:spPr>
          <a:xfrm>
            <a:off x="8382000" y="4892040"/>
            <a:ext cx="3258312" cy="1188720"/>
          </a:xfrm>
          <a:prstGeom prst="roundRect">
            <a:avLst>
              <a:gd name="adj" fmla="val 5385"/>
            </a:avLst>
          </a:prstGeom>
          <a:solidFill>
            <a:schemeClr val="bg2"/>
          </a:solidFill>
          <a:ln/>
        </p:spPr>
      </p:sp>
      <p:sp>
        <p:nvSpPr>
          <p:cNvPr id="28" name="icon ring effort"/>
          <p:cNvSpPr/>
          <p:nvPr/>
        </p:nvSpPr>
        <p:spPr>
          <a:xfrm>
            <a:off x="8610600" y="5193792"/>
            <a:ext cx="585216" cy="585216"/>
          </a:xfrm>
          <a:prstGeom prst="ellipse">
            <a:avLst/>
          </a:prstGeom>
          <a:solidFill>
            <a:srgbClr val="C00000"/>
          </a:solidFill>
          <a:ln/>
        </p:spPr>
      </p:sp>
      <p:pic>
        <p:nvPicPr>
          <p:cNvPr id="29" name="icon effort" descr="preencoded.png">    </p:cNvPr>
          <p:cNvPicPr>
            <a:picLocks noChangeAspect="1"/>
          </p:cNvPicPr>
          <p:nvPr/>
        </p:nvPicPr>
        <p:blipFill>
          <a:blip r:embed="rId5"/>
          <a:stretch>
            <a:fillRect/>
          </a:stretch>
        </p:blipFill>
        <p:spPr>
          <a:xfrm>
            <a:off x="8733495" y="5316687"/>
            <a:ext cx="339425" cy="339425"/>
          </a:xfrm>
          <a:prstGeom prst="rect">
            <a:avLst/>
          </a:prstGeom>
        </p:spPr>
      </p:pic>
      <p:sp>
        <p:nvSpPr>
          <p:cNvPr id="30" name="value effort"/>
          <p:cNvSpPr txBox="1"/>
          <p:nvPr/>
        </p:nvSpPr>
        <p:spPr>
          <a:xfrm>
            <a:off x="9387840" y="4956048"/>
            <a:ext cx="2115312" cy="548640"/>
          </a:xfrm>
          <a:prstGeom prst="rect">
            <a:avLst/>
          </a:prstGeom>
          <a:noFill/>
          <a:ln/>
        </p:spPr>
        <p:txBody>
          <a:bodyPr wrap="square" lIns="0" tIns="0" rIns="0" bIns="0" rtlCol="0" anchor="ctr"/>
          <a:lstStyle/>
          <a:p>
            <a:pPr indent="0" marL="0">
              <a:buNone/>
            </a:pPr>
            <a:r>
              <a:rPr lang="en-US" sz="2800" b="1" dirty="0">
                <a:solidFill>
                  <a:srgbClr val="C00000"/>
                </a:solidFill>
              </a:rPr>
              <a:t>≈ 25 %</a:t>
            </a:r>
            <a:endParaRPr lang="en-US" sz="2800" dirty="0"/>
          </a:p>
        </p:txBody>
      </p:sp>
      <p:sp>
        <p:nvSpPr>
          <p:cNvPr id="31" name="label effort"/>
          <p:cNvSpPr txBox="1"/>
          <p:nvPr/>
        </p:nvSpPr>
        <p:spPr>
          <a:xfrm>
            <a:off x="9387840" y="5504688"/>
            <a:ext cx="2115312" cy="548640"/>
          </a:xfrm>
          <a:prstGeom prst="rect">
            <a:avLst/>
          </a:prstGeom>
          <a:noFill/>
          <a:ln/>
        </p:spPr>
        <p:txBody>
          <a:bodyPr wrap="square" lIns="0" tIns="0" rIns="0" bIns="0" rtlCol="0" anchor="t"/>
          <a:lstStyle/>
          <a:p>
            <a:pPr indent="0" marL="0">
              <a:buNone/>
            </a:pPr>
            <a:r>
              <a:rPr lang="en-US" sz="1150" b="1" dirty="0">
                <a:solidFill>
                  <a:srgbClr val="C00000"/>
                </a:solidFill>
              </a:rPr>
              <a:t>of MEP design effort, </a:t>
            </a:r>
            <a:r>
              <a:rPr lang="en-US" sz="1150" dirty="0">
                <a:solidFill>
                  <a:srgbClr val="52514E"/>
                </a:solidFill>
              </a:rPr>
              <a:t>about $600k of engineering cost per project</a:t>
            </a:r>
            <a:endParaRPr lang="en-US" sz="1150" dirty="0"/>
          </a:p>
        </p:txBody>
      </p:sp>
      <p:sp>
        <p:nvSpPr>
          <p:cNvPr id="3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33"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An SSA designer turns one MEP cross-section into a feasible structural support assembly</a:t>
            </a:r>
            <a:endParaRPr lang="en-US" sz="2600" dirty="0"/>
          </a:p>
        </p:txBody>
      </p:sp>
      <p:sp>
        <p:nvSpPr>
          <p:cNvPr id="3" name="frame in"/>
          <p:cNvSpPr/>
          <p:nvPr/>
        </p:nvSpPr>
        <p:spPr>
          <a:xfrm>
            <a:off x="548640" y="1600200"/>
            <a:ext cx="5029200" cy="3977640"/>
          </a:xfrm>
          <a:prstGeom prst="roundRect">
            <a:avLst>
              <a:gd name="adj" fmla="val 1379"/>
            </a:avLst>
          </a:prstGeom>
          <a:solidFill>
            <a:srgbClr val="FFFFFF"/>
          </a:solidFill>
          <a:ln w="15875">
            <a:solidFill>
              <a:schemeClr val="accent1"/>
            </a:solidFill>
            <a:prstDash val="solid"/>
          </a:ln>
        </p:spPr>
      </p:sp>
      <p:sp>
        <p:nvSpPr>
          <p:cNvPr id="4" name="tab context"/>
          <p:cNvSpPr/>
          <p:nvPr/>
        </p:nvSpPr>
        <p:spPr>
          <a:xfrm>
            <a:off x="777240" y="1444752"/>
            <a:ext cx="2377440" cy="310896"/>
          </a:xfrm>
          <a:prstGeom prst="roundRect">
            <a:avLst>
              <a:gd name="adj" fmla="val 50000"/>
            </a:avLst>
          </a:prstGeom>
          <a:solidFill>
            <a:schemeClr val="accent1"/>
          </a:solidFill>
          <a:ln/>
        </p:spPr>
      </p:sp>
      <p:sp>
        <p:nvSpPr>
          <p:cNvPr id="5" name="tab text context"/>
          <p:cNvSpPr txBox="1"/>
          <p:nvPr/>
        </p:nvSpPr>
        <p:spPr>
          <a:xfrm>
            <a:off x="777240" y="1444752"/>
            <a:ext cx="2377440" cy="310896"/>
          </a:xfrm>
          <a:prstGeom prst="rect">
            <a:avLst/>
          </a:prstGeom>
          <a:noFill/>
          <a:ln/>
        </p:spPr>
        <p:txBody>
          <a:bodyPr wrap="square" lIns="0" tIns="0" rIns="0" bIns="0" rtlCol="0" anchor="ctr"/>
          <a:lstStyle/>
          <a:p>
            <a:pPr algn="ctr" indent="0" marL="0">
              <a:buNone/>
            </a:pPr>
            <a:r>
              <a:rPr lang="en-US" sz="1100" b="1" dirty="0">
                <a:solidFill>
                  <a:srgbClr val="FFFFFF"/>
                </a:solidFill>
              </a:rPr>
              <a:t>CONTEXT  ·  the brief</a:t>
            </a:r>
            <a:endParaRPr lang="en-US" sz="1100" dirty="0"/>
          </a:p>
        </p:txBody>
      </p:sp>
      <p:sp>
        <p:nvSpPr>
          <p:cNvPr id="6" name="ceiling in"/>
          <p:cNvSpPr/>
          <p:nvPr/>
        </p:nvSpPr>
        <p:spPr>
          <a:xfrm>
            <a:off x="777240" y="1965960"/>
            <a:ext cx="4572000" cy="384048"/>
          </a:xfrm>
          <a:prstGeom prst="rect">
            <a:avLst/>
          </a:prstGeom>
          <a:solidFill>
            <a:srgbClr val="EEF1F4"/>
          </a:solidFill>
          <a:ln w="9525">
            <a:solidFill>
              <a:srgbClr val="52514E"/>
            </a:solidFill>
            <a:prstDash val="solid"/>
          </a:ln>
        </p:spPr>
      </p:sp>
      <p:sp>
        <p:nvSpPr>
          <p:cNvPr id="7" name="hatch in 0.8"/>
          <p:cNvSpPr/>
          <p:nvPr/>
        </p:nvSpPr>
        <p:spPr>
          <a:xfrm flipV="1">
            <a:off x="777240" y="1965960"/>
            <a:ext cx="274320" cy="384048"/>
          </a:xfrm>
          <a:prstGeom prst="line">
            <a:avLst/>
          </a:prstGeom>
          <a:noFill/>
          <a:ln w="6350">
            <a:solidFill>
              <a:srgbClr val="898781"/>
            </a:solidFill>
            <a:prstDash val="solid"/>
          </a:ln>
        </p:spPr>
      </p:sp>
      <p:sp>
        <p:nvSpPr>
          <p:cNvPr id="8" name="hatch in 1.1"/>
          <p:cNvSpPr/>
          <p:nvPr/>
        </p:nvSpPr>
        <p:spPr>
          <a:xfrm flipV="1">
            <a:off x="1051560" y="1965960"/>
            <a:ext cx="274320" cy="384048"/>
          </a:xfrm>
          <a:prstGeom prst="line">
            <a:avLst/>
          </a:prstGeom>
          <a:noFill/>
          <a:ln w="6350">
            <a:solidFill>
              <a:srgbClr val="898781"/>
            </a:solidFill>
            <a:prstDash val="solid"/>
          </a:ln>
        </p:spPr>
      </p:sp>
      <p:sp>
        <p:nvSpPr>
          <p:cNvPr id="9" name="hatch in 1.4"/>
          <p:cNvSpPr/>
          <p:nvPr/>
        </p:nvSpPr>
        <p:spPr>
          <a:xfrm flipV="1">
            <a:off x="1325880" y="1965960"/>
            <a:ext cx="274320" cy="384048"/>
          </a:xfrm>
          <a:prstGeom prst="line">
            <a:avLst/>
          </a:prstGeom>
          <a:noFill/>
          <a:ln w="6350">
            <a:solidFill>
              <a:srgbClr val="898781"/>
            </a:solidFill>
            <a:prstDash val="solid"/>
          </a:ln>
        </p:spPr>
      </p:sp>
      <p:sp>
        <p:nvSpPr>
          <p:cNvPr id="10" name="hatch in 1.8"/>
          <p:cNvSpPr/>
          <p:nvPr/>
        </p:nvSpPr>
        <p:spPr>
          <a:xfrm flipV="1">
            <a:off x="1600200" y="1965960"/>
            <a:ext cx="274320" cy="384048"/>
          </a:xfrm>
          <a:prstGeom prst="line">
            <a:avLst/>
          </a:prstGeom>
          <a:noFill/>
          <a:ln w="6350">
            <a:solidFill>
              <a:srgbClr val="898781"/>
            </a:solidFill>
            <a:prstDash val="solid"/>
          </a:ln>
        </p:spPr>
      </p:sp>
      <p:sp>
        <p:nvSpPr>
          <p:cNvPr id="11" name="hatch in 2.0"/>
          <p:cNvSpPr/>
          <p:nvPr/>
        </p:nvSpPr>
        <p:spPr>
          <a:xfrm flipV="1">
            <a:off x="1874520" y="1965960"/>
            <a:ext cx="274320" cy="384048"/>
          </a:xfrm>
          <a:prstGeom prst="line">
            <a:avLst/>
          </a:prstGeom>
          <a:noFill/>
          <a:ln w="6350">
            <a:solidFill>
              <a:srgbClr val="898781"/>
            </a:solidFill>
            <a:prstDash val="solid"/>
          </a:ln>
        </p:spPr>
      </p:sp>
      <p:sp>
        <p:nvSpPr>
          <p:cNvPr id="12" name="hatch in 2.3"/>
          <p:cNvSpPr/>
          <p:nvPr/>
        </p:nvSpPr>
        <p:spPr>
          <a:xfrm flipV="1">
            <a:off x="2148840" y="1965960"/>
            <a:ext cx="274320" cy="384048"/>
          </a:xfrm>
          <a:prstGeom prst="line">
            <a:avLst/>
          </a:prstGeom>
          <a:noFill/>
          <a:ln w="6350">
            <a:solidFill>
              <a:srgbClr val="898781"/>
            </a:solidFill>
            <a:prstDash val="solid"/>
          </a:ln>
        </p:spPr>
      </p:sp>
      <p:sp>
        <p:nvSpPr>
          <p:cNvPr id="13" name="hatch in 2.6"/>
          <p:cNvSpPr/>
          <p:nvPr/>
        </p:nvSpPr>
        <p:spPr>
          <a:xfrm flipV="1">
            <a:off x="2423160" y="1965960"/>
            <a:ext cx="274320" cy="384048"/>
          </a:xfrm>
          <a:prstGeom prst="line">
            <a:avLst/>
          </a:prstGeom>
          <a:noFill/>
          <a:ln w="6350">
            <a:solidFill>
              <a:srgbClr val="898781"/>
            </a:solidFill>
            <a:prstDash val="solid"/>
          </a:ln>
        </p:spPr>
      </p:sp>
      <p:sp>
        <p:nvSpPr>
          <p:cNvPr id="14" name="hatch in 2.9"/>
          <p:cNvSpPr/>
          <p:nvPr/>
        </p:nvSpPr>
        <p:spPr>
          <a:xfrm flipV="1">
            <a:off x="2697480" y="1965960"/>
            <a:ext cx="274320" cy="384048"/>
          </a:xfrm>
          <a:prstGeom prst="line">
            <a:avLst/>
          </a:prstGeom>
          <a:noFill/>
          <a:ln w="6350">
            <a:solidFill>
              <a:srgbClr val="898781"/>
            </a:solidFill>
            <a:prstDash val="solid"/>
          </a:ln>
        </p:spPr>
      </p:sp>
      <p:sp>
        <p:nvSpPr>
          <p:cNvPr id="15" name="hatch in 3.2"/>
          <p:cNvSpPr/>
          <p:nvPr/>
        </p:nvSpPr>
        <p:spPr>
          <a:xfrm flipV="1">
            <a:off x="2971800" y="1965960"/>
            <a:ext cx="274320" cy="384048"/>
          </a:xfrm>
          <a:prstGeom prst="line">
            <a:avLst/>
          </a:prstGeom>
          <a:noFill/>
          <a:ln w="6350">
            <a:solidFill>
              <a:srgbClr val="898781"/>
            </a:solidFill>
            <a:prstDash val="solid"/>
          </a:ln>
        </p:spPr>
      </p:sp>
      <p:sp>
        <p:nvSpPr>
          <p:cNvPr id="16" name="hatch in 3.5"/>
          <p:cNvSpPr/>
          <p:nvPr/>
        </p:nvSpPr>
        <p:spPr>
          <a:xfrm flipV="1">
            <a:off x="3246120" y="1965960"/>
            <a:ext cx="274320" cy="384048"/>
          </a:xfrm>
          <a:prstGeom prst="line">
            <a:avLst/>
          </a:prstGeom>
          <a:noFill/>
          <a:ln w="6350">
            <a:solidFill>
              <a:srgbClr val="898781"/>
            </a:solidFill>
            <a:prstDash val="solid"/>
          </a:ln>
        </p:spPr>
      </p:sp>
      <p:sp>
        <p:nvSpPr>
          <p:cNvPr id="17" name="hatch in 3.8"/>
          <p:cNvSpPr/>
          <p:nvPr/>
        </p:nvSpPr>
        <p:spPr>
          <a:xfrm flipV="1">
            <a:off x="3520440" y="1965960"/>
            <a:ext cx="274320" cy="384048"/>
          </a:xfrm>
          <a:prstGeom prst="line">
            <a:avLst/>
          </a:prstGeom>
          <a:noFill/>
          <a:ln w="6350">
            <a:solidFill>
              <a:srgbClr val="898781"/>
            </a:solidFill>
            <a:prstDash val="solid"/>
          </a:ln>
        </p:spPr>
      </p:sp>
      <p:sp>
        <p:nvSpPr>
          <p:cNvPr id="18" name="hatch in 4.1"/>
          <p:cNvSpPr/>
          <p:nvPr/>
        </p:nvSpPr>
        <p:spPr>
          <a:xfrm flipV="1">
            <a:off x="3794760" y="1965960"/>
            <a:ext cx="274320" cy="384048"/>
          </a:xfrm>
          <a:prstGeom prst="line">
            <a:avLst/>
          </a:prstGeom>
          <a:noFill/>
          <a:ln w="6350">
            <a:solidFill>
              <a:srgbClr val="898781"/>
            </a:solidFill>
            <a:prstDash val="solid"/>
          </a:ln>
        </p:spPr>
      </p:sp>
      <p:sp>
        <p:nvSpPr>
          <p:cNvPr id="19" name="hatch in 4.4"/>
          <p:cNvSpPr/>
          <p:nvPr/>
        </p:nvSpPr>
        <p:spPr>
          <a:xfrm flipV="1">
            <a:off x="4069080" y="1965960"/>
            <a:ext cx="274320" cy="384048"/>
          </a:xfrm>
          <a:prstGeom prst="line">
            <a:avLst/>
          </a:prstGeom>
          <a:noFill/>
          <a:ln w="6350">
            <a:solidFill>
              <a:srgbClr val="898781"/>
            </a:solidFill>
            <a:prstDash val="solid"/>
          </a:ln>
        </p:spPr>
      </p:sp>
      <p:sp>
        <p:nvSpPr>
          <p:cNvPr id="20" name="hatch in 4.7"/>
          <p:cNvSpPr/>
          <p:nvPr/>
        </p:nvSpPr>
        <p:spPr>
          <a:xfrm flipV="1">
            <a:off x="4343400" y="1965960"/>
            <a:ext cx="274320" cy="384048"/>
          </a:xfrm>
          <a:prstGeom prst="line">
            <a:avLst/>
          </a:prstGeom>
          <a:noFill/>
          <a:ln w="6350">
            <a:solidFill>
              <a:srgbClr val="898781"/>
            </a:solidFill>
            <a:prstDash val="solid"/>
          </a:ln>
        </p:spPr>
      </p:sp>
      <p:sp>
        <p:nvSpPr>
          <p:cNvPr id="21" name="hatch in 5.0"/>
          <p:cNvSpPr/>
          <p:nvPr/>
        </p:nvSpPr>
        <p:spPr>
          <a:xfrm flipV="1">
            <a:off x="4617720" y="1965960"/>
            <a:ext cx="274320" cy="384048"/>
          </a:xfrm>
          <a:prstGeom prst="line">
            <a:avLst/>
          </a:prstGeom>
          <a:noFill/>
          <a:ln w="6350">
            <a:solidFill>
              <a:srgbClr val="898781"/>
            </a:solidFill>
            <a:prstDash val="solid"/>
          </a:ln>
        </p:spPr>
      </p:sp>
      <p:sp>
        <p:nvSpPr>
          <p:cNvPr id="22" name="hatch in 5.3"/>
          <p:cNvSpPr/>
          <p:nvPr/>
        </p:nvSpPr>
        <p:spPr>
          <a:xfrm flipV="1">
            <a:off x="4892040" y="1965960"/>
            <a:ext cx="274320" cy="384048"/>
          </a:xfrm>
          <a:prstGeom prst="line">
            <a:avLst/>
          </a:prstGeom>
          <a:noFill/>
          <a:ln w="6350">
            <a:solidFill>
              <a:srgbClr val="898781"/>
            </a:solidFill>
            <a:prstDash val="solid"/>
          </a:ln>
        </p:spPr>
      </p:sp>
      <p:sp>
        <p:nvSpPr>
          <p:cNvPr id="23" name="ceiling label in"/>
          <p:cNvSpPr txBox="1"/>
          <p:nvPr/>
        </p:nvSpPr>
        <p:spPr>
          <a:xfrm>
            <a:off x="2148840" y="2029968"/>
            <a:ext cx="182880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slab, 200 mm</a:t>
            </a:r>
            <a:endParaRPr lang="en-US" sz="1100" dirty="0"/>
          </a:p>
        </p:txBody>
      </p:sp>
      <p:sp>
        <p:nvSpPr>
          <p:cNvPr id="24" name="duct in"/>
          <p:cNvSpPr/>
          <p:nvPr/>
        </p:nvSpPr>
        <p:spPr>
          <a:xfrm>
            <a:off x="1005840" y="3246120"/>
            <a:ext cx="1554480" cy="960120"/>
          </a:xfrm>
          <a:prstGeom prst="rect">
            <a:avLst/>
          </a:prstGeom>
          <a:solidFill>
            <a:srgbClr val="EEF1F4"/>
          </a:solidFill>
          <a:ln w="12700">
            <a:solidFill>
              <a:srgbClr val="52514E"/>
            </a:solidFill>
            <a:prstDash val="solid"/>
          </a:ln>
        </p:spPr>
      </p:sp>
      <p:sp>
        <p:nvSpPr>
          <p:cNvPr id="25" name="insulation in"/>
          <p:cNvSpPr/>
          <p:nvPr/>
        </p:nvSpPr>
        <p:spPr>
          <a:xfrm>
            <a:off x="2752344" y="3392424"/>
            <a:ext cx="896112" cy="896112"/>
          </a:xfrm>
          <a:prstGeom prst="ellipse">
            <a:avLst/>
          </a:prstGeom>
          <a:ln w="9525">
            <a:solidFill>
              <a:srgbClr val="52514E"/>
            </a:solidFill>
            <a:prstDash val="sysDash"/>
          </a:ln>
        </p:spPr>
      </p:sp>
      <p:sp>
        <p:nvSpPr>
          <p:cNvPr id="26" name="pipe a in"/>
          <p:cNvSpPr/>
          <p:nvPr/>
        </p:nvSpPr>
        <p:spPr>
          <a:xfrm>
            <a:off x="2834640" y="3474720"/>
            <a:ext cx="731520" cy="731520"/>
          </a:xfrm>
          <a:prstGeom prst="ellipse">
            <a:avLst/>
          </a:prstGeom>
          <a:solidFill>
            <a:srgbClr val="EEF1F4"/>
          </a:solidFill>
          <a:ln w="12700">
            <a:solidFill>
              <a:srgbClr val="52514E"/>
            </a:solidFill>
            <a:prstDash val="solid"/>
          </a:ln>
        </p:spPr>
      </p:sp>
      <p:sp>
        <p:nvSpPr>
          <p:cNvPr id="27" name="pipe b in"/>
          <p:cNvSpPr/>
          <p:nvPr/>
        </p:nvSpPr>
        <p:spPr>
          <a:xfrm>
            <a:off x="3840480" y="3749040"/>
            <a:ext cx="457200" cy="457200"/>
          </a:xfrm>
          <a:prstGeom prst="ellipse">
            <a:avLst/>
          </a:prstGeom>
          <a:solidFill>
            <a:srgbClr val="EEF1F4"/>
          </a:solidFill>
          <a:ln w="12700">
            <a:solidFill>
              <a:srgbClr val="52514E"/>
            </a:solidFill>
            <a:prstDash val="solid"/>
          </a:ln>
        </p:spPr>
      </p:sp>
      <p:sp>
        <p:nvSpPr>
          <p:cNvPr id="28" name="tray in"/>
          <p:cNvSpPr/>
          <p:nvPr/>
        </p:nvSpPr>
        <p:spPr>
          <a:xfrm>
            <a:off x="4434840" y="3913632"/>
            <a:ext cx="777240" cy="292608"/>
          </a:xfrm>
          <a:prstGeom prst="rect">
            <a:avLst/>
          </a:prstGeom>
          <a:solidFill>
            <a:srgbClr val="EEF1F4"/>
          </a:solidFill>
          <a:ln w="12700">
            <a:solidFill>
              <a:srgbClr val="52514E"/>
            </a:solidFill>
            <a:prstDash val="solid"/>
          </a:ln>
        </p:spPr>
      </p:sp>
      <p:sp>
        <p:nvSpPr>
          <p:cNvPr id="29" name="label duct"/>
          <p:cNvSpPr txBox="1"/>
          <p:nvPr/>
        </p:nvSpPr>
        <p:spPr>
          <a:xfrm>
            <a:off x="1005840" y="4279392"/>
            <a:ext cx="1554480" cy="237744"/>
          </a:xfrm>
          <a:prstGeom prst="rect">
            <a:avLst/>
          </a:prstGeom>
          <a:noFill/>
          <a:ln/>
        </p:spPr>
        <p:txBody>
          <a:bodyPr wrap="square" lIns="0" tIns="0" rIns="0" bIns="0" rtlCol="0" anchor="ctr"/>
          <a:lstStyle/>
          <a:p>
            <a:pPr algn="ctr" indent="0" marL="0">
              <a:buNone/>
            </a:pPr>
            <a:r>
              <a:rPr lang="en-US" sz="1050" dirty="0">
                <a:solidFill>
                  <a:srgbClr val="52514E"/>
                </a:solidFill>
              </a:rPr>
              <a:t>Duct 600 × 400</a:t>
            </a:r>
            <a:endParaRPr lang="en-US" sz="1050" dirty="0"/>
          </a:p>
        </p:txBody>
      </p:sp>
      <p:sp>
        <p:nvSpPr>
          <p:cNvPr id="30" name="label dn80"/>
          <p:cNvSpPr txBox="1"/>
          <p:nvPr/>
        </p:nvSpPr>
        <p:spPr>
          <a:xfrm>
            <a:off x="2560320" y="4279392"/>
            <a:ext cx="1371600" cy="237744"/>
          </a:xfrm>
          <a:prstGeom prst="rect">
            <a:avLst/>
          </a:prstGeom>
          <a:noFill/>
          <a:ln/>
        </p:spPr>
        <p:txBody>
          <a:bodyPr wrap="square" lIns="0" tIns="0" rIns="0" bIns="0" rtlCol="0" anchor="ctr"/>
          <a:lstStyle/>
          <a:p>
            <a:pPr algn="ctr" indent="0" marL="0">
              <a:buNone/>
            </a:pPr>
            <a:r>
              <a:rPr lang="en-US" sz="1050" dirty="0">
                <a:solidFill>
                  <a:srgbClr val="52514E"/>
                </a:solidFill>
              </a:rPr>
              <a:t>DN80, insulated</a:t>
            </a:r>
            <a:endParaRPr lang="en-US" sz="1050" dirty="0"/>
          </a:p>
        </p:txBody>
      </p:sp>
      <p:sp>
        <p:nvSpPr>
          <p:cNvPr id="31" name="label dn40"/>
          <p:cNvSpPr txBox="1"/>
          <p:nvPr/>
        </p:nvSpPr>
        <p:spPr>
          <a:xfrm>
            <a:off x="3749040" y="4279392"/>
            <a:ext cx="640080" cy="237744"/>
          </a:xfrm>
          <a:prstGeom prst="rect">
            <a:avLst/>
          </a:prstGeom>
          <a:noFill/>
          <a:ln/>
        </p:spPr>
        <p:txBody>
          <a:bodyPr wrap="square" lIns="0" tIns="0" rIns="0" bIns="0" rtlCol="0" anchor="ctr"/>
          <a:lstStyle/>
          <a:p>
            <a:pPr algn="ctr" indent="0" marL="0">
              <a:buNone/>
            </a:pPr>
            <a:r>
              <a:rPr lang="en-US" sz="1050" dirty="0">
                <a:solidFill>
                  <a:srgbClr val="52514E"/>
                </a:solidFill>
              </a:rPr>
              <a:t>DN40</a:t>
            </a:r>
            <a:endParaRPr lang="en-US" sz="1050" dirty="0"/>
          </a:p>
        </p:txBody>
      </p:sp>
      <p:sp>
        <p:nvSpPr>
          <p:cNvPr id="32" name="label tray"/>
          <p:cNvSpPr txBox="1"/>
          <p:nvPr/>
        </p:nvSpPr>
        <p:spPr>
          <a:xfrm>
            <a:off x="4297680" y="4279392"/>
            <a:ext cx="1051560" cy="237744"/>
          </a:xfrm>
          <a:prstGeom prst="rect">
            <a:avLst/>
          </a:prstGeom>
          <a:noFill/>
          <a:ln/>
        </p:spPr>
        <p:txBody>
          <a:bodyPr wrap="square" lIns="0" tIns="0" rIns="0" bIns="0" rtlCol="0" anchor="ctr"/>
          <a:lstStyle/>
          <a:p>
            <a:pPr algn="ctr" indent="0" marL="0">
              <a:buNone/>
            </a:pPr>
            <a:r>
              <a:rPr lang="en-US" sz="1050" dirty="0">
                <a:solidFill>
                  <a:srgbClr val="52514E"/>
                </a:solidFill>
              </a:rPr>
              <a:t>Cable tray 300</a:t>
            </a:r>
            <a:endParaRPr lang="en-US" sz="1050" dirty="0"/>
          </a:p>
        </p:txBody>
      </p:sp>
      <p:sp>
        <p:nvSpPr>
          <p:cNvPr id="33" name="in note"/>
          <p:cNvSpPr txBox="1"/>
          <p:nvPr/>
        </p:nvSpPr>
        <p:spPr>
          <a:xfrm>
            <a:off x="777240" y="4919472"/>
            <a:ext cx="4572000" cy="502920"/>
          </a:xfrm>
          <a:prstGeom prst="rect">
            <a:avLst/>
          </a:prstGeom>
          <a:noFill/>
          <a:ln/>
        </p:spPr>
        <p:txBody>
          <a:bodyPr wrap="square" lIns="0" tIns="0" rIns="0" bIns="0" rtlCol="0" anchor="ctr"/>
          <a:lstStyle/>
          <a:p>
            <a:pPr indent="0" marL="0">
              <a:buNone/>
            </a:pPr>
            <a:r>
              <a:rPr lang="en-US" sz="1100" dirty="0">
                <a:solidFill>
                  <a:srgbClr val="52514E"/>
                </a:solidFill>
              </a:rPr>
              <a:t>Every element with its kind, trade, size, insulation, position and load per metre. Nothing else.</a:t>
            </a:r>
            <a:endParaRPr lang="en-US" sz="1100" dirty="0"/>
          </a:p>
        </p:txBody>
      </p:sp>
      <p:sp>
        <p:nvSpPr>
          <p:cNvPr id="34" name="arrow in"/>
          <p:cNvSpPr/>
          <p:nvPr/>
        </p:nvSpPr>
        <p:spPr>
          <a:xfrm>
            <a:off x="5650992" y="3589020"/>
            <a:ext cx="123444" cy="0"/>
          </a:xfrm>
          <a:prstGeom prst="line">
            <a:avLst/>
          </a:prstGeom>
          <a:noFill/>
          <a:ln w="19050">
            <a:solidFill>
              <a:srgbClr val="52514E"/>
            </a:solidFill>
            <a:prstDash val="solid"/>
          </a:ln>
        </p:spPr>
      </p:sp>
      <p:sp>
        <p:nvSpPr>
          <p:cNvPr id="35" name="arrow out"/>
          <p:cNvSpPr/>
          <p:nvPr/>
        </p:nvSpPr>
        <p:spPr>
          <a:xfrm>
            <a:off x="6414516" y="3589020"/>
            <a:ext cx="123444" cy="0"/>
          </a:xfrm>
          <a:prstGeom prst="line">
            <a:avLst/>
          </a:prstGeom>
          <a:noFill/>
          <a:ln w="19050">
            <a:solidFill>
              <a:srgbClr val="52514E"/>
            </a:solidFill>
            <a:prstDash val="solid"/>
            <a:tailEnd type="triangle"/>
          </a:ln>
        </p:spPr>
      </p:sp>
      <p:sp>
        <p:nvSpPr>
          <p:cNvPr id="36" name="icon ring designer"/>
          <p:cNvSpPr/>
          <p:nvPr/>
        </p:nvSpPr>
        <p:spPr>
          <a:xfrm>
            <a:off x="5774436" y="3268980"/>
            <a:ext cx="640080" cy="640080"/>
          </a:xfrm>
          <a:prstGeom prst="ellipse">
            <a:avLst/>
          </a:prstGeom>
          <a:solidFill>
            <a:schemeClr val="accent1"/>
          </a:solidFill>
          <a:ln/>
        </p:spPr>
      </p:sp>
      <p:pic>
        <p:nvPicPr>
          <p:cNvPr id="37" name="icon designer" descr="preencoded.png">    </p:cNvPr>
          <p:cNvPicPr>
            <a:picLocks noChangeAspect="1"/>
          </p:cNvPicPr>
          <p:nvPr/>
        </p:nvPicPr>
        <p:blipFill>
          <a:blip r:embed="rId1"/>
          <a:stretch>
            <a:fillRect/>
          </a:stretch>
        </p:blipFill>
        <p:spPr>
          <a:xfrm>
            <a:off x="5908853" y="3403397"/>
            <a:ext cx="371246" cy="371246"/>
          </a:xfrm>
          <a:prstGeom prst="rect">
            <a:avLst/>
          </a:prstGeom>
        </p:spPr>
      </p:pic>
      <p:sp>
        <p:nvSpPr>
          <p:cNvPr id="38" name="designer label"/>
          <p:cNvSpPr txBox="1"/>
          <p:nvPr/>
        </p:nvSpPr>
        <p:spPr>
          <a:xfrm>
            <a:off x="5545836" y="2958084"/>
            <a:ext cx="1097280" cy="237744"/>
          </a:xfrm>
          <a:prstGeom prst="rect">
            <a:avLst/>
          </a:prstGeom>
          <a:noFill/>
          <a:ln/>
        </p:spPr>
        <p:txBody>
          <a:bodyPr wrap="square" lIns="0" tIns="0" rIns="0" bIns="0" rtlCol="0" anchor="ctr"/>
          <a:lstStyle/>
          <a:p>
            <a:pPr algn="ctr" indent="0" marL="0">
              <a:buNone/>
            </a:pPr>
            <a:r>
              <a:rPr lang="en-US" sz="1050" b="1" dirty="0">
                <a:solidFill>
                  <a:schemeClr val="tx1"/>
                </a:solidFill>
              </a:rPr>
              <a:t>SSA designer</a:t>
            </a:r>
            <a:endParaRPr lang="en-US" sz="1050" dirty="0"/>
          </a:p>
        </p:txBody>
      </p:sp>
      <p:sp>
        <p:nvSpPr>
          <p:cNvPr id="39" name="designer sub"/>
          <p:cNvSpPr txBox="1"/>
          <p:nvPr/>
        </p:nvSpPr>
        <p:spPr>
          <a:xfrm>
            <a:off x="5591556" y="3963924"/>
            <a:ext cx="1005840" cy="237744"/>
          </a:xfrm>
          <a:prstGeom prst="rect">
            <a:avLst/>
          </a:prstGeom>
          <a:noFill/>
          <a:ln/>
        </p:spPr>
        <p:txBody>
          <a:bodyPr wrap="square" lIns="0" tIns="0" rIns="0" bIns="0" rtlCol="0" anchor="ctr"/>
          <a:lstStyle/>
          <a:p>
            <a:pPr algn="ctr" indent="0" marL="0">
              <a:buNone/>
            </a:pPr>
            <a:r>
              <a:rPr lang="en-US" sz="1050" dirty="0">
                <a:solidFill>
                  <a:srgbClr val="52514E"/>
                </a:solidFill>
              </a:rPr>
              <a:t>from a catalog</a:t>
            </a:r>
            <a:endParaRPr lang="en-US" sz="1050" dirty="0"/>
          </a:p>
        </p:txBody>
      </p:sp>
      <p:sp>
        <p:nvSpPr>
          <p:cNvPr id="40" name="frame out"/>
          <p:cNvSpPr/>
          <p:nvPr/>
        </p:nvSpPr>
        <p:spPr>
          <a:xfrm>
            <a:off x="6611112" y="1600200"/>
            <a:ext cx="5029200" cy="3977640"/>
          </a:xfrm>
          <a:prstGeom prst="roundRect">
            <a:avLst>
              <a:gd name="adj" fmla="val 1379"/>
            </a:avLst>
          </a:prstGeom>
          <a:solidFill>
            <a:srgbClr val="FFFFFF"/>
          </a:solidFill>
          <a:ln w="15875">
            <a:solidFill>
              <a:srgbClr val="1F2933"/>
            </a:solidFill>
            <a:prstDash val="solid"/>
          </a:ln>
        </p:spPr>
      </p:sp>
      <p:sp>
        <p:nvSpPr>
          <p:cNvPr id="41" name="tab assembly"/>
          <p:cNvSpPr/>
          <p:nvPr/>
        </p:nvSpPr>
        <p:spPr>
          <a:xfrm>
            <a:off x="6839712" y="1444752"/>
            <a:ext cx="2377440" cy="310896"/>
          </a:xfrm>
          <a:prstGeom prst="roundRect">
            <a:avLst>
              <a:gd name="adj" fmla="val 50000"/>
            </a:avLst>
          </a:prstGeom>
          <a:solidFill>
            <a:srgbClr val="1F2933"/>
          </a:solidFill>
          <a:ln/>
        </p:spPr>
      </p:sp>
      <p:sp>
        <p:nvSpPr>
          <p:cNvPr id="42" name="tab text assembly"/>
          <p:cNvSpPr txBox="1"/>
          <p:nvPr/>
        </p:nvSpPr>
        <p:spPr>
          <a:xfrm>
            <a:off x="6839712" y="1444752"/>
            <a:ext cx="2377440" cy="310896"/>
          </a:xfrm>
          <a:prstGeom prst="rect">
            <a:avLst/>
          </a:prstGeom>
          <a:noFill/>
          <a:ln/>
        </p:spPr>
        <p:txBody>
          <a:bodyPr wrap="square" lIns="0" tIns="0" rIns="0" bIns="0" rtlCol="0" anchor="ctr"/>
          <a:lstStyle/>
          <a:p>
            <a:pPr algn="ctr" indent="0" marL="0">
              <a:buNone/>
            </a:pPr>
            <a:r>
              <a:rPr lang="en-US" sz="1100" b="1" dirty="0">
                <a:solidFill>
                  <a:srgbClr val="FFFFFF"/>
                </a:solidFill>
              </a:rPr>
              <a:t>FEASIBLE SSA  ·  the answer</a:t>
            </a:r>
            <a:endParaRPr lang="en-US" sz="1100" dirty="0"/>
          </a:p>
        </p:txBody>
      </p:sp>
      <p:sp>
        <p:nvSpPr>
          <p:cNvPr id="43" name="ceiling out"/>
          <p:cNvSpPr/>
          <p:nvPr/>
        </p:nvSpPr>
        <p:spPr>
          <a:xfrm>
            <a:off x="6839712" y="1965960"/>
            <a:ext cx="4572000" cy="384048"/>
          </a:xfrm>
          <a:prstGeom prst="rect">
            <a:avLst/>
          </a:prstGeom>
          <a:solidFill>
            <a:srgbClr val="EEF1F4"/>
          </a:solidFill>
          <a:ln w="9525">
            <a:solidFill>
              <a:srgbClr val="52514E"/>
            </a:solidFill>
            <a:prstDash val="solid"/>
          </a:ln>
        </p:spPr>
      </p:sp>
      <p:sp>
        <p:nvSpPr>
          <p:cNvPr id="44" name="hatch out 7.5"/>
          <p:cNvSpPr/>
          <p:nvPr/>
        </p:nvSpPr>
        <p:spPr>
          <a:xfrm flipV="1">
            <a:off x="6839712" y="1965960"/>
            <a:ext cx="274320" cy="384048"/>
          </a:xfrm>
          <a:prstGeom prst="line">
            <a:avLst/>
          </a:prstGeom>
          <a:noFill/>
          <a:ln w="6350">
            <a:solidFill>
              <a:srgbClr val="898781"/>
            </a:solidFill>
            <a:prstDash val="solid"/>
          </a:ln>
        </p:spPr>
      </p:sp>
      <p:sp>
        <p:nvSpPr>
          <p:cNvPr id="45" name="hatch out 7.8"/>
          <p:cNvSpPr/>
          <p:nvPr/>
        </p:nvSpPr>
        <p:spPr>
          <a:xfrm flipV="1">
            <a:off x="7114032" y="1965960"/>
            <a:ext cx="274320" cy="384048"/>
          </a:xfrm>
          <a:prstGeom prst="line">
            <a:avLst/>
          </a:prstGeom>
          <a:noFill/>
          <a:ln w="6350">
            <a:solidFill>
              <a:srgbClr val="898781"/>
            </a:solidFill>
            <a:prstDash val="solid"/>
          </a:ln>
        </p:spPr>
      </p:sp>
      <p:sp>
        <p:nvSpPr>
          <p:cNvPr id="46" name="hatch out 8.1"/>
          <p:cNvSpPr/>
          <p:nvPr/>
        </p:nvSpPr>
        <p:spPr>
          <a:xfrm flipV="1">
            <a:off x="7388352" y="1965960"/>
            <a:ext cx="274320" cy="384048"/>
          </a:xfrm>
          <a:prstGeom prst="line">
            <a:avLst/>
          </a:prstGeom>
          <a:noFill/>
          <a:ln w="6350">
            <a:solidFill>
              <a:srgbClr val="898781"/>
            </a:solidFill>
            <a:prstDash val="solid"/>
          </a:ln>
        </p:spPr>
      </p:sp>
      <p:sp>
        <p:nvSpPr>
          <p:cNvPr id="47" name="hatch out 8.4"/>
          <p:cNvSpPr/>
          <p:nvPr/>
        </p:nvSpPr>
        <p:spPr>
          <a:xfrm flipV="1">
            <a:off x="7662672" y="1965960"/>
            <a:ext cx="274320" cy="384048"/>
          </a:xfrm>
          <a:prstGeom prst="line">
            <a:avLst/>
          </a:prstGeom>
          <a:noFill/>
          <a:ln w="6350">
            <a:solidFill>
              <a:srgbClr val="898781"/>
            </a:solidFill>
            <a:prstDash val="solid"/>
          </a:ln>
        </p:spPr>
      </p:sp>
      <p:sp>
        <p:nvSpPr>
          <p:cNvPr id="48" name="hatch out 8.7"/>
          <p:cNvSpPr/>
          <p:nvPr/>
        </p:nvSpPr>
        <p:spPr>
          <a:xfrm flipV="1">
            <a:off x="7936992" y="1965960"/>
            <a:ext cx="274320" cy="384048"/>
          </a:xfrm>
          <a:prstGeom prst="line">
            <a:avLst/>
          </a:prstGeom>
          <a:noFill/>
          <a:ln w="6350">
            <a:solidFill>
              <a:srgbClr val="898781"/>
            </a:solidFill>
            <a:prstDash val="solid"/>
          </a:ln>
        </p:spPr>
      </p:sp>
      <p:sp>
        <p:nvSpPr>
          <p:cNvPr id="49" name="hatch out 9.0"/>
          <p:cNvSpPr/>
          <p:nvPr/>
        </p:nvSpPr>
        <p:spPr>
          <a:xfrm flipV="1">
            <a:off x="8211312" y="1965960"/>
            <a:ext cx="274320" cy="384048"/>
          </a:xfrm>
          <a:prstGeom prst="line">
            <a:avLst/>
          </a:prstGeom>
          <a:noFill/>
          <a:ln w="6350">
            <a:solidFill>
              <a:srgbClr val="898781"/>
            </a:solidFill>
            <a:prstDash val="solid"/>
          </a:ln>
        </p:spPr>
      </p:sp>
      <p:sp>
        <p:nvSpPr>
          <p:cNvPr id="50" name="hatch out 9.3"/>
          <p:cNvSpPr/>
          <p:nvPr/>
        </p:nvSpPr>
        <p:spPr>
          <a:xfrm flipV="1">
            <a:off x="8485632" y="1965960"/>
            <a:ext cx="274320" cy="384048"/>
          </a:xfrm>
          <a:prstGeom prst="line">
            <a:avLst/>
          </a:prstGeom>
          <a:noFill/>
          <a:ln w="6350">
            <a:solidFill>
              <a:srgbClr val="898781"/>
            </a:solidFill>
            <a:prstDash val="solid"/>
          </a:ln>
        </p:spPr>
      </p:sp>
      <p:sp>
        <p:nvSpPr>
          <p:cNvPr id="51" name="hatch out 9.6"/>
          <p:cNvSpPr/>
          <p:nvPr/>
        </p:nvSpPr>
        <p:spPr>
          <a:xfrm flipV="1">
            <a:off x="8759952" y="1965960"/>
            <a:ext cx="274320" cy="384048"/>
          </a:xfrm>
          <a:prstGeom prst="line">
            <a:avLst/>
          </a:prstGeom>
          <a:noFill/>
          <a:ln w="6350">
            <a:solidFill>
              <a:srgbClr val="898781"/>
            </a:solidFill>
            <a:prstDash val="solid"/>
          </a:ln>
        </p:spPr>
      </p:sp>
      <p:sp>
        <p:nvSpPr>
          <p:cNvPr id="52" name="hatch out 9.9"/>
          <p:cNvSpPr/>
          <p:nvPr/>
        </p:nvSpPr>
        <p:spPr>
          <a:xfrm flipV="1">
            <a:off x="9034272" y="1965960"/>
            <a:ext cx="274320" cy="384048"/>
          </a:xfrm>
          <a:prstGeom prst="line">
            <a:avLst/>
          </a:prstGeom>
          <a:noFill/>
          <a:ln w="6350">
            <a:solidFill>
              <a:srgbClr val="898781"/>
            </a:solidFill>
            <a:prstDash val="solid"/>
          </a:ln>
        </p:spPr>
      </p:sp>
      <p:sp>
        <p:nvSpPr>
          <p:cNvPr id="53" name="hatch out 10.2"/>
          <p:cNvSpPr/>
          <p:nvPr/>
        </p:nvSpPr>
        <p:spPr>
          <a:xfrm flipV="1">
            <a:off x="9308592" y="1965960"/>
            <a:ext cx="274320" cy="384048"/>
          </a:xfrm>
          <a:prstGeom prst="line">
            <a:avLst/>
          </a:prstGeom>
          <a:noFill/>
          <a:ln w="6350">
            <a:solidFill>
              <a:srgbClr val="898781"/>
            </a:solidFill>
            <a:prstDash val="solid"/>
          </a:ln>
        </p:spPr>
      </p:sp>
      <p:sp>
        <p:nvSpPr>
          <p:cNvPr id="54" name="hatch out 10.5"/>
          <p:cNvSpPr/>
          <p:nvPr/>
        </p:nvSpPr>
        <p:spPr>
          <a:xfrm flipV="1">
            <a:off x="9582912" y="1965960"/>
            <a:ext cx="274320" cy="384048"/>
          </a:xfrm>
          <a:prstGeom prst="line">
            <a:avLst/>
          </a:prstGeom>
          <a:noFill/>
          <a:ln w="6350">
            <a:solidFill>
              <a:srgbClr val="898781"/>
            </a:solidFill>
            <a:prstDash val="solid"/>
          </a:ln>
        </p:spPr>
      </p:sp>
      <p:sp>
        <p:nvSpPr>
          <p:cNvPr id="55" name="hatch out 10.8"/>
          <p:cNvSpPr/>
          <p:nvPr/>
        </p:nvSpPr>
        <p:spPr>
          <a:xfrm flipV="1">
            <a:off x="9857232" y="1965960"/>
            <a:ext cx="274320" cy="384048"/>
          </a:xfrm>
          <a:prstGeom prst="line">
            <a:avLst/>
          </a:prstGeom>
          <a:noFill/>
          <a:ln w="6350">
            <a:solidFill>
              <a:srgbClr val="898781"/>
            </a:solidFill>
            <a:prstDash val="solid"/>
          </a:ln>
        </p:spPr>
      </p:sp>
      <p:sp>
        <p:nvSpPr>
          <p:cNvPr id="56" name="hatch out 11.1"/>
          <p:cNvSpPr/>
          <p:nvPr/>
        </p:nvSpPr>
        <p:spPr>
          <a:xfrm flipV="1">
            <a:off x="10131552" y="1965960"/>
            <a:ext cx="274320" cy="384048"/>
          </a:xfrm>
          <a:prstGeom prst="line">
            <a:avLst/>
          </a:prstGeom>
          <a:noFill/>
          <a:ln w="6350">
            <a:solidFill>
              <a:srgbClr val="898781"/>
            </a:solidFill>
            <a:prstDash val="solid"/>
          </a:ln>
        </p:spPr>
      </p:sp>
      <p:sp>
        <p:nvSpPr>
          <p:cNvPr id="57" name="hatch out 11.4"/>
          <p:cNvSpPr/>
          <p:nvPr/>
        </p:nvSpPr>
        <p:spPr>
          <a:xfrm flipV="1">
            <a:off x="10405872" y="1965960"/>
            <a:ext cx="274320" cy="384048"/>
          </a:xfrm>
          <a:prstGeom prst="line">
            <a:avLst/>
          </a:prstGeom>
          <a:noFill/>
          <a:ln w="6350">
            <a:solidFill>
              <a:srgbClr val="898781"/>
            </a:solidFill>
            <a:prstDash val="solid"/>
          </a:ln>
        </p:spPr>
      </p:sp>
      <p:sp>
        <p:nvSpPr>
          <p:cNvPr id="58" name="hatch out 11.7"/>
          <p:cNvSpPr/>
          <p:nvPr/>
        </p:nvSpPr>
        <p:spPr>
          <a:xfrm flipV="1">
            <a:off x="10680192" y="1965960"/>
            <a:ext cx="274320" cy="384048"/>
          </a:xfrm>
          <a:prstGeom prst="line">
            <a:avLst/>
          </a:prstGeom>
          <a:noFill/>
          <a:ln w="6350">
            <a:solidFill>
              <a:srgbClr val="898781"/>
            </a:solidFill>
            <a:prstDash val="solid"/>
          </a:ln>
        </p:spPr>
      </p:sp>
      <p:sp>
        <p:nvSpPr>
          <p:cNvPr id="59" name="hatch out 12.0"/>
          <p:cNvSpPr/>
          <p:nvPr/>
        </p:nvSpPr>
        <p:spPr>
          <a:xfrm flipV="1">
            <a:off x="10954512" y="1965960"/>
            <a:ext cx="274320" cy="384048"/>
          </a:xfrm>
          <a:prstGeom prst="line">
            <a:avLst/>
          </a:prstGeom>
          <a:noFill/>
          <a:ln w="6350">
            <a:solidFill>
              <a:srgbClr val="898781"/>
            </a:solidFill>
            <a:prstDash val="solid"/>
          </a:ln>
        </p:spPr>
      </p:sp>
      <p:sp>
        <p:nvSpPr>
          <p:cNvPr id="60" name="ceiling label out"/>
          <p:cNvSpPr txBox="1"/>
          <p:nvPr/>
        </p:nvSpPr>
        <p:spPr>
          <a:xfrm>
            <a:off x="8211312" y="2029968"/>
            <a:ext cx="182880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slab, 200 mm</a:t>
            </a:r>
            <a:endParaRPr lang="en-US" sz="1100" dirty="0"/>
          </a:p>
        </p:txBody>
      </p:sp>
      <p:sp>
        <p:nvSpPr>
          <p:cNvPr id="61" name="duct out"/>
          <p:cNvSpPr/>
          <p:nvPr/>
        </p:nvSpPr>
        <p:spPr>
          <a:xfrm>
            <a:off x="7068312" y="3063240"/>
            <a:ext cx="1554480" cy="960120"/>
          </a:xfrm>
          <a:prstGeom prst="rect">
            <a:avLst/>
          </a:prstGeom>
          <a:solidFill>
            <a:srgbClr val="EEF1F4"/>
          </a:solidFill>
          <a:ln w="12700">
            <a:solidFill>
              <a:srgbClr val="52514E"/>
            </a:solidFill>
            <a:prstDash val="solid"/>
          </a:ln>
        </p:spPr>
      </p:sp>
      <p:sp>
        <p:nvSpPr>
          <p:cNvPr id="62" name="insulation out"/>
          <p:cNvSpPr/>
          <p:nvPr/>
        </p:nvSpPr>
        <p:spPr>
          <a:xfrm>
            <a:off x="8814816" y="3209544"/>
            <a:ext cx="896112" cy="896112"/>
          </a:xfrm>
          <a:prstGeom prst="ellipse">
            <a:avLst/>
          </a:prstGeom>
          <a:ln w="9525">
            <a:solidFill>
              <a:srgbClr val="52514E"/>
            </a:solidFill>
            <a:prstDash val="sysDash"/>
          </a:ln>
        </p:spPr>
      </p:sp>
      <p:sp>
        <p:nvSpPr>
          <p:cNvPr id="63" name="pipe a out"/>
          <p:cNvSpPr/>
          <p:nvPr/>
        </p:nvSpPr>
        <p:spPr>
          <a:xfrm>
            <a:off x="8897112" y="3291840"/>
            <a:ext cx="731520" cy="731520"/>
          </a:xfrm>
          <a:prstGeom prst="ellipse">
            <a:avLst/>
          </a:prstGeom>
          <a:solidFill>
            <a:srgbClr val="EEF1F4"/>
          </a:solidFill>
          <a:ln w="12700">
            <a:solidFill>
              <a:srgbClr val="52514E"/>
            </a:solidFill>
            <a:prstDash val="solid"/>
          </a:ln>
        </p:spPr>
      </p:sp>
      <p:sp>
        <p:nvSpPr>
          <p:cNvPr id="64" name="pipe b out"/>
          <p:cNvSpPr/>
          <p:nvPr/>
        </p:nvSpPr>
        <p:spPr>
          <a:xfrm>
            <a:off x="9902952" y="3566160"/>
            <a:ext cx="457200" cy="457200"/>
          </a:xfrm>
          <a:prstGeom prst="ellipse">
            <a:avLst/>
          </a:prstGeom>
          <a:solidFill>
            <a:srgbClr val="EEF1F4"/>
          </a:solidFill>
          <a:ln w="12700">
            <a:solidFill>
              <a:srgbClr val="52514E"/>
            </a:solidFill>
            <a:prstDash val="solid"/>
          </a:ln>
        </p:spPr>
      </p:sp>
      <p:sp>
        <p:nvSpPr>
          <p:cNvPr id="65" name="tray out"/>
          <p:cNvSpPr/>
          <p:nvPr/>
        </p:nvSpPr>
        <p:spPr>
          <a:xfrm>
            <a:off x="10497312" y="3730752"/>
            <a:ext cx="777240" cy="292608"/>
          </a:xfrm>
          <a:prstGeom prst="rect">
            <a:avLst/>
          </a:prstGeom>
          <a:solidFill>
            <a:srgbClr val="EEF1F4"/>
          </a:solidFill>
          <a:ln w="12700">
            <a:solidFill>
              <a:srgbClr val="52514E"/>
            </a:solidFill>
            <a:prstDash val="solid"/>
          </a:ln>
        </p:spPr>
      </p:sp>
      <p:sp>
        <p:nvSpPr>
          <p:cNvPr id="66" name="anchor 0"/>
          <p:cNvSpPr/>
          <p:nvPr/>
        </p:nvSpPr>
        <p:spPr>
          <a:xfrm>
            <a:off x="6885432" y="2240280"/>
            <a:ext cx="164592" cy="146304"/>
          </a:xfrm>
          <a:prstGeom prst="rect">
            <a:avLst/>
          </a:prstGeom>
          <a:solidFill>
            <a:srgbClr val="1F2933"/>
          </a:solidFill>
          <a:ln/>
        </p:spPr>
      </p:sp>
      <p:sp>
        <p:nvSpPr>
          <p:cNvPr id="67" name="rod 0"/>
          <p:cNvSpPr/>
          <p:nvPr/>
        </p:nvSpPr>
        <p:spPr>
          <a:xfrm>
            <a:off x="6949440" y="2350008"/>
            <a:ext cx="36576" cy="1673352"/>
          </a:xfrm>
          <a:prstGeom prst="rect">
            <a:avLst/>
          </a:prstGeom>
          <a:solidFill>
            <a:srgbClr val="1F2933"/>
          </a:solidFill>
          <a:ln/>
        </p:spPr>
      </p:sp>
      <p:sp>
        <p:nvSpPr>
          <p:cNvPr id="68" name="anchor 1"/>
          <p:cNvSpPr/>
          <p:nvPr/>
        </p:nvSpPr>
        <p:spPr>
          <a:xfrm>
            <a:off x="11237976" y="2240280"/>
            <a:ext cx="164592" cy="146304"/>
          </a:xfrm>
          <a:prstGeom prst="rect">
            <a:avLst/>
          </a:prstGeom>
          <a:solidFill>
            <a:srgbClr val="1F2933"/>
          </a:solidFill>
          <a:ln/>
        </p:spPr>
      </p:sp>
      <p:sp>
        <p:nvSpPr>
          <p:cNvPr id="69" name="rod 1"/>
          <p:cNvSpPr/>
          <p:nvPr/>
        </p:nvSpPr>
        <p:spPr>
          <a:xfrm>
            <a:off x="11301984" y="2350008"/>
            <a:ext cx="36576" cy="1673352"/>
          </a:xfrm>
          <a:prstGeom prst="rect">
            <a:avLst/>
          </a:prstGeom>
          <a:solidFill>
            <a:srgbClr val="1F2933"/>
          </a:solidFill>
          <a:ln/>
        </p:spPr>
      </p:sp>
      <p:sp>
        <p:nvSpPr>
          <p:cNvPr id="70" name="channel"/>
          <p:cNvSpPr/>
          <p:nvPr/>
        </p:nvSpPr>
        <p:spPr>
          <a:xfrm>
            <a:off x="6839712" y="4023360"/>
            <a:ext cx="4572000" cy="91440"/>
          </a:xfrm>
          <a:prstGeom prst="rect">
            <a:avLst/>
          </a:prstGeom>
          <a:solidFill>
            <a:srgbClr val="1F2933"/>
          </a:solidFill>
          <a:ln/>
        </p:spPr>
      </p:sp>
      <p:sp>
        <p:nvSpPr>
          <p:cNvPr id="71" name="clamp a"/>
          <p:cNvSpPr/>
          <p:nvPr/>
        </p:nvSpPr>
        <p:spPr>
          <a:xfrm>
            <a:off x="8851392" y="3246120"/>
            <a:ext cx="822960" cy="822960"/>
          </a:xfrm>
          <a:prstGeom prst="ellipse">
            <a:avLst/>
          </a:prstGeom>
          <a:ln w="38100">
            <a:solidFill>
              <a:srgbClr val="1F2933"/>
            </a:solidFill>
            <a:prstDash val="solid"/>
          </a:ln>
        </p:spPr>
      </p:sp>
      <p:sp>
        <p:nvSpPr>
          <p:cNvPr id="72" name="clamp b"/>
          <p:cNvSpPr/>
          <p:nvPr/>
        </p:nvSpPr>
        <p:spPr>
          <a:xfrm>
            <a:off x="9857232" y="3520440"/>
            <a:ext cx="548640" cy="548640"/>
          </a:xfrm>
          <a:prstGeom prst="ellipse">
            <a:avLst/>
          </a:prstGeom>
          <a:ln w="38100">
            <a:solidFill>
              <a:srgbClr val="1F2933"/>
            </a:solidFill>
            <a:prstDash val="solid"/>
          </a:ln>
        </p:spPr>
      </p:sp>
      <p:sp>
        <p:nvSpPr>
          <p:cNvPr id="73" name="label anchor"/>
          <p:cNvSpPr txBox="1"/>
          <p:nvPr/>
        </p:nvSpPr>
        <p:spPr>
          <a:xfrm>
            <a:off x="7159752" y="2368296"/>
            <a:ext cx="1097280" cy="237744"/>
          </a:xfrm>
          <a:prstGeom prst="rect">
            <a:avLst/>
          </a:prstGeom>
          <a:noFill/>
          <a:ln/>
        </p:spPr>
        <p:txBody>
          <a:bodyPr wrap="square" lIns="0" tIns="0" rIns="0" bIns="0" rtlCol="0" anchor="ctr"/>
          <a:lstStyle/>
          <a:p>
            <a:pPr algn="l" indent="0" marL="0">
              <a:buNone/>
            </a:pPr>
            <a:r>
              <a:rPr lang="en-US" sz="1050" dirty="0">
                <a:solidFill>
                  <a:srgbClr val="52514E"/>
                </a:solidFill>
              </a:rPr>
              <a:t>anchor</a:t>
            </a:r>
            <a:endParaRPr lang="en-US" sz="1050" dirty="0"/>
          </a:p>
        </p:txBody>
      </p:sp>
      <p:sp>
        <p:nvSpPr>
          <p:cNvPr id="74" name="label rod"/>
          <p:cNvSpPr txBox="1"/>
          <p:nvPr/>
        </p:nvSpPr>
        <p:spPr>
          <a:xfrm>
            <a:off x="9994392" y="3218688"/>
            <a:ext cx="1234440" cy="237744"/>
          </a:xfrm>
          <a:prstGeom prst="rect">
            <a:avLst/>
          </a:prstGeom>
          <a:noFill/>
          <a:ln/>
        </p:spPr>
        <p:txBody>
          <a:bodyPr wrap="square" lIns="0" tIns="0" rIns="0" bIns="0" rtlCol="0" anchor="ctr"/>
          <a:lstStyle/>
          <a:p>
            <a:pPr algn="r" indent="0" marL="0">
              <a:buNone/>
            </a:pPr>
            <a:r>
              <a:rPr lang="en-US" sz="1050" dirty="0">
                <a:solidFill>
                  <a:srgbClr val="52514E"/>
                </a:solidFill>
              </a:rPr>
              <a:t>threaded rod</a:t>
            </a:r>
            <a:endParaRPr lang="en-US" sz="1050" dirty="0"/>
          </a:p>
        </p:txBody>
      </p:sp>
      <p:sp>
        <p:nvSpPr>
          <p:cNvPr id="75" name="label clamps"/>
          <p:cNvSpPr txBox="1"/>
          <p:nvPr/>
        </p:nvSpPr>
        <p:spPr>
          <a:xfrm>
            <a:off x="8714232" y="4114800"/>
            <a:ext cx="1737360" cy="237744"/>
          </a:xfrm>
          <a:prstGeom prst="rect">
            <a:avLst/>
          </a:prstGeom>
          <a:noFill/>
          <a:ln/>
        </p:spPr>
        <p:txBody>
          <a:bodyPr wrap="square" lIns="0" tIns="0" rIns="0" bIns="0" rtlCol="0" anchor="ctr"/>
          <a:lstStyle/>
          <a:p>
            <a:pPr algn="ctr" indent="0" marL="0">
              <a:buNone/>
            </a:pPr>
            <a:r>
              <a:rPr lang="en-US" sz="1050" dirty="0">
                <a:solidFill>
                  <a:srgbClr val="52514E"/>
                </a:solidFill>
              </a:rPr>
              <a:t>pipe clamps</a:t>
            </a:r>
            <a:endParaRPr lang="en-US" sz="1050" dirty="0"/>
          </a:p>
        </p:txBody>
      </p:sp>
      <p:sp>
        <p:nvSpPr>
          <p:cNvPr id="76" name="label channel"/>
          <p:cNvSpPr txBox="1"/>
          <p:nvPr/>
        </p:nvSpPr>
        <p:spPr>
          <a:xfrm>
            <a:off x="9902952" y="4114800"/>
            <a:ext cx="1463040" cy="237744"/>
          </a:xfrm>
          <a:prstGeom prst="rect">
            <a:avLst/>
          </a:prstGeom>
          <a:noFill/>
          <a:ln/>
        </p:spPr>
        <p:txBody>
          <a:bodyPr wrap="square" lIns="0" tIns="0" rIns="0" bIns="0" rtlCol="0" anchor="ctr"/>
          <a:lstStyle/>
          <a:p>
            <a:pPr algn="r" indent="0" marL="0">
              <a:buNone/>
            </a:pPr>
            <a:r>
              <a:rPr lang="en-US" sz="1050" dirty="0">
                <a:solidFill>
                  <a:srgbClr val="52514E"/>
                </a:solidFill>
              </a:rPr>
              <a:t>channel</a:t>
            </a:r>
            <a:endParaRPr lang="en-US" sz="1050" dirty="0"/>
          </a:p>
        </p:txBody>
      </p:sp>
      <p:sp>
        <p:nvSpPr>
          <p:cNvPr id="77" name="assembly name"/>
          <p:cNvSpPr txBox="1"/>
          <p:nvPr/>
        </p:nvSpPr>
        <p:spPr>
          <a:xfrm>
            <a:off x="8805672" y="2368296"/>
            <a:ext cx="2286000" cy="237744"/>
          </a:xfrm>
          <a:prstGeom prst="rect">
            <a:avLst/>
          </a:prstGeom>
          <a:noFill/>
          <a:ln/>
        </p:spPr>
        <p:txBody>
          <a:bodyPr wrap="square" lIns="0" tIns="0" rIns="0" bIns="0" rtlCol="0" anchor="ctr"/>
          <a:lstStyle/>
          <a:p>
            <a:pPr algn="r" indent="0" marL="0">
              <a:buNone/>
            </a:pPr>
            <a:r>
              <a:rPr lang="en-US" sz="1050" b="1" dirty="0">
                <a:solidFill>
                  <a:schemeClr val="tx1"/>
                </a:solidFill>
              </a:rPr>
              <a:t>Rod trapeze</a:t>
            </a:r>
            <a:endParaRPr lang="en-US" sz="1050" dirty="0"/>
          </a:p>
        </p:txBody>
      </p:sp>
      <p:sp>
        <p:nvSpPr>
          <p:cNvPr id="78" name="check statics"/>
          <p:cNvSpPr/>
          <p:nvPr/>
        </p:nvSpPr>
        <p:spPr>
          <a:xfrm>
            <a:off x="6839712" y="5010912"/>
            <a:ext cx="1074420" cy="329184"/>
          </a:xfrm>
          <a:prstGeom prst="roundRect">
            <a:avLst>
              <a:gd name="adj" fmla="val 50000"/>
            </a:avLst>
          </a:prstGeom>
          <a:solidFill>
            <a:srgbClr val="EAF5EE"/>
          </a:solidFill>
          <a:ln/>
        </p:spPr>
      </p:sp>
      <p:sp>
        <p:nvSpPr>
          <p:cNvPr id="79" name="check text statics"/>
          <p:cNvSpPr txBox="1"/>
          <p:nvPr/>
        </p:nvSpPr>
        <p:spPr>
          <a:xfrm>
            <a:off x="6839712" y="5010912"/>
            <a:ext cx="1074420" cy="329184"/>
          </a:xfrm>
          <a:prstGeom prst="rect">
            <a:avLst/>
          </a:prstGeom>
          <a:noFill/>
          <a:ln/>
        </p:spPr>
        <p:txBody>
          <a:bodyPr wrap="square" lIns="0" tIns="0" rIns="0" bIns="0" rtlCol="0" anchor="ctr"/>
          <a:lstStyle/>
          <a:p>
            <a:pPr algn="ctr" indent="0" marL="0">
              <a:buNone/>
            </a:pPr>
            <a:r>
              <a:rPr lang="en-US" sz="1100" b="1" dirty="0">
                <a:solidFill>
                  <a:srgbClr val="008300"/>
                </a:solidFill>
              </a:rPr>
              <a:t>✓ statics</a:t>
            </a:r>
            <a:endParaRPr lang="en-US" sz="1100" dirty="0"/>
          </a:p>
        </p:txBody>
      </p:sp>
      <p:sp>
        <p:nvSpPr>
          <p:cNvPr id="80" name="check anchors"/>
          <p:cNvSpPr/>
          <p:nvPr/>
        </p:nvSpPr>
        <p:spPr>
          <a:xfrm>
            <a:off x="8005572" y="5010912"/>
            <a:ext cx="1074420" cy="329184"/>
          </a:xfrm>
          <a:prstGeom prst="roundRect">
            <a:avLst>
              <a:gd name="adj" fmla="val 50000"/>
            </a:avLst>
          </a:prstGeom>
          <a:solidFill>
            <a:srgbClr val="EAF5EE"/>
          </a:solidFill>
          <a:ln/>
        </p:spPr>
      </p:sp>
      <p:sp>
        <p:nvSpPr>
          <p:cNvPr id="81" name="check text anchors"/>
          <p:cNvSpPr txBox="1"/>
          <p:nvPr/>
        </p:nvSpPr>
        <p:spPr>
          <a:xfrm>
            <a:off x="8005572" y="5010912"/>
            <a:ext cx="1074420" cy="329184"/>
          </a:xfrm>
          <a:prstGeom prst="rect">
            <a:avLst/>
          </a:prstGeom>
          <a:noFill/>
          <a:ln/>
        </p:spPr>
        <p:txBody>
          <a:bodyPr wrap="square" lIns="0" tIns="0" rIns="0" bIns="0" rtlCol="0" anchor="ctr"/>
          <a:lstStyle/>
          <a:p>
            <a:pPr algn="ctr" indent="0" marL="0">
              <a:buNone/>
            </a:pPr>
            <a:r>
              <a:rPr lang="en-US" sz="1100" b="1" dirty="0">
                <a:solidFill>
                  <a:srgbClr val="008300"/>
                </a:solidFill>
              </a:rPr>
              <a:t>✓ anchors</a:t>
            </a:r>
            <a:endParaRPr lang="en-US" sz="1100" dirty="0"/>
          </a:p>
        </p:txBody>
      </p:sp>
      <p:sp>
        <p:nvSpPr>
          <p:cNvPr id="82" name="check connectors"/>
          <p:cNvSpPr/>
          <p:nvPr/>
        </p:nvSpPr>
        <p:spPr>
          <a:xfrm>
            <a:off x="9171432" y="5010912"/>
            <a:ext cx="1074420" cy="329184"/>
          </a:xfrm>
          <a:prstGeom prst="roundRect">
            <a:avLst>
              <a:gd name="adj" fmla="val 50000"/>
            </a:avLst>
          </a:prstGeom>
          <a:solidFill>
            <a:srgbClr val="EAF5EE"/>
          </a:solidFill>
          <a:ln/>
        </p:spPr>
      </p:sp>
      <p:sp>
        <p:nvSpPr>
          <p:cNvPr id="83" name="check text connectors"/>
          <p:cNvSpPr txBox="1"/>
          <p:nvPr/>
        </p:nvSpPr>
        <p:spPr>
          <a:xfrm>
            <a:off x="9171432" y="5010912"/>
            <a:ext cx="1074420" cy="329184"/>
          </a:xfrm>
          <a:prstGeom prst="rect">
            <a:avLst/>
          </a:prstGeom>
          <a:noFill/>
          <a:ln/>
        </p:spPr>
        <p:txBody>
          <a:bodyPr wrap="square" lIns="0" tIns="0" rIns="0" bIns="0" rtlCol="0" anchor="ctr"/>
          <a:lstStyle/>
          <a:p>
            <a:pPr algn="ctr" indent="0" marL="0">
              <a:buNone/>
            </a:pPr>
            <a:r>
              <a:rPr lang="en-US" sz="1100" b="1" dirty="0">
                <a:solidFill>
                  <a:srgbClr val="008300"/>
                </a:solidFill>
              </a:rPr>
              <a:t>✓ connectors</a:t>
            </a:r>
            <a:endParaRPr lang="en-US" sz="1100" dirty="0"/>
          </a:p>
        </p:txBody>
      </p:sp>
      <p:sp>
        <p:nvSpPr>
          <p:cNvPr id="84" name="check buildable"/>
          <p:cNvSpPr/>
          <p:nvPr/>
        </p:nvSpPr>
        <p:spPr>
          <a:xfrm>
            <a:off x="10337292" y="5010912"/>
            <a:ext cx="1074420" cy="329184"/>
          </a:xfrm>
          <a:prstGeom prst="roundRect">
            <a:avLst>
              <a:gd name="adj" fmla="val 50000"/>
            </a:avLst>
          </a:prstGeom>
          <a:solidFill>
            <a:srgbClr val="EAF5EE"/>
          </a:solidFill>
          <a:ln/>
        </p:spPr>
      </p:sp>
      <p:sp>
        <p:nvSpPr>
          <p:cNvPr id="85" name="check text buildable"/>
          <p:cNvSpPr txBox="1"/>
          <p:nvPr/>
        </p:nvSpPr>
        <p:spPr>
          <a:xfrm>
            <a:off x="10337292" y="5010912"/>
            <a:ext cx="1074420" cy="329184"/>
          </a:xfrm>
          <a:prstGeom prst="rect">
            <a:avLst/>
          </a:prstGeom>
          <a:noFill/>
          <a:ln/>
        </p:spPr>
        <p:txBody>
          <a:bodyPr wrap="square" lIns="0" tIns="0" rIns="0" bIns="0" rtlCol="0" anchor="ctr"/>
          <a:lstStyle/>
          <a:p>
            <a:pPr algn="ctr" indent="0" marL="0">
              <a:buNone/>
            </a:pPr>
            <a:r>
              <a:rPr lang="en-US" sz="1100" b="1" dirty="0">
                <a:solidFill>
                  <a:srgbClr val="008300"/>
                </a:solidFill>
              </a:rPr>
              <a:t>✓ buildable</a:t>
            </a:r>
            <a:endParaRPr lang="en-US" sz="1100" dirty="0"/>
          </a:p>
        </p:txBody>
      </p:sp>
      <p:sp>
        <p:nvSpPr>
          <p:cNvPr id="86"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The synthesis problem as defined at ISARC 2026 [1].   [1] Pedrollo, Graeber &amp; Fischer (2026), Feasibility-aware sequential synthesis of structural support assemblies, ISARC 2026</a:t>
            </a:r>
            <a:endParaRPr lang="en-US" sz="900" dirty="0"/>
          </a:p>
        </p:txBody>
      </p:sp>
      <p:sp>
        <p:nvSpPr>
          <p:cNvPr id="87"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Existing tools coordinate and verify modular support assemblies, but their synthesis remains manual because it relies on tacit engineering expertise and complex catalog-driven rules</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learning method needs thousands of contexts to practise on, and real projects give too few, so we generate them</a:t>
            </a:r>
            <a:endParaRPr lang="en-US" sz="2600" dirty="0"/>
          </a:p>
        </p:txBody>
      </p:sp>
      <p:sp>
        <p:nvSpPr>
          <p:cNvPr id="3" name="loop heading"/>
          <p:cNvSpPr txBox="1"/>
          <p:nvPr/>
        </p:nvSpPr>
        <p:spPr>
          <a:xfrm>
            <a:off x="548640" y="1325880"/>
            <a:ext cx="4572000" cy="274320"/>
          </a:xfrm>
          <a:prstGeom prst="rect">
            <a:avLst/>
          </a:prstGeom>
          <a:noFill/>
          <a:ln/>
        </p:spPr>
        <p:txBody>
          <a:bodyPr wrap="square" lIns="0" tIns="0" rIns="0" bIns="0" rtlCol="0" anchor="ctr"/>
          <a:lstStyle/>
          <a:p>
            <a:pPr indent="0" marL="0">
              <a:buNone/>
            </a:pPr>
            <a:r>
              <a:rPr lang="en-US" sz="1200" b="1" dirty="0">
                <a:solidFill>
                  <a:srgbClr val="52514E"/>
                </a:solidFill>
              </a:rPr>
              <a:t>How a learning method learns, round after round</a:t>
            </a:r>
            <a:endParaRPr lang="en-US" sz="1200" dirty="0"/>
          </a:p>
        </p:txBody>
      </p:sp>
      <p:sp>
        <p:nvSpPr>
          <p:cNvPr id="4" name="box context"/>
          <p:cNvSpPr/>
          <p:nvPr/>
        </p:nvSpPr>
        <p:spPr>
          <a:xfrm>
            <a:off x="548640" y="1783080"/>
            <a:ext cx="2103120" cy="1371600"/>
          </a:xfrm>
          <a:prstGeom prst="roundRect">
            <a:avLst>
              <a:gd name="adj" fmla="val 4000"/>
            </a:avLst>
          </a:prstGeom>
          <a:solidFill>
            <a:schemeClr val="bg2"/>
          </a:solidFill>
          <a:ln w="19050">
            <a:solidFill>
              <a:schemeClr val="accent1"/>
            </a:solidFill>
            <a:prstDash val="solid"/>
          </a:ln>
        </p:spPr>
      </p:sp>
      <p:sp>
        <p:nvSpPr>
          <p:cNvPr id="5" name="mini card loop context"/>
          <p:cNvSpPr/>
          <p:nvPr/>
        </p:nvSpPr>
        <p:spPr>
          <a:xfrm>
            <a:off x="1005840" y="1892808"/>
            <a:ext cx="1188720" cy="475488"/>
          </a:xfrm>
          <a:prstGeom prst="rect">
            <a:avLst/>
          </a:prstGeom>
          <a:solidFill>
            <a:srgbClr val="FFFFFF"/>
          </a:solidFill>
          <a:ln w="6350">
            <a:solidFill>
              <a:srgbClr val="898781"/>
            </a:solidFill>
            <a:prstDash val="solid"/>
          </a:ln>
        </p:spPr>
      </p:sp>
      <p:sp>
        <p:nvSpPr>
          <p:cNvPr id="6" name="mini slab loop context"/>
          <p:cNvSpPr/>
          <p:nvPr/>
        </p:nvSpPr>
        <p:spPr>
          <a:xfrm>
            <a:off x="1051560" y="1938528"/>
            <a:ext cx="1097280" cy="32004"/>
          </a:xfrm>
          <a:prstGeom prst="rect">
            <a:avLst/>
          </a:prstGeom>
          <a:solidFill>
            <a:srgbClr val="52514E"/>
          </a:solidFill>
          <a:ln/>
        </p:spPr>
      </p:sp>
      <p:sp>
        <p:nvSpPr>
          <p:cNvPr id="7" name="mini loop context 0"/>
          <p:cNvSpPr/>
          <p:nvPr/>
        </p:nvSpPr>
        <p:spPr>
          <a:xfrm>
            <a:off x="1202436" y="2002536"/>
            <a:ext cx="137160" cy="100584"/>
          </a:xfrm>
          <a:prstGeom prst="rect">
            <a:avLst/>
          </a:prstGeom>
          <a:solidFill>
            <a:schemeClr val="accent1"/>
          </a:solidFill>
          <a:ln w="5080">
            <a:solidFill>
              <a:srgbClr val="FFFFFF"/>
            </a:solidFill>
            <a:prstDash val="solid"/>
          </a:ln>
        </p:spPr>
      </p:sp>
      <p:sp>
        <p:nvSpPr>
          <p:cNvPr id="8" name="mini loop context 1"/>
          <p:cNvSpPr/>
          <p:nvPr/>
        </p:nvSpPr>
        <p:spPr>
          <a:xfrm>
            <a:off x="1449324" y="2011680"/>
            <a:ext cx="82296" cy="82296"/>
          </a:xfrm>
          <a:prstGeom prst="ellipse">
            <a:avLst/>
          </a:prstGeom>
          <a:solidFill>
            <a:schemeClr val="accent1"/>
          </a:solidFill>
          <a:ln w="5080">
            <a:solidFill>
              <a:srgbClr val="FFFFFF"/>
            </a:solidFill>
            <a:prstDash val="solid"/>
          </a:ln>
        </p:spPr>
      </p:sp>
      <p:sp>
        <p:nvSpPr>
          <p:cNvPr id="9" name="mini loop context 2"/>
          <p:cNvSpPr/>
          <p:nvPr/>
        </p:nvSpPr>
        <p:spPr>
          <a:xfrm>
            <a:off x="1668780" y="2011680"/>
            <a:ext cx="82296" cy="82296"/>
          </a:xfrm>
          <a:prstGeom prst="ellipse">
            <a:avLst/>
          </a:prstGeom>
          <a:solidFill>
            <a:schemeClr val="accent1"/>
          </a:solidFill>
          <a:ln w="5080">
            <a:solidFill>
              <a:srgbClr val="FFFFFF"/>
            </a:solidFill>
            <a:prstDash val="solid"/>
          </a:ln>
        </p:spPr>
      </p:sp>
      <p:sp>
        <p:nvSpPr>
          <p:cNvPr id="10" name="mini loop context 3"/>
          <p:cNvSpPr/>
          <p:nvPr/>
        </p:nvSpPr>
        <p:spPr>
          <a:xfrm>
            <a:off x="1874520" y="2029968"/>
            <a:ext cx="109728" cy="45720"/>
          </a:xfrm>
          <a:prstGeom prst="rect">
            <a:avLst/>
          </a:prstGeom>
          <a:solidFill>
            <a:schemeClr val="accent1"/>
          </a:solidFill>
          <a:ln w="5080">
            <a:solidFill>
              <a:srgbClr val="FFFFFF"/>
            </a:solidFill>
            <a:prstDash val="solid"/>
          </a:ln>
        </p:spPr>
      </p:sp>
      <p:sp>
        <p:nvSpPr>
          <p:cNvPr id="11" name="text context"/>
          <p:cNvSpPr txBox="1"/>
          <p:nvPr/>
        </p:nvSpPr>
        <p:spPr>
          <a:xfrm>
            <a:off x="54864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Context</a:t>
            </a:r>
            <a:endParaRPr lang="en-US" sz="1400" dirty="0"/>
          </a:p>
          <a:p>
            <a:pPr algn="ctr" indent="0" marL="0">
              <a:buNone/>
            </a:pPr>
            <a:r>
              <a:rPr lang="en-US" sz="1100" dirty="0">
                <a:solidFill>
                  <a:srgbClr val="52514E"/>
                </a:solidFill>
              </a:rPr>
              <a:t>one section at a hanger, without the answer</a:t>
            </a:r>
            <a:endParaRPr lang="en-US" sz="1400" dirty="0"/>
          </a:p>
        </p:txBody>
      </p:sp>
      <p:sp>
        <p:nvSpPr>
          <p:cNvPr id="12" name="black box method"/>
          <p:cNvSpPr/>
          <p:nvPr/>
        </p:nvSpPr>
        <p:spPr>
          <a:xfrm>
            <a:off x="3246120" y="1783080"/>
            <a:ext cx="2468880" cy="1371600"/>
          </a:xfrm>
          <a:prstGeom prst="roundRect">
            <a:avLst>
              <a:gd name="adj" fmla="val 4000"/>
            </a:avLst>
          </a:prstGeom>
          <a:solidFill>
            <a:srgbClr val="0B0B0B"/>
          </a:solidFill>
          <a:ln/>
        </p:spPr>
      </p:sp>
      <p:pic>
        <p:nvPicPr>
          <p:cNvPr id="13" name="icon method" descr="preencoded.png">    </p:cNvPr>
          <p:cNvPicPr>
            <a:picLocks noChangeAspect="1"/>
          </p:cNvPicPr>
          <p:nvPr/>
        </p:nvPicPr>
        <p:blipFill>
          <a:blip r:embed="rId1"/>
          <a:stretch>
            <a:fillRect/>
          </a:stretch>
        </p:blipFill>
        <p:spPr>
          <a:xfrm>
            <a:off x="4251960" y="1911096"/>
            <a:ext cx="457200" cy="457200"/>
          </a:xfrm>
          <a:prstGeom prst="rect">
            <a:avLst/>
          </a:prstGeom>
        </p:spPr>
      </p:pic>
      <p:sp>
        <p:nvSpPr>
          <p:cNvPr id="14" name="text method"/>
          <p:cNvSpPr txBox="1"/>
          <p:nvPr/>
        </p:nvSpPr>
        <p:spPr>
          <a:xfrm>
            <a:off x="3246120" y="2404872"/>
            <a:ext cx="2468880" cy="731520"/>
          </a:xfrm>
          <a:prstGeom prst="rect">
            <a:avLst/>
          </a:prstGeom>
          <a:noFill/>
          <a:ln/>
        </p:spPr>
        <p:txBody>
          <a:bodyPr wrap="square" lIns="762" tIns="762" rIns="762" bIns="762" rtlCol="0" anchor="t"/>
          <a:lstStyle/>
          <a:p>
            <a:pPr algn="ctr" indent="0" marL="0">
              <a:buNone/>
            </a:pPr>
            <a:r>
              <a:rPr lang="en-US" sz="1400" b="1" dirty="0">
                <a:solidFill>
                  <a:srgbClr val="FFFFFF"/>
                </a:solidFill>
              </a:rPr>
              <a:t>Learning method</a:t>
            </a:r>
            <a:endParaRPr lang="en-US" sz="1400" dirty="0"/>
          </a:p>
          <a:p>
            <a:pPr algn="ctr" indent="0" marL="0">
              <a:buNone/>
            </a:pPr>
            <a:r>
              <a:rPr lang="en-US" sz="1100" dirty="0">
                <a:solidFill>
                  <a:srgbClr val="CADCFC"/>
                </a:solidFill>
              </a:rPr>
              <a:t>a black box that proposes a design</a:t>
            </a:r>
            <a:endParaRPr lang="en-US" sz="1400" dirty="0"/>
          </a:p>
        </p:txBody>
      </p:sp>
      <p:sp>
        <p:nvSpPr>
          <p:cNvPr id="15" name="arrow context to method"/>
          <p:cNvSpPr/>
          <p:nvPr/>
        </p:nvSpPr>
        <p:spPr>
          <a:xfrm>
            <a:off x="2651760" y="2468880"/>
            <a:ext cx="594360" cy="0"/>
          </a:xfrm>
          <a:prstGeom prst="line">
            <a:avLst/>
          </a:prstGeom>
          <a:noFill/>
          <a:ln w="19050">
            <a:solidFill>
              <a:srgbClr val="52514E"/>
            </a:solidFill>
            <a:prstDash val="solid"/>
            <a:tailEnd type="triangle"/>
          </a:ln>
        </p:spPr>
      </p:sp>
      <p:sp>
        <p:nvSpPr>
          <p:cNvPr id="16" name="box design"/>
          <p:cNvSpPr/>
          <p:nvPr/>
        </p:nvSpPr>
        <p:spPr>
          <a:xfrm>
            <a:off x="6309360" y="1783080"/>
            <a:ext cx="2103120" cy="1371600"/>
          </a:xfrm>
          <a:prstGeom prst="roundRect">
            <a:avLst>
              <a:gd name="adj" fmla="val 4000"/>
            </a:avLst>
          </a:prstGeom>
          <a:solidFill>
            <a:schemeClr val="bg2"/>
          </a:solidFill>
          <a:ln w="12700">
            <a:solidFill>
              <a:srgbClr val="52514E"/>
            </a:solidFill>
            <a:prstDash val="solid"/>
          </a:ln>
        </p:spPr>
      </p:sp>
      <p:sp>
        <p:nvSpPr>
          <p:cNvPr id="17" name="mini out slab"/>
          <p:cNvSpPr/>
          <p:nvPr/>
        </p:nvSpPr>
        <p:spPr>
          <a:xfrm>
            <a:off x="6903720" y="1911096"/>
            <a:ext cx="914400" cy="73152"/>
          </a:xfrm>
          <a:prstGeom prst="rect">
            <a:avLst/>
          </a:prstGeom>
          <a:solidFill>
            <a:srgbClr val="EEF1F4"/>
          </a:solidFill>
          <a:ln w="6350">
            <a:solidFill>
              <a:srgbClr val="52514E"/>
            </a:solidFill>
            <a:prstDash val="solid"/>
          </a:ln>
        </p:spPr>
      </p:sp>
      <p:sp>
        <p:nvSpPr>
          <p:cNvPr id="18" name="mini rod 0"/>
          <p:cNvSpPr/>
          <p:nvPr/>
        </p:nvSpPr>
        <p:spPr>
          <a:xfrm>
            <a:off x="6976872" y="1984248"/>
            <a:ext cx="27432" cy="347472"/>
          </a:xfrm>
          <a:prstGeom prst="rect">
            <a:avLst/>
          </a:prstGeom>
          <a:solidFill>
            <a:srgbClr val="1F2933"/>
          </a:solidFill>
          <a:ln/>
        </p:spPr>
      </p:sp>
      <p:sp>
        <p:nvSpPr>
          <p:cNvPr id="19" name="mini rod 1"/>
          <p:cNvSpPr/>
          <p:nvPr/>
        </p:nvSpPr>
        <p:spPr>
          <a:xfrm>
            <a:off x="7717536" y="1984248"/>
            <a:ext cx="27432" cy="347472"/>
          </a:xfrm>
          <a:prstGeom prst="rect">
            <a:avLst/>
          </a:prstGeom>
          <a:solidFill>
            <a:srgbClr val="1F2933"/>
          </a:solidFill>
          <a:ln/>
        </p:spPr>
      </p:sp>
      <p:sp>
        <p:nvSpPr>
          <p:cNvPr id="20" name="mini bar"/>
          <p:cNvSpPr/>
          <p:nvPr/>
        </p:nvSpPr>
        <p:spPr>
          <a:xfrm>
            <a:off x="6903720" y="2313432"/>
            <a:ext cx="914400" cy="36576"/>
          </a:xfrm>
          <a:prstGeom prst="rect">
            <a:avLst/>
          </a:prstGeom>
          <a:solidFill>
            <a:srgbClr val="1F2933"/>
          </a:solidFill>
          <a:ln/>
        </p:spPr>
      </p:sp>
      <p:sp>
        <p:nvSpPr>
          <p:cNvPr id="21" name="mini out pipe a"/>
          <p:cNvSpPr/>
          <p:nvPr/>
        </p:nvSpPr>
        <p:spPr>
          <a:xfrm>
            <a:off x="7132320" y="2130552"/>
            <a:ext cx="182880" cy="182880"/>
          </a:xfrm>
          <a:prstGeom prst="ellipse">
            <a:avLst/>
          </a:prstGeom>
          <a:solidFill>
            <a:srgbClr val="FFFFFF"/>
          </a:solidFill>
          <a:ln w="9525">
            <a:solidFill>
              <a:srgbClr val="52514E"/>
            </a:solidFill>
            <a:prstDash val="solid"/>
          </a:ln>
        </p:spPr>
      </p:sp>
      <p:sp>
        <p:nvSpPr>
          <p:cNvPr id="22" name="mini out pipe b"/>
          <p:cNvSpPr/>
          <p:nvPr/>
        </p:nvSpPr>
        <p:spPr>
          <a:xfrm>
            <a:off x="7406640" y="2176272"/>
            <a:ext cx="137160" cy="137160"/>
          </a:xfrm>
          <a:prstGeom prst="ellipse">
            <a:avLst/>
          </a:prstGeom>
          <a:solidFill>
            <a:srgbClr val="FFFFFF"/>
          </a:solidFill>
          <a:ln w="9525">
            <a:solidFill>
              <a:srgbClr val="52514E"/>
            </a:solidFill>
            <a:prstDash val="solid"/>
          </a:ln>
        </p:spPr>
      </p:sp>
      <p:sp>
        <p:nvSpPr>
          <p:cNvPr id="23" name="text design"/>
          <p:cNvSpPr txBox="1"/>
          <p:nvPr/>
        </p:nvSpPr>
        <p:spPr>
          <a:xfrm>
            <a:off x="630936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Proposed design</a:t>
            </a:r>
            <a:endParaRPr lang="en-US" sz="1400" dirty="0"/>
          </a:p>
          <a:p>
            <a:pPr algn="ctr" indent="0" marL="0">
              <a:buNone/>
            </a:pPr>
            <a:r>
              <a:rPr lang="en-US" sz="1100" dirty="0">
                <a:solidFill>
                  <a:srgbClr val="52514E"/>
                </a:solidFill>
              </a:rPr>
              <a:t>an assembly: channel, rods, clamps, anchors</a:t>
            </a:r>
            <a:endParaRPr lang="en-US" sz="1400" dirty="0"/>
          </a:p>
        </p:txBody>
      </p:sp>
      <p:sp>
        <p:nvSpPr>
          <p:cNvPr id="24" name="arrow method to design"/>
          <p:cNvSpPr/>
          <p:nvPr/>
        </p:nvSpPr>
        <p:spPr>
          <a:xfrm>
            <a:off x="5715000" y="2468880"/>
            <a:ext cx="594360" cy="0"/>
          </a:xfrm>
          <a:prstGeom prst="line">
            <a:avLst/>
          </a:prstGeom>
          <a:noFill/>
          <a:ln w="19050">
            <a:solidFill>
              <a:srgbClr val="52514E"/>
            </a:solidFill>
            <a:prstDash val="solid"/>
            <a:tailEnd type="triangle"/>
          </a:ln>
        </p:spPr>
      </p:sp>
      <p:sp>
        <p:nvSpPr>
          <p:cNvPr id="25" name="box check"/>
          <p:cNvSpPr/>
          <p:nvPr/>
        </p:nvSpPr>
        <p:spPr>
          <a:xfrm>
            <a:off x="9006840" y="1783080"/>
            <a:ext cx="2633472" cy="1371600"/>
          </a:xfrm>
          <a:prstGeom prst="roundRect">
            <a:avLst>
              <a:gd name="adj" fmla="val 4000"/>
            </a:avLst>
          </a:prstGeom>
          <a:solidFill>
            <a:srgbClr val="EAF5EE"/>
          </a:solidFill>
          <a:ln w="19050">
            <a:solidFill>
              <a:srgbClr val="008300"/>
            </a:solidFill>
            <a:prstDash val="solid"/>
          </a:ln>
        </p:spPr>
      </p:sp>
      <p:pic>
        <p:nvPicPr>
          <p:cNvPr id="26" name="icon check" descr="preencoded.png">    </p:cNvPr>
          <p:cNvPicPr>
            <a:picLocks noChangeAspect="1"/>
          </p:cNvPicPr>
          <p:nvPr/>
        </p:nvPicPr>
        <p:blipFill>
          <a:blip r:embed="rId2"/>
          <a:stretch>
            <a:fillRect/>
          </a:stretch>
        </p:blipFill>
        <p:spPr>
          <a:xfrm>
            <a:off x="10094976" y="1911096"/>
            <a:ext cx="457200" cy="457200"/>
          </a:xfrm>
          <a:prstGeom prst="rect">
            <a:avLst/>
          </a:prstGeom>
        </p:spPr>
      </p:pic>
      <p:sp>
        <p:nvSpPr>
          <p:cNvPr id="27" name="text check"/>
          <p:cNvSpPr txBox="1"/>
          <p:nvPr/>
        </p:nvSpPr>
        <p:spPr>
          <a:xfrm>
            <a:off x="9006840" y="2404872"/>
            <a:ext cx="2633472"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Check</a:t>
            </a:r>
            <a:endParaRPr lang="en-US" sz="1400" dirty="0"/>
          </a:p>
          <a:p>
            <a:pPr algn="ctr" indent="0" marL="0">
              <a:buNone/>
            </a:pPr>
            <a:r>
              <a:rPr lang="en-US" sz="1100" dirty="0">
                <a:solidFill>
                  <a:srgbClr val="52514E"/>
                </a:solidFill>
              </a:rPr>
              <a:t>statics, anchors, connectors, buildability, cost</a:t>
            </a:r>
            <a:endParaRPr lang="en-US" sz="1400" dirty="0"/>
          </a:p>
        </p:txBody>
      </p:sp>
      <p:sp>
        <p:nvSpPr>
          <p:cNvPr id="28" name="arrow design to check"/>
          <p:cNvSpPr/>
          <p:nvPr/>
        </p:nvSpPr>
        <p:spPr>
          <a:xfrm>
            <a:off x="8412480" y="2468880"/>
            <a:ext cx="594360" cy="0"/>
          </a:xfrm>
          <a:prstGeom prst="line">
            <a:avLst/>
          </a:prstGeom>
          <a:noFill/>
          <a:ln w="19050">
            <a:solidFill>
              <a:srgbClr val="52514E"/>
            </a:solidFill>
            <a:prstDash val="solid"/>
            <a:tailEnd type="triangle"/>
          </a:ln>
        </p:spPr>
      </p:sp>
      <p:sp>
        <p:nvSpPr>
          <p:cNvPr id="29" name="feedback up"/>
          <p:cNvSpPr/>
          <p:nvPr/>
        </p:nvSpPr>
        <p:spPr>
          <a:xfrm>
            <a:off x="10323576" y="1600200"/>
            <a:ext cx="0" cy="182880"/>
          </a:xfrm>
          <a:prstGeom prst="line">
            <a:avLst/>
          </a:prstGeom>
          <a:noFill/>
          <a:ln w="19050">
            <a:solidFill>
              <a:srgbClr val="008300"/>
            </a:solidFill>
            <a:prstDash val="dash"/>
          </a:ln>
        </p:spPr>
      </p:sp>
      <p:sp>
        <p:nvSpPr>
          <p:cNvPr id="30" name="feedback across"/>
          <p:cNvSpPr/>
          <p:nvPr/>
        </p:nvSpPr>
        <p:spPr>
          <a:xfrm>
            <a:off x="4480560" y="1600200"/>
            <a:ext cx="5843016" cy="0"/>
          </a:xfrm>
          <a:prstGeom prst="line">
            <a:avLst/>
          </a:prstGeom>
          <a:noFill/>
          <a:ln w="19050">
            <a:solidFill>
              <a:srgbClr val="008300"/>
            </a:solidFill>
            <a:prstDash val="dash"/>
          </a:ln>
        </p:spPr>
      </p:sp>
      <p:sp>
        <p:nvSpPr>
          <p:cNvPr id="31" name="feedback down"/>
          <p:cNvSpPr/>
          <p:nvPr/>
        </p:nvSpPr>
        <p:spPr>
          <a:xfrm>
            <a:off x="4480560" y="1600200"/>
            <a:ext cx="0" cy="182880"/>
          </a:xfrm>
          <a:prstGeom prst="line">
            <a:avLst/>
          </a:prstGeom>
          <a:noFill/>
          <a:ln w="19050">
            <a:solidFill>
              <a:srgbClr val="008300"/>
            </a:solidFill>
            <a:prstDash val="dash"/>
            <a:tailEnd type="triangle"/>
          </a:ln>
        </p:spPr>
      </p:sp>
      <p:sp>
        <p:nvSpPr>
          <p:cNvPr id="32" name="label feedback"/>
          <p:cNvSpPr txBox="1"/>
          <p:nvPr/>
        </p:nvSpPr>
        <p:spPr>
          <a:xfrm>
            <a:off x="4754880" y="1325880"/>
            <a:ext cx="5294376" cy="237744"/>
          </a:xfrm>
          <a:prstGeom prst="rect">
            <a:avLst/>
          </a:prstGeom>
          <a:noFill/>
          <a:ln/>
        </p:spPr>
        <p:txBody>
          <a:bodyPr wrap="square" lIns="0" tIns="0" rIns="0" bIns="0" rtlCol="0" anchor="ctr"/>
          <a:lstStyle/>
          <a:p>
            <a:pPr algn="ctr" indent="0" marL="0">
              <a:buNone/>
            </a:pPr>
            <a:r>
              <a:rPr lang="en-US" sz="1100" dirty="0">
                <a:solidFill>
                  <a:srgbClr val="008300"/>
                </a:solidFill>
              </a:rPr>
              <a:t>pass or fail is fed back, and the method improves</a:t>
            </a:r>
            <a:endParaRPr lang="en-US" sz="1100" dirty="0"/>
          </a:p>
        </p:txBody>
      </p:sp>
      <p:sp>
        <p:nvSpPr>
          <p:cNvPr id="33" name="sources frame"/>
          <p:cNvSpPr/>
          <p:nvPr/>
        </p:nvSpPr>
        <p:spPr>
          <a:xfrm>
            <a:off x="548640" y="4005072"/>
            <a:ext cx="11164824" cy="2048256"/>
          </a:xfrm>
          <a:prstGeom prst="roundRect">
            <a:avLst>
              <a:gd name="adj" fmla="val 3125"/>
            </a:avLst>
          </a:prstGeom>
          <a:solidFill>
            <a:schemeClr val="bg2"/>
          </a:solidFill>
          <a:ln w="19050">
            <a:solidFill>
              <a:schemeClr val="accent1"/>
            </a:solidFill>
            <a:prstDash val="solid"/>
          </a:ln>
        </p:spPr>
      </p:sp>
      <p:sp>
        <p:nvSpPr>
          <p:cNvPr id="34" name="callout left"/>
          <p:cNvSpPr/>
          <p:nvPr/>
        </p:nvSpPr>
        <p:spPr>
          <a:xfrm>
            <a:off x="548640" y="3154680"/>
            <a:ext cx="0" cy="850392"/>
          </a:xfrm>
          <a:prstGeom prst="line">
            <a:avLst/>
          </a:prstGeom>
          <a:noFill/>
          <a:ln w="19050">
            <a:solidFill>
              <a:schemeClr val="accent1"/>
            </a:solidFill>
            <a:prstDash val="sysDot"/>
          </a:ln>
        </p:spPr>
      </p:sp>
      <p:sp>
        <p:nvSpPr>
          <p:cNvPr id="35" name="callout right"/>
          <p:cNvSpPr/>
          <p:nvPr/>
        </p:nvSpPr>
        <p:spPr>
          <a:xfrm>
            <a:off x="2651760" y="3154680"/>
            <a:ext cx="9061704" cy="850392"/>
          </a:xfrm>
          <a:prstGeom prst="line">
            <a:avLst/>
          </a:prstGeom>
          <a:noFill/>
          <a:ln w="19050">
            <a:solidFill>
              <a:schemeClr val="accent1"/>
            </a:solidFill>
            <a:prstDash val="sysDot"/>
          </a:ln>
        </p:spPr>
      </p:sp>
      <p:sp>
        <p:nvSpPr>
          <p:cNvPr id="36" name="card real"/>
          <p:cNvSpPr/>
          <p:nvPr/>
        </p:nvSpPr>
        <p:spPr>
          <a:xfrm>
            <a:off x="612648" y="4069080"/>
            <a:ext cx="5330952" cy="1920240"/>
          </a:xfrm>
          <a:prstGeom prst="roundRect">
            <a:avLst>
              <a:gd name="adj" fmla="val 3333"/>
            </a:avLst>
          </a:prstGeom>
          <a:solidFill>
            <a:srgbClr val="FFFFFF"/>
          </a:solidFill>
          <a:ln w="19050">
            <a:solidFill>
              <a:srgbClr val="EB6834"/>
            </a:solidFill>
            <a:prstDash val="solid"/>
          </a:ln>
        </p:spPr>
      </p:sp>
      <p:sp>
        <p:nvSpPr>
          <p:cNvPr id="37" name="card head real"/>
          <p:cNvSpPr txBox="1"/>
          <p:nvPr/>
        </p:nvSpPr>
        <p:spPr>
          <a:xfrm>
            <a:off x="841248"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Real projects</a:t>
            </a:r>
            <a:endParaRPr lang="en-US" sz="1500" dirty="0"/>
          </a:p>
        </p:txBody>
      </p:sp>
      <p:sp>
        <p:nvSpPr>
          <p:cNvPr id="38" name="card tag real"/>
          <p:cNvSpPr/>
          <p:nvPr/>
        </p:nvSpPr>
        <p:spPr>
          <a:xfrm>
            <a:off x="3611880" y="4206240"/>
            <a:ext cx="2103120" cy="274320"/>
          </a:xfrm>
          <a:prstGeom prst="roundRect">
            <a:avLst>
              <a:gd name="adj" fmla="val 50000"/>
            </a:avLst>
          </a:prstGeom>
          <a:solidFill>
            <a:srgbClr val="EB6834"/>
          </a:solidFill>
          <a:ln/>
        </p:spPr>
      </p:sp>
      <p:sp>
        <p:nvSpPr>
          <p:cNvPr id="39" name="card tag text real"/>
          <p:cNvSpPr txBox="1"/>
          <p:nvPr/>
        </p:nvSpPr>
        <p:spPr>
          <a:xfrm>
            <a:off x="3611880" y="4206240"/>
            <a:ext cx="2103120" cy="274320"/>
          </a:xfrm>
          <a:prstGeom prst="rect">
            <a:avLst/>
          </a:prstGeom>
          <a:noFill/>
          <a:ln/>
        </p:spPr>
        <p:txBody>
          <a:bodyPr wrap="square" lIns="0" tIns="0" rIns="0" bIns="0" rtlCol="0" anchor="ctr"/>
          <a:lstStyle/>
          <a:p>
            <a:pPr algn="ctr" indent="0" marL="0">
              <a:buNone/>
            </a:pPr>
            <a:r>
              <a:rPr lang="en-US" sz="1050" b="1" dirty="0">
                <a:solidFill>
                  <a:srgbClr val="FFFFFF"/>
                </a:solidFill>
              </a:rPr>
              <a:t>too few, not diverse enough</a:t>
            </a:r>
            <a:endParaRPr lang="en-US" sz="1050" dirty="0"/>
          </a:p>
        </p:txBody>
      </p:sp>
      <p:sp>
        <p:nvSpPr>
          <p:cNvPr id="40" name="card body real"/>
          <p:cNvSpPr txBox="1"/>
          <p:nvPr/>
        </p:nvSpPr>
        <p:spPr>
          <a:xfrm>
            <a:off x="841248" y="5257800"/>
            <a:ext cx="4873752" cy="640080"/>
          </a:xfrm>
          <a:prstGeom prst="rect">
            <a:avLst/>
          </a:prstGeom>
          <a:noFill/>
          <a:ln/>
        </p:spPr>
        <p:txBody>
          <a:bodyPr wrap="square" lIns="0" tIns="0" rIns="0" bIns="0" rtlCol="0" anchor="t"/>
          <a:lstStyle/>
          <a:p>
            <a:pPr indent="0" marL="0">
              <a:buNone/>
            </a:pPr>
            <a:r>
              <a:rPr lang="en-US" sz="1150" dirty="0">
                <a:solidFill>
                  <a:schemeClr val="tx1"/>
                </a:solidFill>
              </a:rPr>
              <a:t>A handful of sections, from one project with one trade mix, and confidential. Not enough to practise on, and a method tuned on them only fits that project.</a:t>
            </a:r>
            <a:endParaRPr lang="en-US" sz="1150" dirty="0"/>
          </a:p>
        </p:txBody>
      </p:sp>
      <p:sp>
        <p:nvSpPr>
          <p:cNvPr id="41" name="mini card real 0"/>
          <p:cNvSpPr/>
          <p:nvPr/>
        </p:nvSpPr>
        <p:spPr>
          <a:xfrm>
            <a:off x="841248" y="4590288"/>
            <a:ext cx="548640" cy="475488"/>
          </a:xfrm>
          <a:prstGeom prst="rect">
            <a:avLst/>
          </a:prstGeom>
          <a:solidFill>
            <a:srgbClr val="FFFFFF"/>
          </a:solidFill>
          <a:ln w="6350">
            <a:solidFill>
              <a:srgbClr val="898781"/>
            </a:solidFill>
            <a:prstDash val="solid"/>
          </a:ln>
        </p:spPr>
      </p:sp>
      <p:sp>
        <p:nvSpPr>
          <p:cNvPr id="42" name="mini slab real 0"/>
          <p:cNvSpPr/>
          <p:nvPr/>
        </p:nvSpPr>
        <p:spPr>
          <a:xfrm>
            <a:off x="886968" y="4636008"/>
            <a:ext cx="457200" cy="32004"/>
          </a:xfrm>
          <a:prstGeom prst="rect">
            <a:avLst/>
          </a:prstGeom>
          <a:solidFill>
            <a:srgbClr val="52514E"/>
          </a:solidFill>
          <a:ln/>
        </p:spPr>
      </p:sp>
      <p:sp>
        <p:nvSpPr>
          <p:cNvPr id="43" name="mini real 0 0"/>
          <p:cNvSpPr/>
          <p:nvPr/>
        </p:nvSpPr>
        <p:spPr>
          <a:xfrm>
            <a:off x="971012" y="4709160"/>
            <a:ext cx="60512" cy="60512"/>
          </a:xfrm>
          <a:prstGeom prst="ellipse">
            <a:avLst/>
          </a:prstGeom>
          <a:solidFill>
            <a:srgbClr val="EB6834"/>
          </a:solidFill>
          <a:ln w="5080">
            <a:solidFill>
              <a:srgbClr val="FFFFFF"/>
            </a:solidFill>
            <a:prstDash val="solid"/>
          </a:ln>
        </p:spPr>
      </p:sp>
      <p:sp>
        <p:nvSpPr>
          <p:cNvPr id="44" name="mini real 0 1"/>
          <p:cNvSpPr/>
          <p:nvPr/>
        </p:nvSpPr>
        <p:spPr>
          <a:xfrm>
            <a:off x="1085312" y="4709160"/>
            <a:ext cx="60512" cy="60512"/>
          </a:xfrm>
          <a:prstGeom prst="ellipse">
            <a:avLst/>
          </a:prstGeom>
          <a:solidFill>
            <a:srgbClr val="EB6834"/>
          </a:solidFill>
          <a:ln w="5080">
            <a:solidFill>
              <a:srgbClr val="FFFFFF"/>
            </a:solidFill>
            <a:prstDash val="solid"/>
          </a:ln>
        </p:spPr>
      </p:sp>
      <p:sp>
        <p:nvSpPr>
          <p:cNvPr id="45" name="mini real 0 2"/>
          <p:cNvSpPr/>
          <p:nvPr/>
        </p:nvSpPr>
        <p:spPr>
          <a:xfrm>
            <a:off x="1199612" y="4709160"/>
            <a:ext cx="60512" cy="60512"/>
          </a:xfrm>
          <a:prstGeom prst="ellipse">
            <a:avLst/>
          </a:prstGeom>
          <a:solidFill>
            <a:srgbClr val="EB6834"/>
          </a:solidFill>
          <a:ln w="5080">
            <a:solidFill>
              <a:srgbClr val="FFFFFF"/>
            </a:solidFill>
            <a:prstDash val="solid"/>
          </a:ln>
        </p:spPr>
      </p:sp>
      <p:sp>
        <p:nvSpPr>
          <p:cNvPr id="46" name="mini card real 1"/>
          <p:cNvSpPr/>
          <p:nvPr/>
        </p:nvSpPr>
        <p:spPr>
          <a:xfrm>
            <a:off x="1408176" y="4590288"/>
            <a:ext cx="548640" cy="475488"/>
          </a:xfrm>
          <a:prstGeom prst="rect">
            <a:avLst/>
          </a:prstGeom>
          <a:solidFill>
            <a:srgbClr val="FFFFFF"/>
          </a:solidFill>
          <a:ln w="6350">
            <a:solidFill>
              <a:srgbClr val="898781"/>
            </a:solidFill>
            <a:prstDash val="solid"/>
          </a:ln>
        </p:spPr>
      </p:sp>
      <p:sp>
        <p:nvSpPr>
          <p:cNvPr id="47" name="mini slab real 1"/>
          <p:cNvSpPr/>
          <p:nvPr/>
        </p:nvSpPr>
        <p:spPr>
          <a:xfrm>
            <a:off x="1453896" y="4636008"/>
            <a:ext cx="457200" cy="32004"/>
          </a:xfrm>
          <a:prstGeom prst="rect">
            <a:avLst/>
          </a:prstGeom>
          <a:solidFill>
            <a:srgbClr val="52514E"/>
          </a:solidFill>
          <a:ln/>
        </p:spPr>
      </p:sp>
      <p:sp>
        <p:nvSpPr>
          <p:cNvPr id="48" name="mini real 1 0"/>
          <p:cNvSpPr/>
          <p:nvPr/>
        </p:nvSpPr>
        <p:spPr>
          <a:xfrm>
            <a:off x="1537940" y="4709160"/>
            <a:ext cx="60512" cy="60512"/>
          </a:xfrm>
          <a:prstGeom prst="ellipse">
            <a:avLst/>
          </a:prstGeom>
          <a:solidFill>
            <a:srgbClr val="EB6834"/>
          </a:solidFill>
          <a:ln w="5080">
            <a:solidFill>
              <a:srgbClr val="FFFFFF"/>
            </a:solidFill>
            <a:prstDash val="solid"/>
          </a:ln>
        </p:spPr>
      </p:sp>
      <p:sp>
        <p:nvSpPr>
          <p:cNvPr id="49" name="mini real 1 1"/>
          <p:cNvSpPr/>
          <p:nvPr/>
        </p:nvSpPr>
        <p:spPr>
          <a:xfrm>
            <a:off x="1652240" y="4709160"/>
            <a:ext cx="60512" cy="60512"/>
          </a:xfrm>
          <a:prstGeom prst="ellipse">
            <a:avLst/>
          </a:prstGeom>
          <a:solidFill>
            <a:srgbClr val="EB6834"/>
          </a:solidFill>
          <a:ln w="5080">
            <a:solidFill>
              <a:srgbClr val="FFFFFF"/>
            </a:solidFill>
            <a:prstDash val="solid"/>
          </a:ln>
        </p:spPr>
      </p:sp>
      <p:sp>
        <p:nvSpPr>
          <p:cNvPr id="50" name="mini real 1 2"/>
          <p:cNvSpPr/>
          <p:nvPr/>
        </p:nvSpPr>
        <p:spPr>
          <a:xfrm>
            <a:off x="1766540" y="4709160"/>
            <a:ext cx="60512" cy="60512"/>
          </a:xfrm>
          <a:prstGeom prst="ellipse">
            <a:avLst/>
          </a:prstGeom>
          <a:solidFill>
            <a:srgbClr val="EB6834"/>
          </a:solidFill>
          <a:ln w="5080">
            <a:solidFill>
              <a:srgbClr val="FFFFFF"/>
            </a:solidFill>
            <a:prstDash val="solid"/>
          </a:ln>
        </p:spPr>
      </p:sp>
      <p:sp>
        <p:nvSpPr>
          <p:cNvPr id="51" name="mini card real 2"/>
          <p:cNvSpPr/>
          <p:nvPr/>
        </p:nvSpPr>
        <p:spPr>
          <a:xfrm>
            <a:off x="1975104" y="4590288"/>
            <a:ext cx="548640" cy="475488"/>
          </a:xfrm>
          <a:prstGeom prst="rect">
            <a:avLst/>
          </a:prstGeom>
          <a:solidFill>
            <a:srgbClr val="FFFFFF"/>
          </a:solidFill>
          <a:ln w="6350">
            <a:solidFill>
              <a:srgbClr val="898781"/>
            </a:solidFill>
            <a:prstDash val="solid"/>
          </a:ln>
        </p:spPr>
      </p:sp>
      <p:sp>
        <p:nvSpPr>
          <p:cNvPr id="52" name="mini slab real 2"/>
          <p:cNvSpPr/>
          <p:nvPr/>
        </p:nvSpPr>
        <p:spPr>
          <a:xfrm>
            <a:off x="2020824" y="4636008"/>
            <a:ext cx="457200" cy="32004"/>
          </a:xfrm>
          <a:prstGeom prst="rect">
            <a:avLst/>
          </a:prstGeom>
          <a:solidFill>
            <a:srgbClr val="52514E"/>
          </a:solidFill>
          <a:ln/>
        </p:spPr>
      </p:sp>
      <p:sp>
        <p:nvSpPr>
          <p:cNvPr id="53" name="mini real 2 0"/>
          <p:cNvSpPr/>
          <p:nvPr/>
        </p:nvSpPr>
        <p:spPr>
          <a:xfrm>
            <a:off x="2104868" y="4709160"/>
            <a:ext cx="60512" cy="60512"/>
          </a:xfrm>
          <a:prstGeom prst="ellipse">
            <a:avLst/>
          </a:prstGeom>
          <a:solidFill>
            <a:srgbClr val="EB6834"/>
          </a:solidFill>
          <a:ln w="5080">
            <a:solidFill>
              <a:srgbClr val="FFFFFF"/>
            </a:solidFill>
            <a:prstDash val="solid"/>
          </a:ln>
        </p:spPr>
      </p:sp>
      <p:sp>
        <p:nvSpPr>
          <p:cNvPr id="54" name="mini real 2 1"/>
          <p:cNvSpPr/>
          <p:nvPr/>
        </p:nvSpPr>
        <p:spPr>
          <a:xfrm>
            <a:off x="2219168" y="4709160"/>
            <a:ext cx="60512" cy="60512"/>
          </a:xfrm>
          <a:prstGeom prst="ellipse">
            <a:avLst/>
          </a:prstGeom>
          <a:solidFill>
            <a:srgbClr val="EB6834"/>
          </a:solidFill>
          <a:ln w="5080">
            <a:solidFill>
              <a:srgbClr val="FFFFFF"/>
            </a:solidFill>
            <a:prstDash val="solid"/>
          </a:ln>
        </p:spPr>
      </p:sp>
      <p:sp>
        <p:nvSpPr>
          <p:cNvPr id="55" name="mini real 2 2"/>
          <p:cNvSpPr/>
          <p:nvPr/>
        </p:nvSpPr>
        <p:spPr>
          <a:xfrm>
            <a:off x="2333468" y="4709160"/>
            <a:ext cx="60512" cy="60512"/>
          </a:xfrm>
          <a:prstGeom prst="ellipse">
            <a:avLst/>
          </a:prstGeom>
          <a:solidFill>
            <a:srgbClr val="EB6834"/>
          </a:solidFill>
          <a:ln w="5080">
            <a:solidFill>
              <a:srgbClr val="FFFFFF"/>
            </a:solidFill>
            <a:prstDash val="solid"/>
          </a:ln>
        </p:spPr>
      </p:sp>
      <p:sp>
        <p:nvSpPr>
          <p:cNvPr id="56" name="mini card real 3"/>
          <p:cNvSpPr/>
          <p:nvPr/>
        </p:nvSpPr>
        <p:spPr>
          <a:xfrm>
            <a:off x="2542032" y="4590288"/>
            <a:ext cx="548640" cy="475488"/>
          </a:xfrm>
          <a:prstGeom prst="rect">
            <a:avLst/>
          </a:prstGeom>
          <a:solidFill>
            <a:srgbClr val="FFFFFF"/>
          </a:solidFill>
          <a:ln w="6350">
            <a:solidFill>
              <a:srgbClr val="898781"/>
            </a:solidFill>
            <a:prstDash val="solid"/>
          </a:ln>
        </p:spPr>
      </p:sp>
      <p:sp>
        <p:nvSpPr>
          <p:cNvPr id="57" name="mini slab real 3"/>
          <p:cNvSpPr/>
          <p:nvPr/>
        </p:nvSpPr>
        <p:spPr>
          <a:xfrm>
            <a:off x="2587752" y="4636008"/>
            <a:ext cx="457200" cy="32004"/>
          </a:xfrm>
          <a:prstGeom prst="rect">
            <a:avLst/>
          </a:prstGeom>
          <a:solidFill>
            <a:srgbClr val="52514E"/>
          </a:solidFill>
          <a:ln/>
        </p:spPr>
      </p:sp>
      <p:sp>
        <p:nvSpPr>
          <p:cNvPr id="58" name="mini real 3 0"/>
          <p:cNvSpPr/>
          <p:nvPr/>
        </p:nvSpPr>
        <p:spPr>
          <a:xfrm>
            <a:off x="2671796" y="4709160"/>
            <a:ext cx="60512" cy="60512"/>
          </a:xfrm>
          <a:prstGeom prst="ellipse">
            <a:avLst/>
          </a:prstGeom>
          <a:solidFill>
            <a:srgbClr val="EB6834"/>
          </a:solidFill>
          <a:ln w="5080">
            <a:solidFill>
              <a:srgbClr val="FFFFFF"/>
            </a:solidFill>
            <a:prstDash val="solid"/>
          </a:ln>
        </p:spPr>
      </p:sp>
      <p:sp>
        <p:nvSpPr>
          <p:cNvPr id="59" name="mini real 3 1"/>
          <p:cNvSpPr/>
          <p:nvPr/>
        </p:nvSpPr>
        <p:spPr>
          <a:xfrm>
            <a:off x="2786096" y="4709160"/>
            <a:ext cx="60512" cy="60512"/>
          </a:xfrm>
          <a:prstGeom prst="ellipse">
            <a:avLst/>
          </a:prstGeom>
          <a:solidFill>
            <a:srgbClr val="EB6834"/>
          </a:solidFill>
          <a:ln w="5080">
            <a:solidFill>
              <a:srgbClr val="FFFFFF"/>
            </a:solidFill>
            <a:prstDash val="solid"/>
          </a:ln>
        </p:spPr>
      </p:sp>
      <p:sp>
        <p:nvSpPr>
          <p:cNvPr id="60" name="mini real 3 2"/>
          <p:cNvSpPr/>
          <p:nvPr/>
        </p:nvSpPr>
        <p:spPr>
          <a:xfrm>
            <a:off x="2900396" y="4709160"/>
            <a:ext cx="60512" cy="60512"/>
          </a:xfrm>
          <a:prstGeom prst="ellipse">
            <a:avLst/>
          </a:prstGeom>
          <a:solidFill>
            <a:srgbClr val="EB6834"/>
          </a:solidFill>
          <a:ln w="5080">
            <a:solidFill>
              <a:srgbClr val="FFFFFF"/>
            </a:solidFill>
            <a:prstDash val="solid"/>
          </a:ln>
        </p:spPr>
      </p:sp>
      <p:sp>
        <p:nvSpPr>
          <p:cNvPr id="61" name="mini card real 4"/>
          <p:cNvSpPr/>
          <p:nvPr/>
        </p:nvSpPr>
        <p:spPr>
          <a:xfrm>
            <a:off x="3108960" y="4590288"/>
            <a:ext cx="548640" cy="475488"/>
          </a:xfrm>
          <a:prstGeom prst="rect">
            <a:avLst/>
          </a:prstGeom>
          <a:solidFill>
            <a:srgbClr val="FFFFFF"/>
          </a:solidFill>
          <a:ln w="6350">
            <a:solidFill>
              <a:srgbClr val="898781"/>
            </a:solidFill>
            <a:prstDash val="solid"/>
          </a:ln>
        </p:spPr>
      </p:sp>
      <p:sp>
        <p:nvSpPr>
          <p:cNvPr id="62" name="mini slab real 4"/>
          <p:cNvSpPr/>
          <p:nvPr/>
        </p:nvSpPr>
        <p:spPr>
          <a:xfrm>
            <a:off x="3154680" y="4636008"/>
            <a:ext cx="457200" cy="32004"/>
          </a:xfrm>
          <a:prstGeom prst="rect">
            <a:avLst/>
          </a:prstGeom>
          <a:solidFill>
            <a:srgbClr val="52514E"/>
          </a:solidFill>
          <a:ln/>
        </p:spPr>
      </p:sp>
      <p:sp>
        <p:nvSpPr>
          <p:cNvPr id="63" name="mini real 4 0"/>
          <p:cNvSpPr/>
          <p:nvPr/>
        </p:nvSpPr>
        <p:spPr>
          <a:xfrm>
            <a:off x="3238724" y="4709160"/>
            <a:ext cx="60512" cy="60512"/>
          </a:xfrm>
          <a:prstGeom prst="ellipse">
            <a:avLst/>
          </a:prstGeom>
          <a:solidFill>
            <a:srgbClr val="EB6834"/>
          </a:solidFill>
          <a:ln w="5080">
            <a:solidFill>
              <a:srgbClr val="FFFFFF"/>
            </a:solidFill>
            <a:prstDash val="solid"/>
          </a:ln>
        </p:spPr>
      </p:sp>
      <p:sp>
        <p:nvSpPr>
          <p:cNvPr id="64" name="mini real 4 1"/>
          <p:cNvSpPr/>
          <p:nvPr/>
        </p:nvSpPr>
        <p:spPr>
          <a:xfrm>
            <a:off x="3353024" y="4709160"/>
            <a:ext cx="60512" cy="60512"/>
          </a:xfrm>
          <a:prstGeom prst="ellipse">
            <a:avLst/>
          </a:prstGeom>
          <a:solidFill>
            <a:srgbClr val="EB6834"/>
          </a:solidFill>
          <a:ln w="5080">
            <a:solidFill>
              <a:srgbClr val="FFFFFF"/>
            </a:solidFill>
            <a:prstDash val="solid"/>
          </a:ln>
        </p:spPr>
      </p:sp>
      <p:sp>
        <p:nvSpPr>
          <p:cNvPr id="65" name="mini real 4 2"/>
          <p:cNvSpPr/>
          <p:nvPr/>
        </p:nvSpPr>
        <p:spPr>
          <a:xfrm>
            <a:off x="3467324" y="4709160"/>
            <a:ext cx="60512" cy="60512"/>
          </a:xfrm>
          <a:prstGeom prst="ellipse">
            <a:avLst/>
          </a:prstGeom>
          <a:solidFill>
            <a:srgbClr val="EB6834"/>
          </a:solidFill>
          <a:ln w="5080">
            <a:solidFill>
              <a:srgbClr val="FFFFFF"/>
            </a:solidFill>
            <a:prstDash val="solid"/>
          </a:ln>
        </p:spPr>
      </p:sp>
      <p:sp>
        <p:nvSpPr>
          <p:cNvPr id="66" name="mini card real 5"/>
          <p:cNvSpPr/>
          <p:nvPr/>
        </p:nvSpPr>
        <p:spPr>
          <a:xfrm>
            <a:off x="3675888" y="4590288"/>
            <a:ext cx="548640" cy="475488"/>
          </a:xfrm>
          <a:prstGeom prst="rect">
            <a:avLst/>
          </a:prstGeom>
          <a:solidFill>
            <a:srgbClr val="FFFFFF"/>
          </a:solidFill>
          <a:ln w="6350">
            <a:solidFill>
              <a:srgbClr val="898781"/>
            </a:solidFill>
            <a:prstDash val="solid"/>
          </a:ln>
        </p:spPr>
      </p:sp>
      <p:sp>
        <p:nvSpPr>
          <p:cNvPr id="67" name="mini slab real 5"/>
          <p:cNvSpPr/>
          <p:nvPr/>
        </p:nvSpPr>
        <p:spPr>
          <a:xfrm>
            <a:off x="3721608" y="4636008"/>
            <a:ext cx="457200" cy="32004"/>
          </a:xfrm>
          <a:prstGeom prst="rect">
            <a:avLst/>
          </a:prstGeom>
          <a:solidFill>
            <a:srgbClr val="52514E"/>
          </a:solidFill>
          <a:ln/>
        </p:spPr>
      </p:sp>
      <p:sp>
        <p:nvSpPr>
          <p:cNvPr id="68" name="mini real 5 0"/>
          <p:cNvSpPr/>
          <p:nvPr/>
        </p:nvSpPr>
        <p:spPr>
          <a:xfrm>
            <a:off x="3805652" y="4709160"/>
            <a:ext cx="60512" cy="60512"/>
          </a:xfrm>
          <a:prstGeom prst="ellipse">
            <a:avLst/>
          </a:prstGeom>
          <a:solidFill>
            <a:srgbClr val="EB6834"/>
          </a:solidFill>
          <a:ln w="5080">
            <a:solidFill>
              <a:srgbClr val="FFFFFF"/>
            </a:solidFill>
            <a:prstDash val="solid"/>
          </a:ln>
        </p:spPr>
      </p:sp>
      <p:sp>
        <p:nvSpPr>
          <p:cNvPr id="69" name="mini real 5 1"/>
          <p:cNvSpPr/>
          <p:nvPr/>
        </p:nvSpPr>
        <p:spPr>
          <a:xfrm>
            <a:off x="3919952" y="4709160"/>
            <a:ext cx="60512" cy="60512"/>
          </a:xfrm>
          <a:prstGeom prst="ellipse">
            <a:avLst/>
          </a:prstGeom>
          <a:solidFill>
            <a:srgbClr val="EB6834"/>
          </a:solidFill>
          <a:ln w="5080">
            <a:solidFill>
              <a:srgbClr val="FFFFFF"/>
            </a:solidFill>
            <a:prstDash val="solid"/>
          </a:ln>
        </p:spPr>
      </p:sp>
      <p:sp>
        <p:nvSpPr>
          <p:cNvPr id="70" name="mini real 5 2"/>
          <p:cNvSpPr/>
          <p:nvPr/>
        </p:nvSpPr>
        <p:spPr>
          <a:xfrm>
            <a:off x="4034252" y="4709160"/>
            <a:ext cx="60512" cy="60512"/>
          </a:xfrm>
          <a:prstGeom prst="ellipse">
            <a:avLst/>
          </a:prstGeom>
          <a:solidFill>
            <a:srgbClr val="EB6834"/>
          </a:solidFill>
          <a:ln w="5080">
            <a:solidFill>
              <a:srgbClr val="FFFFFF"/>
            </a:solidFill>
            <a:prstDash val="solid"/>
          </a:ln>
        </p:spPr>
      </p:sp>
      <p:sp>
        <p:nvSpPr>
          <p:cNvPr id="71" name="empty slot 6"/>
          <p:cNvSpPr/>
          <p:nvPr/>
        </p:nvSpPr>
        <p:spPr>
          <a:xfrm>
            <a:off x="4242816" y="4590288"/>
            <a:ext cx="548640" cy="475488"/>
          </a:xfrm>
          <a:prstGeom prst="rect">
            <a:avLst/>
          </a:prstGeom>
          <a:ln w="6350">
            <a:solidFill>
              <a:srgbClr val="898781"/>
            </a:solidFill>
            <a:prstDash val="dash"/>
          </a:ln>
        </p:spPr>
      </p:sp>
      <p:sp>
        <p:nvSpPr>
          <p:cNvPr id="72" name="empty slot 7"/>
          <p:cNvSpPr/>
          <p:nvPr/>
        </p:nvSpPr>
        <p:spPr>
          <a:xfrm>
            <a:off x="4809744" y="4590288"/>
            <a:ext cx="548640" cy="475488"/>
          </a:xfrm>
          <a:prstGeom prst="rect">
            <a:avLst/>
          </a:prstGeom>
          <a:ln w="6350">
            <a:solidFill>
              <a:srgbClr val="898781"/>
            </a:solidFill>
            <a:prstDash val="dash"/>
          </a:ln>
        </p:spPr>
      </p:sp>
      <p:sp>
        <p:nvSpPr>
          <p:cNvPr id="73" name="empty slot 8"/>
          <p:cNvSpPr/>
          <p:nvPr/>
        </p:nvSpPr>
        <p:spPr>
          <a:xfrm>
            <a:off x="5376672" y="4590288"/>
            <a:ext cx="548640" cy="475488"/>
          </a:xfrm>
          <a:prstGeom prst="rect">
            <a:avLst/>
          </a:prstGeom>
          <a:ln w="6350">
            <a:solidFill>
              <a:srgbClr val="898781"/>
            </a:solidFill>
            <a:prstDash val="dash"/>
          </a:ln>
        </p:spPr>
      </p:sp>
      <p:sp>
        <p:nvSpPr>
          <p:cNvPr id="74" name="card generated"/>
          <p:cNvSpPr/>
          <p:nvPr/>
        </p:nvSpPr>
        <p:spPr>
          <a:xfrm>
            <a:off x="6245352" y="4069080"/>
            <a:ext cx="5330952" cy="1920240"/>
          </a:xfrm>
          <a:prstGeom prst="roundRect">
            <a:avLst>
              <a:gd name="adj" fmla="val 3333"/>
            </a:avLst>
          </a:prstGeom>
          <a:solidFill>
            <a:srgbClr val="FFFFFF"/>
          </a:solidFill>
          <a:ln w="19050">
            <a:solidFill>
              <a:schemeClr val="accent1"/>
            </a:solidFill>
            <a:prstDash val="solid"/>
          </a:ln>
        </p:spPr>
      </p:sp>
      <p:sp>
        <p:nvSpPr>
          <p:cNvPr id="75" name="card head generated"/>
          <p:cNvSpPr txBox="1"/>
          <p:nvPr/>
        </p:nvSpPr>
        <p:spPr>
          <a:xfrm>
            <a:off x="6473952"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CrossMEP generates them</a:t>
            </a:r>
            <a:endParaRPr lang="en-US" sz="1500" dirty="0"/>
          </a:p>
        </p:txBody>
      </p:sp>
      <p:sp>
        <p:nvSpPr>
          <p:cNvPr id="76" name="card tag generated"/>
          <p:cNvSpPr/>
          <p:nvPr/>
        </p:nvSpPr>
        <p:spPr>
          <a:xfrm>
            <a:off x="9884664" y="4206240"/>
            <a:ext cx="1463040" cy="274320"/>
          </a:xfrm>
          <a:prstGeom prst="roundRect">
            <a:avLst>
              <a:gd name="adj" fmla="val 50000"/>
            </a:avLst>
          </a:prstGeom>
          <a:solidFill>
            <a:schemeClr val="accent1"/>
          </a:solidFill>
          <a:ln/>
        </p:spPr>
      </p:sp>
      <p:sp>
        <p:nvSpPr>
          <p:cNvPr id="77" name="card tag text generated"/>
          <p:cNvSpPr txBox="1"/>
          <p:nvPr/>
        </p:nvSpPr>
        <p:spPr>
          <a:xfrm>
            <a:off x="9884664"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unlimited, diverse</a:t>
            </a:r>
            <a:endParaRPr lang="en-US" sz="1050" dirty="0"/>
          </a:p>
        </p:txBody>
      </p:sp>
      <p:sp>
        <p:nvSpPr>
          <p:cNvPr id="78" name="card body generated"/>
          <p:cNvSpPr txBox="1"/>
          <p:nvPr/>
        </p:nvSpPr>
        <p:spPr>
          <a:xfrm>
            <a:off x="6473952" y="5257800"/>
            <a:ext cx="4873752" cy="640080"/>
          </a:xfrm>
          <a:prstGeom prst="rect">
            <a:avLst/>
          </a:prstGeom>
          <a:noFill/>
          <a:ln/>
        </p:spPr>
        <p:txBody>
          <a:bodyPr wrap="square" lIns="0" tIns="0" rIns="0" bIns="0" rtlCol="0" anchor="t"/>
          <a:lstStyle/>
          <a:p>
            <a:pPr indent="0" marL="0">
              <a:buNone/>
            </a:pPr>
            <a:r>
              <a:rPr lang="en-US" sz="1150" dirty="0">
                <a:solidFill>
                  <a:schemeClr val="tx1"/>
                </a:solidFill>
              </a:rPr>
              <a:t>As many contexts as a method needs: every tier from one to eight elements, kinds and surfaces varied, a new seed a new set. And one fixed benchmark, never trained on, to judge every method on.</a:t>
            </a:r>
            <a:endParaRPr lang="en-US" sz="1150" dirty="0"/>
          </a:p>
        </p:txBody>
      </p:sp>
      <p:sp>
        <p:nvSpPr>
          <p:cNvPr id="79" name="mini card gen 1"/>
          <p:cNvSpPr/>
          <p:nvPr/>
        </p:nvSpPr>
        <p:spPr>
          <a:xfrm>
            <a:off x="6473952" y="4590288"/>
            <a:ext cx="603504" cy="475488"/>
          </a:xfrm>
          <a:prstGeom prst="rect">
            <a:avLst/>
          </a:prstGeom>
          <a:solidFill>
            <a:srgbClr val="FFFFFF"/>
          </a:solidFill>
          <a:ln w="6350">
            <a:solidFill>
              <a:srgbClr val="898781"/>
            </a:solidFill>
            <a:prstDash val="solid"/>
          </a:ln>
        </p:spPr>
      </p:sp>
      <p:sp>
        <p:nvSpPr>
          <p:cNvPr id="80" name="mini slab gen 1"/>
          <p:cNvSpPr/>
          <p:nvPr/>
        </p:nvSpPr>
        <p:spPr>
          <a:xfrm>
            <a:off x="6519672" y="4636008"/>
            <a:ext cx="512064" cy="32004"/>
          </a:xfrm>
          <a:prstGeom prst="rect">
            <a:avLst/>
          </a:prstGeom>
          <a:solidFill>
            <a:srgbClr val="52514E"/>
          </a:solidFill>
          <a:ln/>
        </p:spPr>
      </p:sp>
      <p:sp>
        <p:nvSpPr>
          <p:cNvPr id="81" name="mini gen 1 0"/>
          <p:cNvSpPr/>
          <p:nvPr/>
        </p:nvSpPr>
        <p:spPr>
          <a:xfrm>
            <a:off x="6707124" y="4700016"/>
            <a:ext cx="137160" cy="100584"/>
          </a:xfrm>
          <a:prstGeom prst="rect">
            <a:avLst/>
          </a:prstGeom>
          <a:solidFill>
            <a:schemeClr val="accent1"/>
          </a:solidFill>
          <a:ln w="5080">
            <a:solidFill>
              <a:srgbClr val="FFFFFF"/>
            </a:solidFill>
            <a:prstDash val="solid"/>
          </a:ln>
        </p:spPr>
      </p:sp>
      <p:sp>
        <p:nvSpPr>
          <p:cNvPr id="82" name="mini card gen 2"/>
          <p:cNvSpPr/>
          <p:nvPr/>
        </p:nvSpPr>
        <p:spPr>
          <a:xfrm>
            <a:off x="7095744" y="4590288"/>
            <a:ext cx="603504" cy="475488"/>
          </a:xfrm>
          <a:prstGeom prst="rect">
            <a:avLst/>
          </a:prstGeom>
          <a:solidFill>
            <a:srgbClr val="FFFFFF"/>
          </a:solidFill>
          <a:ln w="6350">
            <a:solidFill>
              <a:srgbClr val="898781"/>
            </a:solidFill>
            <a:prstDash val="solid"/>
          </a:ln>
        </p:spPr>
      </p:sp>
      <p:sp>
        <p:nvSpPr>
          <p:cNvPr id="83" name="mini slab gen 2"/>
          <p:cNvSpPr/>
          <p:nvPr/>
        </p:nvSpPr>
        <p:spPr>
          <a:xfrm>
            <a:off x="7141464" y="4636008"/>
            <a:ext cx="512064" cy="32004"/>
          </a:xfrm>
          <a:prstGeom prst="rect">
            <a:avLst/>
          </a:prstGeom>
          <a:solidFill>
            <a:srgbClr val="52514E"/>
          </a:solidFill>
          <a:ln/>
        </p:spPr>
      </p:sp>
      <p:sp>
        <p:nvSpPr>
          <p:cNvPr id="84" name="mini gen 2 0"/>
          <p:cNvSpPr/>
          <p:nvPr/>
        </p:nvSpPr>
        <p:spPr>
          <a:xfrm>
            <a:off x="7271004" y="4709160"/>
            <a:ext cx="82296" cy="82296"/>
          </a:xfrm>
          <a:prstGeom prst="ellipse">
            <a:avLst/>
          </a:prstGeom>
          <a:solidFill>
            <a:schemeClr val="accent1"/>
          </a:solidFill>
          <a:ln w="5080">
            <a:solidFill>
              <a:srgbClr val="FFFFFF"/>
            </a:solidFill>
            <a:prstDash val="solid"/>
          </a:ln>
        </p:spPr>
      </p:sp>
      <p:sp>
        <p:nvSpPr>
          <p:cNvPr id="85" name="mini gen 2 1"/>
          <p:cNvSpPr/>
          <p:nvPr/>
        </p:nvSpPr>
        <p:spPr>
          <a:xfrm>
            <a:off x="7427976" y="4727448"/>
            <a:ext cx="109728" cy="45720"/>
          </a:xfrm>
          <a:prstGeom prst="rect">
            <a:avLst/>
          </a:prstGeom>
          <a:solidFill>
            <a:schemeClr val="accent1"/>
          </a:solidFill>
          <a:ln w="5080">
            <a:solidFill>
              <a:srgbClr val="FFFFFF"/>
            </a:solidFill>
            <a:prstDash val="solid"/>
          </a:ln>
        </p:spPr>
      </p:sp>
      <p:sp>
        <p:nvSpPr>
          <p:cNvPr id="86" name="mini card gen 3"/>
          <p:cNvSpPr/>
          <p:nvPr/>
        </p:nvSpPr>
        <p:spPr>
          <a:xfrm>
            <a:off x="7717536" y="4590288"/>
            <a:ext cx="603504" cy="475488"/>
          </a:xfrm>
          <a:prstGeom prst="rect">
            <a:avLst/>
          </a:prstGeom>
          <a:solidFill>
            <a:srgbClr val="FFFFFF"/>
          </a:solidFill>
          <a:ln w="6350">
            <a:solidFill>
              <a:srgbClr val="898781"/>
            </a:solidFill>
            <a:prstDash val="solid"/>
          </a:ln>
        </p:spPr>
      </p:sp>
      <p:sp>
        <p:nvSpPr>
          <p:cNvPr id="87" name="mini wall gen 3"/>
          <p:cNvSpPr/>
          <p:nvPr/>
        </p:nvSpPr>
        <p:spPr>
          <a:xfrm>
            <a:off x="7763256" y="4636008"/>
            <a:ext cx="32004" cy="384048"/>
          </a:xfrm>
          <a:prstGeom prst="rect">
            <a:avLst/>
          </a:prstGeom>
          <a:solidFill>
            <a:srgbClr val="52514E"/>
          </a:solidFill>
          <a:ln/>
        </p:spPr>
      </p:sp>
      <p:sp>
        <p:nvSpPr>
          <p:cNvPr id="88" name="mini gen 3 0"/>
          <p:cNvSpPr/>
          <p:nvPr/>
        </p:nvSpPr>
        <p:spPr>
          <a:xfrm>
            <a:off x="7845552" y="4698785"/>
            <a:ext cx="66470" cy="66470"/>
          </a:xfrm>
          <a:prstGeom prst="ellipse">
            <a:avLst/>
          </a:prstGeom>
          <a:solidFill>
            <a:schemeClr val="accent1"/>
          </a:solidFill>
          <a:ln w="5080">
            <a:solidFill>
              <a:srgbClr val="FFFFFF"/>
            </a:solidFill>
            <a:prstDash val="solid"/>
          </a:ln>
        </p:spPr>
      </p:sp>
      <p:sp>
        <p:nvSpPr>
          <p:cNvPr id="89" name="mini gen 3 1"/>
          <p:cNvSpPr/>
          <p:nvPr/>
        </p:nvSpPr>
        <p:spPr>
          <a:xfrm>
            <a:off x="7845552" y="4794797"/>
            <a:ext cx="66470" cy="66470"/>
          </a:xfrm>
          <a:prstGeom prst="ellipse">
            <a:avLst/>
          </a:prstGeom>
          <a:solidFill>
            <a:schemeClr val="accent1"/>
          </a:solidFill>
          <a:ln w="5080">
            <a:solidFill>
              <a:srgbClr val="FFFFFF"/>
            </a:solidFill>
            <a:prstDash val="solid"/>
          </a:ln>
        </p:spPr>
      </p:sp>
      <p:sp>
        <p:nvSpPr>
          <p:cNvPr id="90" name="mini gen 3 2"/>
          <p:cNvSpPr/>
          <p:nvPr/>
        </p:nvSpPr>
        <p:spPr>
          <a:xfrm>
            <a:off x="7845552" y="4890809"/>
            <a:ext cx="66470" cy="66470"/>
          </a:xfrm>
          <a:prstGeom prst="ellipse">
            <a:avLst/>
          </a:prstGeom>
          <a:solidFill>
            <a:schemeClr val="accent1"/>
          </a:solidFill>
          <a:ln w="5080">
            <a:solidFill>
              <a:srgbClr val="FFFFFF"/>
            </a:solidFill>
            <a:prstDash val="solid"/>
          </a:ln>
        </p:spPr>
      </p:sp>
      <p:sp>
        <p:nvSpPr>
          <p:cNvPr id="91" name="mini card gen 4"/>
          <p:cNvSpPr/>
          <p:nvPr/>
        </p:nvSpPr>
        <p:spPr>
          <a:xfrm>
            <a:off x="8339328" y="4590288"/>
            <a:ext cx="603504" cy="475488"/>
          </a:xfrm>
          <a:prstGeom prst="rect">
            <a:avLst/>
          </a:prstGeom>
          <a:solidFill>
            <a:srgbClr val="FFFFFF"/>
          </a:solidFill>
          <a:ln w="6350">
            <a:solidFill>
              <a:srgbClr val="898781"/>
            </a:solidFill>
            <a:prstDash val="solid"/>
          </a:ln>
        </p:spPr>
      </p:sp>
      <p:sp>
        <p:nvSpPr>
          <p:cNvPr id="92" name="mini slab gen 4"/>
          <p:cNvSpPr/>
          <p:nvPr/>
        </p:nvSpPr>
        <p:spPr>
          <a:xfrm>
            <a:off x="8385048" y="4636008"/>
            <a:ext cx="512064" cy="32004"/>
          </a:xfrm>
          <a:prstGeom prst="rect">
            <a:avLst/>
          </a:prstGeom>
          <a:solidFill>
            <a:srgbClr val="52514E"/>
          </a:solidFill>
          <a:ln/>
        </p:spPr>
      </p:sp>
      <p:sp>
        <p:nvSpPr>
          <p:cNvPr id="93" name="mini gen 4 0"/>
          <p:cNvSpPr/>
          <p:nvPr/>
        </p:nvSpPr>
        <p:spPr>
          <a:xfrm>
            <a:off x="8442279" y="4700016"/>
            <a:ext cx="90364" cy="66267"/>
          </a:xfrm>
          <a:prstGeom prst="rect">
            <a:avLst/>
          </a:prstGeom>
          <a:solidFill>
            <a:schemeClr val="accent1"/>
          </a:solidFill>
          <a:ln w="5080">
            <a:solidFill>
              <a:srgbClr val="FFFFFF"/>
            </a:solidFill>
            <a:prstDash val="solid"/>
          </a:ln>
        </p:spPr>
      </p:sp>
      <p:sp>
        <p:nvSpPr>
          <p:cNvPr id="94" name="mini gen 4 1"/>
          <p:cNvSpPr/>
          <p:nvPr/>
        </p:nvSpPr>
        <p:spPr>
          <a:xfrm>
            <a:off x="8562764" y="4709160"/>
            <a:ext cx="54219" cy="54219"/>
          </a:xfrm>
          <a:prstGeom prst="ellipse">
            <a:avLst/>
          </a:prstGeom>
          <a:solidFill>
            <a:schemeClr val="accent1"/>
          </a:solidFill>
          <a:ln w="5080">
            <a:solidFill>
              <a:srgbClr val="FFFFFF"/>
            </a:solidFill>
            <a:prstDash val="solid"/>
          </a:ln>
        </p:spPr>
      </p:sp>
      <p:sp>
        <p:nvSpPr>
          <p:cNvPr id="95" name="mini gen 4 2"/>
          <p:cNvSpPr/>
          <p:nvPr/>
        </p:nvSpPr>
        <p:spPr>
          <a:xfrm>
            <a:off x="8656141" y="4727448"/>
            <a:ext cx="72291" cy="30121"/>
          </a:xfrm>
          <a:prstGeom prst="rect">
            <a:avLst/>
          </a:prstGeom>
          <a:solidFill>
            <a:schemeClr val="accent1"/>
          </a:solidFill>
          <a:ln w="5080">
            <a:solidFill>
              <a:srgbClr val="FFFFFF"/>
            </a:solidFill>
            <a:prstDash val="solid"/>
          </a:ln>
        </p:spPr>
      </p:sp>
      <p:sp>
        <p:nvSpPr>
          <p:cNvPr id="96" name="mini gen 4 3"/>
          <p:cNvSpPr/>
          <p:nvPr/>
        </p:nvSpPr>
        <p:spPr>
          <a:xfrm>
            <a:off x="8767590" y="4709160"/>
            <a:ext cx="54219" cy="54219"/>
          </a:xfrm>
          <a:prstGeom prst="ellipse">
            <a:avLst/>
          </a:prstGeom>
          <a:solidFill>
            <a:schemeClr val="accent1"/>
          </a:solidFill>
          <a:ln w="5080">
            <a:solidFill>
              <a:srgbClr val="FFFFFF"/>
            </a:solidFill>
            <a:prstDash val="solid"/>
          </a:ln>
        </p:spPr>
      </p:sp>
      <p:sp>
        <p:nvSpPr>
          <p:cNvPr id="97" name="mini card gen 5"/>
          <p:cNvSpPr/>
          <p:nvPr/>
        </p:nvSpPr>
        <p:spPr>
          <a:xfrm>
            <a:off x="8961120" y="4590288"/>
            <a:ext cx="603504" cy="475488"/>
          </a:xfrm>
          <a:prstGeom prst="rect">
            <a:avLst/>
          </a:prstGeom>
          <a:solidFill>
            <a:srgbClr val="FFFFFF"/>
          </a:solidFill>
          <a:ln w="6350">
            <a:solidFill>
              <a:srgbClr val="898781"/>
            </a:solidFill>
            <a:prstDash val="solid"/>
          </a:ln>
        </p:spPr>
      </p:sp>
      <p:sp>
        <p:nvSpPr>
          <p:cNvPr id="98" name="mini slab gen 5"/>
          <p:cNvSpPr/>
          <p:nvPr/>
        </p:nvSpPr>
        <p:spPr>
          <a:xfrm>
            <a:off x="9006840" y="4636008"/>
            <a:ext cx="512064" cy="32004"/>
          </a:xfrm>
          <a:prstGeom prst="rect">
            <a:avLst/>
          </a:prstGeom>
          <a:solidFill>
            <a:srgbClr val="52514E"/>
          </a:solidFill>
          <a:ln/>
        </p:spPr>
      </p:sp>
      <p:sp>
        <p:nvSpPr>
          <p:cNvPr id="99" name="mini gen 5 0"/>
          <p:cNvSpPr/>
          <p:nvPr/>
        </p:nvSpPr>
        <p:spPr>
          <a:xfrm>
            <a:off x="9069593" y="4709160"/>
            <a:ext cx="45182" cy="45182"/>
          </a:xfrm>
          <a:prstGeom prst="ellipse">
            <a:avLst/>
          </a:prstGeom>
          <a:solidFill>
            <a:schemeClr val="accent1"/>
          </a:solidFill>
          <a:ln w="5080">
            <a:solidFill>
              <a:srgbClr val="FFFFFF"/>
            </a:solidFill>
            <a:prstDash val="solid"/>
          </a:ln>
        </p:spPr>
      </p:sp>
      <p:sp>
        <p:nvSpPr>
          <p:cNvPr id="100" name="mini gen 5 1"/>
          <p:cNvSpPr/>
          <p:nvPr/>
        </p:nvSpPr>
        <p:spPr>
          <a:xfrm>
            <a:off x="9147407" y="4727448"/>
            <a:ext cx="60243" cy="25101"/>
          </a:xfrm>
          <a:prstGeom prst="rect">
            <a:avLst/>
          </a:prstGeom>
          <a:solidFill>
            <a:schemeClr val="accent1"/>
          </a:solidFill>
          <a:ln w="5080">
            <a:solidFill>
              <a:srgbClr val="FFFFFF"/>
            </a:solidFill>
            <a:prstDash val="solid"/>
          </a:ln>
        </p:spPr>
      </p:sp>
      <p:sp>
        <p:nvSpPr>
          <p:cNvPr id="101" name="mini gen 5 2"/>
          <p:cNvSpPr/>
          <p:nvPr/>
        </p:nvSpPr>
        <p:spPr>
          <a:xfrm>
            <a:off x="9240281" y="4709160"/>
            <a:ext cx="45182" cy="45182"/>
          </a:xfrm>
          <a:prstGeom prst="ellipse">
            <a:avLst/>
          </a:prstGeom>
          <a:solidFill>
            <a:schemeClr val="accent1"/>
          </a:solidFill>
          <a:ln w="5080">
            <a:solidFill>
              <a:srgbClr val="FFFFFF"/>
            </a:solidFill>
            <a:prstDash val="solid"/>
          </a:ln>
        </p:spPr>
      </p:sp>
      <p:sp>
        <p:nvSpPr>
          <p:cNvPr id="102" name="mini gen 5 3"/>
          <p:cNvSpPr/>
          <p:nvPr/>
        </p:nvSpPr>
        <p:spPr>
          <a:xfrm>
            <a:off x="9325625" y="4709160"/>
            <a:ext cx="45182" cy="45182"/>
          </a:xfrm>
          <a:prstGeom prst="ellipse">
            <a:avLst/>
          </a:prstGeom>
          <a:solidFill>
            <a:schemeClr val="accent1"/>
          </a:solidFill>
          <a:ln w="5080">
            <a:solidFill>
              <a:srgbClr val="FFFFFF"/>
            </a:solidFill>
            <a:prstDash val="solid"/>
          </a:ln>
        </p:spPr>
      </p:sp>
      <p:sp>
        <p:nvSpPr>
          <p:cNvPr id="103" name="mini gen 5 4"/>
          <p:cNvSpPr/>
          <p:nvPr/>
        </p:nvSpPr>
        <p:spPr>
          <a:xfrm>
            <a:off x="9403439" y="4727448"/>
            <a:ext cx="60243" cy="25101"/>
          </a:xfrm>
          <a:prstGeom prst="rect">
            <a:avLst/>
          </a:prstGeom>
          <a:solidFill>
            <a:schemeClr val="accent1"/>
          </a:solidFill>
          <a:ln w="5080">
            <a:solidFill>
              <a:srgbClr val="FFFFFF"/>
            </a:solidFill>
            <a:prstDash val="solid"/>
          </a:ln>
        </p:spPr>
      </p:sp>
      <p:sp>
        <p:nvSpPr>
          <p:cNvPr id="104" name="mini card gen 6"/>
          <p:cNvSpPr/>
          <p:nvPr/>
        </p:nvSpPr>
        <p:spPr>
          <a:xfrm>
            <a:off x="9582912" y="4590288"/>
            <a:ext cx="603504" cy="475488"/>
          </a:xfrm>
          <a:prstGeom prst="rect">
            <a:avLst/>
          </a:prstGeom>
          <a:solidFill>
            <a:srgbClr val="FFFFFF"/>
          </a:solidFill>
          <a:ln w="6350">
            <a:solidFill>
              <a:srgbClr val="898781"/>
            </a:solidFill>
            <a:prstDash val="solid"/>
          </a:ln>
        </p:spPr>
      </p:sp>
      <p:sp>
        <p:nvSpPr>
          <p:cNvPr id="105" name="mini slab gen 6"/>
          <p:cNvSpPr/>
          <p:nvPr/>
        </p:nvSpPr>
        <p:spPr>
          <a:xfrm>
            <a:off x="9628632" y="4636008"/>
            <a:ext cx="512064" cy="32004"/>
          </a:xfrm>
          <a:prstGeom prst="rect">
            <a:avLst/>
          </a:prstGeom>
          <a:solidFill>
            <a:srgbClr val="52514E"/>
          </a:solidFill>
          <a:ln/>
        </p:spPr>
      </p:sp>
      <p:sp>
        <p:nvSpPr>
          <p:cNvPr id="106" name="mini gen 6 0"/>
          <p:cNvSpPr/>
          <p:nvPr/>
        </p:nvSpPr>
        <p:spPr>
          <a:xfrm>
            <a:off x="9682420" y="4709160"/>
            <a:ext cx="38728" cy="38728"/>
          </a:xfrm>
          <a:prstGeom prst="ellipse">
            <a:avLst/>
          </a:prstGeom>
          <a:solidFill>
            <a:schemeClr val="accent1"/>
          </a:solidFill>
          <a:ln w="5080">
            <a:solidFill>
              <a:srgbClr val="FFFFFF"/>
            </a:solidFill>
            <a:prstDash val="solid"/>
          </a:ln>
        </p:spPr>
      </p:sp>
      <p:sp>
        <p:nvSpPr>
          <p:cNvPr id="107" name="mini gen 6 1"/>
          <p:cNvSpPr/>
          <p:nvPr/>
        </p:nvSpPr>
        <p:spPr>
          <a:xfrm>
            <a:off x="9755572" y="4709160"/>
            <a:ext cx="38728" cy="38728"/>
          </a:xfrm>
          <a:prstGeom prst="ellipse">
            <a:avLst/>
          </a:prstGeom>
          <a:solidFill>
            <a:schemeClr val="accent1"/>
          </a:solidFill>
          <a:ln w="5080">
            <a:solidFill>
              <a:srgbClr val="FFFFFF"/>
            </a:solidFill>
            <a:prstDash val="solid"/>
          </a:ln>
        </p:spPr>
      </p:sp>
      <p:sp>
        <p:nvSpPr>
          <p:cNvPr id="108" name="mini gen 6 2"/>
          <p:cNvSpPr/>
          <p:nvPr/>
        </p:nvSpPr>
        <p:spPr>
          <a:xfrm>
            <a:off x="9828724" y="4709160"/>
            <a:ext cx="38728" cy="38728"/>
          </a:xfrm>
          <a:prstGeom prst="ellipse">
            <a:avLst/>
          </a:prstGeom>
          <a:solidFill>
            <a:schemeClr val="accent1"/>
          </a:solidFill>
          <a:ln w="5080">
            <a:solidFill>
              <a:srgbClr val="FFFFFF"/>
            </a:solidFill>
            <a:prstDash val="solid"/>
          </a:ln>
        </p:spPr>
      </p:sp>
      <p:sp>
        <p:nvSpPr>
          <p:cNvPr id="109" name="mini gen 6 3"/>
          <p:cNvSpPr/>
          <p:nvPr/>
        </p:nvSpPr>
        <p:spPr>
          <a:xfrm>
            <a:off x="9901876" y="4709160"/>
            <a:ext cx="38728" cy="38728"/>
          </a:xfrm>
          <a:prstGeom prst="ellipse">
            <a:avLst/>
          </a:prstGeom>
          <a:solidFill>
            <a:schemeClr val="accent1"/>
          </a:solidFill>
          <a:ln w="5080">
            <a:solidFill>
              <a:srgbClr val="FFFFFF"/>
            </a:solidFill>
            <a:prstDash val="solid"/>
          </a:ln>
        </p:spPr>
      </p:sp>
      <p:sp>
        <p:nvSpPr>
          <p:cNvPr id="110" name="mini gen 6 4"/>
          <p:cNvSpPr/>
          <p:nvPr/>
        </p:nvSpPr>
        <p:spPr>
          <a:xfrm>
            <a:off x="9975028" y="4709160"/>
            <a:ext cx="38728" cy="38728"/>
          </a:xfrm>
          <a:prstGeom prst="ellipse">
            <a:avLst/>
          </a:prstGeom>
          <a:solidFill>
            <a:schemeClr val="accent1"/>
          </a:solidFill>
          <a:ln w="5080">
            <a:solidFill>
              <a:srgbClr val="FFFFFF"/>
            </a:solidFill>
            <a:prstDash val="solid"/>
          </a:ln>
        </p:spPr>
      </p:sp>
      <p:sp>
        <p:nvSpPr>
          <p:cNvPr id="111" name="mini gen 6 5"/>
          <p:cNvSpPr/>
          <p:nvPr/>
        </p:nvSpPr>
        <p:spPr>
          <a:xfrm>
            <a:off x="10048180" y="4709160"/>
            <a:ext cx="38728" cy="38728"/>
          </a:xfrm>
          <a:prstGeom prst="ellipse">
            <a:avLst/>
          </a:prstGeom>
          <a:solidFill>
            <a:schemeClr val="accent1"/>
          </a:solidFill>
          <a:ln w="5080">
            <a:solidFill>
              <a:srgbClr val="FFFFFF"/>
            </a:solidFill>
            <a:prstDash val="solid"/>
          </a:ln>
        </p:spPr>
      </p:sp>
      <p:sp>
        <p:nvSpPr>
          <p:cNvPr id="112" name="mini card gen 7"/>
          <p:cNvSpPr/>
          <p:nvPr/>
        </p:nvSpPr>
        <p:spPr>
          <a:xfrm>
            <a:off x="10204704" y="4590288"/>
            <a:ext cx="603504" cy="475488"/>
          </a:xfrm>
          <a:prstGeom prst="rect">
            <a:avLst/>
          </a:prstGeom>
          <a:solidFill>
            <a:srgbClr val="FFFFFF"/>
          </a:solidFill>
          <a:ln w="6350">
            <a:solidFill>
              <a:srgbClr val="898781"/>
            </a:solidFill>
            <a:prstDash val="solid"/>
          </a:ln>
        </p:spPr>
      </p:sp>
      <p:sp>
        <p:nvSpPr>
          <p:cNvPr id="113" name="mini wall gen 7"/>
          <p:cNvSpPr/>
          <p:nvPr/>
        </p:nvSpPr>
        <p:spPr>
          <a:xfrm>
            <a:off x="10250424" y="4636008"/>
            <a:ext cx="32004" cy="384048"/>
          </a:xfrm>
          <a:prstGeom prst="rect">
            <a:avLst/>
          </a:prstGeom>
          <a:solidFill>
            <a:srgbClr val="52514E"/>
          </a:solidFill>
          <a:ln/>
        </p:spPr>
      </p:sp>
      <p:sp>
        <p:nvSpPr>
          <p:cNvPr id="114" name="mini gen 7 0"/>
          <p:cNvSpPr/>
          <p:nvPr/>
        </p:nvSpPr>
        <p:spPr>
          <a:xfrm>
            <a:off x="10323576" y="4665550"/>
            <a:ext cx="55392" cy="36928"/>
          </a:xfrm>
          <a:prstGeom prst="rect">
            <a:avLst/>
          </a:prstGeom>
          <a:solidFill>
            <a:schemeClr val="accent1"/>
          </a:solidFill>
          <a:ln w="5080">
            <a:solidFill>
              <a:srgbClr val="FFFFFF"/>
            </a:solidFill>
            <a:prstDash val="solid"/>
          </a:ln>
        </p:spPr>
      </p:sp>
      <p:sp>
        <p:nvSpPr>
          <p:cNvPr id="115" name="mini gen 7 1"/>
          <p:cNvSpPr/>
          <p:nvPr/>
        </p:nvSpPr>
        <p:spPr>
          <a:xfrm>
            <a:off x="10332720" y="4715403"/>
            <a:ext cx="33235" cy="33235"/>
          </a:xfrm>
          <a:prstGeom prst="ellipse">
            <a:avLst/>
          </a:prstGeom>
          <a:solidFill>
            <a:schemeClr val="accent1"/>
          </a:solidFill>
          <a:ln w="5080">
            <a:solidFill>
              <a:srgbClr val="FFFFFF"/>
            </a:solidFill>
            <a:prstDash val="solid"/>
          </a:ln>
        </p:spPr>
      </p:sp>
      <p:sp>
        <p:nvSpPr>
          <p:cNvPr id="116" name="mini gen 7 2"/>
          <p:cNvSpPr/>
          <p:nvPr/>
        </p:nvSpPr>
        <p:spPr>
          <a:xfrm>
            <a:off x="10323576" y="4770794"/>
            <a:ext cx="44313" cy="18464"/>
          </a:xfrm>
          <a:prstGeom prst="rect">
            <a:avLst/>
          </a:prstGeom>
          <a:solidFill>
            <a:schemeClr val="accent1"/>
          </a:solidFill>
          <a:ln w="5080">
            <a:solidFill>
              <a:srgbClr val="FFFFFF"/>
            </a:solidFill>
            <a:prstDash val="solid"/>
          </a:ln>
        </p:spPr>
      </p:sp>
      <p:sp>
        <p:nvSpPr>
          <p:cNvPr id="117" name="mini gen 7 3"/>
          <p:cNvSpPr/>
          <p:nvPr/>
        </p:nvSpPr>
        <p:spPr>
          <a:xfrm>
            <a:off x="10332720" y="4811415"/>
            <a:ext cx="33235" cy="33235"/>
          </a:xfrm>
          <a:prstGeom prst="ellipse">
            <a:avLst/>
          </a:prstGeom>
          <a:solidFill>
            <a:schemeClr val="accent1"/>
          </a:solidFill>
          <a:ln w="5080">
            <a:solidFill>
              <a:srgbClr val="FFFFFF"/>
            </a:solidFill>
            <a:prstDash val="solid"/>
          </a:ln>
        </p:spPr>
      </p:sp>
      <p:sp>
        <p:nvSpPr>
          <p:cNvPr id="118" name="mini gen 7 4"/>
          <p:cNvSpPr/>
          <p:nvPr/>
        </p:nvSpPr>
        <p:spPr>
          <a:xfrm>
            <a:off x="10323576" y="4857574"/>
            <a:ext cx="55392" cy="36928"/>
          </a:xfrm>
          <a:prstGeom prst="rect">
            <a:avLst/>
          </a:prstGeom>
          <a:solidFill>
            <a:schemeClr val="accent1"/>
          </a:solidFill>
          <a:ln w="5080">
            <a:solidFill>
              <a:srgbClr val="FFFFFF"/>
            </a:solidFill>
            <a:prstDash val="solid"/>
          </a:ln>
        </p:spPr>
      </p:sp>
      <p:sp>
        <p:nvSpPr>
          <p:cNvPr id="119" name="mini gen 7 5"/>
          <p:cNvSpPr/>
          <p:nvPr/>
        </p:nvSpPr>
        <p:spPr>
          <a:xfrm>
            <a:off x="10332720" y="4907427"/>
            <a:ext cx="33235" cy="33235"/>
          </a:xfrm>
          <a:prstGeom prst="ellipse">
            <a:avLst/>
          </a:prstGeom>
          <a:solidFill>
            <a:schemeClr val="accent1"/>
          </a:solidFill>
          <a:ln w="5080">
            <a:solidFill>
              <a:srgbClr val="FFFFFF"/>
            </a:solidFill>
            <a:prstDash val="solid"/>
          </a:ln>
        </p:spPr>
      </p:sp>
      <p:sp>
        <p:nvSpPr>
          <p:cNvPr id="120" name="mini gen 7 6"/>
          <p:cNvSpPr/>
          <p:nvPr/>
        </p:nvSpPr>
        <p:spPr>
          <a:xfrm>
            <a:off x="10323576" y="4962818"/>
            <a:ext cx="44313" cy="18464"/>
          </a:xfrm>
          <a:prstGeom prst="rect">
            <a:avLst/>
          </a:prstGeom>
          <a:solidFill>
            <a:schemeClr val="accent1"/>
          </a:solidFill>
          <a:ln w="5080">
            <a:solidFill>
              <a:srgbClr val="FFFFFF"/>
            </a:solidFill>
            <a:prstDash val="solid"/>
          </a:ln>
        </p:spPr>
      </p:sp>
      <p:sp>
        <p:nvSpPr>
          <p:cNvPr id="121" name="mini card gen 8"/>
          <p:cNvSpPr/>
          <p:nvPr/>
        </p:nvSpPr>
        <p:spPr>
          <a:xfrm>
            <a:off x="10826496" y="4590288"/>
            <a:ext cx="603504" cy="475488"/>
          </a:xfrm>
          <a:prstGeom prst="rect">
            <a:avLst/>
          </a:prstGeom>
          <a:solidFill>
            <a:srgbClr val="FFFFFF"/>
          </a:solidFill>
          <a:ln w="6350">
            <a:solidFill>
              <a:srgbClr val="898781"/>
            </a:solidFill>
            <a:prstDash val="solid"/>
          </a:ln>
        </p:spPr>
      </p:sp>
      <p:sp>
        <p:nvSpPr>
          <p:cNvPr id="122" name="mini slab gen 8"/>
          <p:cNvSpPr/>
          <p:nvPr/>
        </p:nvSpPr>
        <p:spPr>
          <a:xfrm>
            <a:off x="10872216" y="4636008"/>
            <a:ext cx="512064" cy="32004"/>
          </a:xfrm>
          <a:prstGeom prst="rect">
            <a:avLst/>
          </a:prstGeom>
          <a:solidFill>
            <a:srgbClr val="52514E"/>
          </a:solidFill>
          <a:ln/>
        </p:spPr>
      </p:sp>
      <p:sp>
        <p:nvSpPr>
          <p:cNvPr id="123" name="mini gen 8 0"/>
          <p:cNvSpPr/>
          <p:nvPr/>
        </p:nvSpPr>
        <p:spPr>
          <a:xfrm>
            <a:off x="10914051" y="4709160"/>
            <a:ext cx="30121" cy="30121"/>
          </a:xfrm>
          <a:prstGeom prst="ellipse">
            <a:avLst/>
          </a:prstGeom>
          <a:solidFill>
            <a:schemeClr val="accent1"/>
          </a:solidFill>
          <a:ln w="5080">
            <a:solidFill>
              <a:srgbClr val="FFFFFF"/>
            </a:solidFill>
            <a:prstDash val="solid"/>
          </a:ln>
        </p:spPr>
      </p:sp>
      <p:sp>
        <p:nvSpPr>
          <p:cNvPr id="124" name="mini gen 8 1"/>
          <p:cNvSpPr/>
          <p:nvPr/>
        </p:nvSpPr>
        <p:spPr>
          <a:xfrm>
            <a:off x="10965927" y="4727448"/>
            <a:ext cx="40162" cy="16734"/>
          </a:xfrm>
          <a:prstGeom prst="rect">
            <a:avLst/>
          </a:prstGeom>
          <a:solidFill>
            <a:schemeClr val="accent1"/>
          </a:solidFill>
          <a:ln w="5080">
            <a:solidFill>
              <a:srgbClr val="FFFFFF"/>
            </a:solidFill>
            <a:prstDash val="solid"/>
          </a:ln>
        </p:spPr>
      </p:sp>
      <p:sp>
        <p:nvSpPr>
          <p:cNvPr id="125" name="mini gen 8 2"/>
          <p:cNvSpPr/>
          <p:nvPr/>
        </p:nvSpPr>
        <p:spPr>
          <a:xfrm>
            <a:off x="11027843" y="4709160"/>
            <a:ext cx="30121" cy="30121"/>
          </a:xfrm>
          <a:prstGeom prst="ellipse">
            <a:avLst/>
          </a:prstGeom>
          <a:solidFill>
            <a:schemeClr val="accent1"/>
          </a:solidFill>
          <a:ln w="5080">
            <a:solidFill>
              <a:srgbClr val="FFFFFF"/>
            </a:solidFill>
            <a:prstDash val="solid"/>
          </a:ln>
        </p:spPr>
      </p:sp>
      <p:sp>
        <p:nvSpPr>
          <p:cNvPr id="126" name="mini gen 8 3"/>
          <p:cNvSpPr/>
          <p:nvPr/>
        </p:nvSpPr>
        <p:spPr>
          <a:xfrm>
            <a:off x="11084739" y="4709160"/>
            <a:ext cx="30121" cy="30121"/>
          </a:xfrm>
          <a:prstGeom prst="ellipse">
            <a:avLst/>
          </a:prstGeom>
          <a:solidFill>
            <a:schemeClr val="accent1"/>
          </a:solidFill>
          <a:ln w="5080">
            <a:solidFill>
              <a:srgbClr val="FFFFFF"/>
            </a:solidFill>
            <a:prstDash val="solid"/>
          </a:ln>
        </p:spPr>
      </p:sp>
      <p:sp>
        <p:nvSpPr>
          <p:cNvPr id="127" name="mini gen 8 4"/>
          <p:cNvSpPr/>
          <p:nvPr/>
        </p:nvSpPr>
        <p:spPr>
          <a:xfrm>
            <a:off x="11136615" y="4727448"/>
            <a:ext cx="40162" cy="16734"/>
          </a:xfrm>
          <a:prstGeom prst="rect">
            <a:avLst/>
          </a:prstGeom>
          <a:solidFill>
            <a:schemeClr val="accent1"/>
          </a:solidFill>
          <a:ln w="5080">
            <a:solidFill>
              <a:srgbClr val="FFFFFF"/>
            </a:solidFill>
            <a:prstDash val="solid"/>
          </a:ln>
        </p:spPr>
      </p:sp>
      <p:sp>
        <p:nvSpPr>
          <p:cNvPr id="128" name="mini gen 8 5"/>
          <p:cNvSpPr/>
          <p:nvPr/>
        </p:nvSpPr>
        <p:spPr>
          <a:xfrm>
            <a:off x="11198531" y="4709160"/>
            <a:ext cx="30121" cy="30121"/>
          </a:xfrm>
          <a:prstGeom prst="ellipse">
            <a:avLst/>
          </a:prstGeom>
          <a:solidFill>
            <a:schemeClr val="accent1"/>
          </a:solidFill>
          <a:ln w="5080">
            <a:solidFill>
              <a:srgbClr val="FFFFFF"/>
            </a:solidFill>
            <a:prstDash val="solid"/>
          </a:ln>
        </p:spPr>
      </p:sp>
      <p:sp>
        <p:nvSpPr>
          <p:cNvPr id="129" name="mini gen 8 6"/>
          <p:cNvSpPr/>
          <p:nvPr/>
        </p:nvSpPr>
        <p:spPr>
          <a:xfrm>
            <a:off x="11255427" y="4709160"/>
            <a:ext cx="30121" cy="30121"/>
          </a:xfrm>
          <a:prstGeom prst="ellipse">
            <a:avLst/>
          </a:prstGeom>
          <a:solidFill>
            <a:schemeClr val="accent1"/>
          </a:solidFill>
          <a:ln w="5080">
            <a:solidFill>
              <a:srgbClr val="FFFFFF"/>
            </a:solidFill>
            <a:prstDash val="solid"/>
          </a:ln>
        </p:spPr>
      </p:sp>
      <p:sp>
        <p:nvSpPr>
          <p:cNvPr id="130" name="mini gen 8 7"/>
          <p:cNvSpPr/>
          <p:nvPr/>
        </p:nvSpPr>
        <p:spPr>
          <a:xfrm>
            <a:off x="11307303" y="4727448"/>
            <a:ext cx="40162" cy="16734"/>
          </a:xfrm>
          <a:prstGeom prst="rect">
            <a:avLst/>
          </a:prstGeom>
          <a:solidFill>
            <a:schemeClr val="accent1"/>
          </a:solidFill>
          <a:ln w="5080">
            <a:solidFill>
              <a:srgbClr val="FFFFFF"/>
            </a:solidFill>
            <a:prstDash val="solid"/>
          </a:ln>
        </p:spPr>
      </p:sp>
      <p:sp>
        <p:nvSpPr>
          <p:cNvPr id="131"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ninety real designs we had came from one project and filled one corner of the design space, so CrossMEP covers all of it by construction</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r>
              <a:rPr lang="en-US" sz="1150" dirty="0">
                <a:solidFill>
                  <a:srgbClr val="52514E"/>
                </a:solidFill>
              </a:rPr>
              <a:t>   ninety · one project · confidential</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3223260" y="2032711"/>
            <a:ext cx="640080" cy="329184"/>
          </a:xfrm>
          <a:prstGeom prst="rect">
            <a:avLst/>
          </a:prstGeom>
          <a:solidFill>
            <a:srgbClr val="FFFFFF"/>
          </a:solidFill>
          <a:ln w="6350">
            <a:solidFill>
              <a:srgbClr val="898781"/>
            </a:solidFill>
            <a:prstDash val="solid"/>
          </a:ln>
        </p:spPr>
      </p:sp>
      <p:sp>
        <p:nvSpPr>
          <p:cNvPr id="10" name="mini slab real 0"/>
          <p:cNvSpPr/>
          <p:nvPr/>
        </p:nvSpPr>
        <p:spPr>
          <a:xfrm>
            <a:off x="3268980" y="2078431"/>
            <a:ext cx="548640" cy="32004"/>
          </a:xfrm>
          <a:prstGeom prst="rect">
            <a:avLst/>
          </a:prstGeom>
          <a:solidFill>
            <a:srgbClr val="52514E"/>
          </a:solidFill>
          <a:ln/>
        </p:spPr>
      </p:sp>
      <p:sp>
        <p:nvSpPr>
          <p:cNvPr id="11" name="mini real 0 0"/>
          <p:cNvSpPr/>
          <p:nvPr/>
        </p:nvSpPr>
        <p:spPr>
          <a:xfrm>
            <a:off x="3312779" y="2142439"/>
            <a:ext cx="69156" cy="50715"/>
          </a:xfrm>
          <a:prstGeom prst="rect">
            <a:avLst/>
          </a:prstGeom>
          <a:solidFill>
            <a:srgbClr val="EB6834"/>
          </a:solidFill>
          <a:ln w="5080">
            <a:solidFill>
              <a:srgbClr val="FFFFFF"/>
            </a:solidFill>
            <a:prstDash val="solid"/>
          </a:ln>
        </p:spPr>
      </p:sp>
      <p:sp>
        <p:nvSpPr>
          <p:cNvPr id="12" name="mini real 0 1"/>
          <p:cNvSpPr/>
          <p:nvPr/>
        </p:nvSpPr>
        <p:spPr>
          <a:xfrm>
            <a:off x="3404987" y="2151583"/>
            <a:ext cx="41494" cy="41494"/>
          </a:xfrm>
          <a:prstGeom prst="ellipse">
            <a:avLst/>
          </a:prstGeom>
          <a:solidFill>
            <a:srgbClr val="EB6834"/>
          </a:solidFill>
          <a:ln w="5080">
            <a:solidFill>
              <a:srgbClr val="FFFFFF"/>
            </a:solidFill>
            <a:prstDash val="solid"/>
          </a:ln>
        </p:spPr>
      </p:sp>
      <p:sp>
        <p:nvSpPr>
          <p:cNvPr id="13" name="mini real 0 2"/>
          <p:cNvSpPr/>
          <p:nvPr/>
        </p:nvSpPr>
        <p:spPr>
          <a:xfrm>
            <a:off x="3483365" y="2151583"/>
            <a:ext cx="41494" cy="41494"/>
          </a:xfrm>
          <a:prstGeom prst="ellipse">
            <a:avLst/>
          </a:prstGeom>
          <a:solidFill>
            <a:srgbClr val="EB6834"/>
          </a:solidFill>
          <a:ln w="5080">
            <a:solidFill>
              <a:srgbClr val="FFFFFF"/>
            </a:solidFill>
            <a:prstDash val="solid"/>
          </a:ln>
        </p:spPr>
      </p:sp>
      <p:sp>
        <p:nvSpPr>
          <p:cNvPr id="14" name="mini real 0 3"/>
          <p:cNvSpPr/>
          <p:nvPr/>
        </p:nvSpPr>
        <p:spPr>
          <a:xfrm>
            <a:off x="3561742" y="2151583"/>
            <a:ext cx="41494" cy="41494"/>
          </a:xfrm>
          <a:prstGeom prst="ellipse">
            <a:avLst/>
          </a:prstGeom>
          <a:solidFill>
            <a:srgbClr val="EB6834"/>
          </a:solidFill>
          <a:ln w="5080">
            <a:solidFill>
              <a:srgbClr val="FFFFFF"/>
            </a:solidFill>
            <a:prstDash val="solid"/>
          </a:ln>
        </p:spPr>
      </p:sp>
      <p:sp>
        <p:nvSpPr>
          <p:cNvPr id="15" name="mini real 0 4"/>
          <p:cNvSpPr/>
          <p:nvPr/>
        </p:nvSpPr>
        <p:spPr>
          <a:xfrm>
            <a:off x="3626288" y="2142439"/>
            <a:ext cx="69156" cy="50715"/>
          </a:xfrm>
          <a:prstGeom prst="rect">
            <a:avLst/>
          </a:prstGeom>
          <a:solidFill>
            <a:srgbClr val="EB6834"/>
          </a:solidFill>
          <a:ln w="5080">
            <a:solidFill>
              <a:srgbClr val="FFFFFF"/>
            </a:solidFill>
            <a:prstDash val="solid"/>
          </a:ln>
        </p:spPr>
      </p:sp>
      <p:sp>
        <p:nvSpPr>
          <p:cNvPr id="16" name="mini real 0 5"/>
          <p:cNvSpPr/>
          <p:nvPr/>
        </p:nvSpPr>
        <p:spPr>
          <a:xfrm>
            <a:off x="3718496" y="2151583"/>
            <a:ext cx="41494" cy="41494"/>
          </a:xfrm>
          <a:prstGeom prst="ellipse">
            <a:avLst/>
          </a:prstGeom>
          <a:solidFill>
            <a:srgbClr val="EB6834"/>
          </a:solidFill>
          <a:ln w="5080">
            <a:solidFill>
              <a:srgbClr val="FFFFFF"/>
            </a:solidFill>
            <a:prstDash val="solid"/>
          </a:ln>
        </p:spPr>
      </p:sp>
      <p:sp>
        <p:nvSpPr>
          <p:cNvPr id="17" name="mini card real 1"/>
          <p:cNvSpPr/>
          <p:nvPr/>
        </p:nvSpPr>
        <p:spPr>
          <a:xfrm>
            <a:off x="3856939" y="2032711"/>
            <a:ext cx="640080" cy="329184"/>
          </a:xfrm>
          <a:prstGeom prst="rect">
            <a:avLst/>
          </a:prstGeom>
          <a:solidFill>
            <a:srgbClr val="FFFFFF"/>
          </a:solidFill>
          <a:ln w="6350">
            <a:solidFill>
              <a:srgbClr val="898781"/>
            </a:solidFill>
            <a:prstDash val="solid"/>
          </a:ln>
        </p:spPr>
      </p:sp>
      <p:sp>
        <p:nvSpPr>
          <p:cNvPr id="18" name="mini slab real 1"/>
          <p:cNvSpPr/>
          <p:nvPr/>
        </p:nvSpPr>
        <p:spPr>
          <a:xfrm>
            <a:off x="3902659" y="2078431"/>
            <a:ext cx="548640" cy="32004"/>
          </a:xfrm>
          <a:prstGeom prst="rect">
            <a:avLst/>
          </a:prstGeom>
          <a:solidFill>
            <a:srgbClr val="52514E"/>
          </a:solidFill>
          <a:ln/>
        </p:spPr>
      </p:sp>
      <p:sp>
        <p:nvSpPr>
          <p:cNvPr id="19" name="mini real 1 0"/>
          <p:cNvSpPr/>
          <p:nvPr/>
        </p:nvSpPr>
        <p:spPr>
          <a:xfrm>
            <a:off x="3940983" y="2142439"/>
            <a:ext cx="60512" cy="44375"/>
          </a:xfrm>
          <a:prstGeom prst="rect">
            <a:avLst/>
          </a:prstGeom>
          <a:solidFill>
            <a:srgbClr val="EB6834"/>
          </a:solidFill>
          <a:ln w="5080">
            <a:solidFill>
              <a:srgbClr val="FFFFFF"/>
            </a:solidFill>
            <a:prstDash val="solid"/>
          </a:ln>
        </p:spPr>
      </p:sp>
      <p:sp>
        <p:nvSpPr>
          <p:cNvPr id="20" name="mini real 1 1"/>
          <p:cNvSpPr/>
          <p:nvPr/>
        </p:nvSpPr>
        <p:spPr>
          <a:xfrm>
            <a:off x="4021666" y="2151583"/>
            <a:ext cx="36307" cy="36307"/>
          </a:xfrm>
          <a:prstGeom prst="ellipse">
            <a:avLst/>
          </a:prstGeom>
          <a:solidFill>
            <a:srgbClr val="EB6834"/>
          </a:solidFill>
          <a:ln w="5080">
            <a:solidFill>
              <a:srgbClr val="FFFFFF"/>
            </a:solidFill>
            <a:prstDash val="solid"/>
          </a:ln>
        </p:spPr>
      </p:sp>
      <p:sp>
        <p:nvSpPr>
          <p:cNvPr id="21" name="mini real 1 2"/>
          <p:cNvSpPr/>
          <p:nvPr/>
        </p:nvSpPr>
        <p:spPr>
          <a:xfrm>
            <a:off x="4090246" y="2151583"/>
            <a:ext cx="36307" cy="36307"/>
          </a:xfrm>
          <a:prstGeom prst="ellipse">
            <a:avLst/>
          </a:prstGeom>
          <a:solidFill>
            <a:srgbClr val="EB6834"/>
          </a:solidFill>
          <a:ln w="5080">
            <a:solidFill>
              <a:srgbClr val="FFFFFF"/>
            </a:solidFill>
            <a:prstDash val="solid"/>
          </a:ln>
        </p:spPr>
      </p:sp>
      <p:sp>
        <p:nvSpPr>
          <p:cNvPr id="22" name="mini real 1 3"/>
          <p:cNvSpPr/>
          <p:nvPr/>
        </p:nvSpPr>
        <p:spPr>
          <a:xfrm>
            <a:off x="4158826" y="2151583"/>
            <a:ext cx="36307" cy="36307"/>
          </a:xfrm>
          <a:prstGeom prst="ellipse">
            <a:avLst/>
          </a:prstGeom>
          <a:solidFill>
            <a:srgbClr val="EB6834"/>
          </a:solidFill>
          <a:ln w="5080">
            <a:solidFill>
              <a:srgbClr val="FFFFFF"/>
            </a:solidFill>
            <a:prstDash val="solid"/>
          </a:ln>
        </p:spPr>
      </p:sp>
      <p:sp>
        <p:nvSpPr>
          <p:cNvPr id="23" name="mini real 1 4"/>
          <p:cNvSpPr/>
          <p:nvPr/>
        </p:nvSpPr>
        <p:spPr>
          <a:xfrm>
            <a:off x="4215303" y="2142439"/>
            <a:ext cx="60512" cy="44375"/>
          </a:xfrm>
          <a:prstGeom prst="rect">
            <a:avLst/>
          </a:prstGeom>
          <a:solidFill>
            <a:srgbClr val="EB6834"/>
          </a:solidFill>
          <a:ln w="5080">
            <a:solidFill>
              <a:srgbClr val="FFFFFF"/>
            </a:solidFill>
            <a:prstDash val="solid"/>
          </a:ln>
        </p:spPr>
      </p:sp>
      <p:sp>
        <p:nvSpPr>
          <p:cNvPr id="24" name="mini real 1 5"/>
          <p:cNvSpPr/>
          <p:nvPr/>
        </p:nvSpPr>
        <p:spPr>
          <a:xfrm>
            <a:off x="4295986" y="2151583"/>
            <a:ext cx="36307" cy="36307"/>
          </a:xfrm>
          <a:prstGeom prst="ellipse">
            <a:avLst/>
          </a:prstGeom>
          <a:solidFill>
            <a:srgbClr val="EB6834"/>
          </a:solidFill>
          <a:ln w="5080">
            <a:solidFill>
              <a:srgbClr val="FFFFFF"/>
            </a:solidFill>
            <a:prstDash val="solid"/>
          </a:ln>
        </p:spPr>
      </p:sp>
      <p:sp>
        <p:nvSpPr>
          <p:cNvPr id="25" name="mini real 1 6"/>
          <p:cNvSpPr/>
          <p:nvPr/>
        </p:nvSpPr>
        <p:spPr>
          <a:xfrm>
            <a:off x="4364566" y="2151583"/>
            <a:ext cx="36307" cy="36307"/>
          </a:xfrm>
          <a:prstGeom prst="ellipse">
            <a:avLst/>
          </a:prstGeom>
          <a:solidFill>
            <a:srgbClr val="EB6834"/>
          </a:solidFill>
          <a:ln w="5080">
            <a:solidFill>
              <a:srgbClr val="FFFFFF"/>
            </a:solidFill>
            <a:prstDash val="solid"/>
          </a:ln>
        </p:spPr>
      </p:sp>
      <p:sp>
        <p:nvSpPr>
          <p:cNvPr id="26" name="mini card real 2"/>
          <p:cNvSpPr/>
          <p:nvPr/>
        </p:nvSpPr>
        <p:spPr>
          <a:xfrm>
            <a:off x="4490618" y="2032711"/>
            <a:ext cx="640080" cy="329184"/>
          </a:xfrm>
          <a:prstGeom prst="rect">
            <a:avLst/>
          </a:prstGeom>
          <a:solidFill>
            <a:srgbClr val="FFFFFF"/>
          </a:solidFill>
          <a:ln w="6350">
            <a:solidFill>
              <a:srgbClr val="898781"/>
            </a:solidFill>
            <a:prstDash val="solid"/>
          </a:ln>
        </p:spPr>
      </p:sp>
      <p:sp>
        <p:nvSpPr>
          <p:cNvPr id="27" name="mini slab real 2"/>
          <p:cNvSpPr/>
          <p:nvPr/>
        </p:nvSpPr>
        <p:spPr>
          <a:xfrm>
            <a:off x="4536338" y="2078431"/>
            <a:ext cx="548640" cy="32004"/>
          </a:xfrm>
          <a:prstGeom prst="rect">
            <a:avLst/>
          </a:prstGeom>
          <a:solidFill>
            <a:srgbClr val="52514E"/>
          </a:solidFill>
          <a:ln/>
        </p:spPr>
      </p:sp>
      <p:sp>
        <p:nvSpPr>
          <p:cNvPr id="28" name="mini real 2 0"/>
          <p:cNvSpPr/>
          <p:nvPr/>
        </p:nvSpPr>
        <p:spPr>
          <a:xfrm>
            <a:off x="4570404" y="2142439"/>
            <a:ext cx="53788" cy="39445"/>
          </a:xfrm>
          <a:prstGeom prst="rect">
            <a:avLst/>
          </a:prstGeom>
          <a:solidFill>
            <a:srgbClr val="EB6834"/>
          </a:solidFill>
          <a:ln w="5080">
            <a:solidFill>
              <a:srgbClr val="FFFFFF"/>
            </a:solidFill>
            <a:prstDash val="solid"/>
          </a:ln>
        </p:spPr>
      </p:sp>
      <p:sp>
        <p:nvSpPr>
          <p:cNvPr id="29" name="mini real 2 1"/>
          <p:cNvSpPr/>
          <p:nvPr/>
        </p:nvSpPr>
        <p:spPr>
          <a:xfrm>
            <a:off x="4642122" y="2151583"/>
            <a:ext cx="32273" cy="32273"/>
          </a:xfrm>
          <a:prstGeom prst="ellipse">
            <a:avLst/>
          </a:prstGeom>
          <a:solidFill>
            <a:srgbClr val="EB6834"/>
          </a:solidFill>
          <a:ln w="5080">
            <a:solidFill>
              <a:srgbClr val="FFFFFF"/>
            </a:solidFill>
            <a:prstDash val="solid"/>
          </a:ln>
        </p:spPr>
      </p:sp>
      <p:sp>
        <p:nvSpPr>
          <p:cNvPr id="30" name="mini real 2 2"/>
          <p:cNvSpPr/>
          <p:nvPr/>
        </p:nvSpPr>
        <p:spPr>
          <a:xfrm>
            <a:off x="4703082" y="2151583"/>
            <a:ext cx="32273" cy="32273"/>
          </a:xfrm>
          <a:prstGeom prst="ellipse">
            <a:avLst/>
          </a:prstGeom>
          <a:solidFill>
            <a:srgbClr val="EB6834"/>
          </a:solidFill>
          <a:ln w="5080">
            <a:solidFill>
              <a:srgbClr val="FFFFFF"/>
            </a:solidFill>
            <a:prstDash val="solid"/>
          </a:ln>
        </p:spPr>
      </p:sp>
      <p:sp>
        <p:nvSpPr>
          <p:cNvPr id="31" name="mini real 2 3"/>
          <p:cNvSpPr/>
          <p:nvPr/>
        </p:nvSpPr>
        <p:spPr>
          <a:xfrm>
            <a:off x="4764042" y="2151583"/>
            <a:ext cx="32273" cy="32273"/>
          </a:xfrm>
          <a:prstGeom prst="ellipse">
            <a:avLst/>
          </a:prstGeom>
          <a:solidFill>
            <a:srgbClr val="EB6834"/>
          </a:solidFill>
          <a:ln w="5080">
            <a:solidFill>
              <a:srgbClr val="FFFFFF"/>
            </a:solidFill>
            <a:prstDash val="solid"/>
          </a:ln>
        </p:spPr>
      </p:sp>
      <p:sp>
        <p:nvSpPr>
          <p:cNvPr id="32" name="mini real 2 4"/>
          <p:cNvSpPr/>
          <p:nvPr/>
        </p:nvSpPr>
        <p:spPr>
          <a:xfrm>
            <a:off x="4814244" y="2142439"/>
            <a:ext cx="53788" cy="39445"/>
          </a:xfrm>
          <a:prstGeom prst="rect">
            <a:avLst/>
          </a:prstGeom>
          <a:solidFill>
            <a:srgbClr val="EB6834"/>
          </a:solidFill>
          <a:ln w="5080">
            <a:solidFill>
              <a:srgbClr val="FFFFFF"/>
            </a:solidFill>
            <a:prstDash val="solid"/>
          </a:ln>
        </p:spPr>
      </p:sp>
      <p:sp>
        <p:nvSpPr>
          <p:cNvPr id="33" name="mini real 2 5"/>
          <p:cNvSpPr/>
          <p:nvPr/>
        </p:nvSpPr>
        <p:spPr>
          <a:xfrm>
            <a:off x="4885962" y="2151583"/>
            <a:ext cx="32273" cy="32273"/>
          </a:xfrm>
          <a:prstGeom prst="ellipse">
            <a:avLst/>
          </a:prstGeom>
          <a:solidFill>
            <a:srgbClr val="EB6834"/>
          </a:solidFill>
          <a:ln w="5080">
            <a:solidFill>
              <a:srgbClr val="FFFFFF"/>
            </a:solidFill>
            <a:prstDash val="solid"/>
          </a:ln>
        </p:spPr>
      </p:sp>
      <p:sp>
        <p:nvSpPr>
          <p:cNvPr id="34" name="mini real 2 6"/>
          <p:cNvSpPr/>
          <p:nvPr/>
        </p:nvSpPr>
        <p:spPr>
          <a:xfrm>
            <a:off x="4946922" y="2151583"/>
            <a:ext cx="32273" cy="32273"/>
          </a:xfrm>
          <a:prstGeom prst="ellipse">
            <a:avLst/>
          </a:prstGeom>
          <a:solidFill>
            <a:srgbClr val="EB6834"/>
          </a:solidFill>
          <a:ln w="5080">
            <a:solidFill>
              <a:srgbClr val="FFFFFF"/>
            </a:solidFill>
            <a:prstDash val="solid"/>
          </a:ln>
        </p:spPr>
      </p:sp>
      <p:sp>
        <p:nvSpPr>
          <p:cNvPr id="35" name="mini real 2 7"/>
          <p:cNvSpPr/>
          <p:nvPr/>
        </p:nvSpPr>
        <p:spPr>
          <a:xfrm>
            <a:off x="5007882" y="2151583"/>
            <a:ext cx="32273" cy="32273"/>
          </a:xfrm>
          <a:prstGeom prst="ellipse">
            <a:avLst/>
          </a:prstGeom>
          <a:solidFill>
            <a:srgbClr val="EB6834"/>
          </a:solidFill>
          <a:ln w="5080">
            <a:solidFill>
              <a:srgbClr val="FFFFFF"/>
            </a:solidFill>
            <a:prstDash val="solid"/>
          </a:ln>
        </p:spPr>
      </p:sp>
      <p:sp>
        <p:nvSpPr>
          <p:cNvPr id="36" name="mini card real 3"/>
          <p:cNvSpPr/>
          <p:nvPr/>
        </p:nvSpPr>
        <p:spPr>
          <a:xfrm>
            <a:off x="3404311" y="2427732"/>
            <a:ext cx="640080" cy="329184"/>
          </a:xfrm>
          <a:prstGeom prst="rect">
            <a:avLst/>
          </a:prstGeom>
          <a:solidFill>
            <a:srgbClr val="FFFFFF"/>
          </a:solidFill>
          <a:ln w="6350">
            <a:solidFill>
              <a:srgbClr val="898781"/>
            </a:solidFill>
            <a:prstDash val="solid"/>
          </a:ln>
        </p:spPr>
      </p:sp>
      <p:sp>
        <p:nvSpPr>
          <p:cNvPr id="37" name="mini slab real 3"/>
          <p:cNvSpPr/>
          <p:nvPr/>
        </p:nvSpPr>
        <p:spPr>
          <a:xfrm>
            <a:off x="3450031" y="2473452"/>
            <a:ext cx="548640" cy="32004"/>
          </a:xfrm>
          <a:prstGeom prst="rect">
            <a:avLst/>
          </a:prstGeom>
          <a:solidFill>
            <a:srgbClr val="52514E"/>
          </a:solidFill>
          <a:ln/>
        </p:spPr>
      </p:sp>
      <p:sp>
        <p:nvSpPr>
          <p:cNvPr id="38" name="mini real 3 0"/>
          <p:cNvSpPr/>
          <p:nvPr/>
        </p:nvSpPr>
        <p:spPr>
          <a:xfrm>
            <a:off x="3493830" y="2537460"/>
            <a:ext cx="69156" cy="50715"/>
          </a:xfrm>
          <a:prstGeom prst="rect">
            <a:avLst/>
          </a:prstGeom>
          <a:solidFill>
            <a:srgbClr val="EB6834"/>
          </a:solidFill>
          <a:ln w="5080">
            <a:solidFill>
              <a:srgbClr val="FFFFFF"/>
            </a:solidFill>
            <a:prstDash val="solid"/>
          </a:ln>
        </p:spPr>
      </p:sp>
      <p:sp>
        <p:nvSpPr>
          <p:cNvPr id="39" name="mini real 3 1"/>
          <p:cNvSpPr/>
          <p:nvPr/>
        </p:nvSpPr>
        <p:spPr>
          <a:xfrm>
            <a:off x="3586039" y="2546604"/>
            <a:ext cx="41494" cy="41494"/>
          </a:xfrm>
          <a:prstGeom prst="ellipse">
            <a:avLst/>
          </a:prstGeom>
          <a:solidFill>
            <a:srgbClr val="EB6834"/>
          </a:solidFill>
          <a:ln w="5080">
            <a:solidFill>
              <a:srgbClr val="FFFFFF"/>
            </a:solidFill>
            <a:prstDash val="solid"/>
          </a:ln>
        </p:spPr>
      </p:sp>
      <p:sp>
        <p:nvSpPr>
          <p:cNvPr id="40" name="mini real 3 2"/>
          <p:cNvSpPr/>
          <p:nvPr/>
        </p:nvSpPr>
        <p:spPr>
          <a:xfrm>
            <a:off x="3664416" y="2546604"/>
            <a:ext cx="41494" cy="41494"/>
          </a:xfrm>
          <a:prstGeom prst="ellipse">
            <a:avLst/>
          </a:prstGeom>
          <a:solidFill>
            <a:srgbClr val="EB6834"/>
          </a:solidFill>
          <a:ln w="5080">
            <a:solidFill>
              <a:srgbClr val="FFFFFF"/>
            </a:solidFill>
            <a:prstDash val="solid"/>
          </a:ln>
        </p:spPr>
      </p:sp>
      <p:sp>
        <p:nvSpPr>
          <p:cNvPr id="41" name="mini real 3 3"/>
          <p:cNvSpPr/>
          <p:nvPr/>
        </p:nvSpPr>
        <p:spPr>
          <a:xfrm>
            <a:off x="3742793" y="2546604"/>
            <a:ext cx="41494" cy="41494"/>
          </a:xfrm>
          <a:prstGeom prst="ellipse">
            <a:avLst/>
          </a:prstGeom>
          <a:solidFill>
            <a:srgbClr val="EB6834"/>
          </a:solidFill>
          <a:ln w="5080">
            <a:solidFill>
              <a:srgbClr val="FFFFFF"/>
            </a:solidFill>
            <a:prstDash val="solid"/>
          </a:ln>
        </p:spPr>
      </p:sp>
      <p:sp>
        <p:nvSpPr>
          <p:cNvPr id="42" name="mini real 3 4"/>
          <p:cNvSpPr/>
          <p:nvPr/>
        </p:nvSpPr>
        <p:spPr>
          <a:xfrm>
            <a:off x="3807339" y="2537460"/>
            <a:ext cx="69156" cy="50715"/>
          </a:xfrm>
          <a:prstGeom prst="rect">
            <a:avLst/>
          </a:prstGeom>
          <a:solidFill>
            <a:srgbClr val="EB6834"/>
          </a:solidFill>
          <a:ln w="5080">
            <a:solidFill>
              <a:srgbClr val="FFFFFF"/>
            </a:solidFill>
            <a:prstDash val="solid"/>
          </a:ln>
        </p:spPr>
      </p:sp>
      <p:sp>
        <p:nvSpPr>
          <p:cNvPr id="43" name="mini real 3 5"/>
          <p:cNvSpPr/>
          <p:nvPr/>
        </p:nvSpPr>
        <p:spPr>
          <a:xfrm>
            <a:off x="3899547" y="2546604"/>
            <a:ext cx="41494" cy="41494"/>
          </a:xfrm>
          <a:prstGeom prst="ellipse">
            <a:avLst/>
          </a:prstGeom>
          <a:solidFill>
            <a:srgbClr val="EB6834"/>
          </a:solidFill>
          <a:ln w="5080">
            <a:solidFill>
              <a:srgbClr val="FFFFFF"/>
            </a:solidFill>
            <a:prstDash val="solid"/>
          </a:ln>
        </p:spPr>
      </p:sp>
      <p:sp>
        <p:nvSpPr>
          <p:cNvPr id="44" name="mini card real 4"/>
          <p:cNvSpPr/>
          <p:nvPr/>
        </p:nvSpPr>
        <p:spPr>
          <a:xfrm>
            <a:off x="4037990" y="2427732"/>
            <a:ext cx="640080" cy="329184"/>
          </a:xfrm>
          <a:prstGeom prst="rect">
            <a:avLst/>
          </a:prstGeom>
          <a:solidFill>
            <a:srgbClr val="FFFFFF"/>
          </a:solidFill>
          <a:ln w="6350">
            <a:solidFill>
              <a:srgbClr val="898781"/>
            </a:solidFill>
            <a:prstDash val="solid"/>
          </a:ln>
        </p:spPr>
      </p:sp>
      <p:sp>
        <p:nvSpPr>
          <p:cNvPr id="45" name="mini slab real 4"/>
          <p:cNvSpPr/>
          <p:nvPr/>
        </p:nvSpPr>
        <p:spPr>
          <a:xfrm>
            <a:off x="4083710" y="2473452"/>
            <a:ext cx="548640" cy="32004"/>
          </a:xfrm>
          <a:prstGeom prst="rect">
            <a:avLst/>
          </a:prstGeom>
          <a:solidFill>
            <a:srgbClr val="52514E"/>
          </a:solidFill>
          <a:ln/>
        </p:spPr>
      </p:sp>
      <p:sp>
        <p:nvSpPr>
          <p:cNvPr id="46" name="mini real 4 0"/>
          <p:cNvSpPr/>
          <p:nvPr/>
        </p:nvSpPr>
        <p:spPr>
          <a:xfrm>
            <a:off x="4122035" y="2537460"/>
            <a:ext cx="60512" cy="44375"/>
          </a:xfrm>
          <a:prstGeom prst="rect">
            <a:avLst/>
          </a:prstGeom>
          <a:solidFill>
            <a:srgbClr val="EB6834"/>
          </a:solidFill>
          <a:ln w="5080">
            <a:solidFill>
              <a:srgbClr val="FFFFFF"/>
            </a:solidFill>
            <a:prstDash val="solid"/>
          </a:ln>
        </p:spPr>
      </p:sp>
      <p:sp>
        <p:nvSpPr>
          <p:cNvPr id="47" name="mini real 4 1"/>
          <p:cNvSpPr/>
          <p:nvPr/>
        </p:nvSpPr>
        <p:spPr>
          <a:xfrm>
            <a:off x="4202717" y="2546604"/>
            <a:ext cx="36307" cy="36307"/>
          </a:xfrm>
          <a:prstGeom prst="ellipse">
            <a:avLst/>
          </a:prstGeom>
          <a:solidFill>
            <a:srgbClr val="EB6834"/>
          </a:solidFill>
          <a:ln w="5080">
            <a:solidFill>
              <a:srgbClr val="FFFFFF"/>
            </a:solidFill>
            <a:prstDash val="solid"/>
          </a:ln>
        </p:spPr>
      </p:sp>
      <p:sp>
        <p:nvSpPr>
          <p:cNvPr id="48" name="mini real 4 2"/>
          <p:cNvSpPr/>
          <p:nvPr/>
        </p:nvSpPr>
        <p:spPr>
          <a:xfrm>
            <a:off x="4271297" y="2546604"/>
            <a:ext cx="36307" cy="36307"/>
          </a:xfrm>
          <a:prstGeom prst="ellipse">
            <a:avLst/>
          </a:prstGeom>
          <a:solidFill>
            <a:srgbClr val="EB6834"/>
          </a:solidFill>
          <a:ln w="5080">
            <a:solidFill>
              <a:srgbClr val="FFFFFF"/>
            </a:solidFill>
            <a:prstDash val="solid"/>
          </a:ln>
        </p:spPr>
      </p:sp>
      <p:sp>
        <p:nvSpPr>
          <p:cNvPr id="49" name="mini real 4 3"/>
          <p:cNvSpPr/>
          <p:nvPr/>
        </p:nvSpPr>
        <p:spPr>
          <a:xfrm>
            <a:off x="4339877" y="2546604"/>
            <a:ext cx="36307" cy="36307"/>
          </a:xfrm>
          <a:prstGeom prst="ellipse">
            <a:avLst/>
          </a:prstGeom>
          <a:solidFill>
            <a:srgbClr val="EB6834"/>
          </a:solidFill>
          <a:ln w="5080">
            <a:solidFill>
              <a:srgbClr val="FFFFFF"/>
            </a:solidFill>
            <a:prstDash val="solid"/>
          </a:ln>
        </p:spPr>
      </p:sp>
      <p:sp>
        <p:nvSpPr>
          <p:cNvPr id="50" name="mini real 4 4"/>
          <p:cNvSpPr/>
          <p:nvPr/>
        </p:nvSpPr>
        <p:spPr>
          <a:xfrm>
            <a:off x="4396355" y="2537460"/>
            <a:ext cx="60512" cy="44375"/>
          </a:xfrm>
          <a:prstGeom prst="rect">
            <a:avLst/>
          </a:prstGeom>
          <a:solidFill>
            <a:srgbClr val="EB6834"/>
          </a:solidFill>
          <a:ln w="5080">
            <a:solidFill>
              <a:srgbClr val="FFFFFF"/>
            </a:solidFill>
            <a:prstDash val="solid"/>
          </a:ln>
        </p:spPr>
      </p:sp>
      <p:sp>
        <p:nvSpPr>
          <p:cNvPr id="51" name="mini real 4 5"/>
          <p:cNvSpPr/>
          <p:nvPr/>
        </p:nvSpPr>
        <p:spPr>
          <a:xfrm>
            <a:off x="4477037" y="2546604"/>
            <a:ext cx="36307" cy="36307"/>
          </a:xfrm>
          <a:prstGeom prst="ellipse">
            <a:avLst/>
          </a:prstGeom>
          <a:solidFill>
            <a:srgbClr val="EB6834"/>
          </a:solidFill>
          <a:ln w="5080">
            <a:solidFill>
              <a:srgbClr val="FFFFFF"/>
            </a:solidFill>
            <a:prstDash val="solid"/>
          </a:ln>
        </p:spPr>
      </p:sp>
      <p:sp>
        <p:nvSpPr>
          <p:cNvPr id="52" name="mini real 4 6"/>
          <p:cNvSpPr/>
          <p:nvPr/>
        </p:nvSpPr>
        <p:spPr>
          <a:xfrm>
            <a:off x="4545617" y="2546604"/>
            <a:ext cx="36307" cy="36307"/>
          </a:xfrm>
          <a:prstGeom prst="ellipse">
            <a:avLst/>
          </a:prstGeom>
          <a:solidFill>
            <a:srgbClr val="EB6834"/>
          </a:solidFill>
          <a:ln w="5080">
            <a:solidFill>
              <a:srgbClr val="FFFFFF"/>
            </a:solidFill>
            <a:prstDash val="solid"/>
          </a:ln>
        </p:spPr>
      </p:sp>
      <p:sp>
        <p:nvSpPr>
          <p:cNvPr id="53" name="mini card real 5"/>
          <p:cNvSpPr/>
          <p:nvPr/>
        </p:nvSpPr>
        <p:spPr>
          <a:xfrm>
            <a:off x="4671670" y="2427732"/>
            <a:ext cx="640080" cy="329184"/>
          </a:xfrm>
          <a:prstGeom prst="rect">
            <a:avLst/>
          </a:prstGeom>
          <a:solidFill>
            <a:srgbClr val="FFFFFF"/>
          </a:solidFill>
          <a:ln w="6350">
            <a:solidFill>
              <a:srgbClr val="898781"/>
            </a:solidFill>
            <a:prstDash val="solid"/>
          </a:ln>
        </p:spPr>
      </p:sp>
      <p:sp>
        <p:nvSpPr>
          <p:cNvPr id="54" name="mini slab real 5"/>
          <p:cNvSpPr/>
          <p:nvPr/>
        </p:nvSpPr>
        <p:spPr>
          <a:xfrm>
            <a:off x="4717390" y="2473452"/>
            <a:ext cx="548640" cy="32004"/>
          </a:xfrm>
          <a:prstGeom prst="rect">
            <a:avLst/>
          </a:prstGeom>
          <a:solidFill>
            <a:srgbClr val="52514E"/>
          </a:solidFill>
          <a:ln/>
        </p:spPr>
      </p:sp>
      <p:sp>
        <p:nvSpPr>
          <p:cNvPr id="55" name="mini real 5 0"/>
          <p:cNvSpPr/>
          <p:nvPr/>
        </p:nvSpPr>
        <p:spPr>
          <a:xfrm>
            <a:off x="4751455" y="2537460"/>
            <a:ext cx="53788" cy="39445"/>
          </a:xfrm>
          <a:prstGeom prst="rect">
            <a:avLst/>
          </a:prstGeom>
          <a:solidFill>
            <a:srgbClr val="EB6834"/>
          </a:solidFill>
          <a:ln w="5080">
            <a:solidFill>
              <a:srgbClr val="FFFFFF"/>
            </a:solidFill>
            <a:prstDash val="solid"/>
          </a:ln>
        </p:spPr>
      </p:sp>
      <p:sp>
        <p:nvSpPr>
          <p:cNvPr id="56" name="mini real 5 1"/>
          <p:cNvSpPr/>
          <p:nvPr/>
        </p:nvSpPr>
        <p:spPr>
          <a:xfrm>
            <a:off x="4823173" y="2546604"/>
            <a:ext cx="32273" cy="32273"/>
          </a:xfrm>
          <a:prstGeom prst="ellipse">
            <a:avLst/>
          </a:prstGeom>
          <a:solidFill>
            <a:srgbClr val="EB6834"/>
          </a:solidFill>
          <a:ln w="5080">
            <a:solidFill>
              <a:srgbClr val="FFFFFF"/>
            </a:solidFill>
            <a:prstDash val="solid"/>
          </a:ln>
        </p:spPr>
      </p:sp>
      <p:sp>
        <p:nvSpPr>
          <p:cNvPr id="57" name="mini real 5 2"/>
          <p:cNvSpPr/>
          <p:nvPr/>
        </p:nvSpPr>
        <p:spPr>
          <a:xfrm>
            <a:off x="4884133" y="2546604"/>
            <a:ext cx="32273" cy="32273"/>
          </a:xfrm>
          <a:prstGeom prst="ellipse">
            <a:avLst/>
          </a:prstGeom>
          <a:solidFill>
            <a:srgbClr val="EB6834"/>
          </a:solidFill>
          <a:ln w="5080">
            <a:solidFill>
              <a:srgbClr val="FFFFFF"/>
            </a:solidFill>
            <a:prstDash val="solid"/>
          </a:ln>
        </p:spPr>
      </p:sp>
      <p:sp>
        <p:nvSpPr>
          <p:cNvPr id="58" name="mini real 5 3"/>
          <p:cNvSpPr/>
          <p:nvPr/>
        </p:nvSpPr>
        <p:spPr>
          <a:xfrm>
            <a:off x="4945093" y="2546604"/>
            <a:ext cx="32273" cy="32273"/>
          </a:xfrm>
          <a:prstGeom prst="ellipse">
            <a:avLst/>
          </a:prstGeom>
          <a:solidFill>
            <a:srgbClr val="EB6834"/>
          </a:solidFill>
          <a:ln w="5080">
            <a:solidFill>
              <a:srgbClr val="FFFFFF"/>
            </a:solidFill>
            <a:prstDash val="solid"/>
          </a:ln>
        </p:spPr>
      </p:sp>
      <p:sp>
        <p:nvSpPr>
          <p:cNvPr id="59" name="mini real 5 4"/>
          <p:cNvSpPr/>
          <p:nvPr/>
        </p:nvSpPr>
        <p:spPr>
          <a:xfrm>
            <a:off x="4995295" y="2537460"/>
            <a:ext cx="53788" cy="39445"/>
          </a:xfrm>
          <a:prstGeom prst="rect">
            <a:avLst/>
          </a:prstGeom>
          <a:solidFill>
            <a:srgbClr val="EB6834"/>
          </a:solidFill>
          <a:ln w="5080">
            <a:solidFill>
              <a:srgbClr val="FFFFFF"/>
            </a:solidFill>
            <a:prstDash val="solid"/>
          </a:ln>
        </p:spPr>
      </p:sp>
      <p:sp>
        <p:nvSpPr>
          <p:cNvPr id="60" name="mini real 5 5"/>
          <p:cNvSpPr/>
          <p:nvPr/>
        </p:nvSpPr>
        <p:spPr>
          <a:xfrm>
            <a:off x="5067013" y="2546604"/>
            <a:ext cx="32273" cy="32273"/>
          </a:xfrm>
          <a:prstGeom prst="ellipse">
            <a:avLst/>
          </a:prstGeom>
          <a:solidFill>
            <a:srgbClr val="EB6834"/>
          </a:solidFill>
          <a:ln w="5080">
            <a:solidFill>
              <a:srgbClr val="FFFFFF"/>
            </a:solidFill>
            <a:prstDash val="solid"/>
          </a:ln>
        </p:spPr>
      </p:sp>
      <p:sp>
        <p:nvSpPr>
          <p:cNvPr id="61" name="mini real 5 6"/>
          <p:cNvSpPr/>
          <p:nvPr/>
        </p:nvSpPr>
        <p:spPr>
          <a:xfrm>
            <a:off x="5127973" y="2546604"/>
            <a:ext cx="32273" cy="32273"/>
          </a:xfrm>
          <a:prstGeom prst="ellipse">
            <a:avLst/>
          </a:prstGeom>
          <a:solidFill>
            <a:srgbClr val="EB6834"/>
          </a:solidFill>
          <a:ln w="5080">
            <a:solidFill>
              <a:srgbClr val="FFFFFF"/>
            </a:solidFill>
            <a:prstDash val="solid"/>
          </a:ln>
        </p:spPr>
      </p:sp>
      <p:sp>
        <p:nvSpPr>
          <p:cNvPr id="62" name="mini real 5 7"/>
          <p:cNvSpPr/>
          <p:nvPr/>
        </p:nvSpPr>
        <p:spPr>
          <a:xfrm>
            <a:off x="5188933" y="2546604"/>
            <a:ext cx="32273" cy="32273"/>
          </a:xfrm>
          <a:prstGeom prst="ellipse">
            <a:avLst/>
          </a:prstGeom>
          <a:solidFill>
            <a:srgbClr val="EB6834"/>
          </a:solidFill>
          <a:ln w="5080">
            <a:solidFill>
              <a:srgbClr val="FFFFFF"/>
            </a:solidFill>
            <a:prstDash val="solid"/>
          </a:ln>
        </p:spPr>
      </p:sp>
      <p:sp>
        <p:nvSpPr>
          <p:cNvPr id="63" name="real cluster ring"/>
          <p:cNvSpPr/>
          <p:nvPr/>
        </p:nvSpPr>
        <p:spPr>
          <a:xfrm>
            <a:off x="2997403" y="1970532"/>
            <a:ext cx="2444191" cy="962863"/>
          </a:xfrm>
          <a:prstGeom prst="ellipse">
            <a:avLst/>
          </a:prstGeom>
          <a:ln w="12700">
            <a:solidFill>
              <a:srgbClr val="EB6834"/>
            </a:solidFill>
            <a:prstDash val="dash"/>
          </a:ln>
        </p:spPr>
      </p:sp>
      <p:sp>
        <p:nvSpPr>
          <p:cNvPr id="64" name="real note"/>
          <p:cNvSpPr txBox="1"/>
          <p:nvPr/>
        </p:nvSpPr>
        <p:spPr>
          <a:xfrm>
            <a:off x="1024128" y="1995221"/>
            <a:ext cx="1810512" cy="925830"/>
          </a:xfrm>
          <a:prstGeom prst="rect">
            <a:avLst/>
          </a:prstGeom>
          <a:noFill/>
          <a:ln/>
        </p:spPr>
        <p:txBody>
          <a:bodyPr wrap="square" lIns="0" tIns="0" rIns="0" bIns="0" rtlCol="0" anchor="ctr"/>
          <a:lstStyle/>
          <a:p>
            <a:pPr indent="0" marL="0">
              <a:buNone/>
            </a:pPr>
            <a:r>
              <a:rPr lang="en-US" sz="1100" dirty="0">
                <a:solidFill>
                  <a:srgbClr val="52514E"/>
                </a:solidFill>
              </a:rPr>
              <a:t>ducts and many pipes, no trays, nothing as simple as one pipe</a:t>
            </a:r>
            <a:endParaRPr lang="en-US" sz="1100" dirty="0"/>
          </a:p>
          <a:p>
            <a:pPr indent="0" marL="0">
              <a:buNone/>
            </a:pPr>
            <a:r>
              <a:rPr lang="en-US" sz="1100" i="1" dirty="0">
                <a:solidFill>
                  <a:srgbClr val="52514E"/>
                </a:solidFill>
              </a:rPr>
              <a:t>a method tuned here only fits that project</a:t>
            </a:r>
            <a:endParaRPr lang="en-US" sz="1100" dirty="0"/>
          </a:p>
        </p:txBody>
      </p:sp>
      <p:sp>
        <p:nvSpPr>
          <p:cNvPr id="65" name="space synthetic"/>
          <p:cNvSpPr/>
          <p:nvPr/>
        </p:nvSpPr>
        <p:spPr>
          <a:xfrm>
            <a:off x="548640" y="3611880"/>
            <a:ext cx="5212080" cy="2103120"/>
          </a:xfrm>
          <a:prstGeom prst="roundRect">
            <a:avLst>
              <a:gd name="adj" fmla="val 3043"/>
            </a:avLst>
          </a:prstGeom>
          <a:solidFill>
            <a:schemeClr val="bg2"/>
          </a:solidFill>
          <a:ln/>
        </p:spPr>
      </p:sp>
      <p:sp>
        <p:nvSpPr>
          <p:cNvPr id="66"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r>
              <a:rPr lang="en-US" sz="1150" dirty="0">
                <a:solidFill>
                  <a:srgbClr val="52514E"/>
                </a:solidFill>
              </a:rPr>
              <a:t>   every tier · kinds and surfaces varied · unlimited</a:t>
            </a:r>
            <a:endParaRPr lang="en-US" sz="1400" dirty="0"/>
          </a:p>
        </p:txBody>
      </p:sp>
      <p:sp>
        <p:nvSpPr>
          <p:cNvPr id="67" name="x axis synthetic"/>
          <p:cNvSpPr/>
          <p:nvPr/>
        </p:nvSpPr>
        <p:spPr>
          <a:xfrm>
            <a:off x="1005840" y="5321808"/>
            <a:ext cx="4526280" cy="0"/>
          </a:xfrm>
          <a:prstGeom prst="line">
            <a:avLst/>
          </a:prstGeom>
          <a:noFill/>
          <a:ln w="12700">
            <a:solidFill>
              <a:srgbClr val="52514E"/>
            </a:solidFill>
            <a:prstDash val="solid"/>
            <a:tailEnd type="triangle"/>
          </a:ln>
        </p:spPr>
      </p:sp>
      <p:sp>
        <p:nvSpPr>
          <p:cNvPr id="68" name="y axis synthetic"/>
          <p:cNvSpPr/>
          <p:nvPr/>
        </p:nvSpPr>
        <p:spPr>
          <a:xfrm>
            <a:off x="1005840" y="4087368"/>
            <a:ext cx="0" cy="1234440"/>
          </a:xfrm>
          <a:prstGeom prst="line">
            <a:avLst/>
          </a:prstGeom>
          <a:noFill/>
          <a:ln w="12700">
            <a:solidFill>
              <a:srgbClr val="52514E"/>
            </a:solidFill>
            <a:prstDash val="solid"/>
            <a:headEnd type="triangle"/>
          </a:ln>
        </p:spPr>
      </p:sp>
      <p:sp>
        <p:nvSpPr>
          <p:cNvPr id="69"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70"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71"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72" name="mini slab syn 10"/>
          <p:cNvSpPr/>
          <p:nvPr/>
        </p:nvSpPr>
        <p:spPr>
          <a:xfrm>
            <a:off x="1088136" y="4160520"/>
            <a:ext cx="401193" cy="32004"/>
          </a:xfrm>
          <a:prstGeom prst="rect">
            <a:avLst/>
          </a:prstGeom>
          <a:solidFill>
            <a:srgbClr val="52514E"/>
          </a:solidFill>
          <a:ln/>
        </p:spPr>
      </p:sp>
      <p:sp>
        <p:nvSpPr>
          <p:cNvPr id="73"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74"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75" name="mini slab syn 11"/>
          <p:cNvSpPr/>
          <p:nvPr/>
        </p:nvSpPr>
        <p:spPr>
          <a:xfrm>
            <a:off x="1088136" y="4572000"/>
            <a:ext cx="401193" cy="32004"/>
          </a:xfrm>
          <a:prstGeom prst="rect">
            <a:avLst/>
          </a:prstGeom>
          <a:solidFill>
            <a:srgbClr val="52514E"/>
          </a:solidFill>
          <a:ln/>
        </p:spPr>
      </p:sp>
      <p:sp>
        <p:nvSpPr>
          <p:cNvPr id="76"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77"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78" name="mini wall syn 12"/>
          <p:cNvSpPr/>
          <p:nvPr/>
        </p:nvSpPr>
        <p:spPr>
          <a:xfrm>
            <a:off x="1088136" y="4983480"/>
            <a:ext cx="32004" cy="265176"/>
          </a:xfrm>
          <a:prstGeom prst="rect">
            <a:avLst/>
          </a:prstGeom>
          <a:solidFill>
            <a:srgbClr val="52514E"/>
          </a:solidFill>
          <a:ln/>
        </p:spPr>
      </p:sp>
      <p:sp>
        <p:nvSpPr>
          <p:cNvPr id="79"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80"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81" name="mini slab syn 20"/>
          <p:cNvSpPr/>
          <p:nvPr/>
        </p:nvSpPr>
        <p:spPr>
          <a:xfrm>
            <a:off x="1653921" y="4160520"/>
            <a:ext cx="401193" cy="32004"/>
          </a:xfrm>
          <a:prstGeom prst="rect">
            <a:avLst/>
          </a:prstGeom>
          <a:solidFill>
            <a:srgbClr val="52514E"/>
          </a:solidFill>
          <a:ln/>
        </p:spPr>
      </p:sp>
      <p:sp>
        <p:nvSpPr>
          <p:cNvPr id="82"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83"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84"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85" name="mini slab syn 21"/>
          <p:cNvSpPr/>
          <p:nvPr/>
        </p:nvSpPr>
        <p:spPr>
          <a:xfrm>
            <a:off x="1653921" y="4572000"/>
            <a:ext cx="401193" cy="32004"/>
          </a:xfrm>
          <a:prstGeom prst="rect">
            <a:avLst/>
          </a:prstGeom>
          <a:solidFill>
            <a:srgbClr val="52514E"/>
          </a:solidFill>
          <a:ln/>
        </p:spPr>
      </p:sp>
      <p:sp>
        <p:nvSpPr>
          <p:cNvPr id="86"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87"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88"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89" name="mini wall syn 22"/>
          <p:cNvSpPr/>
          <p:nvPr/>
        </p:nvSpPr>
        <p:spPr>
          <a:xfrm>
            <a:off x="1653921" y="4983480"/>
            <a:ext cx="32004" cy="265176"/>
          </a:xfrm>
          <a:prstGeom prst="rect">
            <a:avLst/>
          </a:prstGeom>
          <a:solidFill>
            <a:srgbClr val="52514E"/>
          </a:solidFill>
          <a:ln/>
        </p:spPr>
      </p:sp>
      <p:sp>
        <p:nvSpPr>
          <p:cNvPr id="90"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91"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92"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93" name="mini slab syn 30"/>
          <p:cNvSpPr/>
          <p:nvPr/>
        </p:nvSpPr>
        <p:spPr>
          <a:xfrm>
            <a:off x="2219706" y="4160520"/>
            <a:ext cx="401193" cy="32004"/>
          </a:xfrm>
          <a:prstGeom prst="rect">
            <a:avLst/>
          </a:prstGeom>
          <a:solidFill>
            <a:srgbClr val="52514E"/>
          </a:solidFill>
          <a:ln/>
        </p:spPr>
      </p:sp>
      <p:sp>
        <p:nvSpPr>
          <p:cNvPr id="94"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95"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96"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97"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98" name="mini slab syn 31"/>
          <p:cNvSpPr/>
          <p:nvPr/>
        </p:nvSpPr>
        <p:spPr>
          <a:xfrm>
            <a:off x="2219706" y="4572000"/>
            <a:ext cx="401193" cy="32004"/>
          </a:xfrm>
          <a:prstGeom prst="rect">
            <a:avLst/>
          </a:prstGeom>
          <a:solidFill>
            <a:srgbClr val="52514E"/>
          </a:solidFill>
          <a:ln/>
        </p:spPr>
      </p:sp>
      <p:sp>
        <p:nvSpPr>
          <p:cNvPr id="99"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100"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101"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102"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103" name="mini wall syn 32"/>
          <p:cNvSpPr/>
          <p:nvPr/>
        </p:nvSpPr>
        <p:spPr>
          <a:xfrm>
            <a:off x="2219706" y="4983480"/>
            <a:ext cx="32004" cy="265176"/>
          </a:xfrm>
          <a:prstGeom prst="rect">
            <a:avLst/>
          </a:prstGeom>
          <a:solidFill>
            <a:srgbClr val="52514E"/>
          </a:solidFill>
          <a:ln/>
        </p:spPr>
      </p:sp>
      <p:sp>
        <p:nvSpPr>
          <p:cNvPr id="104"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105"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106"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107"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108" name="mini slab syn 40"/>
          <p:cNvSpPr/>
          <p:nvPr/>
        </p:nvSpPr>
        <p:spPr>
          <a:xfrm>
            <a:off x="2785491" y="4160520"/>
            <a:ext cx="401193" cy="32004"/>
          </a:xfrm>
          <a:prstGeom prst="rect">
            <a:avLst/>
          </a:prstGeom>
          <a:solidFill>
            <a:srgbClr val="52514E"/>
          </a:solidFill>
          <a:ln/>
        </p:spPr>
      </p:sp>
      <p:sp>
        <p:nvSpPr>
          <p:cNvPr id="109"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110"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111"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112"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113"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114" name="mini slab syn 41"/>
          <p:cNvSpPr/>
          <p:nvPr/>
        </p:nvSpPr>
        <p:spPr>
          <a:xfrm>
            <a:off x="2785491" y="4572000"/>
            <a:ext cx="401193" cy="32004"/>
          </a:xfrm>
          <a:prstGeom prst="rect">
            <a:avLst/>
          </a:prstGeom>
          <a:solidFill>
            <a:srgbClr val="52514E"/>
          </a:solidFill>
          <a:ln/>
        </p:spPr>
      </p:sp>
      <p:sp>
        <p:nvSpPr>
          <p:cNvPr id="115"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116"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117"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118"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119"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120" name="mini wall syn 42"/>
          <p:cNvSpPr/>
          <p:nvPr/>
        </p:nvSpPr>
        <p:spPr>
          <a:xfrm>
            <a:off x="2785491" y="4983480"/>
            <a:ext cx="32004" cy="265176"/>
          </a:xfrm>
          <a:prstGeom prst="rect">
            <a:avLst/>
          </a:prstGeom>
          <a:solidFill>
            <a:srgbClr val="52514E"/>
          </a:solidFill>
          <a:ln/>
        </p:spPr>
      </p:sp>
      <p:sp>
        <p:nvSpPr>
          <p:cNvPr id="121"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122"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123"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24"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25"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26" name="mini slab syn 50"/>
          <p:cNvSpPr/>
          <p:nvPr/>
        </p:nvSpPr>
        <p:spPr>
          <a:xfrm>
            <a:off x="3351276" y="4160520"/>
            <a:ext cx="401193" cy="32004"/>
          </a:xfrm>
          <a:prstGeom prst="rect">
            <a:avLst/>
          </a:prstGeom>
          <a:solidFill>
            <a:srgbClr val="52514E"/>
          </a:solidFill>
          <a:ln/>
        </p:spPr>
      </p:sp>
      <p:sp>
        <p:nvSpPr>
          <p:cNvPr id="127"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28"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29"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30"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31"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32"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33" name="mini slab syn 51"/>
          <p:cNvSpPr/>
          <p:nvPr/>
        </p:nvSpPr>
        <p:spPr>
          <a:xfrm>
            <a:off x="3351276" y="4572000"/>
            <a:ext cx="401193" cy="32004"/>
          </a:xfrm>
          <a:prstGeom prst="rect">
            <a:avLst/>
          </a:prstGeom>
          <a:solidFill>
            <a:srgbClr val="52514E"/>
          </a:solidFill>
          <a:ln/>
        </p:spPr>
      </p:sp>
      <p:sp>
        <p:nvSpPr>
          <p:cNvPr id="134"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35"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36"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37"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38"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39"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40" name="mini wall syn 52"/>
          <p:cNvSpPr/>
          <p:nvPr/>
        </p:nvSpPr>
        <p:spPr>
          <a:xfrm>
            <a:off x="3351276" y="4983480"/>
            <a:ext cx="32004" cy="265176"/>
          </a:xfrm>
          <a:prstGeom prst="rect">
            <a:avLst/>
          </a:prstGeom>
          <a:solidFill>
            <a:srgbClr val="52514E"/>
          </a:solidFill>
          <a:ln/>
        </p:spPr>
      </p:sp>
      <p:sp>
        <p:nvSpPr>
          <p:cNvPr id="141"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42"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43"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44"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45"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46"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47" name="mini slab syn 60"/>
          <p:cNvSpPr/>
          <p:nvPr/>
        </p:nvSpPr>
        <p:spPr>
          <a:xfrm>
            <a:off x="3917061" y="4160520"/>
            <a:ext cx="401193" cy="32004"/>
          </a:xfrm>
          <a:prstGeom prst="rect">
            <a:avLst/>
          </a:prstGeom>
          <a:solidFill>
            <a:srgbClr val="52514E"/>
          </a:solidFill>
          <a:ln/>
        </p:spPr>
      </p:sp>
      <p:sp>
        <p:nvSpPr>
          <p:cNvPr id="148"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49"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50"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51"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52"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53"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54"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55" name="mini slab syn 61"/>
          <p:cNvSpPr/>
          <p:nvPr/>
        </p:nvSpPr>
        <p:spPr>
          <a:xfrm>
            <a:off x="3917061" y="4572000"/>
            <a:ext cx="401193" cy="32004"/>
          </a:xfrm>
          <a:prstGeom prst="rect">
            <a:avLst/>
          </a:prstGeom>
          <a:solidFill>
            <a:srgbClr val="52514E"/>
          </a:solidFill>
          <a:ln/>
        </p:spPr>
      </p:sp>
      <p:sp>
        <p:nvSpPr>
          <p:cNvPr id="156"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57"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58"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59"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60"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61"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62"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63" name="mini wall syn 62"/>
          <p:cNvSpPr/>
          <p:nvPr/>
        </p:nvSpPr>
        <p:spPr>
          <a:xfrm>
            <a:off x="3917061" y="4983480"/>
            <a:ext cx="32004" cy="265176"/>
          </a:xfrm>
          <a:prstGeom prst="rect">
            <a:avLst/>
          </a:prstGeom>
          <a:solidFill>
            <a:srgbClr val="52514E"/>
          </a:solidFill>
          <a:ln/>
        </p:spPr>
      </p:sp>
      <p:sp>
        <p:nvSpPr>
          <p:cNvPr id="164"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65"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66"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67"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68"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69"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70"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71" name="mini slab syn 70"/>
          <p:cNvSpPr/>
          <p:nvPr/>
        </p:nvSpPr>
        <p:spPr>
          <a:xfrm>
            <a:off x="4482846" y="4160520"/>
            <a:ext cx="401193" cy="32004"/>
          </a:xfrm>
          <a:prstGeom prst="rect">
            <a:avLst/>
          </a:prstGeom>
          <a:solidFill>
            <a:srgbClr val="52514E"/>
          </a:solidFill>
          <a:ln/>
        </p:spPr>
      </p:sp>
      <p:sp>
        <p:nvSpPr>
          <p:cNvPr id="172"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73"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74"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75"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76"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77"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78"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79"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80" name="mini slab syn 71"/>
          <p:cNvSpPr/>
          <p:nvPr/>
        </p:nvSpPr>
        <p:spPr>
          <a:xfrm>
            <a:off x="4482846" y="4572000"/>
            <a:ext cx="401193" cy="32004"/>
          </a:xfrm>
          <a:prstGeom prst="rect">
            <a:avLst/>
          </a:prstGeom>
          <a:solidFill>
            <a:srgbClr val="52514E"/>
          </a:solidFill>
          <a:ln/>
        </p:spPr>
      </p:sp>
      <p:sp>
        <p:nvSpPr>
          <p:cNvPr id="181"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82"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83"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84"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85"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86"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87"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88"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89" name="mini wall syn 72"/>
          <p:cNvSpPr/>
          <p:nvPr/>
        </p:nvSpPr>
        <p:spPr>
          <a:xfrm>
            <a:off x="4482846" y="4983480"/>
            <a:ext cx="32004" cy="265176"/>
          </a:xfrm>
          <a:prstGeom prst="rect">
            <a:avLst/>
          </a:prstGeom>
          <a:solidFill>
            <a:srgbClr val="52514E"/>
          </a:solidFill>
          <a:ln/>
        </p:spPr>
      </p:sp>
      <p:sp>
        <p:nvSpPr>
          <p:cNvPr id="190"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91"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92"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93"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94"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95"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96"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97"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98" name="mini slab syn 80"/>
          <p:cNvSpPr/>
          <p:nvPr/>
        </p:nvSpPr>
        <p:spPr>
          <a:xfrm>
            <a:off x="5048631" y="4160520"/>
            <a:ext cx="401193" cy="32004"/>
          </a:xfrm>
          <a:prstGeom prst="rect">
            <a:avLst/>
          </a:prstGeom>
          <a:solidFill>
            <a:srgbClr val="52514E"/>
          </a:solidFill>
          <a:ln/>
        </p:spPr>
      </p:sp>
      <p:sp>
        <p:nvSpPr>
          <p:cNvPr id="199"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200"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201"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202"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203"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204"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205"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206"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207"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208" name="mini slab syn 81"/>
          <p:cNvSpPr/>
          <p:nvPr/>
        </p:nvSpPr>
        <p:spPr>
          <a:xfrm>
            <a:off x="5048631" y="4572000"/>
            <a:ext cx="401193" cy="32004"/>
          </a:xfrm>
          <a:prstGeom prst="rect">
            <a:avLst/>
          </a:prstGeom>
          <a:solidFill>
            <a:srgbClr val="52514E"/>
          </a:solidFill>
          <a:ln/>
        </p:spPr>
      </p:sp>
      <p:sp>
        <p:nvSpPr>
          <p:cNvPr id="209"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210"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211"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212"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213"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214"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215"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216"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217"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218" name="mini wall syn 82"/>
          <p:cNvSpPr/>
          <p:nvPr/>
        </p:nvSpPr>
        <p:spPr>
          <a:xfrm>
            <a:off x="5048631" y="4983480"/>
            <a:ext cx="32004" cy="265176"/>
          </a:xfrm>
          <a:prstGeom prst="rect">
            <a:avLst/>
          </a:prstGeom>
          <a:solidFill>
            <a:srgbClr val="52514E"/>
          </a:solidFill>
          <a:ln/>
        </p:spPr>
      </p:sp>
      <p:sp>
        <p:nvSpPr>
          <p:cNvPr id="219"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220"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221"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222"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223"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24"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25"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26"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27"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28" name="glance 7,000"/>
          <p:cNvSpPr/>
          <p:nvPr/>
        </p:nvSpPr>
        <p:spPr>
          <a:xfrm>
            <a:off x="5806440" y="1828800"/>
            <a:ext cx="2825496" cy="1188720"/>
          </a:xfrm>
          <a:prstGeom prst="roundRect">
            <a:avLst>
              <a:gd name="adj" fmla="val 5385"/>
            </a:avLst>
          </a:prstGeom>
          <a:solidFill>
            <a:schemeClr val="bg2"/>
          </a:solidFill>
          <a:ln/>
        </p:spPr>
      </p:sp>
      <p:sp>
        <p:nvSpPr>
          <p:cNvPr id="229" name="icon ring glance 7,000"/>
          <p:cNvSpPr/>
          <p:nvPr/>
        </p:nvSpPr>
        <p:spPr>
          <a:xfrm>
            <a:off x="6007608" y="2130552"/>
            <a:ext cx="585216" cy="585216"/>
          </a:xfrm>
          <a:prstGeom prst="ellipse">
            <a:avLst/>
          </a:prstGeom>
          <a:solidFill>
            <a:schemeClr val="accent1"/>
          </a:solidFill>
          <a:ln/>
        </p:spPr>
      </p:sp>
      <p:pic>
        <p:nvPicPr>
          <p:cNvPr id="230"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31"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32"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33" name="glance 31,484"/>
          <p:cNvSpPr/>
          <p:nvPr/>
        </p:nvSpPr>
        <p:spPr>
          <a:xfrm>
            <a:off x="8814816" y="1828800"/>
            <a:ext cx="2825496" cy="1188720"/>
          </a:xfrm>
          <a:prstGeom prst="roundRect">
            <a:avLst>
              <a:gd name="adj" fmla="val 5385"/>
            </a:avLst>
          </a:prstGeom>
          <a:solidFill>
            <a:schemeClr val="bg2"/>
          </a:solidFill>
          <a:ln/>
        </p:spPr>
      </p:sp>
      <p:sp>
        <p:nvSpPr>
          <p:cNvPr id="234" name="icon ring glance 31,484"/>
          <p:cNvSpPr/>
          <p:nvPr/>
        </p:nvSpPr>
        <p:spPr>
          <a:xfrm>
            <a:off x="9015984" y="2130552"/>
            <a:ext cx="585216" cy="585216"/>
          </a:xfrm>
          <a:prstGeom prst="ellipse">
            <a:avLst/>
          </a:prstGeom>
          <a:solidFill>
            <a:schemeClr val="accent1"/>
          </a:solidFill>
          <a:ln/>
        </p:spPr>
      </p:sp>
      <p:pic>
        <p:nvPicPr>
          <p:cNvPr id="235"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36"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37"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38" name="glance C1–C8"/>
          <p:cNvSpPr/>
          <p:nvPr/>
        </p:nvSpPr>
        <p:spPr>
          <a:xfrm>
            <a:off x="5806440" y="3172968"/>
            <a:ext cx="2825496" cy="1188720"/>
          </a:xfrm>
          <a:prstGeom prst="roundRect">
            <a:avLst>
              <a:gd name="adj" fmla="val 5385"/>
            </a:avLst>
          </a:prstGeom>
          <a:solidFill>
            <a:schemeClr val="bg2"/>
          </a:solidFill>
          <a:ln/>
        </p:spPr>
      </p:sp>
      <p:sp>
        <p:nvSpPr>
          <p:cNvPr id="239" name="icon ring glance C1–C8"/>
          <p:cNvSpPr/>
          <p:nvPr/>
        </p:nvSpPr>
        <p:spPr>
          <a:xfrm>
            <a:off x="6007608" y="3474720"/>
            <a:ext cx="585216" cy="585216"/>
          </a:xfrm>
          <a:prstGeom prst="ellipse">
            <a:avLst/>
          </a:prstGeom>
          <a:solidFill>
            <a:schemeClr val="accent1"/>
          </a:solidFill>
          <a:ln/>
        </p:spPr>
      </p:sp>
      <p:pic>
        <p:nvPicPr>
          <p:cNvPr id="240"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41"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42"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43" name="glance 0 labels"/>
          <p:cNvSpPr/>
          <p:nvPr/>
        </p:nvSpPr>
        <p:spPr>
          <a:xfrm>
            <a:off x="8814816" y="3172968"/>
            <a:ext cx="2825496" cy="1188720"/>
          </a:xfrm>
          <a:prstGeom prst="roundRect">
            <a:avLst>
              <a:gd name="adj" fmla="val 5385"/>
            </a:avLst>
          </a:prstGeom>
          <a:solidFill>
            <a:schemeClr val="bg2"/>
          </a:solidFill>
          <a:ln/>
        </p:spPr>
      </p:sp>
      <p:sp>
        <p:nvSpPr>
          <p:cNvPr id="244" name="icon ring glance 0 labels"/>
          <p:cNvSpPr/>
          <p:nvPr/>
        </p:nvSpPr>
        <p:spPr>
          <a:xfrm>
            <a:off x="9015984" y="3474720"/>
            <a:ext cx="585216" cy="585216"/>
          </a:xfrm>
          <a:prstGeom prst="ellipse">
            <a:avLst/>
          </a:prstGeom>
          <a:solidFill>
            <a:schemeClr val="accent1"/>
          </a:solidFill>
          <a:ln/>
        </p:spPr>
      </p:sp>
      <p:pic>
        <p:nvPicPr>
          <p:cNvPr id="245"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46"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47"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48" name="glance Traced"/>
          <p:cNvSpPr/>
          <p:nvPr/>
        </p:nvSpPr>
        <p:spPr>
          <a:xfrm>
            <a:off x="5806440" y="4517136"/>
            <a:ext cx="2825496" cy="1188720"/>
          </a:xfrm>
          <a:prstGeom prst="roundRect">
            <a:avLst>
              <a:gd name="adj" fmla="val 5385"/>
            </a:avLst>
          </a:prstGeom>
          <a:solidFill>
            <a:schemeClr val="bg2"/>
          </a:solidFill>
          <a:ln/>
        </p:spPr>
      </p:sp>
      <p:sp>
        <p:nvSpPr>
          <p:cNvPr id="249" name="icon ring glance Traced"/>
          <p:cNvSpPr/>
          <p:nvPr/>
        </p:nvSpPr>
        <p:spPr>
          <a:xfrm>
            <a:off x="6007608" y="4818888"/>
            <a:ext cx="585216" cy="585216"/>
          </a:xfrm>
          <a:prstGeom prst="ellipse">
            <a:avLst/>
          </a:prstGeom>
          <a:solidFill>
            <a:schemeClr val="accent1"/>
          </a:solidFill>
          <a:ln/>
        </p:spPr>
      </p:sp>
      <p:pic>
        <p:nvPicPr>
          <p:cNvPr id="250"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51"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52"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53" name="glance Open"/>
          <p:cNvSpPr/>
          <p:nvPr/>
        </p:nvSpPr>
        <p:spPr>
          <a:xfrm>
            <a:off x="8814816" y="4517136"/>
            <a:ext cx="2825496" cy="1188720"/>
          </a:xfrm>
          <a:prstGeom prst="roundRect">
            <a:avLst>
              <a:gd name="adj" fmla="val 5385"/>
            </a:avLst>
          </a:prstGeom>
          <a:solidFill>
            <a:schemeClr val="bg2"/>
          </a:solidFill>
          <a:ln/>
        </p:spPr>
      </p:sp>
      <p:sp>
        <p:nvSpPr>
          <p:cNvPr id="254" name="icon ring glance Open"/>
          <p:cNvSpPr/>
          <p:nvPr/>
        </p:nvSpPr>
        <p:spPr>
          <a:xfrm>
            <a:off x="9015984" y="4818888"/>
            <a:ext cx="585216" cy="585216"/>
          </a:xfrm>
          <a:prstGeom prst="ellipse">
            <a:avLst/>
          </a:prstGeom>
          <a:solidFill>
            <a:schemeClr val="accent1"/>
          </a:solidFill>
          <a:ln/>
        </p:spPr>
      </p:sp>
      <p:pic>
        <p:nvPicPr>
          <p:cNvPr id="255"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56"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57"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8"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r>
              <a:rPr lang="en-US" sz="900" dirty="0">
                <a:solidFill>
                  <a:srgbClr val="52514E"/>
                </a:solidFill>
              </a:rPr>
              <a:t>ventilation   </a:t>
            </a:r>
            <a:r>
              <a:rPr lang="en-US" sz="900" dirty="0">
                <a:solidFill>
                  <a:srgbClr val="4A3AA7"/>
                </a:solidFill>
              </a:rPr>
              <a:t>● </a:t>
            </a:r>
            <a:r>
              <a:rPr lang="en-US" sz="900" dirty="0">
                <a:solidFill>
                  <a:srgbClr val="52514E"/>
                </a:solidFill>
              </a:rPr>
              <a:t>electrical   </a:t>
            </a:r>
            <a:r>
              <a:rPr lang="en-US" sz="900" dirty="0">
                <a:solidFill>
                  <a:srgbClr val="EB6834"/>
                </a:solidFill>
              </a:rPr>
              <a:t>● </a:t>
            </a: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21"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r>
              <a:rPr lang="en-US" sz="1200" dirty="0">
                <a:solidFill>
                  <a:srgbClr val="CADCFC"/>
                </a:solidFill>
              </a:rPr>
              <a:t>channel, rods, clamps, anchors. No correct answer either: a feasible support depends on the catalog you build from.</a:t>
            </a:r>
            <a:endParaRPr lang="en-US" sz="1200" dirty="0"/>
          </a:p>
        </p:txBody>
      </p:sp>
      <p:sp>
        <p:nvSpPr>
          <p:cNvPr id="37"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r>
              <a:rPr lang="en-US" sz="900" dirty="0">
                <a:solidFill>
                  <a:srgbClr val="52514E"/>
                </a:solidFill>
              </a:rPr>
              <a:t>ventilation   </a:t>
            </a:r>
            <a:r>
              <a:rPr lang="en-US" sz="900" dirty="0">
                <a:solidFill>
                  <a:srgbClr val="4A3AA7"/>
                </a:solidFill>
              </a:rPr>
              <a:t>● </a:t>
            </a:r>
            <a:r>
              <a:rPr lang="en-US" sz="900" dirty="0">
                <a:solidFill>
                  <a:srgbClr val="52514E"/>
                </a:solidFill>
              </a:rPr>
              <a:t>electrical   </a:t>
            </a:r>
            <a:r>
              <a:rPr lang="en-US" sz="900" dirty="0">
                <a:solidFill>
                  <a:srgbClr val="EB6834"/>
                </a:solidFill>
              </a:rPr>
              <a:t>● </a:t>
            </a: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40"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50"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r>
              <a:rPr lang="en-US" sz="900" dirty="0">
                <a:solidFill>
                  <a:srgbClr val="52514E"/>
                </a:solidFill>
              </a:rPr>
              <a:t>generated vs a real model     </a:t>
            </a:r>
            <a:r>
              <a:rPr lang="en-US" sz="900" dirty="0">
                <a:solidFill>
                  <a:srgbClr val="2A78D6"/>
                </a:solidFill>
              </a:rPr>
              <a:t>● </a:t>
            </a:r>
            <a:r>
              <a:rPr lang="en-US" sz="900" dirty="0">
                <a:solidFill>
                  <a:srgbClr val="52514E"/>
                </a:solidFill>
              </a:rPr>
              <a:t>real vs real     </a:t>
            </a: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54"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1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1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32"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31"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2026-10-07T02:47:34Z</dcterms:created>
  <dcterms:modified xsi:type="dcterms:W3CDTF">2026-10-07T02:47:34Z</dcterms:modified>
</cp:coreProperties>
</file>