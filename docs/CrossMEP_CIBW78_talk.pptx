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ec6755c-285a-34b9-e910-83f32fa24f22}">
          <p14:sldIdLst>
            <p14:sldId id="256"/>
          </p14:sldIdLst>
        </p14:section>
        <p14:section name="Motivation" id="{7cf64c2c-af39-2147-94c2-9ccf7f88dffa}">
          <p14:sldIdLst>
            <p14:sldId id="257"/>
            <p14:sldId id="258"/>
            <p14:sldId id="259"/>
            <p14:sldId id="260"/>
          </p14:sldIdLst>
        </p14:section>
        <p14:section name="The dataset" id="{970a061f-d158-c9b1-bd39-49c4c713c698}">
          <p14:sldIdLst>
            <p14:sldId id="261"/>
            <p14:sldId id="262"/>
            <p14:sldId id="263"/>
            <p14:sldId id="264"/>
            <p14:sldId id="265"/>
          </p14:sldIdLst>
        </p14:section>
        <p14:section name="Experiments" id="{30038198-7fda-66a7-9b81-4575a0d0781b}">
          <p14:sldIdLst>
            <p14:sldId id="266"/>
            <p14:sldId id="267"/>
            <p14:sldId id="268"/>
          </p14:sldIdLst>
        </p14:section>
        <p14:section name="Use" id="{41bea3ca-0fd5-9612-f129-51215dedda8f}">
          <p14:sldIdLst>
            <p14:sldId id="269"/>
            <p14:sldId id="270"/>
            <p14:sldId id="271"/>
            <p14:sldId id="272"/>
          </p14:sldIdLst>
        </p14:section>
        <p14:section name="Appendix" id="{ef06d59e-7076-9b44-c31e-cf7dcb0a1730}">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that looks like. In this hospital, every red mark is a place where pipes, ducts or cable trays hang from the structure. A modular support system groups several services onto one prefabricated frame, installed as a single unit: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task? At ISARC we defined it like this. You're given a fixed catalog of components and the context: which services cross the hanger, and what they hang from. You must find a feasible assembly that carries them to the structure. Designers don't work from the whole model. They work from one section at each hanger, like this one. Today's tools coordinate and check; choosing the layout and the parts is still manual. That section is the unit of this work, and the unit of our dataset.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On the left, the brief: the context, and a catalog of parts with prices. The rules say which actions are legal; each action adds parts. In the middle, a black box chooses the next action: a rule table, a search, or a learned policy. A verifier judges every finished design, statics, anchors, buildability, and feeds pass or fail back. Out come verified designs, ranked by cost. Whatever sits in that black box, it needs problems to learn from, a fixed set to compare on, and problems that look like practice.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and they sat in one corner of the design space: one kind of project, one trade mix. A method tuned to them measures fit to that project. So we generate. CrossMEP covers the space by construction, and without limit: a new seed is a new set of problems, uniform over the tiers, or shaped to whatever mix you ask for. The seven thousand contexts in eight tiers are the release, not the ceiling: deliberately unlabeled, every constant sourced or declared, and all of it open.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The context is the brief. The assembly is the answer.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Not by free randomness, but by rules an engineer would recognize.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and the same seed gives the same file, byte for byte.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kinds, trades, surfaces, stacking. So the element count is the one controlled axis of difficulty. And notice the walls: the section rotates, and electrical sits above water.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does difficulty grow with the tier? The count is fixed by construction, and load and congestion follow from the rules, so this shows the dataset behaves as designed. The load at the support rises with the tier, from about 0.3 to 2.0 kilonewtons. The closest gap narrows at every step, from 130 to about 51 millimeters. So: report methods tier by tier. (5:25)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the way a context is defined, and measured the gaps between pipes running side by side. On the right, the distances. Generator to clinic: 32 millimeters. That is above the 8 a perfect generator would show, so not a perfect match, but about as close as the duplex's own two models are to each other. A fixed 25-millimeter gap would be about 190 off.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Python call that reproduces it. Scan the code to try it yourself. [Live: switch to the studio, click C3, then Generate another twice, then Exact mix with a duct. If the demo fails, stay on this slide; slide 18 shows two more sections. Before the talk: open the studio once with internet, set its link sharing to public, scan the QR from a phone not logged in.]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Because there are no labels, the same files serve reinforcement learning, constraint programming, and benchmarking people. We ship the scoring too. Train on the generator, from C1 up to C8. Evaluate on the benchmark, the same 125 contexts per tier for every method. Report per tier, with 95 percent intervals and paired tests. (8:30)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Pipe spacing was checked on two open buildings; the rest rests on practice and standards, and the trade mix is a design choice. It's not for structural design of real installations. Next: a public checker, with best-known costs, so we can compare methods on the answer; the catalog as an input; and a real test set from commercial projects, with supports designed by engineers. That's where I'd value your eye.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an assembly from a catalog and a section has resisted automation</a:t>
            </a:r>
            <a:endParaRPr lang="en-US" sz="2600" dirty="0"/>
          </a:p>
        </p:txBody>
      </p:sp>
      <p:sp>
        <p:nvSpPr>
          <p:cNvPr id="3" name="problem card"/>
          <p:cNvSpPr/>
          <p:nvPr/>
        </p:nvSpPr>
        <p:spPr>
          <a:xfrm>
            <a:off x="548640" y="1371600"/>
            <a:ext cx="5212080" cy="2606040"/>
          </a:xfrm>
          <a:prstGeom prst="roundRect">
            <a:avLst>
              <a:gd name="adj" fmla="val 2456"/>
            </a:avLst>
          </a:prstGeom>
          <a:solidFill>
            <a:schemeClr val="bg2"/>
          </a:solidFill>
          <a:ln/>
        </p:spPr>
      </p:sp>
      <p:sp>
        <p:nvSpPr>
          <p:cNvPr id="4" name="problem"/>
          <p:cNvSpPr txBox="1"/>
          <p:nvPr/>
        </p:nvSpPr>
        <p:spPr>
          <a:xfrm>
            <a:off x="777240" y="1508760"/>
            <a:ext cx="4754880" cy="2377440"/>
          </a:xfrm>
          <a:prstGeom prst="rect">
            <a:avLst/>
          </a:prstGeom>
          <a:noFill/>
          <a:ln/>
        </p:spPr>
        <p:txBody>
          <a:bodyPr wrap="square" lIns="0" tIns="0" rIns="0" bIns="0" rtlCol="0" anchor="t"/>
          <a:lstStyle/>
          <a:p>
            <a:pPr indent="0" marL="0">
              <a:buNone/>
            </a:pPr>
            <a:r>
              <a:rPr lang="en-US" sz="1700" b="1" dirty="0">
                <a:solidFill>
                  <a:schemeClr val="tx1"/>
                </a:solidFill>
              </a:rPr>
              <a:t>The synthesis problem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Given </a:t>
            </a:r>
            <a:pPr indent="0" marL="0">
              <a:buNone/>
            </a:pPr>
            <a:r>
              <a:rPr lang="en-US" sz="1500" dirty="0">
                <a:solidFill>
                  <a:schemeClr val="tx1"/>
                </a:solidFill>
              </a:rPr>
              <a:t>a fixed catalog of components and the MEP context: the services crossing the hanger and the surface they hang from.</a:t>
            </a:r>
            <a:endParaRPr lang="en-US" sz="1500" dirty="0"/>
          </a:p>
          <a:p>
            <a:pPr indent="0" marL="0">
              <a:buNone/>
            </a:pPr>
            <a:r>
              <a:rPr lang="en-US" sz="600" dirty="0">
                <a:solidFill>
                  <a:schemeClr val="tx1"/>
                </a:solidFill>
              </a:rPr>
              <a:t> </a:t>
            </a:r>
            <a:endParaRPr lang="en-US" sz="1500" dirty="0"/>
          </a:p>
          <a:p>
            <a:pPr indent="0" marL="0">
              <a:buNone/>
            </a:pPr>
            <a:r>
              <a:rPr lang="en-US" sz="1500" b="1" dirty="0">
                <a:solidFill>
                  <a:schemeClr val="tx1"/>
                </a:solidFill>
              </a:rPr>
              <a:t>Find </a:t>
            </a:r>
            <a:pPr indent="0" marL="0">
              <a:buNone/>
            </a:pPr>
            <a:r>
              <a:rPr lang="en-US" sz="1500" dirty="0">
                <a:solidFill>
                  <a:schemeClr val="tx1"/>
                </a:solidFill>
              </a:rPr>
              <a:t>a feasible assembly that carries the services to the structure.</a:t>
            </a:r>
            <a:endParaRPr lang="en-US" sz="1500" dirty="0"/>
          </a:p>
          <a:p>
            <a:pPr indent="0" marL="0">
              <a:buNone/>
            </a:pPr>
            <a:r>
              <a:rPr lang="en-US" sz="600" dirty="0">
                <a:solidFill>
                  <a:schemeClr val="tx1"/>
                </a:solidFill>
              </a:rPr>
              <a:t> </a:t>
            </a:r>
            <a:endParaRPr lang="en-US" sz="1500" dirty="0"/>
          </a:p>
          <a:p>
            <a:pPr indent="0" marL="0">
              <a:buNone/>
            </a:pPr>
            <a:r>
              <a:rPr lang="en-US" sz="1500" i="1" dirty="0">
                <a:solidFill>
                  <a:schemeClr val="tx1"/>
                </a:solidFill>
              </a:rPr>
              <a:t>Tools coordinate the model and check a design; choosing the topology and the parts is still done by hand.</a:t>
            </a:r>
            <a:endParaRPr lang="en-US" sz="1500" dirty="0"/>
          </a:p>
        </p:txBody>
      </p:sp>
      <p:pic>
        <p:nvPicPr>
          <p:cNvPr id="5" name="route to section" descr="/home/user/crossmep_dataset/docs/figures/paper_fig1_route_to_section.png">    </p:cNvPr>
          <p:cNvPicPr>
            <a:picLocks noChangeAspect="1"/>
          </p:cNvPicPr>
          <p:nvPr/>
        </p:nvPicPr>
        <p:blipFill>
          <a:blip r:embed="rId1"/>
          <a:stretch>
            <a:fillRect/>
          </a:stretch>
        </p:blipFill>
        <p:spPr>
          <a:xfrm>
            <a:off x="5989320" y="1642325"/>
            <a:ext cx="5650992" cy="1561670"/>
          </a:xfrm>
          <a:prstGeom prst="rect">
            <a:avLst/>
          </a:prstGeom>
        </p:spPr>
      </p:pic>
      <p:sp>
        <p:nvSpPr>
          <p:cNvPr id="6" name="fig1 caption"/>
          <p:cNvSpPr txBox="1"/>
          <p:nvPr/>
        </p:nvSpPr>
        <p:spPr>
          <a:xfrm>
            <a:off x="5989320" y="3295435"/>
            <a:ext cx="5650992"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in, verified supports out: learnable, given problems to learn from</a:t>
            </a:r>
            <a:endParaRPr lang="en-US" sz="2600" dirty="0"/>
          </a:p>
        </p:txBody>
      </p:sp>
      <p:sp>
        <p:nvSpPr>
          <p:cNvPr id="3" name="box context"/>
          <p:cNvSpPr/>
          <p:nvPr/>
        </p:nvSpPr>
        <p:spPr>
          <a:xfrm>
            <a:off x="548640" y="1554480"/>
            <a:ext cx="1737360" cy="960120"/>
          </a:xfrm>
          <a:prstGeom prst="roundRect">
            <a:avLst>
              <a:gd name="adj" fmla="val 5714"/>
            </a:avLst>
          </a:prstGeom>
          <a:solidFill>
            <a:schemeClr val="bg2"/>
          </a:solidFill>
          <a:ln w="12700">
            <a:solidFill>
              <a:srgbClr val="52514E"/>
            </a:solidFill>
            <a:prstDash val="solid"/>
          </a:ln>
        </p:spPr>
      </p:sp>
      <p:sp>
        <p:nvSpPr>
          <p:cNvPr id="4" name="text context"/>
          <p:cNvSpPr txBox="1"/>
          <p:nvPr/>
        </p:nvSpPr>
        <p:spPr>
          <a:xfrm>
            <a:off x="548640" y="1554480"/>
            <a:ext cx="1737360" cy="96012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5"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6"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7"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sp>
        <p:nvSpPr>
          <p:cNvPr id="8" name="text rules"/>
          <p:cNvSpPr txBox="1"/>
          <p:nvPr/>
        </p:nvSpPr>
        <p:spPr>
          <a:xfrm>
            <a:off x="274320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9" name="arrow context to rules"/>
          <p:cNvSpPr/>
          <p:nvPr/>
        </p:nvSpPr>
        <p:spPr>
          <a:xfrm>
            <a:off x="2286000" y="2029968"/>
            <a:ext cx="457200" cy="0"/>
          </a:xfrm>
          <a:prstGeom prst="line">
            <a:avLst/>
          </a:prstGeom>
          <a:noFill/>
          <a:ln w="15875">
            <a:solidFill>
              <a:srgbClr val="52514E"/>
            </a:solidFill>
            <a:prstDash val="solid"/>
            <a:tailEnd type="triangle"/>
          </a:ln>
        </p:spPr>
      </p:sp>
      <p:sp>
        <p:nvSpPr>
          <p:cNvPr id="10"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1" name="black box approach"/>
          <p:cNvSpPr/>
          <p:nvPr/>
        </p:nvSpPr>
        <p:spPr>
          <a:xfrm>
            <a:off x="5120640" y="1554480"/>
            <a:ext cx="2194560" cy="2240280"/>
          </a:xfrm>
          <a:prstGeom prst="roundRect">
            <a:avLst>
              <a:gd name="adj" fmla="val 2500"/>
            </a:avLst>
          </a:prstGeom>
          <a:solidFill>
            <a:srgbClr val="0B0B0B"/>
          </a:solidFill>
          <a:ln/>
        </p:spPr>
      </p:sp>
      <p:sp>
        <p:nvSpPr>
          <p:cNvPr id="12" name="text approach"/>
          <p:cNvSpPr txBox="1"/>
          <p:nvPr/>
        </p:nvSpPr>
        <p:spPr>
          <a:xfrm>
            <a:off x="5120640" y="1554480"/>
            <a:ext cx="2194560" cy="224028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13" name="arrow legal actions"/>
          <p:cNvSpPr/>
          <p:nvPr/>
        </p:nvSpPr>
        <p:spPr>
          <a:xfrm>
            <a:off x="4572000" y="2354580"/>
            <a:ext cx="548640" cy="0"/>
          </a:xfrm>
          <a:prstGeom prst="line">
            <a:avLst/>
          </a:prstGeom>
          <a:noFill/>
          <a:ln w="15875">
            <a:solidFill>
              <a:srgbClr val="52514E"/>
            </a:solidFill>
            <a:prstDash val="solid"/>
            <a:tailEnd type="triangle"/>
          </a:ln>
        </p:spPr>
      </p:sp>
      <p:sp>
        <p:nvSpPr>
          <p:cNvPr id="14"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15" name="arrow chosen action"/>
          <p:cNvSpPr/>
          <p:nvPr/>
        </p:nvSpPr>
        <p:spPr>
          <a:xfrm>
            <a:off x="4572000" y="2994660"/>
            <a:ext cx="548640" cy="0"/>
          </a:xfrm>
          <a:prstGeom prst="line">
            <a:avLst/>
          </a:prstGeom>
          <a:noFill/>
          <a:ln w="15875">
            <a:solidFill>
              <a:srgbClr val="52514E"/>
            </a:solidFill>
            <a:prstDash val="solid"/>
            <a:headEnd type="triangle"/>
          </a:ln>
        </p:spPr>
      </p:sp>
      <p:sp>
        <p:nvSpPr>
          <p:cNvPr id="16"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17"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sp>
        <p:nvSpPr>
          <p:cNvPr id="18" name="text verifier"/>
          <p:cNvSpPr txBox="1"/>
          <p:nvPr/>
        </p:nvSpPr>
        <p:spPr>
          <a:xfrm>
            <a:off x="786384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19"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0"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1"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22" name="text output"/>
          <p:cNvSpPr txBox="1"/>
          <p:nvPr/>
        </p:nvSpPr>
        <p:spPr>
          <a:xfrm>
            <a:off x="10104120" y="1554480"/>
            <a:ext cx="1536192"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23" name="arrow to output"/>
          <p:cNvSpPr/>
          <p:nvPr/>
        </p:nvSpPr>
        <p:spPr>
          <a:xfrm>
            <a:off x="9692640" y="2674620"/>
            <a:ext cx="411480" cy="0"/>
          </a:xfrm>
          <a:prstGeom prst="line">
            <a:avLst/>
          </a:prstGeom>
          <a:noFill/>
          <a:ln w="15875">
            <a:solidFill>
              <a:srgbClr val="52514E"/>
            </a:solidFill>
            <a:prstDash val="solid"/>
            <a:tailEnd type="triangle"/>
          </a:ln>
        </p:spPr>
      </p:sp>
      <p:sp>
        <p:nvSpPr>
          <p:cNvPr id="24" name="feedback down"/>
          <p:cNvSpPr/>
          <p:nvPr/>
        </p:nvSpPr>
        <p:spPr>
          <a:xfrm>
            <a:off x="8778240" y="3794760"/>
            <a:ext cx="0" cy="274320"/>
          </a:xfrm>
          <a:prstGeom prst="line">
            <a:avLst/>
          </a:prstGeom>
          <a:noFill/>
          <a:ln w="15875">
            <a:solidFill>
              <a:srgbClr val="008300"/>
            </a:solidFill>
            <a:prstDash val="dash"/>
          </a:ln>
        </p:spPr>
      </p:sp>
      <p:sp>
        <p:nvSpPr>
          <p:cNvPr id="25" name="feedback across"/>
          <p:cNvSpPr/>
          <p:nvPr/>
        </p:nvSpPr>
        <p:spPr>
          <a:xfrm>
            <a:off x="6217920" y="4069080"/>
            <a:ext cx="2560320" cy="0"/>
          </a:xfrm>
          <a:prstGeom prst="line">
            <a:avLst/>
          </a:prstGeom>
          <a:noFill/>
          <a:ln w="15875">
            <a:solidFill>
              <a:srgbClr val="008300"/>
            </a:solidFill>
            <a:prstDash val="dash"/>
          </a:ln>
        </p:spPr>
      </p:sp>
      <p:sp>
        <p:nvSpPr>
          <p:cNvPr id="26" name="feedback up"/>
          <p:cNvSpPr/>
          <p:nvPr/>
        </p:nvSpPr>
        <p:spPr>
          <a:xfrm>
            <a:off x="6217920" y="3794760"/>
            <a:ext cx="0" cy="274320"/>
          </a:xfrm>
          <a:prstGeom prst="line">
            <a:avLst/>
          </a:prstGeom>
          <a:noFill/>
          <a:ln w="15875">
            <a:solidFill>
              <a:srgbClr val="008300"/>
            </a:solidFill>
            <a:prstDash val="dash"/>
            <a:headEnd type="triangle"/>
          </a:ln>
        </p:spPr>
      </p:sp>
      <p:sp>
        <p:nvSpPr>
          <p:cNvPr id="27"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28"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29"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30"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31"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32"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33"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34"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35"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36"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37"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38" name="needs band"/>
          <p:cNvSpPr/>
          <p:nvPr/>
        </p:nvSpPr>
        <p:spPr>
          <a:xfrm>
            <a:off x="548640" y="5074920"/>
            <a:ext cx="11091672" cy="914400"/>
          </a:xfrm>
          <a:prstGeom prst="roundRect">
            <a:avLst>
              <a:gd name="adj" fmla="val 7000"/>
            </a:avLst>
          </a:prstGeom>
          <a:solidFill>
            <a:schemeClr val="tx2"/>
          </a:solidFill>
          <a:ln/>
        </p:spPr>
      </p:sp>
      <p:sp>
        <p:nvSpPr>
          <p:cNvPr id="39"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without limit: a new seed is a new set;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9"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0"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0"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1"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1"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2"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4"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2026-10-06T21:35:07Z</dcterms:created>
  <dcterms:modified xsi:type="dcterms:W3CDTF">2026-10-06T21:35:07Z</dcterms:modified>
</cp:coreProperties>
</file>