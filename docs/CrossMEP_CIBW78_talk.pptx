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0ec0d28-b7e9-2b30-cab7-cb88ce53d1b0}">
          <p14:sldIdLst>
            <p14:sldId id="256"/>
          </p14:sldIdLst>
        </p14:section>
        <p14:section name="Motivation" id="{2e37f96a-1a60-990c-54a8-de63b802a8ef}">
          <p14:sldIdLst>
            <p14:sldId id="257"/>
            <p14:sldId id="258"/>
            <p14:sldId id="259"/>
            <p14:sldId id="260"/>
            <p14:sldId id="261"/>
          </p14:sldIdLst>
        </p14:section>
        <p14:section name="The dataset" id="{95c42947-36be-93d6-eb32-b1c88fe3083f}">
          <p14:sldIdLst>
            <p14:sldId id="262"/>
            <p14:sldId id="263"/>
            <p14:sldId id="264"/>
          </p14:sldIdLst>
        </p14:section>
        <p14:section name="Experiments" id="{78cd0d0c-a576-613c-4741-5d54200ac191}">
          <p14:sldIdLst>
            <p14:sldId id="265"/>
            <p14:sldId id="266"/>
            <p14:sldId id="267"/>
          </p14:sldIdLst>
        </p14:section>
        <p14:section name="Use" id="{a404a41f-798e-5b16-676e-ceb1eb26102d}">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(4:35)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(7:50)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4.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
        <p:nvSpPr>
          <p:cNvPr id="7" name="logo chip"/>
          <p:cNvSpPr/>
          <p:nvPr/>
        </p:nvSpPr>
        <p:spPr>
          <a:xfrm>
            <a:off x="8229600" y="489204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412480" y="507847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10607040" y="536418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hospital needs about ten thousand support assemblies, and every one of them is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Approximate practitioner estimates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support designer turns one cross-section into a set of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The synthesis problem as defined at ISARC 2026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Choosing the assembly from a catalog is still done by hand, one section at a time</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Any method, learned or not, needs problems to learn from and a fixed benchmark to be judged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real designs we had sat in one corner of the design space, so we generate the whole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few · one project · one trade mix</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1095908" y="2736342"/>
            <a:ext cx="548640" cy="329184"/>
          </a:xfrm>
          <a:prstGeom prst="rect">
            <a:avLst/>
          </a:prstGeom>
          <a:solidFill>
            <a:srgbClr val="FFFFFF"/>
          </a:solidFill>
          <a:ln w="6350">
            <a:solidFill>
              <a:srgbClr val="898781"/>
            </a:solidFill>
            <a:prstDash val="solid"/>
          </a:ln>
        </p:spPr>
      </p:sp>
      <p:sp>
        <p:nvSpPr>
          <p:cNvPr id="10" name="mini slab real 0"/>
          <p:cNvSpPr/>
          <p:nvPr/>
        </p:nvSpPr>
        <p:spPr>
          <a:xfrm>
            <a:off x="1141628" y="2782062"/>
            <a:ext cx="457200" cy="32004"/>
          </a:xfrm>
          <a:prstGeom prst="rect">
            <a:avLst/>
          </a:prstGeom>
          <a:solidFill>
            <a:srgbClr val="52514E"/>
          </a:solidFill>
          <a:ln/>
        </p:spPr>
      </p:sp>
      <p:sp>
        <p:nvSpPr>
          <p:cNvPr id="11" name="mini real 0 0"/>
          <p:cNvSpPr/>
          <p:nvPr/>
        </p:nvSpPr>
        <p:spPr>
          <a:xfrm>
            <a:off x="1225673" y="2855214"/>
            <a:ext cx="60512" cy="60512"/>
          </a:xfrm>
          <a:prstGeom prst="ellipse">
            <a:avLst/>
          </a:prstGeom>
          <a:solidFill>
            <a:srgbClr val="EB6834"/>
          </a:solidFill>
          <a:ln w="5080">
            <a:solidFill>
              <a:srgbClr val="FFFFFF"/>
            </a:solidFill>
            <a:prstDash val="solid"/>
          </a:ln>
        </p:spPr>
      </p:sp>
      <p:sp>
        <p:nvSpPr>
          <p:cNvPr id="12" name="mini real 0 1"/>
          <p:cNvSpPr/>
          <p:nvPr/>
        </p:nvSpPr>
        <p:spPr>
          <a:xfrm>
            <a:off x="1339973" y="2855214"/>
            <a:ext cx="60512" cy="60512"/>
          </a:xfrm>
          <a:prstGeom prst="ellipse">
            <a:avLst/>
          </a:prstGeom>
          <a:solidFill>
            <a:srgbClr val="EB6834"/>
          </a:solidFill>
          <a:ln w="5080">
            <a:solidFill>
              <a:srgbClr val="FFFFFF"/>
            </a:solidFill>
            <a:prstDash val="solid"/>
          </a:ln>
        </p:spPr>
      </p:sp>
      <p:sp>
        <p:nvSpPr>
          <p:cNvPr id="13" name="mini real 0 2"/>
          <p:cNvSpPr/>
          <p:nvPr/>
        </p:nvSpPr>
        <p:spPr>
          <a:xfrm>
            <a:off x="1454273" y="2855214"/>
            <a:ext cx="60512" cy="60512"/>
          </a:xfrm>
          <a:prstGeom prst="ellipse">
            <a:avLst/>
          </a:prstGeom>
          <a:solidFill>
            <a:srgbClr val="EB6834"/>
          </a:solidFill>
          <a:ln w="5080">
            <a:solidFill>
              <a:srgbClr val="FFFFFF"/>
            </a:solidFill>
            <a:prstDash val="solid"/>
          </a:ln>
        </p:spPr>
      </p:sp>
      <p:sp>
        <p:nvSpPr>
          <p:cNvPr id="14" name="mini card real 1"/>
          <p:cNvSpPr/>
          <p:nvPr/>
        </p:nvSpPr>
        <p:spPr>
          <a:xfrm>
            <a:off x="1593799" y="2649931"/>
            <a:ext cx="548640" cy="329184"/>
          </a:xfrm>
          <a:prstGeom prst="rect">
            <a:avLst/>
          </a:prstGeom>
          <a:solidFill>
            <a:srgbClr val="FFFFFF"/>
          </a:solidFill>
          <a:ln w="6350">
            <a:solidFill>
              <a:srgbClr val="898781"/>
            </a:solidFill>
            <a:prstDash val="solid"/>
          </a:ln>
        </p:spPr>
      </p:sp>
      <p:sp>
        <p:nvSpPr>
          <p:cNvPr id="15" name="mini slab real 1"/>
          <p:cNvSpPr/>
          <p:nvPr/>
        </p:nvSpPr>
        <p:spPr>
          <a:xfrm>
            <a:off x="1639519" y="2695651"/>
            <a:ext cx="457200" cy="32004"/>
          </a:xfrm>
          <a:prstGeom prst="rect">
            <a:avLst/>
          </a:prstGeom>
          <a:solidFill>
            <a:srgbClr val="52514E"/>
          </a:solidFill>
          <a:ln/>
        </p:spPr>
      </p:sp>
      <p:sp>
        <p:nvSpPr>
          <p:cNvPr id="16" name="mini real 1 0"/>
          <p:cNvSpPr/>
          <p:nvPr/>
        </p:nvSpPr>
        <p:spPr>
          <a:xfrm>
            <a:off x="1723563" y="2768803"/>
            <a:ext cx="60512" cy="60512"/>
          </a:xfrm>
          <a:prstGeom prst="ellipse">
            <a:avLst/>
          </a:prstGeom>
          <a:solidFill>
            <a:srgbClr val="EB6834"/>
          </a:solidFill>
          <a:ln w="5080">
            <a:solidFill>
              <a:srgbClr val="FFFFFF"/>
            </a:solidFill>
            <a:prstDash val="solid"/>
          </a:ln>
        </p:spPr>
      </p:sp>
      <p:sp>
        <p:nvSpPr>
          <p:cNvPr id="17" name="mini real 1 1"/>
          <p:cNvSpPr/>
          <p:nvPr/>
        </p:nvSpPr>
        <p:spPr>
          <a:xfrm>
            <a:off x="1837863" y="2768803"/>
            <a:ext cx="60512" cy="60512"/>
          </a:xfrm>
          <a:prstGeom prst="ellipse">
            <a:avLst/>
          </a:prstGeom>
          <a:solidFill>
            <a:srgbClr val="EB6834"/>
          </a:solidFill>
          <a:ln w="5080">
            <a:solidFill>
              <a:srgbClr val="FFFFFF"/>
            </a:solidFill>
            <a:prstDash val="solid"/>
          </a:ln>
        </p:spPr>
      </p:sp>
      <p:sp>
        <p:nvSpPr>
          <p:cNvPr id="18" name="mini real 1 2"/>
          <p:cNvSpPr/>
          <p:nvPr/>
        </p:nvSpPr>
        <p:spPr>
          <a:xfrm>
            <a:off x="1952163" y="2768803"/>
            <a:ext cx="60512" cy="60512"/>
          </a:xfrm>
          <a:prstGeom prst="ellipse">
            <a:avLst/>
          </a:prstGeom>
          <a:solidFill>
            <a:srgbClr val="EB6834"/>
          </a:solidFill>
          <a:ln w="5080">
            <a:solidFill>
              <a:srgbClr val="FFFFFF"/>
            </a:solidFill>
            <a:prstDash val="solid"/>
          </a:ln>
        </p:spPr>
      </p:sp>
      <p:sp>
        <p:nvSpPr>
          <p:cNvPr id="19" name="mini card real 2"/>
          <p:cNvSpPr/>
          <p:nvPr/>
        </p:nvSpPr>
        <p:spPr>
          <a:xfrm>
            <a:off x="2091690" y="2748686"/>
            <a:ext cx="548640" cy="329184"/>
          </a:xfrm>
          <a:prstGeom prst="rect">
            <a:avLst/>
          </a:prstGeom>
          <a:solidFill>
            <a:srgbClr val="FFFFFF"/>
          </a:solidFill>
          <a:ln w="6350">
            <a:solidFill>
              <a:srgbClr val="898781"/>
            </a:solidFill>
            <a:prstDash val="solid"/>
          </a:ln>
        </p:spPr>
      </p:sp>
      <p:sp>
        <p:nvSpPr>
          <p:cNvPr id="20" name="mini slab real 2"/>
          <p:cNvSpPr/>
          <p:nvPr/>
        </p:nvSpPr>
        <p:spPr>
          <a:xfrm>
            <a:off x="2137410" y="2794406"/>
            <a:ext cx="457200" cy="32004"/>
          </a:xfrm>
          <a:prstGeom prst="rect">
            <a:avLst/>
          </a:prstGeom>
          <a:solidFill>
            <a:srgbClr val="52514E"/>
          </a:solidFill>
          <a:ln/>
        </p:spPr>
      </p:sp>
      <p:sp>
        <p:nvSpPr>
          <p:cNvPr id="21" name="mini real 2 0"/>
          <p:cNvSpPr/>
          <p:nvPr/>
        </p:nvSpPr>
        <p:spPr>
          <a:xfrm>
            <a:off x="2221454" y="2867558"/>
            <a:ext cx="60512" cy="60512"/>
          </a:xfrm>
          <a:prstGeom prst="ellipse">
            <a:avLst/>
          </a:prstGeom>
          <a:solidFill>
            <a:srgbClr val="EB6834"/>
          </a:solidFill>
          <a:ln w="5080">
            <a:solidFill>
              <a:srgbClr val="FFFFFF"/>
            </a:solidFill>
            <a:prstDash val="solid"/>
          </a:ln>
        </p:spPr>
      </p:sp>
      <p:sp>
        <p:nvSpPr>
          <p:cNvPr id="22" name="mini real 2 1"/>
          <p:cNvSpPr/>
          <p:nvPr/>
        </p:nvSpPr>
        <p:spPr>
          <a:xfrm>
            <a:off x="2335754" y="2867558"/>
            <a:ext cx="60512" cy="60512"/>
          </a:xfrm>
          <a:prstGeom prst="ellipse">
            <a:avLst/>
          </a:prstGeom>
          <a:solidFill>
            <a:srgbClr val="EB6834"/>
          </a:solidFill>
          <a:ln w="5080">
            <a:solidFill>
              <a:srgbClr val="FFFFFF"/>
            </a:solidFill>
            <a:prstDash val="solid"/>
          </a:ln>
        </p:spPr>
      </p:sp>
      <p:sp>
        <p:nvSpPr>
          <p:cNvPr id="23" name="mini real 2 2"/>
          <p:cNvSpPr/>
          <p:nvPr/>
        </p:nvSpPr>
        <p:spPr>
          <a:xfrm>
            <a:off x="2450054" y="2867558"/>
            <a:ext cx="60512" cy="60512"/>
          </a:xfrm>
          <a:prstGeom prst="ellipse">
            <a:avLst/>
          </a:prstGeom>
          <a:solidFill>
            <a:srgbClr val="EB6834"/>
          </a:solidFill>
          <a:ln w="5080">
            <a:solidFill>
              <a:srgbClr val="FFFFFF"/>
            </a:solidFill>
            <a:prstDash val="solid"/>
          </a:ln>
        </p:spPr>
      </p:sp>
      <p:sp>
        <p:nvSpPr>
          <p:cNvPr id="24" name="mini card real 3"/>
          <p:cNvSpPr/>
          <p:nvPr/>
        </p:nvSpPr>
        <p:spPr>
          <a:xfrm>
            <a:off x="1231697" y="2304288"/>
            <a:ext cx="548640" cy="329184"/>
          </a:xfrm>
          <a:prstGeom prst="rect">
            <a:avLst/>
          </a:prstGeom>
          <a:solidFill>
            <a:srgbClr val="FFFFFF"/>
          </a:solidFill>
          <a:ln w="6350">
            <a:solidFill>
              <a:srgbClr val="898781"/>
            </a:solidFill>
            <a:prstDash val="solid"/>
          </a:ln>
        </p:spPr>
      </p:sp>
      <p:sp>
        <p:nvSpPr>
          <p:cNvPr id="25" name="mini slab real 3"/>
          <p:cNvSpPr/>
          <p:nvPr/>
        </p:nvSpPr>
        <p:spPr>
          <a:xfrm>
            <a:off x="1277417" y="2350008"/>
            <a:ext cx="457200" cy="32004"/>
          </a:xfrm>
          <a:prstGeom prst="rect">
            <a:avLst/>
          </a:prstGeom>
          <a:solidFill>
            <a:srgbClr val="52514E"/>
          </a:solidFill>
          <a:ln/>
        </p:spPr>
      </p:sp>
      <p:sp>
        <p:nvSpPr>
          <p:cNvPr id="26" name="mini real 3 0"/>
          <p:cNvSpPr/>
          <p:nvPr/>
        </p:nvSpPr>
        <p:spPr>
          <a:xfrm>
            <a:off x="1361461" y="2423160"/>
            <a:ext cx="60512" cy="60512"/>
          </a:xfrm>
          <a:prstGeom prst="ellipse">
            <a:avLst/>
          </a:prstGeom>
          <a:solidFill>
            <a:srgbClr val="EB6834"/>
          </a:solidFill>
          <a:ln w="5080">
            <a:solidFill>
              <a:srgbClr val="FFFFFF"/>
            </a:solidFill>
            <a:prstDash val="solid"/>
          </a:ln>
        </p:spPr>
      </p:sp>
      <p:sp>
        <p:nvSpPr>
          <p:cNvPr id="27" name="mini real 3 1"/>
          <p:cNvSpPr/>
          <p:nvPr/>
        </p:nvSpPr>
        <p:spPr>
          <a:xfrm>
            <a:off x="1475761" y="2423160"/>
            <a:ext cx="60512" cy="60512"/>
          </a:xfrm>
          <a:prstGeom prst="ellipse">
            <a:avLst/>
          </a:prstGeom>
          <a:solidFill>
            <a:srgbClr val="EB6834"/>
          </a:solidFill>
          <a:ln w="5080">
            <a:solidFill>
              <a:srgbClr val="FFFFFF"/>
            </a:solidFill>
            <a:prstDash val="solid"/>
          </a:ln>
        </p:spPr>
      </p:sp>
      <p:sp>
        <p:nvSpPr>
          <p:cNvPr id="28" name="mini real 3 2"/>
          <p:cNvSpPr/>
          <p:nvPr/>
        </p:nvSpPr>
        <p:spPr>
          <a:xfrm>
            <a:off x="1590061" y="2423160"/>
            <a:ext cx="60512" cy="60512"/>
          </a:xfrm>
          <a:prstGeom prst="ellipse">
            <a:avLst/>
          </a:prstGeom>
          <a:solidFill>
            <a:srgbClr val="EB6834"/>
          </a:solidFill>
          <a:ln w="5080">
            <a:solidFill>
              <a:srgbClr val="FFFFFF"/>
            </a:solidFill>
            <a:prstDash val="solid"/>
          </a:ln>
        </p:spPr>
      </p:sp>
      <p:sp>
        <p:nvSpPr>
          <p:cNvPr id="29" name="mini card real 4"/>
          <p:cNvSpPr/>
          <p:nvPr/>
        </p:nvSpPr>
        <p:spPr>
          <a:xfrm>
            <a:off x="1865376" y="2353666"/>
            <a:ext cx="548640" cy="329184"/>
          </a:xfrm>
          <a:prstGeom prst="rect">
            <a:avLst/>
          </a:prstGeom>
          <a:solidFill>
            <a:srgbClr val="FFFFFF"/>
          </a:solidFill>
          <a:ln w="6350">
            <a:solidFill>
              <a:srgbClr val="898781"/>
            </a:solidFill>
            <a:prstDash val="solid"/>
          </a:ln>
        </p:spPr>
      </p:sp>
      <p:sp>
        <p:nvSpPr>
          <p:cNvPr id="30" name="mini slab real 4"/>
          <p:cNvSpPr/>
          <p:nvPr/>
        </p:nvSpPr>
        <p:spPr>
          <a:xfrm>
            <a:off x="1911096" y="2399386"/>
            <a:ext cx="457200" cy="32004"/>
          </a:xfrm>
          <a:prstGeom prst="rect">
            <a:avLst/>
          </a:prstGeom>
          <a:solidFill>
            <a:srgbClr val="52514E"/>
          </a:solidFill>
          <a:ln/>
        </p:spPr>
      </p:sp>
      <p:sp>
        <p:nvSpPr>
          <p:cNvPr id="31" name="mini real 4 0"/>
          <p:cNvSpPr/>
          <p:nvPr/>
        </p:nvSpPr>
        <p:spPr>
          <a:xfrm>
            <a:off x="1995140" y="2472538"/>
            <a:ext cx="60512" cy="60512"/>
          </a:xfrm>
          <a:prstGeom prst="ellipse">
            <a:avLst/>
          </a:prstGeom>
          <a:solidFill>
            <a:srgbClr val="EB6834"/>
          </a:solidFill>
          <a:ln w="5080">
            <a:solidFill>
              <a:srgbClr val="FFFFFF"/>
            </a:solidFill>
            <a:prstDash val="solid"/>
          </a:ln>
        </p:spPr>
      </p:sp>
      <p:sp>
        <p:nvSpPr>
          <p:cNvPr id="32" name="mini real 4 1"/>
          <p:cNvSpPr/>
          <p:nvPr/>
        </p:nvSpPr>
        <p:spPr>
          <a:xfrm>
            <a:off x="2109440" y="2472538"/>
            <a:ext cx="60512" cy="60512"/>
          </a:xfrm>
          <a:prstGeom prst="ellipse">
            <a:avLst/>
          </a:prstGeom>
          <a:solidFill>
            <a:srgbClr val="EB6834"/>
          </a:solidFill>
          <a:ln w="5080">
            <a:solidFill>
              <a:srgbClr val="FFFFFF"/>
            </a:solidFill>
            <a:prstDash val="solid"/>
          </a:ln>
        </p:spPr>
      </p:sp>
      <p:sp>
        <p:nvSpPr>
          <p:cNvPr id="33" name="mini real 4 2"/>
          <p:cNvSpPr/>
          <p:nvPr/>
        </p:nvSpPr>
        <p:spPr>
          <a:xfrm>
            <a:off x="2223740" y="2472538"/>
            <a:ext cx="60512" cy="60512"/>
          </a:xfrm>
          <a:prstGeom prst="ellipse">
            <a:avLst/>
          </a:prstGeom>
          <a:solidFill>
            <a:srgbClr val="EB6834"/>
          </a:solidFill>
          <a:ln w="5080">
            <a:solidFill>
              <a:srgbClr val="FFFFFF"/>
            </a:solidFill>
            <a:prstDash val="solid"/>
          </a:ln>
        </p:spPr>
      </p:sp>
      <p:sp>
        <p:nvSpPr>
          <p:cNvPr id="34" name="mini card real 5"/>
          <p:cNvSpPr/>
          <p:nvPr/>
        </p:nvSpPr>
        <p:spPr>
          <a:xfrm>
            <a:off x="2453792" y="2427732"/>
            <a:ext cx="548640" cy="329184"/>
          </a:xfrm>
          <a:prstGeom prst="rect">
            <a:avLst/>
          </a:prstGeom>
          <a:solidFill>
            <a:srgbClr val="FFFFFF"/>
          </a:solidFill>
          <a:ln w="6350">
            <a:solidFill>
              <a:srgbClr val="898781"/>
            </a:solidFill>
            <a:prstDash val="solid"/>
          </a:ln>
        </p:spPr>
      </p:sp>
      <p:sp>
        <p:nvSpPr>
          <p:cNvPr id="35" name="mini slab real 5"/>
          <p:cNvSpPr/>
          <p:nvPr/>
        </p:nvSpPr>
        <p:spPr>
          <a:xfrm>
            <a:off x="2499512" y="2473452"/>
            <a:ext cx="457200" cy="32004"/>
          </a:xfrm>
          <a:prstGeom prst="rect">
            <a:avLst/>
          </a:prstGeom>
          <a:solidFill>
            <a:srgbClr val="52514E"/>
          </a:solidFill>
          <a:ln/>
        </p:spPr>
      </p:sp>
      <p:sp>
        <p:nvSpPr>
          <p:cNvPr id="36" name="mini real 5 0"/>
          <p:cNvSpPr/>
          <p:nvPr/>
        </p:nvSpPr>
        <p:spPr>
          <a:xfrm>
            <a:off x="2583557" y="2546604"/>
            <a:ext cx="60512" cy="60512"/>
          </a:xfrm>
          <a:prstGeom prst="ellipse">
            <a:avLst/>
          </a:prstGeom>
          <a:solidFill>
            <a:srgbClr val="EB6834"/>
          </a:solidFill>
          <a:ln w="5080">
            <a:solidFill>
              <a:srgbClr val="FFFFFF"/>
            </a:solidFill>
            <a:prstDash val="solid"/>
          </a:ln>
        </p:spPr>
      </p:sp>
      <p:sp>
        <p:nvSpPr>
          <p:cNvPr id="37" name="mini real 5 1"/>
          <p:cNvSpPr/>
          <p:nvPr/>
        </p:nvSpPr>
        <p:spPr>
          <a:xfrm>
            <a:off x="2697857" y="2546604"/>
            <a:ext cx="60512" cy="60512"/>
          </a:xfrm>
          <a:prstGeom prst="ellipse">
            <a:avLst/>
          </a:prstGeom>
          <a:solidFill>
            <a:srgbClr val="EB6834"/>
          </a:solidFill>
          <a:ln w="5080">
            <a:solidFill>
              <a:srgbClr val="FFFFFF"/>
            </a:solidFill>
            <a:prstDash val="solid"/>
          </a:ln>
        </p:spPr>
      </p:sp>
      <p:sp>
        <p:nvSpPr>
          <p:cNvPr id="38" name="mini real 5 2"/>
          <p:cNvSpPr/>
          <p:nvPr/>
        </p:nvSpPr>
        <p:spPr>
          <a:xfrm>
            <a:off x="2812157" y="2546604"/>
            <a:ext cx="60512" cy="60512"/>
          </a:xfrm>
          <a:prstGeom prst="ellipse">
            <a:avLst/>
          </a:prstGeom>
          <a:solidFill>
            <a:srgbClr val="EB6834"/>
          </a:solidFill>
          <a:ln w="5080">
            <a:solidFill>
              <a:srgbClr val="FFFFFF"/>
            </a:solidFill>
            <a:prstDash val="solid"/>
          </a:ln>
        </p:spPr>
      </p:sp>
      <p:sp>
        <p:nvSpPr>
          <p:cNvPr id="39" name="real cluster ring"/>
          <p:cNvSpPr/>
          <p:nvPr/>
        </p:nvSpPr>
        <p:spPr>
          <a:xfrm>
            <a:off x="987552" y="2279142"/>
            <a:ext cx="2263140" cy="839419"/>
          </a:xfrm>
          <a:prstGeom prst="ellipse">
            <a:avLst/>
          </a:prstGeom>
          <a:ln w="12700">
            <a:solidFill>
              <a:srgbClr val="EB6834"/>
            </a:solidFill>
            <a:prstDash val="dash"/>
          </a:ln>
        </p:spPr>
      </p:sp>
      <p:sp>
        <p:nvSpPr>
          <p:cNvPr id="40" name="real note"/>
          <p:cNvSpPr txBox="1"/>
          <p:nvPr/>
        </p:nvSpPr>
        <p:spPr>
          <a:xfrm>
            <a:off x="3359506" y="2217420"/>
            <a:ext cx="2172614"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only fits that project</a:t>
            </a:r>
            <a:endParaRPr lang="en-US" sz="1100" dirty="0"/>
          </a:p>
        </p:txBody>
      </p:sp>
      <p:sp>
        <p:nvSpPr>
          <p:cNvPr id="41" name="space synthetic"/>
          <p:cNvSpPr/>
          <p:nvPr/>
        </p:nvSpPr>
        <p:spPr>
          <a:xfrm>
            <a:off x="548640" y="3611880"/>
            <a:ext cx="5212080" cy="2103120"/>
          </a:xfrm>
          <a:prstGeom prst="roundRect">
            <a:avLst>
              <a:gd name="adj" fmla="val 3043"/>
            </a:avLst>
          </a:prstGeom>
          <a:solidFill>
            <a:schemeClr val="bg2"/>
          </a:solidFill>
          <a:ln/>
        </p:spPr>
      </p:sp>
      <p:sp>
        <p:nvSpPr>
          <p:cNvPr id="42"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43" name="x axis synthetic"/>
          <p:cNvSpPr/>
          <p:nvPr/>
        </p:nvSpPr>
        <p:spPr>
          <a:xfrm>
            <a:off x="1005840" y="5321808"/>
            <a:ext cx="4526280" cy="0"/>
          </a:xfrm>
          <a:prstGeom prst="line">
            <a:avLst/>
          </a:prstGeom>
          <a:noFill/>
          <a:ln w="12700">
            <a:solidFill>
              <a:srgbClr val="52514E"/>
            </a:solidFill>
            <a:prstDash val="solid"/>
            <a:tailEnd type="triangle"/>
          </a:ln>
        </p:spPr>
      </p:sp>
      <p:sp>
        <p:nvSpPr>
          <p:cNvPr id="44" name="y axis synthetic"/>
          <p:cNvSpPr/>
          <p:nvPr/>
        </p:nvSpPr>
        <p:spPr>
          <a:xfrm>
            <a:off x="1005840" y="4087368"/>
            <a:ext cx="0" cy="1234440"/>
          </a:xfrm>
          <a:prstGeom prst="line">
            <a:avLst/>
          </a:prstGeom>
          <a:noFill/>
          <a:ln w="12700">
            <a:solidFill>
              <a:srgbClr val="52514E"/>
            </a:solidFill>
            <a:prstDash val="solid"/>
            <a:headEnd type="triangle"/>
          </a:ln>
        </p:spPr>
      </p:sp>
      <p:sp>
        <p:nvSpPr>
          <p:cNvPr id="45"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46"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47"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48" name="mini slab syn 10"/>
          <p:cNvSpPr/>
          <p:nvPr/>
        </p:nvSpPr>
        <p:spPr>
          <a:xfrm>
            <a:off x="1088136" y="4160520"/>
            <a:ext cx="401193" cy="32004"/>
          </a:xfrm>
          <a:prstGeom prst="rect">
            <a:avLst/>
          </a:prstGeom>
          <a:solidFill>
            <a:srgbClr val="52514E"/>
          </a:solidFill>
          <a:ln/>
        </p:spPr>
      </p:sp>
      <p:sp>
        <p:nvSpPr>
          <p:cNvPr id="49"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50"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51" name="mini slab syn 11"/>
          <p:cNvSpPr/>
          <p:nvPr/>
        </p:nvSpPr>
        <p:spPr>
          <a:xfrm>
            <a:off x="1088136" y="4572000"/>
            <a:ext cx="401193" cy="32004"/>
          </a:xfrm>
          <a:prstGeom prst="rect">
            <a:avLst/>
          </a:prstGeom>
          <a:solidFill>
            <a:srgbClr val="52514E"/>
          </a:solidFill>
          <a:ln/>
        </p:spPr>
      </p:sp>
      <p:sp>
        <p:nvSpPr>
          <p:cNvPr id="52"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53"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54" name="mini wall syn 12"/>
          <p:cNvSpPr/>
          <p:nvPr/>
        </p:nvSpPr>
        <p:spPr>
          <a:xfrm>
            <a:off x="1088136" y="4983480"/>
            <a:ext cx="32004" cy="265176"/>
          </a:xfrm>
          <a:prstGeom prst="rect">
            <a:avLst/>
          </a:prstGeom>
          <a:solidFill>
            <a:srgbClr val="52514E"/>
          </a:solidFill>
          <a:ln/>
        </p:spPr>
      </p:sp>
      <p:sp>
        <p:nvSpPr>
          <p:cNvPr id="55"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56"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57" name="mini slab syn 20"/>
          <p:cNvSpPr/>
          <p:nvPr/>
        </p:nvSpPr>
        <p:spPr>
          <a:xfrm>
            <a:off x="1653921" y="4160520"/>
            <a:ext cx="401193" cy="32004"/>
          </a:xfrm>
          <a:prstGeom prst="rect">
            <a:avLst/>
          </a:prstGeom>
          <a:solidFill>
            <a:srgbClr val="52514E"/>
          </a:solidFill>
          <a:ln/>
        </p:spPr>
      </p:sp>
      <p:sp>
        <p:nvSpPr>
          <p:cNvPr id="58"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59"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60"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61" name="mini slab syn 21"/>
          <p:cNvSpPr/>
          <p:nvPr/>
        </p:nvSpPr>
        <p:spPr>
          <a:xfrm>
            <a:off x="1653921" y="4572000"/>
            <a:ext cx="401193" cy="32004"/>
          </a:xfrm>
          <a:prstGeom prst="rect">
            <a:avLst/>
          </a:prstGeom>
          <a:solidFill>
            <a:srgbClr val="52514E"/>
          </a:solidFill>
          <a:ln/>
        </p:spPr>
      </p:sp>
      <p:sp>
        <p:nvSpPr>
          <p:cNvPr id="62"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63"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64"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65" name="mini wall syn 22"/>
          <p:cNvSpPr/>
          <p:nvPr/>
        </p:nvSpPr>
        <p:spPr>
          <a:xfrm>
            <a:off x="1653921" y="4983480"/>
            <a:ext cx="32004" cy="265176"/>
          </a:xfrm>
          <a:prstGeom prst="rect">
            <a:avLst/>
          </a:prstGeom>
          <a:solidFill>
            <a:srgbClr val="52514E"/>
          </a:solidFill>
          <a:ln/>
        </p:spPr>
      </p:sp>
      <p:sp>
        <p:nvSpPr>
          <p:cNvPr id="66"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67"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68"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69" name="mini slab syn 30"/>
          <p:cNvSpPr/>
          <p:nvPr/>
        </p:nvSpPr>
        <p:spPr>
          <a:xfrm>
            <a:off x="2219706" y="4160520"/>
            <a:ext cx="401193" cy="32004"/>
          </a:xfrm>
          <a:prstGeom prst="rect">
            <a:avLst/>
          </a:prstGeom>
          <a:solidFill>
            <a:srgbClr val="52514E"/>
          </a:solidFill>
          <a:ln/>
        </p:spPr>
      </p:sp>
      <p:sp>
        <p:nvSpPr>
          <p:cNvPr id="70"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71"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72"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73"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74" name="mini slab syn 31"/>
          <p:cNvSpPr/>
          <p:nvPr/>
        </p:nvSpPr>
        <p:spPr>
          <a:xfrm>
            <a:off x="2219706" y="4572000"/>
            <a:ext cx="401193" cy="32004"/>
          </a:xfrm>
          <a:prstGeom prst="rect">
            <a:avLst/>
          </a:prstGeom>
          <a:solidFill>
            <a:srgbClr val="52514E"/>
          </a:solidFill>
          <a:ln/>
        </p:spPr>
      </p:sp>
      <p:sp>
        <p:nvSpPr>
          <p:cNvPr id="75"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76"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77"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78"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79" name="mini wall syn 32"/>
          <p:cNvSpPr/>
          <p:nvPr/>
        </p:nvSpPr>
        <p:spPr>
          <a:xfrm>
            <a:off x="2219706" y="4983480"/>
            <a:ext cx="32004" cy="265176"/>
          </a:xfrm>
          <a:prstGeom prst="rect">
            <a:avLst/>
          </a:prstGeom>
          <a:solidFill>
            <a:srgbClr val="52514E"/>
          </a:solidFill>
          <a:ln/>
        </p:spPr>
      </p:sp>
      <p:sp>
        <p:nvSpPr>
          <p:cNvPr id="80"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81"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82"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83"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84" name="mini slab syn 40"/>
          <p:cNvSpPr/>
          <p:nvPr/>
        </p:nvSpPr>
        <p:spPr>
          <a:xfrm>
            <a:off x="2785491" y="4160520"/>
            <a:ext cx="401193" cy="32004"/>
          </a:xfrm>
          <a:prstGeom prst="rect">
            <a:avLst/>
          </a:prstGeom>
          <a:solidFill>
            <a:srgbClr val="52514E"/>
          </a:solidFill>
          <a:ln/>
        </p:spPr>
      </p:sp>
      <p:sp>
        <p:nvSpPr>
          <p:cNvPr id="85"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86"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87"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88"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89"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90" name="mini slab syn 41"/>
          <p:cNvSpPr/>
          <p:nvPr/>
        </p:nvSpPr>
        <p:spPr>
          <a:xfrm>
            <a:off x="2785491" y="4572000"/>
            <a:ext cx="401193" cy="32004"/>
          </a:xfrm>
          <a:prstGeom prst="rect">
            <a:avLst/>
          </a:prstGeom>
          <a:solidFill>
            <a:srgbClr val="52514E"/>
          </a:solidFill>
          <a:ln/>
        </p:spPr>
      </p:sp>
      <p:sp>
        <p:nvSpPr>
          <p:cNvPr id="91"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92"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93"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94"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95"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96" name="mini wall syn 42"/>
          <p:cNvSpPr/>
          <p:nvPr/>
        </p:nvSpPr>
        <p:spPr>
          <a:xfrm>
            <a:off x="2785491" y="4983480"/>
            <a:ext cx="32004" cy="265176"/>
          </a:xfrm>
          <a:prstGeom prst="rect">
            <a:avLst/>
          </a:prstGeom>
          <a:solidFill>
            <a:srgbClr val="52514E"/>
          </a:solidFill>
          <a:ln/>
        </p:spPr>
      </p:sp>
      <p:sp>
        <p:nvSpPr>
          <p:cNvPr id="97"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98"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99"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00"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01"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02" name="mini slab syn 50"/>
          <p:cNvSpPr/>
          <p:nvPr/>
        </p:nvSpPr>
        <p:spPr>
          <a:xfrm>
            <a:off x="3351276" y="4160520"/>
            <a:ext cx="401193" cy="32004"/>
          </a:xfrm>
          <a:prstGeom prst="rect">
            <a:avLst/>
          </a:prstGeom>
          <a:solidFill>
            <a:srgbClr val="52514E"/>
          </a:solidFill>
          <a:ln/>
        </p:spPr>
      </p:sp>
      <p:sp>
        <p:nvSpPr>
          <p:cNvPr id="103"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04"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05"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06"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07"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08"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09" name="mini slab syn 51"/>
          <p:cNvSpPr/>
          <p:nvPr/>
        </p:nvSpPr>
        <p:spPr>
          <a:xfrm>
            <a:off x="3351276" y="4572000"/>
            <a:ext cx="401193" cy="32004"/>
          </a:xfrm>
          <a:prstGeom prst="rect">
            <a:avLst/>
          </a:prstGeom>
          <a:solidFill>
            <a:srgbClr val="52514E"/>
          </a:solidFill>
          <a:ln/>
        </p:spPr>
      </p:sp>
      <p:sp>
        <p:nvSpPr>
          <p:cNvPr id="110"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11"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12"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13"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14"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15"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16" name="mini wall syn 52"/>
          <p:cNvSpPr/>
          <p:nvPr/>
        </p:nvSpPr>
        <p:spPr>
          <a:xfrm>
            <a:off x="3351276" y="4983480"/>
            <a:ext cx="32004" cy="265176"/>
          </a:xfrm>
          <a:prstGeom prst="rect">
            <a:avLst/>
          </a:prstGeom>
          <a:solidFill>
            <a:srgbClr val="52514E"/>
          </a:solidFill>
          <a:ln/>
        </p:spPr>
      </p:sp>
      <p:sp>
        <p:nvSpPr>
          <p:cNvPr id="117"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18"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19"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20"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21"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22"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23" name="mini slab syn 60"/>
          <p:cNvSpPr/>
          <p:nvPr/>
        </p:nvSpPr>
        <p:spPr>
          <a:xfrm>
            <a:off x="3917061" y="4160520"/>
            <a:ext cx="401193" cy="32004"/>
          </a:xfrm>
          <a:prstGeom prst="rect">
            <a:avLst/>
          </a:prstGeom>
          <a:solidFill>
            <a:srgbClr val="52514E"/>
          </a:solidFill>
          <a:ln/>
        </p:spPr>
      </p:sp>
      <p:sp>
        <p:nvSpPr>
          <p:cNvPr id="124"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25"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26"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27"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28"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29"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30"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31" name="mini slab syn 61"/>
          <p:cNvSpPr/>
          <p:nvPr/>
        </p:nvSpPr>
        <p:spPr>
          <a:xfrm>
            <a:off x="3917061" y="4572000"/>
            <a:ext cx="401193" cy="32004"/>
          </a:xfrm>
          <a:prstGeom prst="rect">
            <a:avLst/>
          </a:prstGeom>
          <a:solidFill>
            <a:srgbClr val="52514E"/>
          </a:solidFill>
          <a:ln/>
        </p:spPr>
      </p:sp>
      <p:sp>
        <p:nvSpPr>
          <p:cNvPr id="132"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33"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34"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35"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36"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37"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38"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39" name="mini wall syn 62"/>
          <p:cNvSpPr/>
          <p:nvPr/>
        </p:nvSpPr>
        <p:spPr>
          <a:xfrm>
            <a:off x="3917061" y="4983480"/>
            <a:ext cx="32004" cy="265176"/>
          </a:xfrm>
          <a:prstGeom prst="rect">
            <a:avLst/>
          </a:prstGeom>
          <a:solidFill>
            <a:srgbClr val="52514E"/>
          </a:solidFill>
          <a:ln/>
        </p:spPr>
      </p:sp>
      <p:sp>
        <p:nvSpPr>
          <p:cNvPr id="140"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41"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42"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43"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44"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45"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46"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47" name="mini slab syn 70"/>
          <p:cNvSpPr/>
          <p:nvPr/>
        </p:nvSpPr>
        <p:spPr>
          <a:xfrm>
            <a:off x="4482846" y="4160520"/>
            <a:ext cx="401193" cy="32004"/>
          </a:xfrm>
          <a:prstGeom prst="rect">
            <a:avLst/>
          </a:prstGeom>
          <a:solidFill>
            <a:srgbClr val="52514E"/>
          </a:solidFill>
          <a:ln/>
        </p:spPr>
      </p:sp>
      <p:sp>
        <p:nvSpPr>
          <p:cNvPr id="148"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49"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50"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51"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52"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53"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54"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55"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56" name="mini slab syn 71"/>
          <p:cNvSpPr/>
          <p:nvPr/>
        </p:nvSpPr>
        <p:spPr>
          <a:xfrm>
            <a:off x="4482846" y="4572000"/>
            <a:ext cx="401193" cy="32004"/>
          </a:xfrm>
          <a:prstGeom prst="rect">
            <a:avLst/>
          </a:prstGeom>
          <a:solidFill>
            <a:srgbClr val="52514E"/>
          </a:solidFill>
          <a:ln/>
        </p:spPr>
      </p:sp>
      <p:sp>
        <p:nvSpPr>
          <p:cNvPr id="157"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58"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59"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60"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61"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62"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63"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64"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65" name="mini wall syn 72"/>
          <p:cNvSpPr/>
          <p:nvPr/>
        </p:nvSpPr>
        <p:spPr>
          <a:xfrm>
            <a:off x="4482846" y="4983480"/>
            <a:ext cx="32004" cy="265176"/>
          </a:xfrm>
          <a:prstGeom prst="rect">
            <a:avLst/>
          </a:prstGeom>
          <a:solidFill>
            <a:srgbClr val="52514E"/>
          </a:solidFill>
          <a:ln/>
        </p:spPr>
      </p:sp>
      <p:sp>
        <p:nvSpPr>
          <p:cNvPr id="166"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67"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68"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69"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70"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71"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72"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73"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74" name="mini slab syn 80"/>
          <p:cNvSpPr/>
          <p:nvPr/>
        </p:nvSpPr>
        <p:spPr>
          <a:xfrm>
            <a:off x="5048631" y="4160520"/>
            <a:ext cx="401193" cy="32004"/>
          </a:xfrm>
          <a:prstGeom prst="rect">
            <a:avLst/>
          </a:prstGeom>
          <a:solidFill>
            <a:srgbClr val="52514E"/>
          </a:solidFill>
          <a:ln/>
        </p:spPr>
      </p:sp>
      <p:sp>
        <p:nvSpPr>
          <p:cNvPr id="175"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176"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177"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178"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179"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180"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181"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182"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183"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184" name="mini slab syn 81"/>
          <p:cNvSpPr/>
          <p:nvPr/>
        </p:nvSpPr>
        <p:spPr>
          <a:xfrm>
            <a:off x="5048631" y="4572000"/>
            <a:ext cx="401193" cy="32004"/>
          </a:xfrm>
          <a:prstGeom prst="rect">
            <a:avLst/>
          </a:prstGeom>
          <a:solidFill>
            <a:srgbClr val="52514E"/>
          </a:solidFill>
          <a:ln/>
        </p:spPr>
      </p:sp>
      <p:sp>
        <p:nvSpPr>
          <p:cNvPr id="185"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186"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187"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188"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189"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190"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191"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192"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193"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194" name="mini wall syn 82"/>
          <p:cNvSpPr/>
          <p:nvPr/>
        </p:nvSpPr>
        <p:spPr>
          <a:xfrm>
            <a:off x="5048631" y="4983480"/>
            <a:ext cx="32004" cy="265176"/>
          </a:xfrm>
          <a:prstGeom prst="rect">
            <a:avLst/>
          </a:prstGeom>
          <a:solidFill>
            <a:srgbClr val="52514E"/>
          </a:solidFill>
          <a:ln/>
        </p:spPr>
      </p:sp>
      <p:sp>
        <p:nvSpPr>
          <p:cNvPr id="195"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196"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197"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198"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199"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00"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01"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02"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03"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04" name="glance 7,000"/>
          <p:cNvSpPr/>
          <p:nvPr/>
        </p:nvSpPr>
        <p:spPr>
          <a:xfrm>
            <a:off x="5806440" y="1828800"/>
            <a:ext cx="2825496" cy="1188720"/>
          </a:xfrm>
          <a:prstGeom prst="roundRect">
            <a:avLst>
              <a:gd name="adj" fmla="val 5385"/>
            </a:avLst>
          </a:prstGeom>
          <a:solidFill>
            <a:schemeClr val="bg2"/>
          </a:solidFill>
          <a:ln/>
        </p:spPr>
      </p:sp>
      <p:sp>
        <p:nvSpPr>
          <p:cNvPr id="205" name="icon ring glance 7,000"/>
          <p:cNvSpPr/>
          <p:nvPr/>
        </p:nvSpPr>
        <p:spPr>
          <a:xfrm>
            <a:off x="6007608" y="2130552"/>
            <a:ext cx="585216" cy="585216"/>
          </a:xfrm>
          <a:prstGeom prst="ellipse">
            <a:avLst/>
          </a:prstGeom>
          <a:solidFill>
            <a:schemeClr val="accent1"/>
          </a:solidFill>
          <a:ln/>
        </p:spPr>
      </p:sp>
      <p:pic>
        <p:nvPicPr>
          <p:cNvPr id="206"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07"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08"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9" name="glance 31,484"/>
          <p:cNvSpPr/>
          <p:nvPr/>
        </p:nvSpPr>
        <p:spPr>
          <a:xfrm>
            <a:off x="8814816" y="1828800"/>
            <a:ext cx="2825496" cy="1188720"/>
          </a:xfrm>
          <a:prstGeom prst="roundRect">
            <a:avLst>
              <a:gd name="adj" fmla="val 5385"/>
            </a:avLst>
          </a:prstGeom>
          <a:solidFill>
            <a:schemeClr val="bg2"/>
          </a:solidFill>
          <a:ln/>
        </p:spPr>
      </p:sp>
      <p:sp>
        <p:nvSpPr>
          <p:cNvPr id="210" name="icon ring glance 31,484"/>
          <p:cNvSpPr/>
          <p:nvPr/>
        </p:nvSpPr>
        <p:spPr>
          <a:xfrm>
            <a:off x="9015984" y="2130552"/>
            <a:ext cx="585216" cy="585216"/>
          </a:xfrm>
          <a:prstGeom prst="ellipse">
            <a:avLst/>
          </a:prstGeom>
          <a:solidFill>
            <a:schemeClr val="accent1"/>
          </a:solidFill>
          <a:ln/>
        </p:spPr>
      </p:sp>
      <p:pic>
        <p:nvPicPr>
          <p:cNvPr id="211"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12"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13"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14" name="glance C1–C8"/>
          <p:cNvSpPr/>
          <p:nvPr/>
        </p:nvSpPr>
        <p:spPr>
          <a:xfrm>
            <a:off x="5806440" y="3172968"/>
            <a:ext cx="2825496" cy="1188720"/>
          </a:xfrm>
          <a:prstGeom prst="roundRect">
            <a:avLst>
              <a:gd name="adj" fmla="val 5385"/>
            </a:avLst>
          </a:prstGeom>
          <a:solidFill>
            <a:schemeClr val="bg2"/>
          </a:solidFill>
          <a:ln/>
        </p:spPr>
      </p:sp>
      <p:sp>
        <p:nvSpPr>
          <p:cNvPr id="215" name="icon ring glance C1–C8"/>
          <p:cNvSpPr/>
          <p:nvPr/>
        </p:nvSpPr>
        <p:spPr>
          <a:xfrm>
            <a:off x="6007608" y="3474720"/>
            <a:ext cx="585216" cy="585216"/>
          </a:xfrm>
          <a:prstGeom prst="ellipse">
            <a:avLst/>
          </a:prstGeom>
          <a:solidFill>
            <a:schemeClr val="accent1"/>
          </a:solidFill>
          <a:ln/>
        </p:spPr>
      </p:sp>
      <p:pic>
        <p:nvPicPr>
          <p:cNvPr id="216"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17"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18"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19" name="glance 0 labels"/>
          <p:cNvSpPr/>
          <p:nvPr/>
        </p:nvSpPr>
        <p:spPr>
          <a:xfrm>
            <a:off x="8814816" y="3172968"/>
            <a:ext cx="2825496" cy="1188720"/>
          </a:xfrm>
          <a:prstGeom prst="roundRect">
            <a:avLst>
              <a:gd name="adj" fmla="val 5385"/>
            </a:avLst>
          </a:prstGeom>
          <a:solidFill>
            <a:schemeClr val="bg2"/>
          </a:solidFill>
          <a:ln/>
        </p:spPr>
      </p:sp>
      <p:sp>
        <p:nvSpPr>
          <p:cNvPr id="220" name="icon ring glance 0 labels"/>
          <p:cNvSpPr/>
          <p:nvPr/>
        </p:nvSpPr>
        <p:spPr>
          <a:xfrm>
            <a:off x="9015984" y="3474720"/>
            <a:ext cx="585216" cy="585216"/>
          </a:xfrm>
          <a:prstGeom prst="ellipse">
            <a:avLst/>
          </a:prstGeom>
          <a:solidFill>
            <a:schemeClr val="accent1"/>
          </a:solidFill>
          <a:ln/>
        </p:spPr>
      </p:sp>
      <p:pic>
        <p:nvPicPr>
          <p:cNvPr id="221"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22"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23"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24" name="glance Traced"/>
          <p:cNvSpPr/>
          <p:nvPr/>
        </p:nvSpPr>
        <p:spPr>
          <a:xfrm>
            <a:off x="5806440" y="4517136"/>
            <a:ext cx="2825496" cy="1188720"/>
          </a:xfrm>
          <a:prstGeom prst="roundRect">
            <a:avLst>
              <a:gd name="adj" fmla="val 5385"/>
            </a:avLst>
          </a:prstGeom>
          <a:solidFill>
            <a:schemeClr val="bg2"/>
          </a:solidFill>
          <a:ln/>
        </p:spPr>
      </p:sp>
      <p:sp>
        <p:nvSpPr>
          <p:cNvPr id="225" name="icon ring glance Traced"/>
          <p:cNvSpPr/>
          <p:nvPr/>
        </p:nvSpPr>
        <p:spPr>
          <a:xfrm>
            <a:off x="6007608" y="4818888"/>
            <a:ext cx="585216" cy="585216"/>
          </a:xfrm>
          <a:prstGeom prst="ellipse">
            <a:avLst/>
          </a:prstGeom>
          <a:solidFill>
            <a:schemeClr val="accent1"/>
          </a:solidFill>
          <a:ln/>
        </p:spPr>
      </p:sp>
      <p:pic>
        <p:nvPicPr>
          <p:cNvPr id="226"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27"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28"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29" name="glance Open"/>
          <p:cNvSpPr/>
          <p:nvPr/>
        </p:nvSpPr>
        <p:spPr>
          <a:xfrm>
            <a:off x="8814816" y="4517136"/>
            <a:ext cx="2825496" cy="1188720"/>
          </a:xfrm>
          <a:prstGeom prst="roundRect">
            <a:avLst>
              <a:gd name="adj" fmla="val 5385"/>
            </a:avLst>
          </a:prstGeom>
          <a:solidFill>
            <a:schemeClr val="bg2"/>
          </a:solidFill>
          <a:ln/>
        </p:spPr>
      </p:sp>
      <p:sp>
        <p:nvSpPr>
          <p:cNvPr id="230" name="icon ring glance Open"/>
          <p:cNvSpPr/>
          <p:nvPr/>
        </p:nvSpPr>
        <p:spPr>
          <a:xfrm>
            <a:off x="9015984" y="4818888"/>
            <a:ext cx="585216" cy="585216"/>
          </a:xfrm>
          <a:prstGeom prst="ellipse">
            <a:avLst/>
          </a:prstGeom>
          <a:solidFill>
            <a:schemeClr val="accent1"/>
          </a:solidFill>
          <a:ln/>
        </p:spPr>
      </p:sp>
      <p:pic>
        <p:nvPicPr>
          <p:cNvPr id="231"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32"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33"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context is exactly what a support designer receives at one hanger, without the answer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section is built the way trades run services, with gaps measured on a real building</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is traced to a standard, to a measurement, or to a choice we declare as ours</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376672"/>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687568"/>
            <a:ext cx="11091672" cy="694944"/>
          </a:xfrm>
          <a:prstGeom prst="rect">
            <a:avLst/>
          </a:prstGeom>
          <a:noFill/>
          <a:ln/>
        </p:spPr>
        <p:txBody>
          <a:bodyPr wrap="square" lIns="0" tIns="0" rIns="0" bIns="0" rtlCol="0" anchor="b"/>
          <a:lstStyle/>
          <a:p>
            <a:pPr indent="0" marL="0">
              <a:buNone/>
            </a:pPr>
            <a:r>
              <a:rPr lang="en-US" sz="9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tier fixes the element count, and load and congestion grow with it as the rules intend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Generated spacing matches a clinic the generator never saw to within 32 millimetres</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pPr indent="0" marL="0">
              <a:buNone/>
            </a:pPr>
            <a:r>
              <a:rPr lang="en-US" sz="900" dirty="0">
                <a:solidFill>
                  <a:srgbClr val="52514E"/>
                </a:solidFill>
              </a:rPr>
              <a:t>generated vs a real model     </a:t>
            </a:r>
            <a:pPr indent="0" marL="0">
              <a:buNone/>
            </a:pPr>
            <a:r>
              <a:rPr lang="en-US" sz="900" dirty="0">
                <a:solidFill>
                  <a:srgbClr val="2A78D6"/>
                </a:solidFill>
              </a:rPr>
              <a:t>● </a:t>
            </a:r>
            <a:pPr indent="0" marL="0">
              <a:buNone/>
            </a:pPr>
            <a:r>
              <a:rPr lang="en-US" sz="900" dirty="0">
                <a:solidFill>
                  <a:srgbClr val="52514E"/>
                </a:solidFill>
              </a:rPr>
              <a:t>real vs real     </a:t>
            </a:r>
            <a:pPr indent="0" marL="0">
              <a:buNone/>
            </a:pP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paper’s two clamp sizes reach one pipe in seven, and the dataset says which sizes to add</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[2] Pedrollo, Gvadzabia, Graeber &amp; Fischer (2026), CrossMEP, CIB W78 2026 (this paper)</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Pick a tier or an exact mix and a seed, and the Generator Studio returns the designer’s brief</a:t>
            </a:r>
            <a:endParaRPr lang="en-US" sz="2600" dirty="0"/>
          </a:p>
        </p:txBody>
      </p:sp>
      <p:sp>
        <p:nvSpPr>
          <p:cNvPr id="3" name="in label"/>
          <p:cNvSpPr txBox="1"/>
          <p:nvPr/>
        </p:nvSpPr>
        <p:spPr>
          <a:xfrm>
            <a:off x="548640" y="1280160"/>
            <a:ext cx="5486400" cy="228600"/>
          </a:xfrm>
          <a:prstGeom prst="rect">
            <a:avLst/>
          </a:prstGeom>
          <a:noFill/>
          <a:ln/>
        </p:spPr>
        <p:txBody>
          <a:bodyPr wrap="square" lIns="0" tIns="0" rIns="0" bIns="0" rtlCol="0" anchor="ctr"/>
          <a:lstStyle/>
          <a:p>
            <a:pPr indent="0" marL="0">
              <a:buNone/>
            </a:pPr>
            <a:r>
              <a:rPr lang="en-US" sz="1000" b="1" dirty="0">
                <a:solidFill>
                  <a:srgbClr val="52514E"/>
                </a:solidFill>
              </a:rPr>
              <a:t>In: the parameters</a:t>
            </a:r>
            <a:endParaRPr lang="en-US" sz="1000" dirty="0"/>
          </a:p>
        </p:txBody>
      </p:sp>
      <p:pic>
        <p:nvPicPr>
          <p:cNvPr id="4" name="studio parameters" descr="preencoded.png">    </p:cNvPr>
          <p:cNvPicPr>
            <a:picLocks noChangeAspect="1"/>
          </p:cNvPicPr>
          <p:nvPr/>
        </p:nvPicPr>
        <p:blipFill>
          <a:blip r:embed="rId1"/>
          <a:stretch>
            <a:fillRect/>
          </a:stretch>
        </p:blipFill>
        <p:spPr>
          <a:xfrm>
            <a:off x="912010" y="1554480"/>
            <a:ext cx="10364932" cy="685800"/>
          </a:xfrm>
          <a:prstGeom prst="rect">
            <a:avLst/>
          </a:prstGeom>
        </p:spPr>
      </p:pic>
      <p:sp>
        <p:nvSpPr>
          <p:cNvPr id="5" name="parameters frame"/>
          <p:cNvSpPr/>
          <p:nvPr/>
        </p:nvSpPr>
        <p:spPr>
          <a:xfrm>
            <a:off x="866290" y="1508760"/>
            <a:ext cx="10456372" cy="777240"/>
          </a:xfrm>
          <a:prstGeom prst="rect">
            <a:avLst/>
          </a:prstGeom>
          <a:ln w="9525">
            <a:solidFill>
              <a:srgbClr val="E1E0D9"/>
            </a:solidFill>
            <a:prstDash val="solid"/>
          </a:ln>
        </p:spPr>
      </p:sp>
      <p:pic>
        <p:nvPicPr>
          <p:cNvPr id="6" name="studio section" descr="preencoded.png">    </p:cNvPr>
          <p:cNvPicPr>
            <a:picLocks noChangeAspect="1"/>
          </p:cNvPicPr>
          <p:nvPr/>
        </p:nvPicPr>
        <p:blipFill>
          <a:blip r:embed="rId2"/>
          <a:stretch>
            <a:fillRect/>
          </a:stretch>
        </p:blipFill>
        <p:spPr>
          <a:xfrm>
            <a:off x="1061689" y="2697480"/>
            <a:ext cx="5877622" cy="2514600"/>
          </a:xfrm>
          <a:prstGeom prst="rect">
            <a:avLst/>
          </a:prstGeom>
        </p:spPr>
      </p:pic>
      <p:sp>
        <p:nvSpPr>
          <p:cNvPr id="7" name="section frame"/>
          <p:cNvSpPr/>
          <p:nvPr/>
        </p:nvSpPr>
        <p:spPr>
          <a:xfrm>
            <a:off x="1015969" y="2651760"/>
            <a:ext cx="5969062" cy="2606040"/>
          </a:xfrm>
          <a:prstGeom prst="rect">
            <a:avLst/>
          </a:prstGeom>
          <a:ln w="9525">
            <a:solidFill>
              <a:srgbClr val="E1E0D9"/>
            </a:solidFill>
            <a:prstDash val="solid"/>
          </a:ln>
        </p:spPr>
      </p:sp>
      <p:pic>
        <p:nvPicPr>
          <p:cNvPr id="8" name="studio facts" descr="preencoded.png">    </p:cNvPr>
          <p:cNvPicPr>
            <a:picLocks noChangeAspect="1"/>
          </p:cNvPicPr>
          <p:nvPr/>
        </p:nvPicPr>
        <p:blipFill>
          <a:blip r:embed="rId3"/>
          <a:stretch>
            <a:fillRect/>
          </a:stretch>
        </p:blipFill>
        <p:spPr>
          <a:xfrm>
            <a:off x="800100" y="5367528"/>
            <a:ext cx="6400800" cy="329184"/>
          </a:xfrm>
          <a:prstGeom prst="rect">
            <a:avLst/>
          </a:prstGeom>
        </p:spPr>
      </p:pic>
      <p:sp>
        <p:nvSpPr>
          <p:cNvPr id="9" name="out label"/>
          <p:cNvSpPr txBox="1"/>
          <p:nvPr/>
        </p:nvSpPr>
        <p:spPr>
          <a:xfrm>
            <a:off x="548640" y="2423160"/>
            <a:ext cx="6903720" cy="228600"/>
          </a:xfrm>
          <a:prstGeom prst="rect">
            <a:avLst/>
          </a:prstGeom>
          <a:noFill/>
          <a:ln/>
        </p:spPr>
        <p:txBody>
          <a:bodyPr wrap="square" lIns="0" tIns="0" rIns="0" bIns="0" rtlCol="0" anchor="ctr"/>
          <a:lstStyle/>
          <a:p>
            <a:pPr indent="0" marL="0">
              <a:buNone/>
            </a:pPr>
            <a:r>
              <a:rPr lang="en-US" sz="1000" b="1" dirty="0">
                <a:solidFill>
                  <a:srgbClr val="52514E"/>
                </a:solidFill>
              </a:rPr>
              <a:t>Out: section A–A as the designer receives it, and what it carries</a:t>
            </a:r>
            <a:endParaRPr lang="en-US" sz="1000" dirty="0"/>
          </a:p>
        </p:txBody>
      </p:sp>
      <p:pic>
        <p:nvPicPr>
          <p:cNvPr id="10" name="studio 3D" descr="preencoded.png">    </p:cNvPr>
          <p:cNvPicPr>
            <a:picLocks noChangeAspect="1"/>
          </p:cNvPicPr>
          <p:nvPr/>
        </p:nvPicPr>
        <p:blipFill>
          <a:blip r:embed="rId4"/>
          <a:stretch>
            <a:fillRect/>
          </a:stretch>
        </p:blipFill>
        <p:spPr>
          <a:xfrm>
            <a:off x="8137084" y="2697480"/>
            <a:ext cx="3092824" cy="2103120"/>
          </a:xfrm>
          <a:prstGeom prst="rect">
            <a:avLst/>
          </a:prstGeom>
        </p:spPr>
      </p:pic>
      <p:sp>
        <p:nvSpPr>
          <p:cNvPr id="11" name="3d frame"/>
          <p:cNvSpPr/>
          <p:nvPr/>
        </p:nvSpPr>
        <p:spPr>
          <a:xfrm>
            <a:off x="8091364" y="2651760"/>
            <a:ext cx="3184264" cy="2194560"/>
          </a:xfrm>
          <a:prstGeom prst="rect">
            <a:avLst/>
          </a:prstGeom>
          <a:ln w="9525">
            <a:solidFill>
              <a:srgbClr val="E1E0D9"/>
            </a:solidFill>
            <a:prstDash val="solid"/>
          </a:ln>
        </p:spPr>
      </p:sp>
      <p:sp>
        <p:nvSpPr>
          <p:cNvPr id="12" name="out 3d label"/>
          <p:cNvSpPr txBox="1"/>
          <p:nvPr/>
        </p:nvSpPr>
        <p:spPr>
          <a:xfrm>
            <a:off x="7726680" y="2423160"/>
            <a:ext cx="3913632" cy="228600"/>
          </a:xfrm>
          <a:prstGeom prst="rect">
            <a:avLst/>
          </a:prstGeom>
          <a:noFill/>
          <a:ln/>
        </p:spPr>
        <p:txBody>
          <a:bodyPr wrap="square" lIns="0" tIns="0" rIns="0" bIns="0" rtlCol="0" anchor="ctr"/>
          <a:lstStyle/>
          <a:p>
            <a:pPr indent="0" marL="0">
              <a:buNone/>
            </a:pPr>
            <a:r>
              <a:rPr lang="en-US" sz="1000" b="1" dirty="0">
                <a:solidFill>
                  <a:srgbClr val="52514E"/>
                </a:solidFill>
              </a:rPr>
              <a:t>Out: the same run in 3D, cut at the section</a:t>
            </a:r>
            <a:endParaRPr lang="en-US" sz="1000" dirty="0"/>
          </a:p>
        </p:txBody>
      </p:sp>
      <p:sp>
        <p:nvSpPr>
          <p:cNvPr id="13" name="studio link card"/>
          <p:cNvSpPr/>
          <p:nvPr/>
        </p:nvSpPr>
        <p:spPr>
          <a:xfrm>
            <a:off x="7726680" y="4937760"/>
            <a:ext cx="3913632" cy="1143000"/>
          </a:xfrm>
          <a:prstGeom prst="roundRect">
            <a:avLst>
              <a:gd name="adj" fmla="val 5600"/>
            </a:avLst>
          </a:prstGeom>
          <a:solidFill>
            <a:schemeClr val="bg2"/>
          </a:solidFill>
          <a:ln/>
        </p:spPr>
      </p:sp>
      <p:pic>
        <p:nvPicPr>
          <p:cNvPr id="14" name="qr studio" descr="/home/user/crossmep_dataset/docs/figures/qr_studio.png">    </p:cNvPr>
          <p:cNvPicPr>
            <a:picLocks noChangeAspect="1"/>
          </p:cNvPicPr>
          <p:nvPr/>
        </p:nvPicPr>
        <p:blipFill>
          <a:blip r:embed="rId5"/>
          <a:stretch>
            <a:fillRect/>
          </a:stretch>
        </p:blipFill>
        <p:spPr>
          <a:xfrm>
            <a:off x="7836408" y="4992624"/>
            <a:ext cx="1033272" cy="1033272"/>
          </a:xfrm>
          <a:prstGeom prst="rect">
            <a:avLst/>
          </a:prstGeom>
        </p:spPr>
      </p:pic>
      <p:sp>
        <p:nvSpPr>
          <p:cNvPr id="15" name="studio link"/>
          <p:cNvSpPr txBox="1"/>
          <p:nvPr/>
        </p:nvSpPr>
        <p:spPr>
          <a:xfrm>
            <a:off x="8961120" y="4937760"/>
            <a:ext cx="2542032" cy="1143000"/>
          </a:xfrm>
          <a:prstGeom prst="rect">
            <a:avLst/>
          </a:prstGeom>
          <a:noFill/>
          <a:ln/>
        </p:spPr>
        <p:txBody>
          <a:bodyPr wrap="square" lIns="0" tIns="0" rIns="0" bIns="0" rtlCol="0" anchor="ctr"/>
          <a:lstStyle/>
          <a:p>
            <a:pPr indent="0" marL="0">
              <a:buNone/>
            </a:pPr>
            <a:r>
              <a:rPr lang="en-US" sz="1250" b="1" dirty="0">
                <a:solidFill>
                  <a:schemeClr val="tx1"/>
                </a:solidFill>
              </a:rPr>
              <a:t>Scan to open the studio</a:t>
            </a:r>
            <a:endParaRPr lang="en-US" sz="1250" dirty="0"/>
          </a:p>
          <a:p>
            <a:pPr indent="0" marL="0">
              <a:buNone/>
            </a:pPr>
            <a:r>
              <a:rPr lang="en-US" sz="1050" dirty="0">
                <a:solidFill>
                  <a:srgbClr val="52514E"/>
                </a:solidFill>
              </a:rPr>
              <a:t>every section is a stored output of the released generator, with the call that reproduces it</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Methods train on the generator and are compared on one fixed benchmark, tier by tier</a:t>
            </a:r>
            <a:endParaRPr lang="en-US" sz="2600" dirty="0"/>
          </a:p>
        </p:txBody>
      </p:sp>
      <p:sp>
        <p:nvSpPr>
          <p:cNvPr id="3" name="flow Generator"/>
          <p:cNvSpPr/>
          <p:nvPr/>
        </p:nvSpPr>
        <p:spPr>
          <a:xfrm>
            <a:off x="548640" y="1371600"/>
            <a:ext cx="2286000" cy="2057400"/>
          </a:xfrm>
          <a:prstGeom prst="roundRect">
            <a:avLst>
              <a:gd name="adj" fmla="val 3111"/>
            </a:avLst>
          </a:prstGeom>
          <a:solidFill>
            <a:schemeClr val="bg2"/>
          </a:solidFill>
          <a:ln/>
        </p:spPr>
      </p:sp>
      <p:sp>
        <p:nvSpPr>
          <p:cNvPr id="4" name="icon ring flow Generator"/>
          <p:cNvSpPr/>
          <p:nvPr/>
        </p:nvSpPr>
        <p:spPr>
          <a:xfrm>
            <a:off x="777240" y="1600200"/>
            <a:ext cx="548640" cy="548640"/>
          </a:xfrm>
          <a:prstGeom prst="ellipse">
            <a:avLst/>
          </a:prstGeom>
          <a:solidFill>
            <a:schemeClr val="accent1"/>
          </a:solidFill>
          <a:ln/>
        </p:spPr>
      </p:sp>
      <p:pic>
        <p:nvPicPr>
          <p:cNvPr id="5" name="icon flow Generator" descr="preencoded.png">    </p:cNvPr>
          <p:cNvPicPr>
            <a:picLocks noChangeAspect="1"/>
          </p:cNvPicPr>
          <p:nvPr/>
        </p:nvPicPr>
        <p:blipFill>
          <a:blip r:embed="rId1"/>
          <a:stretch>
            <a:fillRect/>
          </a:stretch>
        </p:blipFill>
        <p:spPr>
          <a:xfrm>
            <a:off x="892454" y="1715414"/>
            <a:ext cx="318211" cy="318211"/>
          </a:xfrm>
          <a:prstGeom prst="rect">
            <a:avLst/>
          </a:prstGeom>
        </p:spPr>
      </p:pic>
      <p:sp>
        <p:nvSpPr>
          <p:cNvPr id="6" name="flow head Generator"/>
          <p:cNvSpPr txBox="1"/>
          <p:nvPr/>
        </p:nvSpPr>
        <p:spPr>
          <a:xfrm>
            <a:off x="1463040"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Generator</a:t>
            </a:r>
            <a:endParaRPr lang="en-US" sz="1600" dirty="0"/>
          </a:p>
        </p:txBody>
      </p:sp>
      <p:sp>
        <p:nvSpPr>
          <p:cNvPr id="7" name="flow text Generator"/>
          <p:cNvSpPr txBox="1"/>
          <p:nvPr/>
        </p:nvSpPr>
        <p:spPr>
          <a:xfrm>
            <a:off x="777240"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unlimited problems: a new seed is a new set; a curriculum from C1 up to C8</a:t>
            </a:r>
            <a:endParaRPr lang="en-US" sz="1200" dirty="0"/>
          </a:p>
        </p:txBody>
      </p:sp>
      <p:sp>
        <p:nvSpPr>
          <p:cNvPr id="8" name="flow arrow 0"/>
          <p:cNvSpPr/>
          <p:nvPr/>
        </p:nvSpPr>
        <p:spPr>
          <a:xfrm>
            <a:off x="2880360" y="1874520"/>
            <a:ext cx="557784" cy="0"/>
          </a:xfrm>
          <a:prstGeom prst="line">
            <a:avLst/>
          </a:prstGeom>
          <a:noFill/>
          <a:ln w="19050">
            <a:solidFill>
              <a:srgbClr val="52514E"/>
            </a:solidFill>
            <a:prstDash val="solid"/>
            <a:tailEnd type="triangle"/>
          </a:ln>
        </p:spPr>
      </p:sp>
      <p:sp>
        <p:nvSpPr>
          <p:cNvPr id="9" name="flow link 0"/>
          <p:cNvSpPr txBox="1"/>
          <p:nvPr/>
        </p:nvSpPr>
        <p:spPr>
          <a:xfrm>
            <a:off x="2606040"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train on</a:t>
            </a:r>
            <a:endParaRPr lang="en-US" sz="950" dirty="0"/>
          </a:p>
        </p:txBody>
      </p:sp>
      <p:sp>
        <p:nvSpPr>
          <p:cNvPr id="10" name="flow Train"/>
          <p:cNvSpPr/>
          <p:nvPr/>
        </p:nvSpPr>
        <p:spPr>
          <a:xfrm>
            <a:off x="3483864" y="1371600"/>
            <a:ext cx="2286000" cy="2057400"/>
          </a:xfrm>
          <a:prstGeom prst="roundRect">
            <a:avLst>
              <a:gd name="adj" fmla="val 3111"/>
            </a:avLst>
          </a:prstGeom>
          <a:solidFill>
            <a:schemeClr val="bg2"/>
          </a:solidFill>
          <a:ln/>
        </p:spPr>
      </p:sp>
      <p:sp>
        <p:nvSpPr>
          <p:cNvPr id="11" name="icon ring flow Train"/>
          <p:cNvSpPr/>
          <p:nvPr/>
        </p:nvSpPr>
        <p:spPr>
          <a:xfrm>
            <a:off x="3712464" y="1600200"/>
            <a:ext cx="548640" cy="548640"/>
          </a:xfrm>
          <a:prstGeom prst="ellipse">
            <a:avLst/>
          </a:prstGeom>
          <a:solidFill>
            <a:schemeClr val="accent1"/>
          </a:solidFill>
          <a:ln/>
        </p:spPr>
      </p:sp>
      <p:pic>
        <p:nvPicPr>
          <p:cNvPr id="12" name="icon flow Train" descr="preencoded.png">    </p:cNvPr>
          <p:cNvPicPr>
            <a:picLocks noChangeAspect="1"/>
          </p:cNvPicPr>
          <p:nvPr/>
        </p:nvPicPr>
        <p:blipFill>
          <a:blip r:embed="rId2"/>
          <a:stretch>
            <a:fillRect/>
          </a:stretch>
        </p:blipFill>
        <p:spPr>
          <a:xfrm>
            <a:off x="3827678" y="1715414"/>
            <a:ext cx="318211" cy="318211"/>
          </a:xfrm>
          <a:prstGeom prst="rect">
            <a:avLst/>
          </a:prstGeom>
        </p:spPr>
      </p:pic>
      <p:sp>
        <p:nvSpPr>
          <p:cNvPr id="13" name="flow head Train"/>
          <p:cNvSpPr txBox="1"/>
          <p:nvPr/>
        </p:nvSpPr>
        <p:spPr>
          <a:xfrm>
            <a:off x="4398264"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Train</a:t>
            </a:r>
            <a:endParaRPr lang="en-US" sz="1600" dirty="0"/>
          </a:p>
        </p:txBody>
      </p:sp>
      <p:sp>
        <p:nvSpPr>
          <p:cNvPr id="14" name="flow text Train"/>
          <p:cNvSpPr txBox="1"/>
          <p:nvPr/>
        </p:nvSpPr>
        <p:spPr>
          <a:xfrm>
            <a:off x="3712464"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5,000 contexts (seed 1000); validation 500, test 500, on their own seeds</a:t>
            </a:r>
            <a:endParaRPr lang="en-US" sz="1200" dirty="0"/>
          </a:p>
        </p:txBody>
      </p:sp>
      <p:sp>
        <p:nvSpPr>
          <p:cNvPr id="15" name="flow arrow 1"/>
          <p:cNvSpPr/>
          <p:nvPr/>
        </p:nvSpPr>
        <p:spPr>
          <a:xfrm>
            <a:off x="5815584" y="1874520"/>
            <a:ext cx="557784" cy="0"/>
          </a:xfrm>
          <a:prstGeom prst="line">
            <a:avLst/>
          </a:prstGeom>
          <a:noFill/>
          <a:ln w="19050">
            <a:solidFill>
              <a:srgbClr val="52514E"/>
            </a:solidFill>
            <a:prstDash val="solid"/>
            <a:tailEnd type="triangle"/>
          </a:ln>
        </p:spPr>
      </p:sp>
      <p:sp>
        <p:nvSpPr>
          <p:cNvPr id="16" name="flow link 1"/>
          <p:cNvSpPr txBox="1"/>
          <p:nvPr/>
        </p:nvSpPr>
        <p:spPr>
          <a:xfrm>
            <a:off x="5541264"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evaluate on</a:t>
            </a:r>
            <a:endParaRPr lang="en-US" sz="950" dirty="0"/>
          </a:p>
        </p:txBody>
      </p:sp>
      <p:sp>
        <p:nvSpPr>
          <p:cNvPr id="17" name="flow Benchmark"/>
          <p:cNvSpPr/>
          <p:nvPr/>
        </p:nvSpPr>
        <p:spPr>
          <a:xfrm>
            <a:off x="6419088" y="1371600"/>
            <a:ext cx="2286000" cy="2057400"/>
          </a:xfrm>
          <a:prstGeom prst="roundRect">
            <a:avLst>
              <a:gd name="adj" fmla="val 3111"/>
            </a:avLst>
          </a:prstGeom>
          <a:solidFill>
            <a:schemeClr val="bg2"/>
          </a:solidFill>
          <a:ln/>
        </p:spPr>
      </p:sp>
      <p:sp>
        <p:nvSpPr>
          <p:cNvPr id="18" name="icon ring flow Benchmark"/>
          <p:cNvSpPr/>
          <p:nvPr/>
        </p:nvSpPr>
        <p:spPr>
          <a:xfrm>
            <a:off x="6647688" y="1600200"/>
            <a:ext cx="548640" cy="548640"/>
          </a:xfrm>
          <a:prstGeom prst="ellipse">
            <a:avLst/>
          </a:prstGeom>
          <a:solidFill>
            <a:schemeClr val="accent1"/>
          </a:solidFill>
          <a:ln/>
        </p:spPr>
      </p:sp>
      <p:pic>
        <p:nvPicPr>
          <p:cNvPr id="19" name="icon flow Benchmark" descr="preencoded.png">    </p:cNvPr>
          <p:cNvPicPr>
            <a:picLocks noChangeAspect="1"/>
          </p:cNvPicPr>
          <p:nvPr/>
        </p:nvPicPr>
        <p:blipFill>
          <a:blip r:embed="rId3"/>
          <a:stretch>
            <a:fillRect/>
          </a:stretch>
        </p:blipFill>
        <p:spPr>
          <a:xfrm>
            <a:off x="6762902" y="1715414"/>
            <a:ext cx="318211" cy="318211"/>
          </a:xfrm>
          <a:prstGeom prst="rect">
            <a:avLst/>
          </a:prstGeom>
        </p:spPr>
      </p:pic>
      <p:sp>
        <p:nvSpPr>
          <p:cNvPr id="20" name="flow head Benchmark"/>
          <p:cNvSpPr txBox="1"/>
          <p:nvPr/>
        </p:nvSpPr>
        <p:spPr>
          <a:xfrm>
            <a:off x="7333488"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Benchmark</a:t>
            </a:r>
            <a:endParaRPr lang="en-US" sz="1600" dirty="0"/>
          </a:p>
        </p:txBody>
      </p:sp>
      <p:sp>
        <p:nvSpPr>
          <p:cNvPr id="21" name="flow text Benchmark"/>
          <p:cNvSpPr txBox="1"/>
          <p:nvPr/>
        </p:nvSpPr>
        <p:spPr>
          <a:xfrm>
            <a:off x="6647688"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1,000 contexts, 125 per tier, seed 42: never trained on, the same for every method</a:t>
            </a:r>
            <a:endParaRPr lang="en-US" sz="1200" dirty="0"/>
          </a:p>
        </p:txBody>
      </p:sp>
      <p:sp>
        <p:nvSpPr>
          <p:cNvPr id="22" name="flow arrow 2"/>
          <p:cNvSpPr/>
          <p:nvPr/>
        </p:nvSpPr>
        <p:spPr>
          <a:xfrm>
            <a:off x="8750808" y="1874520"/>
            <a:ext cx="557784" cy="0"/>
          </a:xfrm>
          <a:prstGeom prst="line">
            <a:avLst/>
          </a:prstGeom>
          <a:noFill/>
          <a:ln w="19050">
            <a:solidFill>
              <a:srgbClr val="52514E"/>
            </a:solidFill>
            <a:prstDash val="solid"/>
            <a:tailEnd type="triangle"/>
          </a:ln>
        </p:spPr>
      </p:sp>
      <p:sp>
        <p:nvSpPr>
          <p:cNvPr id="23" name="flow link 2"/>
          <p:cNvSpPr txBox="1"/>
          <p:nvPr/>
        </p:nvSpPr>
        <p:spPr>
          <a:xfrm>
            <a:off x="8476488"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then</a:t>
            </a:r>
            <a:endParaRPr lang="en-US" sz="950" dirty="0"/>
          </a:p>
        </p:txBody>
      </p:sp>
      <p:sp>
        <p:nvSpPr>
          <p:cNvPr id="24" name="flow Report"/>
          <p:cNvSpPr/>
          <p:nvPr/>
        </p:nvSpPr>
        <p:spPr>
          <a:xfrm>
            <a:off x="9354312" y="1371600"/>
            <a:ext cx="2286000" cy="2057400"/>
          </a:xfrm>
          <a:prstGeom prst="roundRect">
            <a:avLst>
              <a:gd name="adj" fmla="val 3111"/>
            </a:avLst>
          </a:prstGeom>
          <a:solidFill>
            <a:schemeClr val="bg2"/>
          </a:solidFill>
          <a:ln/>
        </p:spPr>
      </p:sp>
      <p:sp>
        <p:nvSpPr>
          <p:cNvPr id="25" name="icon ring flow Report"/>
          <p:cNvSpPr/>
          <p:nvPr/>
        </p:nvSpPr>
        <p:spPr>
          <a:xfrm>
            <a:off x="9582912" y="1600200"/>
            <a:ext cx="548640" cy="548640"/>
          </a:xfrm>
          <a:prstGeom prst="ellipse">
            <a:avLst/>
          </a:prstGeom>
          <a:solidFill>
            <a:schemeClr val="accent1"/>
          </a:solidFill>
          <a:ln/>
        </p:spPr>
      </p:sp>
      <p:pic>
        <p:nvPicPr>
          <p:cNvPr id="26" name="icon flow Report" descr="preencoded.png">    </p:cNvPr>
          <p:cNvPicPr>
            <a:picLocks noChangeAspect="1"/>
          </p:cNvPicPr>
          <p:nvPr/>
        </p:nvPicPr>
        <p:blipFill>
          <a:blip r:embed="rId4"/>
          <a:stretch>
            <a:fillRect/>
          </a:stretch>
        </p:blipFill>
        <p:spPr>
          <a:xfrm>
            <a:off x="9698126" y="1715414"/>
            <a:ext cx="318211" cy="318211"/>
          </a:xfrm>
          <a:prstGeom prst="rect">
            <a:avLst/>
          </a:prstGeom>
        </p:spPr>
      </p:pic>
      <p:sp>
        <p:nvSpPr>
          <p:cNvPr id="27" name="flow head Report"/>
          <p:cNvSpPr txBox="1"/>
          <p:nvPr/>
        </p:nvSpPr>
        <p:spPr>
          <a:xfrm>
            <a:off x="10268712"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28" name="flow text Report"/>
          <p:cNvSpPr txBox="1"/>
          <p:nvPr/>
        </p:nvSpPr>
        <p:spPr>
          <a:xfrm>
            <a:off x="9582912"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per tier, with 95 % intervals and paired tests between methods</a:t>
            </a:r>
            <a:endParaRPr lang="en-US" sz="1200" dirty="0"/>
          </a:p>
        </p:txBody>
      </p:sp>
      <p:sp>
        <p:nvSpPr>
          <p:cNvPr id="29" name="code card"/>
          <p:cNvSpPr/>
          <p:nvPr/>
        </p:nvSpPr>
        <p:spPr>
          <a:xfrm>
            <a:off x="548640" y="3749040"/>
            <a:ext cx="11091672" cy="1325880"/>
          </a:xfrm>
          <a:prstGeom prst="roundRect">
            <a:avLst>
              <a:gd name="adj" fmla="val 4828"/>
            </a:avLst>
          </a:prstGeom>
          <a:solidFill>
            <a:schemeClr val="tx2"/>
          </a:solidFill>
          <a:ln/>
        </p:spPr>
      </p:sp>
      <p:sp>
        <p:nvSpPr>
          <p:cNvPr id="30" name="code"/>
          <p:cNvSpPr txBox="1"/>
          <p:nvPr/>
        </p:nvSpPr>
        <p:spPr>
          <a:xfrm>
            <a:off x="777240" y="3931920"/>
            <a:ext cx="10634472" cy="960120"/>
          </a:xfrm>
          <a:prstGeom prst="rect">
            <a:avLst/>
          </a:prstGeom>
          <a:noFill/>
          <a:ln/>
        </p:spPr>
        <p:txBody>
          <a:bodyPr wrap="square" lIns="0" tIns="0" rIns="0" bIns="0" rtlCol="0" anchor="t"/>
          <a:lstStyle/>
          <a:p>
            <a:pPr indent="0" marL="0">
              <a:buNone/>
            </a:pPr>
            <a:r>
              <a:rPr lang="en-US" sz="1300" dirty="0">
                <a:solidFill>
                  <a:srgbClr val="FFFFFF"/>
                </a:solidFill>
                <a:latin typeface="Aptos Mono" pitchFamily="34" charset="0"/>
                <a:ea typeface="Aptos Mono" pitchFamily="34" charset="-122"/>
                <a:cs typeface="Aptos Mono" pitchFamily="34" charset="-120"/>
              </a:rPr>
              <a:t>import crossmep.tasks as cm</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data = cm.load("benchmark")</a:t>
            </a:r>
            <a:pPr indent="0" marL="0">
              <a:buNone/>
            </a:pPr>
            <a:r>
              <a:rPr lang="en-US" sz="1300" dirty="0">
                <a:solidFill>
                  <a:srgbClr val="CADCFC"/>
                </a:solidFill>
                <a:latin typeface="Aptos Mono" pitchFamily="34" charset="0"/>
                <a:ea typeface="Aptos Mono" pitchFamily="34" charset="-122"/>
                <a:cs typeface="Aptos Mono" pitchFamily="34" charset="-120"/>
              </a:rPr>
              <a:t>  # 1,000 contexts, or generate your own mix</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from crossmep.evaluate import score, compare</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score(my_results, data)</a:t>
            </a:r>
            <a:pPr indent="0" marL="0">
              <a:buNone/>
            </a:pPr>
            <a:r>
              <a:rPr lang="en-US" sz="1300" dirty="0">
                <a:solidFill>
                  <a:srgbClr val="CADCFC"/>
                </a:solidFill>
                <a:latin typeface="Aptos Mono" pitchFamily="34" charset="0"/>
                <a:ea typeface="Aptos Mono" pitchFamily="34" charset="-122"/>
                <a:cs typeface="Aptos Mono" pitchFamily="34" charset="-120"/>
              </a:rPr>
              <a:t>  # per tier, 95 % CI    compare(mine, baseline, data)  # paired test</a:t>
            </a:r>
            <a:endParaRPr lang="en-US" sz="1300" dirty="0"/>
          </a:p>
        </p:txBody>
      </p:sp>
      <p:sp>
        <p:nvSpPr>
          <p:cNvPr id="31" name="code caption"/>
          <p:cNvSpPr txBox="1"/>
          <p:nvPr/>
        </p:nvSpPr>
        <p:spPr>
          <a:xfrm>
            <a:off x="548640" y="5212080"/>
            <a:ext cx="11091672" cy="502920"/>
          </a:xfrm>
          <a:prstGeom prst="rect">
            <a:avLst/>
          </a:prstGeom>
          <a:noFill/>
          <a:ln/>
        </p:spPr>
        <p:txBody>
          <a:bodyPr wrap="square" lIns="0" tIns="0" rIns="0" bIns="0" rtlCol="0" anchor="t"/>
          <a:lstStyle/>
          <a:p>
            <a:pPr indent="0" marL="0">
              <a:buNone/>
            </a:pPr>
            <a:r>
              <a:rPr lang="en-US" sz="1150" dirty="0">
                <a:solidFill>
                  <a:srgbClr val="52514E"/>
                </a:solidFill>
              </a:rPr>
              <a:t>Four lines to load, score and compare; loading, metrics and scoring need only the Python standard library, the generator needs NumPy. The same files serve reinforcement learning, constraint programming and benchmarking: there are no labels to fit a method to.</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Today CrossMEP is one section at one support, and next come a checker and real projects</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icon ring scope 0"/>
          <p:cNvSpPr/>
          <p:nvPr/>
        </p:nvSpPr>
        <p:spPr>
          <a:xfrm>
            <a:off x="822960" y="2050542"/>
            <a:ext cx="402336" cy="402336"/>
          </a:xfrm>
          <a:prstGeom prst="ellipse">
            <a:avLst/>
          </a:prstGeom>
          <a:solidFill>
            <a:schemeClr val="accent1"/>
          </a:solidFill>
          <a:ln/>
        </p:spPr>
      </p:sp>
      <p:pic>
        <p:nvPicPr>
          <p:cNvPr id="6" name="icon scope 0" descr="preencoded.png">    </p:cNvPr>
          <p:cNvPicPr>
            <a:picLocks noChangeAspect="1"/>
          </p:cNvPicPr>
          <p:nvPr/>
        </p:nvPicPr>
        <p:blipFill>
          <a:blip r:embed="rId1"/>
          <a:stretch>
            <a:fillRect/>
          </a:stretch>
        </p:blipFill>
        <p:spPr>
          <a:xfrm>
            <a:off x="907451" y="2135033"/>
            <a:ext cx="233355" cy="233355"/>
          </a:xfrm>
          <a:prstGeom prst="rect">
            <a:avLst/>
          </a:prstGeom>
        </p:spPr>
      </p:pic>
      <p:sp>
        <p:nvSpPr>
          <p:cNvPr id="7" name="scope text 0"/>
          <p:cNvSpPr txBox="1"/>
          <p:nvPr/>
        </p:nvSpPr>
        <p:spPr>
          <a:xfrm>
            <a:off x="1417320" y="1920240"/>
            <a:ext cx="4334256" cy="662940"/>
          </a:xfrm>
          <a:prstGeom prst="rect">
            <a:avLst/>
          </a:prstGeom>
          <a:noFill/>
          <a:ln/>
        </p:spPr>
        <p:txBody>
          <a:bodyPr wrap="square" lIns="0" tIns="0" rIns="0" bIns="0" rtlCol="0" anchor="ctr"/>
          <a:lstStyle/>
          <a:p>
            <a:pPr indent="0" marL="0">
              <a:buNone/>
            </a:pPr>
            <a:r>
              <a:rPr lang="en-US" sz="1250" dirty="0">
                <a:solidFill>
                  <a:schemeClr val="tx1"/>
                </a:solidFill>
              </a:rPr>
              <a:t>One cross-section at one support: routing, branches and support spacing are outside it; the span is recorded, so a method can vary it</a:t>
            </a:r>
            <a:endParaRPr lang="en-US" sz="1250" dirty="0"/>
          </a:p>
        </p:txBody>
      </p:sp>
      <p:sp>
        <p:nvSpPr>
          <p:cNvPr id="8" name="icon ring scope 1"/>
          <p:cNvSpPr/>
          <p:nvPr/>
        </p:nvSpPr>
        <p:spPr>
          <a:xfrm>
            <a:off x="822960" y="2713482"/>
            <a:ext cx="402336" cy="402336"/>
          </a:xfrm>
          <a:prstGeom prst="ellipse">
            <a:avLst/>
          </a:prstGeom>
          <a:solidFill>
            <a:schemeClr val="accent1"/>
          </a:solidFill>
          <a:ln/>
        </p:spPr>
      </p:sp>
      <p:pic>
        <p:nvPicPr>
          <p:cNvPr id="9" name="icon scope 1" descr="preencoded.png">    </p:cNvPr>
          <p:cNvPicPr>
            <a:picLocks noChangeAspect="1"/>
          </p:cNvPicPr>
          <p:nvPr/>
        </p:nvPicPr>
        <p:blipFill>
          <a:blip r:embed="rId2"/>
          <a:stretch>
            <a:fillRect/>
          </a:stretch>
        </p:blipFill>
        <p:spPr>
          <a:xfrm>
            <a:off x="907451" y="2797973"/>
            <a:ext cx="233355" cy="233355"/>
          </a:xfrm>
          <a:prstGeom prst="rect">
            <a:avLst/>
          </a:prstGeom>
        </p:spPr>
      </p:pic>
      <p:sp>
        <p:nvSpPr>
          <p:cNvPr id="10" name="scope text 1"/>
          <p:cNvSpPr txBox="1"/>
          <p:nvPr/>
        </p:nvSpPr>
        <p:spPr>
          <a:xfrm>
            <a:off x="1417320" y="2583180"/>
            <a:ext cx="4334256" cy="662940"/>
          </a:xfrm>
          <a:prstGeom prst="rect">
            <a:avLst/>
          </a:prstGeom>
          <a:noFill/>
          <a:ln/>
        </p:spPr>
        <p:txBody>
          <a:bodyPr wrap="square" lIns="0" tIns="0" rIns="0" bIns="0" rtlCol="0" anchor="ctr"/>
          <a:lstStyle/>
          <a:p>
            <a:pPr indent="0" marL="0">
              <a:buNone/>
            </a:pPr>
            <a:r>
              <a:rPr lang="en-US" sz="1250" dirty="0">
                <a:solidFill>
                  <a:schemeClr val="tx1"/>
                </a:solidFill>
              </a:rPr>
              <a:t>Realism checked on two open buildings, a residential duplex and a medical clinic; congested racks rest on practice and standards</a:t>
            </a:r>
            <a:endParaRPr lang="en-US" sz="1250" dirty="0"/>
          </a:p>
        </p:txBody>
      </p:sp>
      <p:sp>
        <p:nvSpPr>
          <p:cNvPr id="11" name="icon ring scope 2"/>
          <p:cNvSpPr/>
          <p:nvPr/>
        </p:nvSpPr>
        <p:spPr>
          <a:xfrm>
            <a:off x="822960" y="3376422"/>
            <a:ext cx="402336" cy="402336"/>
          </a:xfrm>
          <a:prstGeom prst="ellipse">
            <a:avLst/>
          </a:prstGeom>
          <a:solidFill>
            <a:schemeClr val="accent1"/>
          </a:solidFill>
          <a:ln/>
        </p:spPr>
      </p:sp>
      <p:pic>
        <p:nvPicPr>
          <p:cNvPr id="12" name="icon scope 2" descr="preencoded.png">    </p:cNvPr>
          <p:cNvPicPr>
            <a:picLocks noChangeAspect="1"/>
          </p:cNvPicPr>
          <p:nvPr/>
        </p:nvPicPr>
        <p:blipFill>
          <a:blip r:embed="rId3"/>
          <a:stretch>
            <a:fillRect/>
          </a:stretch>
        </p:blipFill>
        <p:spPr>
          <a:xfrm>
            <a:off x="907451" y="3460913"/>
            <a:ext cx="233355" cy="233355"/>
          </a:xfrm>
          <a:prstGeom prst="rect">
            <a:avLst/>
          </a:prstGeom>
        </p:spPr>
      </p:pic>
      <p:sp>
        <p:nvSpPr>
          <p:cNvPr id="13" name="scope text 2"/>
          <p:cNvSpPr txBox="1"/>
          <p:nvPr/>
        </p:nvSpPr>
        <p:spPr>
          <a:xfrm>
            <a:off x="1417320" y="3246120"/>
            <a:ext cx="4334256" cy="662940"/>
          </a:xfrm>
          <a:prstGeom prst="rect">
            <a:avLst/>
          </a:prstGeom>
          <a:noFill/>
          <a:ln/>
        </p:spPr>
        <p:txBody>
          <a:bodyPr wrap="square" lIns="0" tIns="0" rIns="0" bIns="0" rtlCol="0" anchor="ctr"/>
          <a:lstStyle/>
          <a:p>
            <a:pPr indent="0" marL="0">
              <a:buNone/>
            </a:pPr>
            <a:r>
              <a:rPr lang="en-US" sz="1250" dirty="0">
                <a:solidFill>
                  <a:schemeClr val="tx1"/>
                </a:solidFill>
              </a:rPr>
              <a:t>Trade mix and tier composition are design choices, not survey results</a:t>
            </a:r>
            <a:endParaRPr lang="en-US" sz="1250" dirty="0"/>
          </a:p>
        </p:txBody>
      </p:sp>
      <p:sp>
        <p:nvSpPr>
          <p:cNvPr id="14" name="icon ring scope 3"/>
          <p:cNvSpPr/>
          <p:nvPr/>
        </p:nvSpPr>
        <p:spPr>
          <a:xfrm>
            <a:off x="822960" y="4039362"/>
            <a:ext cx="402336" cy="402336"/>
          </a:xfrm>
          <a:prstGeom prst="ellipse">
            <a:avLst/>
          </a:prstGeom>
          <a:solidFill>
            <a:schemeClr val="accent1"/>
          </a:solidFill>
          <a:ln/>
        </p:spPr>
      </p:sp>
      <p:pic>
        <p:nvPicPr>
          <p:cNvPr id="15" name="icon scope 3" descr="preencoded.png">    </p:cNvPr>
          <p:cNvPicPr>
            <a:picLocks noChangeAspect="1"/>
          </p:cNvPicPr>
          <p:nvPr/>
        </p:nvPicPr>
        <p:blipFill>
          <a:blip r:embed="rId4"/>
          <a:stretch>
            <a:fillRect/>
          </a:stretch>
        </p:blipFill>
        <p:spPr>
          <a:xfrm>
            <a:off x="907451" y="4123853"/>
            <a:ext cx="233355" cy="233355"/>
          </a:xfrm>
          <a:prstGeom prst="rect">
            <a:avLst/>
          </a:prstGeom>
        </p:spPr>
      </p:pic>
      <p:sp>
        <p:nvSpPr>
          <p:cNvPr id="16" name="scope text 3"/>
          <p:cNvSpPr txBox="1"/>
          <p:nvPr/>
        </p:nvSpPr>
        <p:spPr>
          <a:xfrm>
            <a:off x="1417320" y="3909060"/>
            <a:ext cx="4334256" cy="662940"/>
          </a:xfrm>
          <a:prstGeom prst="rect">
            <a:avLst/>
          </a:prstGeom>
          <a:noFill/>
          <a:ln/>
        </p:spPr>
        <p:txBody>
          <a:bodyPr wrap="square" lIns="0" tIns="0" rIns="0" bIns="0" rtlCol="0" anchor="ctr"/>
          <a:lstStyle/>
          <a:p>
            <a:pPr indent="0" marL="0">
              <a:buNone/>
            </a:pPr>
            <a:r>
              <a:rPr lang="en-US" sz="1250" dirty="0">
                <a:solidFill>
                  <a:schemeClr val="tx1"/>
                </a:solidFill>
              </a:rPr>
              <a:t>Synthetic: not for the structural design of real installations</a:t>
            </a:r>
            <a:endParaRPr lang="en-US" sz="1250" dirty="0"/>
          </a:p>
        </p:txBody>
      </p:sp>
      <p:sp>
        <p:nvSpPr>
          <p:cNvPr id="17" name="next card"/>
          <p:cNvSpPr/>
          <p:nvPr/>
        </p:nvSpPr>
        <p:spPr>
          <a:xfrm>
            <a:off x="6208776" y="1371600"/>
            <a:ext cx="5431536" cy="3246120"/>
          </a:xfrm>
          <a:prstGeom prst="roundRect">
            <a:avLst>
              <a:gd name="adj" fmla="val 1972"/>
            </a:avLst>
          </a:prstGeom>
          <a:solidFill>
            <a:schemeClr val="bg2"/>
          </a:solidFill>
          <a:ln/>
        </p:spPr>
      </p:sp>
      <p:sp>
        <p:nvSpPr>
          <p:cNvPr id="18" name="next heading"/>
          <p:cNvSpPr txBox="1"/>
          <p:nvPr/>
        </p:nvSpPr>
        <p:spPr>
          <a:xfrm>
            <a:off x="6483096"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9" name="icon ring next 0"/>
          <p:cNvSpPr/>
          <p:nvPr/>
        </p:nvSpPr>
        <p:spPr>
          <a:xfrm>
            <a:off x="6483096" y="2161032"/>
            <a:ext cx="402336" cy="402336"/>
          </a:xfrm>
          <a:prstGeom prst="ellipse">
            <a:avLst/>
          </a:prstGeom>
          <a:solidFill>
            <a:schemeClr val="accent1"/>
          </a:solidFill>
          <a:ln/>
        </p:spPr>
      </p:sp>
      <p:sp>
        <p:nvSpPr>
          <p:cNvPr id="20" name="Text 14"/>
          <p:cNvSpPr txBox="1"/>
          <p:nvPr/>
        </p:nvSpPr>
        <p:spPr>
          <a:xfrm>
            <a:off x="6483096" y="216103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next text 0"/>
          <p:cNvSpPr txBox="1"/>
          <p:nvPr/>
        </p:nvSpPr>
        <p:spPr>
          <a:xfrm>
            <a:off x="7077456" y="192024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public checker for support designs, with best-known costs from an exact solver on the small tiers</a:t>
            </a:r>
            <a:endParaRPr lang="en-US" sz="1250" dirty="0"/>
          </a:p>
        </p:txBody>
      </p:sp>
      <p:sp>
        <p:nvSpPr>
          <p:cNvPr id="22" name="icon ring next 1"/>
          <p:cNvSpPr/>
          <p:nvPr/>
        </p:nvSpPr>
        <p:spPr>
          <a:xfrm>
            <a:off x="6483096" y="3044952"/>
            <a:ext cx="402336" cy="402336"/>
          </a:xfrm>
          <a:prstGeom prst="ellipse">
            <a:avLst/>
          </a:prstGeom>
          <a:solidFill>
            <a:schemeClr val="accent1"/>
          </a:solidFill>
          <a:ln/>
        </p:spPr>
      </p:sp>
      <p:sp>
        <p:nvSpPr>
          <p:cNvPr id="23" name="Text 17"/>
          <p:cNvSpPr txBox="1"/>
          <p:nvPr/>
        </p:nvSpPr>
        <p:spPr>
          <a:xfrm>
            <a:off x="6483096" y="304495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4" name="next text 1"/>
          <p:cNvSpPr txBox="1"/>
          <p:nvPr/>
        </p:nvSpPr>
        <p:spPr>
          <a:xfrm>
            <a:off x="7077456" y="2804160"/>
            <a:ext cx="4334256" cy="883920"/>
          </a:xfrm>
          <a:prstGeom prst="rect">
            <a:avLst/>
          </a:prstGeom>
          <a:noFill/>
          <a:ln/>
        </p:spPr>
        <p:txBody>
          <a:bodyPr wrap="square" lIns="0" tIns="0" rIns="0" bIns="0" rtlCol="0" anchor="ctr"/>
          <a:lstStyle/>
          <a:p>
            <a:pPr indent="0" marL="0">
              <a:buNone/>
            </a:pPr>
            <a:r>
              <a:rPr lang="en-US" sz="1250" dirty="0">
                <a:solidFill>
                  <a:schemeClr val="tx1"/>
                </a:solidFill>
              </a:rPr>
              <a:t>The catalog as an input: generated catalogs, and catalogs a method has never seen</a:t>
            </a:r>
            <a:endParaRPr lang="en-US" sz="1250" dirty="0"/>
          </a:p>
        </p:txBody>
      </p:sp>
      <p:sp>
        <p:nvSpPr>
          <p:cNvPr id="25" name="icon ring next 2"/>
          <p:cNvSpPr/>
          <p:nvPr/>
        </p:nvSpPr>
        <p:spPr>
          <a:xfrm>
            <a:off x="6483096" y="3928872"/>
            <a:ext cx="402336" cy="402336"/>
          </a:xfrm>
          <a:prstGeom prst="ellipse">
            <a:avLst/>
          </a:prstGeom>
          <a:solidFill>
            <a:schemeClr val="accent1"/>
          </a:solidFill>
          <a:ln/>
        </p:spPr>
      </p:sp>
      <p:sp>
        <p:nvSpPr>
          <p:cNvPr id="26" name="Text 20"/>
          <p:cNvSpPr txBox="1"/>
          <p:nvPr/>
        </p:nvSpPr>
        <p:spPr>
          <a:xfrm>
            <a:off x="6483096" y="39288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next text 2"/>
          <p:cNvSpPr txBox="1"/>
          <p:nvPr/>
        </p:nvSpPr>
        <p:spPr>
          <a:xfrm>
            <a:off x="7077456" y="368808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real test set: sections from commercial projects with supports designed by engineers</a:t>
            </a:r>
            <a:endParaRPr lang="en-US" sz="1250" dirty="0"/>
          </a:p>
        </p:txBody>
      </p:sp>
      <p:sp>
        <p:nvSpPr>
          <p:cNvPr id="28" name="ask band"/>
          <p:cNvSpPr/>
          <p:nvPr/>
        </p:nvSpPr>
        <p:spPr>
          <a:xfrm>
            <a:off x="548640" y="4846320"/>
            <a:ext cx="11091672" cy="1234440"/>
          </a:xfrm>
          <a:prstGeom prst="roundRect">
            <a:avLst>
              <a:gd name="adj" fmla="val 5185"/>
            </a:avLst>
          </a:prstGeom>
          <a:solidFill>
            <a:schemeClr val="tx2"/>
          </a:solidFill>
          <a:ln/>
        </p:spPr>
      </p:sp>
      <p:sp>
        <p:nvSpPr>
          <p:cNvPr id="29"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30" name="qr ask" descr="/home/user/crossmep_dataset/docs/figures/qr_repo.png">    </p:cNvPr>
          <p:cNvPicPr>
            <a:picLocks noChangeAspect="1"/>
          </p:cNvPicPr>
          <p:nvPr/>
        </p:nvPicPr>
        <p:blipFill>
          <a:blip r:embed="rId5"/>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finally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CrossMEP is the brief, not the answer: seven thousand support-design problems, open to anyone who wants to teach a machine to design supports.</a:t>
            </a:r>
            <a:endParaRPr lang="en-US" sz="1600" dirty="0"/>
          </a:p>
          <a:p>
            <a:pPr indent="0" marL="0">
              <a:buNone/>
            </a:pPr>
            <a:r>
              <a:rPr lang="en-US" sz="600" dirty="0">
                <a:solidFill>
                  <a:srgbClr val="CADCFC"/>
                </a:solidFill>
              </a:rPr>
              <a:t> </a:t>
            </a:r>
            <a:endParaRPr lang="en-US" sz="1600" dirty="0"/>
          </a:p>
          <a:p>
            <a:pPr indent="0" marL="0">
              <a:buNone/>
            </a:pPr>
            <a:r>
              <a:rPr lang="en-US" sz="1200" dirty="0">
                <a:solidFill>
                  <a:srgbClr val="CADCFC"/>
                </a:solidFill>
              </a:rPr>
              <a:t>Data CC BY 4.0, code MIT.  Not for the structural design of real installations.</a:t>
            </a:r>
            <a:endParaRPr lang="en-US" sz="1600" dirty="0"/>
          </a:p>
        </p:txBody>
      </p:sp>
      <p:sp>
        <p:nvSpPr>
          <p:cNvPr id="4" name="takeaway 7,000"/>
          <p:cNvSpPr/>
          <p:nvPr/>
        </p:nvSpPr>
        <p:spPr>
          <a:xfrm>
            <a:off x="640080" y="4800600"/>
            <a:ext cx="1771650" cy="1325880"/>
          </a:xfrm>
          <a:prstGeom prst="roundRect">
            <a:avLst>
              <a:gd name="adj" fmla="val 4828"/>
            </a:avLst>
          </a:prstGeom>
          <a:solidFill>
            <a:srgbClr val="2B3946"/>
          </a:solidFill>
          <a:ln/>
        </p:spPr>
      </p:sp>
      <p:pic>
        <p:nvPicPr>
          <p:cNvPr id="5" name="takeaway icon 7,000" descr="preencoded.png">    </p:cNvPr>
          <p:cNvPicPr>
            <a:picLocks noChangeAspect="1"/>
          </p:cNvPicPr>
          <p:nvPr/>
        </p:nvPicPr>
        <p:blipFill>
          <a:blip r:embed="rId1"/>
          <a:stretch>
            <a:fillRect/>
          </a:stretch>
        </p:blipFill>
        <p:spPr>
          <a:xfrm>
            <a:off x="804672" y="4965192"/>
            <a:ext cx="310896" cy="310896"/>
          </a:xfrm>
          <a:prstGeom prst="rect">
            <a:avLst/>
          </a:prstGeom>
        </p:spPr>
      </p:pic>
      <p:sp>
        <p:nvSpPr>
          <p:cNvPr id="6" name="takeaway value 7,000"/>
          <p:cNvSpPr txBox="1"/>
          <p:nvPr/>
        </p:nvSpPr>
        <p:spPr>
          <a:xfrm>
            <a:off x="120700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7,000</a:t>
            </a:r>
            <a:endParaRPr lang="en-US" sz="1700" dirty="0"/>
          </a:p>
        </p:txBody>
      </p:sp>
      <p:sp>
        <p:nvSpPr>
          <p:cNvPr id="7" name="takeaway label 7,000"/>
          <p:cNvSpPr txBox="1"/>
          <p:nvPr/>
        </p:nvSpPr>
        <p:spPr>
          <a:xfrm>
            <a:off x="80467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support-design problems in eight tiers</a:t>
            </a:r>
            <a:endParaRPr lang="en-US" sz="1050" dirty="0"/>
          </a:p>
        </p:txBody>
      </p:sp>
      <p:sp>
        <p:nvSpPr>
          <p:cNvPr id="8" name="takeaway Sourced"/>
          <p:cNvSpPr/>
          <p:nvPr/>
        </p:nvSpPr>
        <p:spPr>
          <a:xfrm>
            <a:off x="2548890" y="4800600"/>
            <a:ext cx="1771650" cy="1325880"/>
          </a:xfrm>
          <a:prstGeom prst="roundRect">
            <a:avLst>
              <a:gd name="adj" fmla="val 4828"/>
            </a:avLst>
          </a:prstGeom>
          <a:solidFill>
            <a:srgbClr val="2B3946"/>
          </a:solidFill>
          <a:ln/>
        </p:spPr>
      </p:sp>
      <p:pic>
        <p:nvPicPr>
          <p:cNvPr id="9" name="takeaway icon Sourced" descr="preencoded.png">    </p:cNvPr>
          <p:cNvPicPr>
            <a:picLocks noChangeAspect="1"/>
          </p:cNvPicPr>
          <p:nvPr/>
        </p:nvPicPr>
        <p:blipFill>
          <a:blip r:embed="rId2"/>
          <a:stretch>
            <a:fillRect/>
          </a:stretch>
        </p:blipFill>
        <p:spPr>
          <a:xfrm>
            <a:off x="2713482" y="4965192"/>
            <a:ext cx="310896" cy="310896"/>
          </a:xfrm>
          <a:prstGeom prst="rect">
            <a:avLst/>
          </a:prstGeom>
        </p:spPr>
      </p:pic>
      <p:sp>
        <p:nvSpPr>
          <p:cNvPr id="10" name="takeaway value Sourced"/>
          <p:cNvSpPr txBox="1"/>
          <p:nvPr/>
        </p:nvSpPr>
        <p:spPr>
          <a:xfrm>
            <a:off x="311581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Sourced</a:t>
            </a:r>
            <a:endParaRPr lang="en-US" sz="1700" dirty="0"/>
          </a:p>
        </p:txBody>
      </p:sp>
      <p:sp>
        <p:nvSpPr>
          <p:cNvPr id="11" name="takeaway label Sourced"/>
          <p:cNvSpPr txBox="1"/>
          <p:nvPr/>
        </p:nvSpPr>
        <p:spPr>
          <a:xfrm>
            <a:off x="271348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every constant sourced or declared</a:t>
            </a:r>
            <a:endParaRPr lang="en-US" sz="1050" dirty="0"/>
          </a:p>
        </p:txBody>
      </p:sp>
      <p:sp>
        <p:nvSpPr>
          <p:cNvPr id="12" name="takeaway Checked"/>
          <p:cNvSpPr/>
          <p:nvPr/>
        </p:nvSpPr>
        <p:spPr>
          <a:xfrm>
            <a:off x="4457700" y="4800600"/>
            <a:ext cx="1771650" cy="1325880"/>
          </a:xfrm>
          <a:prstGeom prst="roundRect">
            <a:avLst>
              <a:gd name="adj" fmla="val 4828"/>
            </a:avLst>
          </a:prstGeom>
          <a:solidFill>
            <a:srgbClr val="2B3946"/>
          </a:solidFill>
          <a:ln/>
        </p:spPr>
      </p:sp>
      <p:pic>
        <p:nvPicPr>
          <p:cNvPr id="13" name="takeaway icon Checked" descr="preencoded.png">    </p:cNvPr>
          <p:cNvPicPr>
            <a:picLocks noChangeAspect="1"/>
          </p:cNvPicPr>
          <p:nvPr/>
        </p:nvPicPr>
        <p:blipFill>
          <a:blip r:embed="rId3"/>
          <a:stretch>
            <a:fillRect/>
          </a:stretch>
        </p:blipFill>
        <p:spPr>
          <a:xfrm>
            <a:off x="4622292" y="4965192"/>
            <a:ext cx="310896" cy="310896"/>
          </a:xfrm>
          <a:prstGeom prst="rect">
            <a:avLst/>
          </a:prstGeom>
        </p:spPr>
      </p:pic>
      <p:sp>
        <p:nvSpPr>
          <p:cNvPr id="14" name="takeaway value Checked"/>
          <p:cNvSpPr txBox="1"/>
          <p:nvPr/>
        </p:nvSpPr>
        <p:spPr>
          <a:xfrm>
            <a:off x="502462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Checked</a:t>
            </a:r>
            <a:endParaRPr lang="en-US" sz="1700" dirty="0"/>
          </a:p>
        </p:txBody>
      </p:sp>
      <p:sp>
        <p:nvSpPr>
          <p:cNvPr id="15" name="takeaway label Checked"/>
          <p:cNvSpPr txBox="1"/>
          <p:nvPr/>
        </p:nvSpPr>
        <p:spPr>
          <a:xfrm>
            <a:off x="462229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pipe gaps tested on two open buildings</a:t>
            </a:r>
            <a:endParaRPr lang="en-US" sz="1050" dirty="0"/>
          </a:p>
        </p:txBody>
      </p:sp>
      <p:sp>
        <p:nvSpPr>
          <p:cNvPr id="16" name="takeaway Open"/>
          <p:cNvSpPr/>
          <p:nvPr/>
        </p:nvSpPr>
        <p:spPr>
          <a:xfrm>
            <a:off x="6366510" y="4800600"/>
            <a:ext cx="1771650" cy="1325880"/>
          </a:xfrm>
          <a:prstGeom prst="roundRect">
            <a:avLst>
              <a:gd name="adj" fmla="val 4828"/>
            </a:avLst>
          </a:prstGeom>
          <a:solidFill>
            <a:srgbClr val="2B3946"/>
          </a:solidFill>
          <a:ln/>
        </p:spPr>
      </p:sp>
      <p:pic>
        <p:nvPicPr>
          <p:cNvPr id="17" name="takeaway icon Open" descr="preencoded.png">    </p:cNvPr>
          <p:cNvPicPr>
            <a:picLocks noChangeAspect="1"/>
          </p:cNvPicPr>
          <p:nvPr/>
        </p:nvPicPr>
        <p:blipFill>
          <a:blip r:embed="rId4"/>
          <a:stretch>
            <a:fillRect/>
          </a:stretch>
        </p:blipFill>
        <p:spPr>
          <a:xfrm>
            <a:off x="6531102" y="4965192"/>
            <a:ext cx="310896" cy="310896"/>
          </a:xfrm>
          <a:prstGeom prst="rect">
            <a:avLst/>
          </a:prstGeom>
        </p:spPr>
      </p:pic>
      <p:sp>
        <p:nvSpPr>
          <p:cNvPr id="18" name="takeaway value Open"/>
          <p:cNvSpPr txBox="1"/>
          <p:nvPr/>
        </p:nvSpPr>
        <p:spPr>
          <a:xfrm>
            <a:off x="693343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Open</a:t>
            </a:r>
            <a:endParaRPr lang="en-US" sz="1700" dirty="0"/>
          </a:p>
        </p:txBody>
      </p:sp>
      <p:sp>
        <p:nvSpPr>
          <p:cNvPr id="19" name="takeaway label Open"/>
          <p:cNvSpPr txBox="1"/>
          <p:nvPr/>
        </p:nvSpPr>
        <p:spPr>
          <a:xfrm>
            <a:off x="653110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data, code and generator</a:t>
            </a:r>
            <a:endParaRPr lang="en-US" sz="1050" dirty="0"/>
          </a:p>
        </p:txBody>
      </p:sp>
      <p:pic>
        <p:nvPicPr>
          <p:cNvPr id="20" name="qr closing" descr="/home/user/crossmep_dataset/docs/figures/qr_repo.png">    </p:cNvPr>
          <p:cNvPicPr>
            <a:picLocks noChangeAspect="1"/>
          </p:cNvPicPr>
          <p:nvPr/>
        </p:nvPicPr>
        <p:blipFill>
          <a:blip r:embed="rId5"/>
          <a:stretch>
            <a:fillRect/>
          </a:stretch>
        </p:blipFill>
        <p:spPr>
          <a:xfrm>
            <a:off x="9006840" y="1600200"/>
            <a:ext cx="2011680" cy="2011680"/>
          </a:xfrm>
          <a:prstGeom prst="rect">
            <a:avLst/>
          </a:prstGeom>
        </p:spPr>
      </p:pic>
      <p:sp>
        <p:nvSpPr>
          <p:cNvPr id="21" name="closing link"/>
          <p:cNvSpPr txBox="1"/>
          <p:nvPr/>
        </p:nvSpPr>
        <p:spPr>
          <a:xfrm>
            <a:off x="8229600" y="3703320"/>
            <a:ext cx="3566160" cy="68580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
        <p:nvSpPr>
          <p:cNvPr id="22" name="logo chip"/>
          <p:cNvSpPr/>
          <p:nvPr/>
        </p:nvSpPr>
        <p:spPr>
          <a:xfrm>
            <a:off x="8229600" y="4892040"/>
            <a:ext cx="3566160" cy="1188720"/>
          </a:xfrm>
          <a:prstGeom prst="roundRect">
            <a:avLst>
              <a:gd name="adj" fmla="val 6154"/>
            </a:avLst>
          </a:prstGeom>
          <a:solidFill>
            <a:srgbClr val="FFFFFF"/>
          </a:solidFill>
          <a:ln/>
        </p:spPr>
      </p:sp>
      <p:pic>
        <p:nvPicPr>
          <p:cNvPr id="23" name="logo stanford" descr="preencoded.png">    </p:cNvPr>
          <p:cNvPicPr>
            <a:picLocks noChangeAspect="1"/>
          </p:cNvPicPr>
          <p:nvPr/>
        </p:nvPicPr>
        <p:blipFill>
          <a:blip r:embed="rId6"/>
          <a:stretch>
            <a:fillRect/>
          </a:stretch>
        </p:blipFill>
        <p:spPr>
          <a:xfrm>
            <a:off x="8412480" y="5078476"/>
            <a:ext cx="2011680" cy="815848"/>
          </a:xfrm>
          <a:prstGeom prst="rect">
            <a:avLst/>
          </a:prstGeom>
        </p:spPr>
      </p:pic>
      <p:pic>
        <p:nvPicPr>
          <p:cNvPr id="24" name="logo hilti" descr="preencoded.png">    </p:cNvPr>
          <p:cNvPicPr>
            <a:picLocks noChangeAspect="1"/>
          </p:cNvPicPr>
          <p:nvPr/>
        </p:nvPicPr>
        <p:blipFill>
          <a:blip r:embed="rId7"/>
          <a:stretch>
            <a:fillRect/>
          </a:stretch>
        </p:blipFill>
        <p:spPr>
          <a:xfrm>
            <a:off x="10607040" y="5364189"/>
            <a:ext cx="1005840" cy="244423"/>
          </a:xfrm>
          <a:prstGeom prst="rect">
            <a:avLst/>
          </a:prstGeom>
        </p:spPr>
      </p:pic>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2026-10-07T00:12:41Z</dcterms:created>
  <dcterms:modified xsi:type="dcterms:W3CDTF">2026-10-07T00:12:41Z</dcterms:modified>
</cp:coreProperties>
</file>