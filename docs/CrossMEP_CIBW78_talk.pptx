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611684-4a5d-11ba-3c2f-2a96587b7a76}">
          <p14:sldIdLst>
            <p14:sldId id="256"/>
          </p14:sldIdLst>
        </p14:section>
        <p14:section name="Motivation" id="{d23312e0-704f-ec5a-6a3c-8ff2d7ee669c}">
          <p14:sldIdLst>
            <p14:sldId id="257"/>
            <p14:sldId id="258"/>
          </p14:sldIdLst>
        </p14:section>
        <p14:section name="The dataset" id="{4c5f959b-55d5-84b4-d094-b454fc8bcaef}">
          <p14:sldIdLst>
            <p14:sldId id="259"/>
            <p14:sldId id="260"/>
            <p14:sldId id="261"/>
            <p14:sldId id="262"/>
            <p14:sldId id="263"/>
          </p14:sldIdLst>
        </p14:section>
        <p14:section name="Experiments" id="{bbb2e11e-54ba-a0ec-6c0d-6e7169dd0181}">
          <p14:sldIdLst>
            <p14:sldId id="264"/>
            <p14:sldId id="265"/>
            <p14:sldId id="266"/>
          </p14:sldIdLst>
        </p14:section>
        <p14:section name="Use" id="{e88cd628-f5fc-6f7d-69e4-e45826598288}">
          <p14:sldIdLst>
            <p14:sldId id="267"/>
            <p14:sldId id="268"/>
            <p14:sldId id="269"/>
            <p14:sldId id="270"/>
          </p14:sldIdLst>
        </p14:section>
        <p14:section name="Appendix" id="{11d5b320-f10b-5b31-bb11-55531da13b9b}">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Arial"/>
                  </a:defRPr>
                </a:pPr>
                <a:r>
                  <a:rPr sz="1000" b="0" i="0" u="none" strike="noStrike">
                    <a:solidFill>
                      <a:srgbClr val="52514E"/>
                    </a:solidFill>
                    <a:latin typeface="Arial"/>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a support assembly: anchors, rods, channel, clamps. On a 200,000 square-foot hospital that is on the order of 10,000 assemblies, each taking 20 minutes to two hours by hand - together roughly a quarter of the MEP design effort. These are practitioner estimates. The work starts after coordination: at every hanger location the designer takes the section across the run and designs a support for exactly what passes through it. That section is the unit of work, and it is the unit of our dataset.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checked against open IFC buildings, and released openly with the generator.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has a source. Pipe sizes and walls from EN 10220 and 10255, filled with water, at ASME B31.1 water-service spans. Insulation from the German GEG for heated lines and a condensation-control schedule for chilled water. Trays at IEC 61537 widths, loaded full. Ducts at the EN preferred sizes with a manufacturer weight table. Conduits at IEC 61386 sizes with 40 per cent cable fill. The loads are computed from these sources in the code, and every constant is documented with its source and status. Things that are choices - the trade mix, the tier composition - are labelled as design choices, not presented as measurements.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 design check, not a discovery: does difficulty grow with the tier, as intended? The count is fixed by construction; load and congestion follow from the rules, so this shows the dataset behaves as designed. Load at the support rises at every step, from 0.1 to 1.7 kilonewtons. The closest gap falls from 120 to about 62 millimetres, but widens again at C6, where the generator starts stacking in two or three rows. So report methods tier by tier.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never saw? The gap distribution was fitted on a residential duplex from buildingSMART. We held out a second open building, a medical-dental clinic, which is a real building, cut it into sections every 250 millimetres, the way a context is defined, and measured the gap between pipes running side by side. On the left, the clinic: the generated gaps follow the measured ones. On the right, the distances: generated to clinic 28 millimetres, about as close as the duplex's own two models are to each other. A fixed modular gap would be about 190 millimetres off.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not a test of it: what must a catalog of clamps cover? Take the paper's two-size catalog as an illustration. It attaches 11.6 per cent of the pipes, interval 10 to 13, all of one size, DN40; load never binds, and trays, ducts and conduits are not covered at all. On the right is what the dataset asks of any catalog: two well-placed sizes attach 43 per cent, six 80, 12 every pipe. So 'what should the catalog contain' becomes a measurement.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that means in practice. In the studio I choose what crosses the hanger: a tier, or an exact mix, and the seed. Out comes the section a support designer receives, drawn the way an engineer would issue it: every service at true size, its level below the slab, its load at the support, the closest clear gap; and the same run in 3D. Every section is a stored output of the released generator, with the Python call that reproduces it. [Live: switch to the studio, click C3, then Generate another twice, then Exact mix with a duct. If the demo fails, stay on this slide; slide 16 shows two more sections.]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with the Python standard library, filter by composition, or generate your own mix with the same rules. Because there are no labels, the same files serve reinforcement learning, constraint-programming baselines and human benchmarking, and we ship the scoring: train on the generator, from C1 up to C8; evaluate on the benchmark, the same 125 contexts per tier for every method; report per tier with 95 per cent intervals and paired tests.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sections of two open buildings; congested racks rest on practice and standards. The trade mix is a design choice, and the data is not for structural design. Next: a public checker for support designs, with best-known costs, so methods can be compared on the answer and not only on the brief; the catalog as an input, so a method is tested on catalogs it has never seen; and a real test set from commercial projects, with supports designed by engineers - which is where we would value your eye. (8:45)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number traced to its source, checked against two open buildings, and open. The QR code takes you to the data, the code, the gallery and the studio. Thank you. (9:15)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pipe, duct and tray hangs from a support designed by hand</a:t>
            </a:r>
            <a:endParaRPr lang="en-US" sz="2600" dirty="0"/>
          </a:p>
        </p:txBody>
      </p:sp>
      <p:sp>
        <p:nvSpPr>
          <p:cNvPr id="3" name="tile support assemblies in one 200,000 sq ft hospital"/>
          <p:cNvSpPr/>
          <p:nvPr/>
        </p:nvSpPr>
        <p:spPr>
          <a:xfrm>
            <a:off x="548640" y="141732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49808" y="150876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10,000</a:t>
            </a:r>
            <a:endParaRPr lang="en-US" sz="3200" dirty="0"/>
          </a:p>
        </p:txBody>
      </p:sp>
      <p:sp>
        <p:nvSpPr>
          <p:cNvPr id="5" name="label support assemblies in one 200,000 sq ft hospital"/>
          <p:cNvSpPr txBox="1"/>
          <p:nvPr/>
        </p:nvSpPr>
        <p:spPr>
          <a:xfrm>
            <a:off x="749808" y="2212848"/>
            <a:ext cx="3163824" cy="52120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292608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49808" y="301752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20 min – 2 h</a:t>
            </a:r>
            <a:endParaRPr lang="en-US" sz="3200" dirty="0"/>
          </a:p>
        </p:txBody>
      </p:sp>
      <p:sp>
        <p:nvSpPr>
          <p:cNvPr id="8" name="label to design each one by hand, from the coordinated model"/>
          <p:cNvSpPr txBox="1"/>
          <p:nvPr/>
        </p:nvSpPr>
        <p:spPr>
          <a:xfrm>
            <a:off x="749808" y="3721608"/>
            <a:ext cx="3163824" cy="52120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all MEP design effort; on the order of $600K of engineering per project"/>
          <p:cNvSpPr/>
          <p:nvPr/>
        </p:nvSpPr>
        <p:spPr>
          <a:xfrm>
            <a:off x="548640" y="4434840"/>
            <a:ext cx="3566160" cy="1371600"/>
          </a:xfrm>
          <a:prstGeom prst="roundRect">
            <a:avLst>
              <a:gd name="adj" fmla="val 4667"/>
            </a:avLst>
          </a:prstGeom>
          <a:solidFill>
            <a:schemeClr val="bg2"/>
          </a:solidFill>
          <a:ln/>
        </p:spPr>
      </p:sp>
      <p:sp>
        <p:nvSpPr>
          <p:cNvPr id="10" name="value of all MEP design effort; on the order of $600K of engineering per project"/>
          <p:cNvSpPr txBox="1"/>
          <p:nvPr/>
        </p:nvSpPr>
        <p:spPr>
          <a:xfrm>
            <a:off x="749808" y="452628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¼</a:t>
            </a:r>
            <a:endParaRPr lang="en-US" sz="3200" dirty="0"/>
          </a:p>
        </p:txBody>
      </p:sp>
      <p:sp>
        <p:nvSpPr>
          <p:cNvPr id="11" name="label of all MEP design effort; on the order of $600K of engineering per project"/>
          <p:cNvSpPr txBox="1"/>
          <p:nvPr/>
        </p:nvSpPr>
        <p:spPr>
          <a:xfrm>
            <a:off x="749808" y="5230368"/>
            <a:ext cx="3163824" cy="521208"/>
          </a:xfrm>
          <a:prstGeom prst="rect">
            <a:avLst/>
          </a:prstGeom>
          <a:noFill/>
          <a:ln/>
        </p:spPr>
        <p:txBody>
          <a:bodyPr wrap="square" lIns="0" tIns="0" rIns="0" bIns="0" rtlCol="0" anchor="t"/>
          <a:lstStyle/>
          <a:p>
            <a:pPr indent="0" marL="0">
              <a:buNone/>
            </a:pPr>
            <a:r>
              <a:rPr lang="en-US" sz="1200" dirty="0">
                <a:solidFill>
                  <a:srgbClr val="52514E"/>
                </a:solidFill>
              </a:rPr>
              <a:t>of all MEP design effort; on the order of $600K of engineering per project</a:t>
            </a:r>
            <a:endParaRPr lang="en-US" sz="1200" dirty="0"/>
          </a:p>
        </p:txBody>
      </p:sp>
      <p:sp>
        <p:nvSpPr>
          <p:cNvPr id="12" name="estimates note"/>
          <p:cNvSpPr txBox="1"/>
          <p:nvPr/>
        </p:nvSpPr>
        <p:spPr>
          <a:xfrm>
            <a:off x="548640" y="5897880"/>
            <a:ext cx="3566160" cy="27432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pic>
        <p:nvPicPr>
          <p:cNvPr id="13" name="route to section" descr="/home/user/crossmep_dataset/docs/figures/paper_fig1_route_to_section.png">    </p:cNvPr>
          <p:cNvPicPr>
            <a:picLocks noChangeAspect="1"/>
          </p:cNvPicPr>
          <p:nvPr/>
        </p:nvPicPr>
        <p:blipFill>
          <a:blip r:embed="rId1"/>
          <a:stretch>
            <a:fillRect/>
          </a:stretch>
        </p:blipFill>
        <p:spPr>
          <a:xfrm>
            <a:off x="4480560" y="1525290"/>
            <a:ext cx="7159752" cy="1978621"/>
          </a:xfrm>
          <a:prstGeom prst="rect">
            <a:avLst/>
          </a:prstGeom>
        </p:spPr>
      </p:pic>
      <p:sp>
        <p:nvSpPr>
          <p:cNvPr id="14" name="fig1 caption"/>
          <p:cNvSpPr txBox="1"/>
          <p:nvPr/>
        </p:nvSpPr>
        <p:spPr>
          <a:xfrm>
            <a:off x="4480560" y="3641070"/>
            <a:ext cx="7159752"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location the designer works from the section across the run: what passes, how big, how heavy, how far apart, what it hangs from.</a:t>
            </a:r>
            <a:endParaRPr lang="en-US" sz="1100" dirty="0"/>
          </a:p>
        </p:txBody>
      </p:sp>
      <p:sp>
        <p:nvSpPr>
          <p:cNvPr id="15" name="quote card"/>
          <p:cNvSpPr/>
          <p:nvPr/>
        </p:nvSpPr>
        <p:spPr>
          <a:xfrm>
            <a:off x="4480560" y="4434840"/>
            <a:ext cx="7159752" cy="1371600"/>
          </a:xfrm>
          <a:prstGeom prst="roundRect">
            <a:avLst>
              <a:gd name="adj" fmla="val 4667"/>
            </a:avLst>
          </a:prstGeom>
          <a:solidFill>
            <a:schemeClr val="bg2"/>
          </a:solidFill>
          <a:ln/>
        </p:spPr>
      </p:sp>
      <p:sp>
        <p:nvSpPr>
          <p:cNvPr id="16" name="quote"/>
          <p:cNvSpPr txBox="1"/>
          <p:nvPr/>
        </p:nvSpPr>
        <p:spPr>
          <a:xfrm>
            <a:off x="4754880" y="4572000"/>
            <a:ext cx="6611112"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it is designed from the section at that hanger.</a:t>
            </a:r>
            <a:endParaRPr lang="en-US" sz="1500" dirty="0"/>
          </a:p>
          <a:p>
            <a:pPr indent="0" marL="0">
              <a:buNone/>
            </a:pPr>
            <a:r>
              <a:rPr lang="en-US" sz="1500" b="1" dirty="0">
                <a:solidFill>
                  <a:schemeClr val="tx1"/>
                </a:solidFill>
              </a:rPr>
              <a:t>That section is the unit of work — and the unit of CrossMEP.</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There was no public dataset of support-design problems</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from a standard, a manufacturer table or a measurement"/>
          <p:cNvSpPr/>
          <p:nvPr/>
        </p:nvSpPr>
        <p:spPr>
          <a:xfrm>
            <a:off x="7812024" y="4023360"/>
            <a:ext cx="1822704" cy="1965960"/>
          </a:xfrm>
          <a:prstGeom prst="roundRect">
            <a:avLst>
              <a:gd name="adj" fmla="val 3512"/>
            </a:avLst>
          </a:prstGeom>
          <a:solidFill>
            <a:schemeClr val="bg2"/>
          </a:solidFill>
          <a:ln/>
        </p:spPr>
      </p:sp>
      <p:sp>
        <p:nvSpPr>
          <p:cNvPr id="30" name="value every constant from a standard, a manufacturer table or a measurement"/>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from a standard, a manufacturer table or a measurement"/>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from a standard, a manufacturer table or a measurement</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the section at one hanger: the brief, not the answer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How a context is generated: rules, not free randomness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has a source, and every load is computed from it</a:t>
            </a:r>
            <a:endParaRPr lang="en-US" sz="26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release: 7,000 contexts in four splits on disjoint seeds</a:t>
            </a:r>
            <a:endParaRPr lang="en-US" sz="2600" dirty="0"/>
          </a:p>
        </p:txBody>
      </p:sp>
      <p:graphicFrame>
        <p:nvGraphicFramePr>
          <p:cNvPr id="8"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Eight difficulty tiers: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1, a design check: difficulty grows with the tier</a:t>
            </a:r>
            <a:endParaRPr lang="en-US" sz="2600" dirty="0"/>
          </a:p>
        </p:txBody>
      </p:sp>
      <p:pic>
        <p:nvPicPr>
          <p:cNvPr id="3" name="tier statistics" descr="/home/user/crossmep_dataset/docs/figures/03_tiers_stats.png">    </p:cNvPr>
          <p:cNvPicPr>
            <a:picLocks noChangeAspect="1"/>
          </p:cNvPicPr>
          <p:nvPr/>
        </p:nvPicPr>
        <p:blipFill>
          <a:blip r:embed="rId1"/>
          <a:stretch>
            <a:fillRect/>
          </a:stretch>
        </p:blipFill>
        <p:spPr>
          <a:xfrm>
            <a:off x="584630" y="1325880"/>
            <a:ext cx="11019692" cy="4297680"/>
          </a:xfrm>
          <a:prstGeom prst="rect">
            <a:avLst/>
          </a:prstGeom>
        </p:spPr>
      </p:pic>
      <p:sp>
        <p:nvSpPr>
          <p:cNvPr id="4" name="experiment 1 caption"/>
          <p:cNvSpPr txBox="1"/>
          <p:nvPr/>
        </p:nvSpPr>
        <p:spPr>
          <a:xfrm>
            <a:off x="548640" y="5715000"/>
            <a:ext cx="11091672" cy="59436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finding about buildings: the tier fixes the element count, and load and congestion follow from the generator’s rules. Boxes: the benchmark, 125 contexts per tier; diamonds: medians of 2,000 freshly generated contexts per tier. Load rises at every tier (rank correlation with tier +0.56); the closest gap shrinks overall (−0.36) but widens again at C6 (70 → 75 mm), where the generator starts stacking elements in two or three rows.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2, the real test: spacing in a building it never saw</a:t>
            </a:r>
            <a:endParaRPr lang="en-US" sz="2600" dirty="0"/>
          </a:p>
        </p:txBody>
      </p:sp>
      <p:pic>
        <p:nvPicPr>
          <p:cNvPr id="3" name="gap distributions" descr="/home/user/crossmep_dataset/docs/figures/04_gaps_vs_buildings.png">    </p:cNvPr>
          <p:cNvPicPr>
            <a:picLocks noChangeAspect="1"/>
          </p:cNvPicPr>
          <p:nvPr/>
        </p:nvPicPr>
        <p:blipFill>
          <a:blip r:embed="rId1"/>
          <a:stretch>
            <a:fillRect/>
          </a:stretch>
        </p:blipFill>
        <p:spPr>
          <a:xfrm>
            <a:off x="797336" y="1325880"/>
            <a:ext cx="10594281" cy="4297680"/>
          </a:xfrm>
          <a:prstGeom prst="rect">
            <a:avLst/>
          </a:prstGeom>
        </p:spPr>
      </p:pic>
      <p:sp>
        <p:nvSpPr>
          <p:cNvPr id="4" name="experiment 2 caption"/>
          <p:cNvSpPr txBox="1"/>
          <p:nvPr/>
        </p:nvSpPr>
        <p:spPr>
          <a:xfrm>
            <a:off x="548640" y="5715000"/>
            <a:ext cx="11091672" cy="594360"/>
          </a:xfrm>
          <a:prstGeom prst="rect">
            <a:avLst/>
          </a:prstGeom>
          <a:noFill/>
          <a:ln/>
        </p:spPr>
        <p:txBody>
          <a:bodyPr wrap="square" lIns="0" tIns="0" rIns="0" bIns="0" rtlCol="0" anchor="t"/>
          <a:lstStyle/>
          <a:p>
            <a:pPr indent="0" marL="0">
              <a:buNone/>
            </a:pPr>
            <a:r>
              <a:rPr lang="en-US" sz="1100" dirty="0">
                <a:solidFill>
                  <a:srgbClr val="52514E"/>
                </a:solidFill>
              </a:rPr>
              <a:t>The gap distribution was fitted on the duplex; the clinic was held out. Sections cut every 250 mm through two open IFC buildings from buildingSMART (CC BY 4.0), measuring the clear gap between side-by-side pipes. The medical-dental clinic, a real building with 797 measured pipe pairs, is 28 mm from the generated gaps (95 % CI 16–44): about as close as the duplex’s own two models are to each other (26 mm). The small residential duplex is as far from the generator (70–85 mm) as from the clinic (71–85 mm).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3, a use: what must a clamp catalog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See it: set the parameters, get the support designer’s brief</a:t>
            </a:r>
            <a:endParaRPr lang="en-US" sz="2600" dirty="0"/>
          </a:p>
        </p:txBody>
      </p:sp>
      <p:pic>
        <p:nvPicPr>
          <p:cNvPr id="3" name="studio screenshot" descr="/home/user/crossmep_dataset/docs/figures/08_studio_demo.png">    </p:cNvPr>
          <p:cNvPicPr>
            <a:picLocks noChangeAspect="1"/>
          </p:cNvPicPr>
          <p:nvPr/>
        </p:nvPicPr>
        <p:blipFill>
          <a:blip r:embed="rId1"/>
          <a:stretch>
            <a:fillRect/>
          </a:stretch>
        </p:blipFill>
        <p:spPr>
          <a:xfrm>
            <a:off x="548640" y="1355716"/>
            <a:ext cx="8001000" cy="4512329"/>
          </a:xfrm>
          <a:prstGeom prst="rect">
            <a:avLst/>
          </a:prstGeom>
        </p:spPr>
      </p:pic>
      <p:sp>
        <p:nvSpPr>
          <p:cNvPr id="4" name="studio caption"/>
          <p:cNvSpPr txBox="1"/>
          <p:nvPr/>
        </p:nvSpPr>
        <p:spPr>
          <a:xfrm>
            <a:off x="548640" y="5941196"/>
            <a:ext cx="8001000" cy="274320"/>
          </a:xfrm>
          <a:prstGeom prst="rect">
            <a:avLst/>
          </a:prstGeom>
          <a:noFill/>
          <a:ln/>
        </p:spPr>
        <p:txBody>
          <a:bodyPr wrap="square" lIns="0" tIns="0" rIns="0" bIns="0" rtlCol="0" anchor="t"/>
          <a:lstStyle/>
          <a:p>
            <a:pPr indent="0" marL="0">
              <a:buNone/>
            </a:pPr>
            <a:r>
              <a:rPr lang="en-US" sz="1100" dirty="0">
                <a:solidFill>
                  <a:srgbClr val="52514E"/>
                </a:solidFill>
              </a:rPr>
              <a:t>Generator Studio, tier C7, seed 0: the section as a support detail (scale 1:20) and in 3D.</a:t>
            </a:r>
            <a:endParaRPr lang="en-US" sz="1100" dirty="0"/>
          </a:p>
        </p:txBody>
      </p:sp>
      <p:sp>
        <p:nvSpPr>
          <p:cNvPr id="5" name="studio bullets"/>
          <p:cNvSpPr txBox="1"/>
          <p:nvPr/>
        </p:nvSpPr>
        <p:spPr>
          <a:xfrm>
            <a:off x="8823960" y="1371600"/>
            <a:ext cx="281635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 a tier or an exact mix of services, slab or wall, a seed</a:t>
            </a:r>
            <a:endParaRPr lang="en-US" sz="1400" dirty="0"/>
          </a:p>
          <a:p>
            <a:pPr marL="342900" indent="-342900">
              <a:spcAft>
                <a:spcPts val="600"/>
              </a:spcAft>
              <a:buSzPct val="100000"/>
              <a:buChar char="•"/>
            </a:pPr>
            <a:r>
              <a:rPr lang="en-US" sz="1400" dirty="0">
                <a:solidFill>
                  <a:schemeClr val="tx1"/>
                </a:solidFill>
              </a:rPr>
              <a:t>Out: the section a support designer receives, with sizes, levels, loads and clear gaps</a:t>
            </a:r>
            <a:endParaRPr lang="en-US" sz="1400" dirty="0"/>
          </a:p>
          <a:p>
            <a:pPr marL="342900" indent="-342900">
              <a:spcAft>
                <a:spcPts val="600"/>
              </a:spcAft>
              <a:buSzPct val="100000"/>
              <a:buChar char="•"/>
            </a:pPr>
            <a:r>
              <a:rPr lang="en-US" sz="1400" dirty="0">
                <a:solidFill>
                  <a:schemeClr val="tx1"/>
                </a:solidFill>
              </a:rPr>
              <a:t>Every section is a stored output of the released generator, with the Python call that reproduces it</a:t>
            </a:r>
            <a:endParaRPr lang="en-US" sz="1400" dirty="0"/>
          </a:p>
        </p:txBody>
      </p:sp>
      <p:pic>
        <p:nvPicPr>
          <p:cNvPr id="6" name="qr studio" descr="/home/user/crossmep_dataset/docs/figures/qr_studio.png">    </p:cNvPr>
          <p:cNvPicPr>
            <a:picLocks noChangeAspect="1"/>
          </p:cNvPicPr>
          <p:nvPr/>
        </p:nvPicPr>
        <p:blipFill>
          <a:blip r:embed="rId2"/>
          <a:stretch>
            <a:fillRect/>
          </a:stretch>
        </p:blipFill>
        <p:spPr>
          <a:xfrm>
            <a:off x="9500616" y="4160520"/>
            <a:ext cx="1463040" cy="1463040"/>
          </a:xfrm>
          <a:prstGeom prst="rect">
            <a:avLst/>
          </a:prstGeom>
        </p:spPr>
      </p:pic>
      <p:sp>
        <p:nvSpPr>
          <p:cNvPr id="7" name="studio link"/>
          <p:cNvSpPr txBox="1"/>
          <p:nvPr/>
        </p:nvSpPr>
        <p:spPr>
          <a:xfrm>
            <a:off x="8823960" y="5669280"/>
            <a:ext cx="2816352" cy="320040"/>
          </a:xfrm>
          <a:prstGeom prst="rect">
            <a:avLst/>
          </a:prstGeom>
          <a:noFill/>
          <a:ln/>
        </p:spPr>
        <p:txBody>
          <a:bodyPr wrap="square" lIns="0" tIns="0" rIns="0" bIns="0" rtlCol="0" anchor="t"/>
          <a:lstStyle/>
          <a:p>
            <a:pPr algn="ctr" indent="0" marL="0">
              <a:buNone/>
            </a:pPr>
            <a:r>
              <a:rPr lang="en-US" sz="1100" dirty="0">
                <a:solidFill>
                  <a:srgbClr val="52514E"/>
                </a:solidFill>
              </a:rPr>
              <a:t>Try it: docs/studio in the repository</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Using CrossMEP: train, evaluate, report</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home/user/crossmep_dataset/docs/figures/07_gallery_screenshot.png">    </p:cNvPr>
          <p:cNvPicPr>
            <a:picLocks noChangeAspect="1"/>
          </p:cNvPicPr>
          <p:nvPr/>
        </p:nvPicPr>
        <p:blipFill>
          <a:blip r:embed="rId1"/>
          <a:stretch>
            <a:fillRect/>
          </a:stretch>
        </p:blipFill>
        <p:spPr>
          <a:xfrm>
            <a:off x="6812259" y="1417320"/>
            <a:ext cx="4370873" cy="2834640"/>
          </a:xfrm>
          <a:prstGeom prst="rect">
            <a:avLst/>
          </a:prstGeom>
        </p:spPr>
      </p:pic>
      <p:sp>
        <p:nvSpPr>
          <p:cNvPr id="7" name="gallery screenshot caption"/>
          <p:cNvSpPr txBox="1"/>
          <p:nvPr/>
        </p:nvSpPr>
        <p:spPr>
          <a:xfrm>
            <a:off x="6355080" y="4325112"/>
            <a:ext cx="5285232"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Scope, and what comes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CrossMEP: the brief, not the answer</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number traced  ·  checked against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two more sections from the Generator Studio</a:t>
            </a:r>
            <a:endParaRPr lang="en-US" sz="2600" dirty="0"/>
          </a:p>
        </p:txBody>
      </p:sp>
      <p:pic>
        <p:nvPicPr>
          <p:cNvPr id="3" name="studio wall sheet" descr="/home/user/crossmep_dataset/docs/figures/09_studio_wall.png">    </p:cNvPr>
          <p:cNvPicPr>
            <a:picLocks noChangeAspect="1"/>
          </p:cNvPicPr>
          <p:nvPr/>
        </p:nvPicPr>
        <p:blipFill>
          <a:blip r:embed="rId1"/>
          <a:stretch>
            <a:fillRect/>
          </a:stretch>
        </p:blipFill>
        <p:spPr>
          <a:xfrm>
            <a:off x="548640" y="1553108"/>
            <a:ext cx="5431536" cy="3843223"/>
          </a:xfrm>
          <a:prstGeom prst="rect">
            <a:avLst/>
          </a:prstGeom>
        </p:spPr>
      </p:pic>
      <p:pic>
        <p:nvPicPr>
          <p:cNvPr id="4" name="studio mix sheet" descr="/home/user/crossmep_dataset/docs/figures/10_studio_mix.png">    </p:cNvPr>
          <p:cNvPicPr>
            <a:picLocks noChangeAspect="1"/>
          </p:cNvPicPr>
          <p:nvPr/>
        </p:nvPicPr>
        <p:blipFill>
          <a:blip r:embed="rId2"/>
          <a:stretch>
            <a:fillRect/>
          </a:stretch>
        </p:blipFill>
        <p:spPr>
          <a:xfrm>
            <a:off x="6208776" y="1553108"/>
            <a:ext cx="5431536" cy="3843223"/>
          </a:xfrm>
          <a:prstGeom prst="rect">
            <a:avLst/>
          </a:prstGeom>
        </p:spPr>
      </p:pic>
      <p:sp>
        <p:nvSpPr>
          <p:cNvPr id="5" name="wall caption"/>
          <p:cNvSpPr txBox="1"/>
          <p:nvPr/>
        </p:nvSpPr>
        <p:spPr>
          <a:xfrm>
            <a:off x="548640" y="5469484"/>
            <a:ext cx="5431536"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208776" y="5469484"/>
            <a:ext cx="5431536"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per-tier statistics, benchmark split</a:t>
            </a:r>
            <a:endParaRPr lang="en-US" sz="2600" dirty="0"/>
          </a:p>
        </p:txBody>
      </p:sp>
      <p:graphicFrame>
        <p:nvGraphicFramePr>
          <p:cNvPr id="18"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realism check, in detail</a:t>
            </a:r>
            <a:endParaRPr lang="en-US" sz="2600" dirty="0"/>
          </a:p>
        </p:txBody>
      </p:sp>
      <p:graphicFrame>
        <p:nvGraphicFramePr>
          <p:cNvPr id="19"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7"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catalog stress test, with error bars</a:t>
            </a:r>
            <a:endParaRPr lang="en-US" sz="2600" dirty="0"/>
          </a:p>
        </p:txBody>
      </p:sp>
      <p:graphicFrame>
        <p:nvGraphicFramePr>
          <p:cNvPr id="20"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58"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one record, as stored</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2026-10-06T18:06:43Z</dcterms:created>
  <dcterms:modified xsi:type="dcterms:W3CDTF">2026-10-06T18:06:43Z</dcterms:modified>
</cp:coreProperties>
</file>