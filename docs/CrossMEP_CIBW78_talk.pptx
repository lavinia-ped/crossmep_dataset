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ab7e483-8765-2a89-f084-84d9d4d984ed}">
          <p14:sldIdLst>
            <p14:sldId id="256"/>
          </p14:sldIdLst>
        </p14:section>
        <p14:section name="Motivation" id="{c31fa808-6b47-6238-5956-a7602c292af5}">
          <p14:sldIdLst>
            <p14:sldId id="257"/>
            <p14:sldId id="258"/>
            <p14:sldId id="259"/>
            <p14:sldId id="260"/>
            <p14:sldId id="261"/>
          </p14:sldIdLst>
        </p14:section>
        <p14:section name="The dataset" id="{752e58c8-9fb7-72fa-3808-612cfe22c9b7}">
          <p14:sldIdLst>
            <p14:sldId id="262"/>
            <p14:sldId id="263"/>
            <p14:sldId id="264"/>
          </p14:sldIdLst>
        </p14:section>
        <p14:section name="Experiments" id="{a55ac7f0-d5c5-9259-9412-60bcc0e31e12}">
          <p14:sldIdLst>
            <p14:sldId id="265"/>
            <p14:sldId id="266"/>
            <p14:sldId id="267"/>
          </p14:sldIdLst>
        </p14:section>
        <p14:section name="Use" id="{6424f042-fa85-86e8-5ed4-ffdb59a32a4b}">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B0B"/>
                </a:solidFill>
                <a:latin typeface="+mn-lt"/>
              </a:defRPr>
            </a:pPr>
            <a:r>
              <a:rPr sz="1400" b="0" i="0" u="none" strike="noStrike">
                <a:solidFill>
                  <a:srgbClr val="0B0B0B"/>
                </a:solidFill>
                <a:latin typeface="+mn-lt"/>
              </a:rPr>
              <a:t>Heavier with the tier: median load at the support (kN)</a:t>
            </a:r>
          </a:p>
        </c:rich>
      </c:tx>
      <c:layout/>
      <c:overlay val="0"/>
    </c:title>
    <c:autoTitleDeleted val="0"/>
    <c:plotArea>
      <c:layout/>
      <c:barChart>
        <c:barDir val="col"/>
        <c:grouping val="clustered"/>
        <c:varyColors val="0"/>
        <c:ser>
          <c:idx val="0"/>
          <c:order val="0"/>
          <c:tx>
            <c:strRef>
              <c:f>Sheet1!$B$1</c:f>
              <c:strCache>
                <c:ptCount val="1"/>
                <c:pt idx="0">
                  <c:v>benchmark median</c:v>
                </c:pt>
              </c:strCache>
            </c:strRef>
          </c:tx>
          <c:spPr>
            <a:solidFill>
              <a:srgbClr val="2A78D6"/>
            </a:solidFill>
            <a:effectLst/>
          </c:spPr>
          <c:invertIfNegative val="0"/>
          <c:dLbls>
            <c:numFmt formatCode="0.00" sourceLinked="0"/>
            <c:txPr>
              <a:bodyPr/>
              <a:lstStyle/>
              <a:p>
                <a:pPr>
                  <a:defRPr b="0" i="0" strike="noStrike" sz="1000" u="none">
                    <a:solidFill>
                      <a:srgbClr val="0B0B0B"/>
                    </a:solidFill>
                    <a:latin typeface="+mn-lt"/>
                  </a:defRPr>
                </a:pPr>
              </a:p>
            </c:txPr>
            <c:showLegendKey val="0"/>
            <c:showVal val="1"/>
            <c:showCatName val="0"/>
            <c:showSerName val="0"/>
            <c:showPercent val="0"/>
            <c:showBubbleSize val="0"/>
            <c:showLeaderLines val="0"/>
          </c:dLbls>
          <c:cat>
            <c:multiLvlStrRef>
              <c:f>Sheet1!$A$2:$A$9</c:f>
              <c:multiLvlStrCache>
                <c:ptCount val="8"/>
                <c:lvl>
                  <c:pt idx="0">
                    <c:v>C1</c:v>
                  </c:pt>
                  <c:pt idx="1">
                    <c:v>C2</c:v>
                  </c:pt>
                  <c:pt idx="2">
                    <c:v>C3</c:v>
                  </c:pt>
                  <c:pt idx="3">
                    <c:v>C4</c:v>
                  </c:pt>
                  <c:pt idx="4">
                    <c:v>C5</c:v>
                  </c:pt>
                  <c:pt idx="5">
                    <c:v>C6</c:v>
                  </c:pt>
                  <c:pt idx="6">
                    <c:v>C7</c:v>
                  </c:pt>
                  <c:pt idx="7">
                    <c:v>C8</c:v>
                  </c:pt>
                </c:lvl>
              </c:multiLvlStrCache>
            </c:multiLvlStrRef>
          </c:cat>
          <c:val>
            <c:numRef>
              <c:f>Sheet1!$B$2:$B$9</c:f>
              <c:numCache>
                <c:formatCode>General</c:formatCode>
                <c:ptCount val="8"/>
                <c:pt idx="0">
                  <c:v>0.3</c:v>
                </c:pt>
                <c:pt idx="1">
                  <c:v>0.24</c:v>
                </c:pt>
                <c:pt idx="2">
                  <c:v>1.04</c:v>
                </c:pt>
                <c:pt idx="3">
                  <c:v>0.94</c:v>
                </c:pt>
                <c:pt idx="4">
                  <c:v>1.22</c:v>
                </c:pt>
                <c:pt idx="5">
                  <c:v>1.36</c:v>
                </c:pt>
                <c:pt idx="6">
                  <c:v>2.24</c:v>
                </c:pt>
                <c:pt idx="7">
                  <c:v>2.04</c:v>
                </c:pt>
              </c:numCache>
            </c:numRef>
          </c:val>
        </c:ser>
        <c:ser>
          <c:idx val="1"/>
          <c:order val="1"/>
          <c:tx>
            <c:strRef>
              <c:f>Sheet1!$C$1</c:f>
              <c:strCache>
                <c:ptCount val="1"/>
                <c:pt idx="0">
                  <c:v>population median (2,000 per tier)</c:v>
                </c:pt>
              </c:strCache>
            </c:strRef>
          </c:tx>
          <c:spPr>
            <a:solidFill>
              <a:srgbClr val="B9C0BB"/>
            </a:solidFill>
            <a:effectLst/>
          </c:spPr>
          <c:invertIfNegative val="0"/>
          <c:dLbls>
            <c:numFmt formatCode="0.00" sourceLinked="0"/>
            <c:txPr>
              <a:bodyPr/>
              <a:lstStyle/>
              <a:p>
                <a:pPr>
                  <a:defRPr b="0" i="0" strike="noStrike" sz="1000" u="none">
                    <a:solidFill>
                      <a:srgbClr val="0B0B0B"/>
                    </a:solidFill>
                    <a:latin typeface="+mn-lt"/>
                  </a:defRPr>
                </a:pPr>
              </a:p>
            </c:txPr>
            <c:showLegendKey val="0"/>
            <c:showVal val="1"/>
            <c:showCatName val="0"/>
            <c:showSerName val="0"/>
            <c:showPercent val="0"/>
            <c:showBubbleSize val="0"/>
            <c:showLeaderLines val="0"/>
          </c:dLbls>
          <c:cat>
            <c:multiLvlStrRef>
              <c:f>Sheet1!$A$2:$A$9</c:f>
              <c:multiLvlStrCache>
                <c:ptCount val="8"/>
                <c:lvl>
                  <c:pt idx="0">
                    <c:v>C1</c:v>
                  </c:pt>
                  <c:pt idx="1">
                    <c:v>C2</c:v>
                  </c:pt>
                  <c:pt idx="2">
                    <c:v>C3</c:v>
                  </c:pt>
                  <c:pt idx="3">
                    <c:v>C4</c:v>
                  </c:pt>
                  <c:pt idx="4">
                    <c:v>C5</c:v>
                  </c:pt>
                  <c:pt idx="5">
                    <c:v>C6</c:v>
                  </c:pt>
                  <c:pt idx="6">
                    <c:v>C7</c:v>
                  </c:pt>
                  <c:pt idx="7">
                    <c:v>C8</c:v>
                  </c:pt>
                </c:lvl>
              </c:multiLvlStrCache>
            </c:multiLvlStrRef>
          </c:cat>
          <c:val>
            <c:numRef>
              <c:f>Sheet1!$C$2:$C$9</c:f>
              <c:numCache>
                <c:formatCode>General</c:formatCode>
                <c:ptCount val="8"/>
                <c:pt idx="0">
                  <c:v>0.21</c:v>
                </c:pt>
                <c:pt idx="1">
                  <c:v>0.4</c:v>
                </c:pt>
                <c:pt idx="2">
                  <c:v>0.8</c:v>
                </c:pt>
                <c:pt idx="3">
                  <c:v>1.06</c:v>
                </c:pt>
                <c:pt idx="4">
                  <c:v>1.4849999999999999</c:v>
                </c:pt>
                <c:pt idx="5">
                  <c:v>1.875</c:v>
                </c:pt>
                <c:pt idx="6">
                  <c:v>2.04</c:v>
                </c:pt>
                <c:pt idx="7">
                  <c:v>2.47</c:v>
                </c:pt>
              </c:numCache>
            </c:numRef>
          </c:val>
        </c:ser>
        <c:dLbls>
          <c:numFmt formatCode="0.00" sourceLinked="0"/>
          <c:txPr>
            <a:bodyPr/>
            <a:lstStyle/>
            <a:p>
              <a:pPr>
                <a:defRPr b="0" i="0" strike="noStrike" sz="1000" u="none">
                  <a:solidFill>
                    <a:srgbClr val="0B0B0B"/>
                  </a:solidFill>
                  <a:latin typeface="+mn-lt"/>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B0B"/>
                </a:solidFill>
                <a:latin typeface="+mn-lt"/>
              </a:defRPr>
            </a:pPr>
            <a:r>
              <a:rPr sz="1400" b="0" i="0" u="none" strike="noStrike">
                <a:solidFill>
                  <a:srgbClr val="0B0B0B"/>
                </a:solidFill>
                <a:latin typeface="+mn-lt"/>
              </a:rPr>
              <a:t>Tighter with the tier: median closest clear gap (mm)</a:t>
            </a:r>
          </a:p>
        </c:rich>
      </c:tx>
      <c:layout/>
      <c:overlay val="0"/>
    </c:title>
    <c:autoTitleDeleted val="0"/>
    <c:plotArea>
      <c:layout/>
      <c:barChart>
        <c:barDir val="col"/>
        <c:grouping val="clustered"/>
        <c:varyColors val="0"/>
        <c:ser>
          <c:idx val="0"/>
          <c:order val="0"/>
          <c:tx>
            <c:strRef>
              <c:f>Sheet1!$B$1</c:f>
              <c:strCache>
                <c:ptCount val="1"/>
                <c:pt idx="0">
                  <c:v>benchmark median</c:v>
                </c:pt>
              </c:strCache>
            </c:strRef>
          </c:tx>
          <c:spPr>
            <a:solidFill>
              <a:srgbClr val="2A78D6"/>
            </a:solidFill>
            <a:effectLst/>
          </c:spPr>
          <c:invertIfNegative val="0"/>
          <c:dLbls>
            <c:numFmt formatCode="0" sourceLinked="0"/>
            <c:txPr>
              <a:bodyPr/>
              <a:lstStyle/>
              <a:p>
                <a:pPr>
                  <a:defRPr b="0" i="0" strike="noStrike" sz="1000" u="none">
                    <a:solidFill>
                      <a:srgbClr val="0B0B0B"/>
                    </a:solidFill>
                    <a:latin typeface="+mn-lt"/>
                  </a:defRPr>
                </a:pPr>
              </a:p>
            </c:txPr>
            <c:showLegendKey val="0"/>
            <c:showVal val="1"/>
            <c:showCatName val="0"/>
            <c:showSerName val="0"/>
            <c:showPercent val="0"/>
            <c:showBubbleSize val="0"/>
            <c:showLeaderLines val="0"/>
          </c:dLbls>
          <c:cat>
            <c:multiLvlStrRef>
              <c:f>Sheet1!$A$2:$A$8</c:f>
              <c:multiLvlStrCache>
                <c:ptCount val="7"/>
                <c:lvl>
                  <c:pt idx="0">
                    <c:v>C2</c:v>
                  </c:pt>
                  <c:pt idx="1">
                    <c:v>C3</c:v>
                  </c:pt>
                  <c:pt idx="2">
                    <c:v>C4</c:v>
                  </c:pt>
                  <c:pt idx="3">
                    <c:v>C5</c:v>
                  </c:pt>
                  <c:pt idx="4">
                    <c:v>C6</c:v>
                  </c:pt>
                  <c:pt idx="5">
                    <c:v>C7</c:v>
                  </c:pt>
                  <c:pt idx="6">
                    <c:v>C8</c:v>
                  </c:pt>
                </c:lvl>
              </c:multiLvlStrCache>
            </c:multiLvlStrRef>
          </c:cat>
          <c:val>
            <c:numRef>
              <c:f>Sheet1!$B$2:$B$8</c:f>
              <c:numCache>
                <c:formatCode>General</c:formatCode>
                <c:ptCount val="7"/>
                <c:pt idx="0">
                  <c:v>130.3</c:v>
                </c:pt>
                <c:pt idx="1">
                  <c:v>88.75</c:v>
                </c:pt>
                <c:pt idx="2">
                  <c:v>76.8</c:v>
                </c:pt>
                <c:pt idx="3">
                  <c:v>71.6</c:v>
                </c:pt>
                <c:pt idx="4">
                  <c:v>68.60000000000002</c:v>
                </c:pt>
                <c:pt idx="5">
                  <c:v>60.60000000000002</c:v>
                </c:pt>
                <c:pt idx="6">
                  <c:v>51.200000000000074</c:v>
                </c:pt>
              </c:numCache>
            </c:numRef>
          </c:val>
        </c:ser>
        <c:ser>
          <c:idx val="1"/>
          <c:order val="1"/>
          <c:tx>
            <c:strRef>
              <c:f>Sheet1!$C$1</c:f>
              <c:strCache>
                <c:ptCount val="1"/>
                <c:pt idx="0">
                  <c:v>population median (2,000 per tier)</c:v>
                </c:pt>
              </c:strCache>
            </c:strRef>
          </c:tx>
          <c:spPr>
            <a:solidFill>
              <a:srgbClr val="B9C0BB"/>
            </a:solidFill>
            <a:effectLst/>
          </c:spPr>
          <c:invertIfNegative val="0"/>
          <c:dLbls>
            <c:numFmt formatCode="0" sourceLinked="0"/>
            <c:txPr>
              <a:bodyPr/>
              <a:lstStyle/>
              <a:p>
                <a:pPr>
                  <a:defRPr b="0" i="0" strike="noStrike" sz="1000" u="none">
                    <a:solidFill>
                      <a:srgbClr val="0B0B0B"/>
                    </a:solidFill>
                    <a:latin typeface="+mn-lt"/>
                  </a:defRPr>
                </a:pPr>
              </a:p>
            </c:txPr>
            <c:showLegendKey val="0"/>
            <c:showVal val="1"/>
            <c:showCatName val="0"/>
            <c:showSerName val="0"/>
            <c:showPercent val="0"/>
            <c:showBubbleSize val="0"/>
            <c:showLeaderLines val="0"/>
          </c:dLbls>
          <c:cat>
            <c:multiLvlStrRef>
              <c:f>Sheet1!$A$2:$A$8</c:f>
              <c:multiLvlStrCache>
                <c:ptCount val="7"/>
                <c:lvl>
                  <c:pt idx="0">
                    <c:v>C2</c:v>
                  </c:pt>
                  <c:pt idx="1">
                    <c:v>C3</c:v>
                  </c:pt>
                  <c:pt idx="2">
                    <c:v>C4</c:v>
                  </c:pt>
                  <c:pt idx="3">
                    <c:v>C5</c:v>
                  </c:pt>
                  <c:pt idx="4">
                    <c:v>C6</c:v>
                  </c:pt>
                  <c:pt idx="5">
                    <c:v>C7</c:v>
                  </c:pt>
                  <c:pt idx="6">
                    <c:v>C8</c:v>
                  </c:pt>
                </c:lvl>
              </c:multiLvlStrCache>
            </c:multiLvlStrRef>
          </c:cat>
          <c:val>
            <c:numRef>
              <c:f>Sheet1!$C$2:$C$8</c:f>
              <c:numCache>
                <c:formatCode>General</c:formatCode>
                <c:ptCount val="7"/>
                <c:pt idx="0">
                  <c:v>149</c:v>
                </c:pt>
                <c:pt idx="1">
                  <c:v>99.45</c:v>
                </c:pt>
                <c:pt idx="2">
                  <c:v>82.12499999999997</c:v>
                </c:pt>
                <c:pt idx="3">
                  <c:v>69.80000000000001</c:v>
                </c:pt>
                <c:pt idx="4">
                  <c:v>66.6</c:v>
                </c:pt>
                <c:pt idx="5">
                  <c:v>59.95</c:v>
                </c:pt>
                <c:pt idx="6">
                  <c:v>54.95000000000002</c:v>
                </c:pt>
              </c:numCache>
            </c:numRef>
          </c:val>
        </c:ser>
        <c:dLbls>
          <c:numFmt formatCode="0" sourceLinked="0"/>
          <c:txPr>
            <a:bodyPr/>
            <a:lstStyle/>
            <a:p>
              <a:pPr>
                <a:defRPr b="0" i="0" strike="noStrike" sz="1000" u="none">
                  <a:solidFill>
                    <a:srgbClr val="0B0B0B"/>
                  </a:solidFill>
                  <a:latin typeface="+mn-lt"/>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0B0B"/>
                </a:solidFill>
                <a:latin typeface="+mn-lt"/>
              </a:defRPr>
            </a:pPr>
            <a:r>
              <a:rPr sz="1200" b="0" i="0" u="none" strike="noStrike">
                <a:solidFill>
                  <a:srgbClr val="0B0B0B"/>
                </a:solidFill>
                <a:latin typeface="+mn-lt"/>
              </a:rPr>
              <a:t>A building the generator never saw</a:t>
            </a:r>
          </a:p>
        </c:rich>
      </c:tx>
      <c:layout/>
      <c:overlay val="0"/>
    </c:title>
    <c:autoTitleDeleted val="0"/>
    <c:plotArea>
      <c:layout/>
      <c:barChart>
        <c:barDir val="col"/>
        <c:grouping val="clustered"/>
        <c:varyColors val="0"/>
        <c:ser>
          <c:idx val="0"/>
          <c:order val="0"/>
          <c:tx>
            <c:strRef>
              <c:f>Sheet1!$B$1</c:f>
              <c:strCache>
                <c:ptCount val="1"/>
                <c:pt idx="0">
                  <c:v>measured: Medical-Dental Clinic, 797 pipe pairs</c:v>
                </c:pt>
              </c:strCache>
            </c:strRef>
          </c:tx>
          <c:spPr>
            <a:solidFill>
              <a:srgbClr val="2A78D6"/>
            </a:solidFill>
            <a:effectLst/>
          </c:spPr>
          <c:invertIfNegative val="0"/>
          <c:dLbls>
            <c:numFmt formatCode="#,##0" sourceLinked="0"/>
            <c:txPr>
              <a:bodyPr/>
              <a:lstStyle/>
              <a:p>
                <a:pPr>
                  <a:defRPr b="0" i="0" strike="noStrike" sz="1000" u="none">
                    <a:solidFill>
                      <a:srgbClr val="0B0B0B"/>
                    </a:solidFill>
                    <a:latin typeface="+mn-lt"/>
                  </a:defRPr>
                </a:pPr>
              </a:p>
            </c:txPr>
            <c:showLegendKey val="0"/>
            <c:showVal val="0"/>
            <c:showCatName val="0"/>
            <c:showSerName val="0"/>
            <c:showPercent val="0"/>
            <c:showBubbleSize val="0"/>
            <c:showLeaderLines val="0"/>
          </c:dLbls>
          <c:cat>
            <c:multiLvlStrRef>
              <c:f>Sheet1!$A$2:$A$25</c:f>
              <c:multiLvlStrCache>
                <c:ptCount val="24"/>
                <c:lvl>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lvl>
              </c:multiLvlStrCache>
            </c:multiLvlStrRef>
          </c:cat>
          <c:val>
            <c:numRef>
              <c:f>Sheet1!$B$2:$B$25</c:f>
              <c:numCache>
                <c:formatCode>General</c:formatCode>
                <c:ptCount val="24"/>
                <c:pt idx="0">
                  <c:v>1.4870858335507435</c:v>
                </c:pt>
                <c:pt idx="1">
                  <c:v>6.183146360553091</c:v>
                </c:pt>
                <c:pt idx="2">
                  <c:v>2.4784763892512394</c:v>
                </c:pt>
                <c:pt idx="3">
                  <c:v>8.113749021654057</c:v>
                </c:pt>
                <c:pt idx="4">
                  <c:v>13.383772501956692</c:v>
                </c:pt>
                <c:pt idx="5">
                  <c:v>7.696321419253849</c:v>
                </c:pt>
                <c:pt idx="6">
                  <c:v>5.452648056352726</c:v>
                </c:pt>
                <c:pt idx="7">
                  <c:v>7.357161492303678</c:v>
                </c:pt>
                <c:pt idx="8">
                  <c:v>8.13983824680407</c:v>
                </c:pt>
                <c:pt idx="9">
                  <c:v>6.444038612053222</c:v>
                </c:pt>
                <c:pt idx="10">
                  <c:v>4.53952517610227</c:v>
                </c:pt>
                <c:pt idx="11">
                  <c:v>3.3655100443516828</c:v>
                </c:pt>
                <c:pt idx="12">
                  <c:v>5.557004956952778</c:v>
                </c:pt>
                <c:pt idx="13">
                  <c:v>6.470127837203235</c:v>
                </c:pt>
                <c:pt idx="14">
                  <c:v>2.4784763892512394</c:v>
                </c:pt>
                <c:pt idx="15">
                  <c:v>0.39133837725019566</c:v>
                </c:pt>
                <c:pt idx="16">
                  <c:v>2.295851813201148</c:v>
                </c:pt>
                <c:pt idx="17">
                  <c:v>1.4609966084007304</c:v>
                </c:pt>
                <c:pt idx="18">
                  <c:v>0.6261414036003131</c:v>
                </c:pt>
                <c:pt idx="19">
                  <c:v>1.147925906600574</c:v>
                </c:pt>
                <c:pt idx="20">
                  <c:v>1.3305504826506653</c:v>
                </c:pt>
                <c:pt idx="21">
                  <c:v>2.2175841377511087</c:v>
                </c:pt>
                <c:pt idx="22">
                  <c:v>1.121836681450561</c:v>
                </c:pt>
                <c:pt idx="23">
                  <c:v>0.2608922515001304</c:v>
                </c:pt>
              </c:numCache>
            </c:numRef>
          </c:val>
        </c:ser>
        <c:ser>
          <c:idx val="1"/>
          <c:order val="1"/>
          <c:tx>
            <c:strRef>
              <c:f>Sheet1!$C$1</c:f>
              <c:strCache>
                <c:ptCount val="1"/>
                <c:pt idx="0">
                  <c:v>generated: CrossMEP benchmark, 1,690 pipe pairs</c:v>
                </c:pt>
              </c:strCache>
            </c:strRef>
          </c:tx>
          <c:spPr>
            <a:solidFill>
              <a:srgbClr val="EB6834"/>
            </a:solidFill>
            <a:effectLst/>
          </c:spPr>
          <c:invertIfNegative val="0"/>
          <c:dLbls>
            <c:numFmt formatCode="#,##0" sourceLinked="0"/>
            <c:txPr>
              <a:bodyPr/>
              <a:lstStyle/>
              <a:p>
                <a:pPr>
                  <a:defRPr b="0" i="0" strike="noStrike" sz="1000" u="none">
                    <a:solidFill>
                      <a:srgbClr val="0B0B0B"/>
                    </a:solidFill>
                    <a:latin typeface="+mn-lt"/>
                  </a:defRPr>
                </a:pPr>
              </a:p>
            </c:txPr>
            <c:showLegendKey val="0"/>
            <c:showVal val="0"/>
            <c:showCatName val="0"/>
            <c:showSerName val="0"/>
            <c:showPercent val="0"/>
            <c:showBubbleSize val="0"/>
            <c:showLeaderLines val="0"/>
          </c:dLbls>
          <c:cat>
            <c:multiLvlStrRef>
              <c:f>Sheet1!$A$2:$A$25</c:f>
              <c:multiLvlStrCache>
                <c:ptCount val="24"/>
                <c:lvl>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lvl>
              </c:multiLvlStrCache>
            </c:multiLvlStrRef>
          </c:cat>
          <c:val>
            <c:numRef>
              <c:f>Sheet1!$C$2:$C$25</c:f>
              <c:numCache>
                <c:formatCode>General</c:formatCode>
                <c:ptCount val="24"/>
                <c:pt idx="0">
                  <c:v>0</c:v>
                </c:pt>
                <c:pt idx="1">
                  <c:v>0.7692307692307693</c:v>
                </c:pt>
                <c:pt idx="2">
                  <c:v>3.195266272189349</c:v>
                </c:pt>
                <c:pt idx="3">
                  <c:v>6.272189349112427</c:v>
                </c:pt>
                <c:pt idx="4">
                  <c:v>7.573964497041421</c:v>
                </c:pt>
                <c:pt idx="5">
                  <c:v>9.289940828402367</c:v>
                </c:pt>
                <c:pt idx="6">
                  <c:v>9.112426035502958</c:v>
                </c:pt>
                <c:pt idx="7">
                  <c:v>8.698224852071005</c:v>
                </c:pt>
                <c:pt idx="8">
                  <c:v>7.928994082840236</c:v>
                </c:pt>
                <c:pt idx="9">
                  <c:v>6.7455621301775155</c:v>
                </c:pt>
                <c:pt idx="10">
                  <c:v>6.21301775147929</c:v>
                </c:pt>
                <c:pt idx="11">
                  <c:v>5.739644970414201</c:v>
                </c:pt>
                <c:pt idx="12">
                  <c:v>4.911242603550296</c:v>
                </c:pt>
                <c:pt idx="13">
                  <c:v>3.2544378698224854</c:v>
                </c:pt>
                <c:pt idx="14">
                  <c:v>2.9585798816568047</c:v>
                </c:pt>
                <c:pt idx="15">
                  <c:v>2.130177514792899</c:v>
                </c:pt>
                <c:pt idx="16">
                  <c:v>2.485207100591716</c:v>
                </c:pt>
                <c:pt idx="17">
                  <c:v>1.7159763313609466</c:v>
                </c:pt>
                <c:pt idx="18">
                  <c:v>1.8934911242603552</c:v>
                </c:pt>
                <c:pt idx="19">
                  <c:v>1.1242603550295858</c:v>
                </c:pt>
                <c:pt idx="20">
                  <c:v>2.130177514792899</c:v>
                </c:pt>
                <c:pt idx="21">
                  <c:v>2.9585798816568047</c:v>
                </c:pt>
                <c:pt idx="22">
                  <c:v>1.7751479289940828</c:v>
                </c:pt>
                <c:pt idx="23">
                  <c:v>1.1242603550295858</c:v>
                </c:pt>
              </c:numCache>
            </c:numRef>
          </c:val>
        </c:ser>
        <c:dLbls>
          <c:numFmt formatCode="#,##0" sourceLinked="0"/>
          <c:txPr>
            <a:bodyPr/>
            <a:lstStyle/>
            <a:p>
              <a:pPr>
                <a:defRPr b="0" i="0" strike="noStrike" sz="1000" u="none">
                  <a:solidFill>
                    <a:srgbClr val="0B0B0B"/>
                  </a:solidFill>
                  <a:latin typeface="+mn-lt"/>
                </a:defRPr>
              </a:pPr>
            </a:p>
          </c:txPr>
          <c:showLegendKey val="0"/>
          <c:showVal val="0"/>
          <c:showCatName val="0"/>
          <c:showSerName val="0"/>
          <c:showPercent val="0"/>
          <c:showBubbleSize val="0"/>
          <c:showLeaderLines val="0"/>
        </c:dLbls>
        <c:gapWidth val="30"/>
        <c:overlap val="0"/>
        <c:axId val="2094734554"/>
        <c:axId val="2094734552"/>
      </c:barChart>
      <c:catAx>
        <c:axId val="2094734554"/>
        <c:scaling>
          <c:orientation val="minMax"/>
        </c:scaling>
        <c:delete val="0"/>
        <c:axPos val="b"/>
        <c:title>
          <c:tx>
            <c:rich>
              <a:bodyPr/>
              <a:lstStyle/>
              <a:p>
                <a:pPr>
                  <a:defRPr sz="900" b="0" i="0" u="none" strike="noStrike">
                    <a:solidFill>
                      <a:srgbClr val="000000"/>
                    </a:solidFill>
                    <a:latin typeface="+mn-lt"/>
                  </a:defRPr>
                </a:pPr>
                <a:r>
                  <a:rPr sz="900" b="0" i="0" u="none" strike="noStrike">
                    <a:solidFill>
                      <a:srgbClr val="000000"/>
                    </a:solidFill>
                    <a:latin typeface="+mn-lt"/>
                  </a:rPr>
                  <a:t>clear gap between neighbouring pipes, bare surfaces (mm)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2514E"/>
                </a:solidFill>
                <a:latin typeface="+mn-lt"/>
              </a:defRPr>
            </a:pPr>
            <a:endParaRPr lang="en-US"/>
          </a:p>
        </c:txPr>
        <c:crossAx val="2094734552"/>
        <c:crosses val="autoZero"/>
        <c:auto val="1"/>
        <c:lblAlgn val="ctr"/>
        <c:tickLblSkip val="4"/>
        <c:noMultiLvlLbl val="1"/>
      </c:catAx>
      <c:valAx>
        <c:axId val="2094734552"/>
        <c:scaling>
          <c:orientation val="minMax"/>
        </c:scaling>
        <c:delete val="0"/>
        <c:axPos val="l"/>
        <c:majorGridlines>
          <c:spPr>
            <a:ln w="9525" cap="flat">
              <a:solidFill>
                <a:srgbClr val="E1E0D9"/>
              </a:solidFill>
              <a:prstDash val="solid"/>
              <a:round/>
            </a:ln>
          </c:spPr>
        </c:majorGridlines>
        <c:title>
          <c:tx>
            <c:rich>
              <a:bodyPr/>
              <a:lstStyle/>
              <a:p>
                <a:pPr>
                  <a:defRPr sz="900" b="0" i="0" u="none" strike="noStrike">
                    <a:solidFill>
                      <a:srgbClr val="000000"/>
                    </a:solidFill>
                    <a:latin typeface="+mn-lt"/>
                  </a:defRPr>
                </a:pPr>
                <a:r>
                  <a:rPr sz="900" b="0" i="0" u="none" strike="noStrike">
                    <a:solidFill>
                      <a:srgbClr val="000000"/>
                    </a:solidFill>
                    <a:latin typeface="+mn-lt"/>
                  </a:rPr>
                  <a:t>share of pipe pairs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0B0B"/>
                </a:solidFill>
                <a:latin typeface="+mn-lt"/>
              </a:defRPr>
            </a:pPr>
            <a:r>
              <a:rPr sz="1200" b="0" i="0" u="none" strike="noStrike">
                <a:solidFill>
                  <a:srgbClr val="0B0B0B"/>
                </a:solidFill>
                <a:latin typeface="+mn-lt"/>
              </a:rPr>
              <a:t>Pipes by nominal size: what the two-size catalog attaches</a:t>
            </a:r>
          </a:p>
        </c:rich>
      </c:tx>
      <c:layout/>
      <c:overlay val="0"/>
    </c:title>
    <c:autoTitleDeleted val="0"/>
    <c:plotArea>
      <c:layout>
        <c:manualLayout>
          <c:layoutTarget val="inner"/>
          <c:xMode val="edge"/>
          <c:yMode val="edge"/>
          <c:x val="0.08"/>
          <c:y val="0.14"/>
          <c:w val="0.9"/>
          <c:h val="0.62"/>
        </c:manualLayout>
      </c:layout>
      <c:barChart>
        <c:barDir val="col"/>
        <c:grouping val="stacked"/>
        <c:varyColors val="0"/>
        <c:ser>
          <c:idx val="0"/>
          <c:order val="0"/>
          <c:tx>
            <c:strRef>
              <c:f>Sheet1!$B$1</c:f>
              <c:strCache>
                <c:ptCount val="1"/>
                <c:pt idx="0">
                  <c:v>attachable</c:v>
                </c:pt>
              </c:strCache>
            </c:strRef>
          </c:tx>
          <c:spPr>
            <a:solidFill>
              <a:srgbClr val="2A78D6"/>
            </a:solidFill>
            <a:effectLst/>
          </c:spPr>
          <c:invertIfNegative val="0"/>
          <c:dLbls>
            <c:numFmt formatCode="#,##0;;;" sourceLinked="0"/>
            <c:txPr>
              <a:bodyPr/>
              <a:lstStyle/>
              <a:p>
                <a:pPr>
                  <a:defRPr b="0" i="0" strike="noStrike" sz="1100" u="none">
                    <a:solidFill>
                      <a:srgbClr val="0B0B0B"/>
                    </a:solidFill>
                    <a:latin typeface="+mn-lt"/>
                  </a:defRPr>
                </a:pPr>
              </a:p>
            </c:txPr>
            <c:dLblPos val="ctr"/>
            <c:showLegendKey val="0"/>
            <c:showVal val="1"/>
            <c:showCatName val="0"/>
            <c:showSerName val="0"/>
            <c:showPercent val="0"/>
            <c:showBubbleSize val="0"/>
            <c:showLeaderLines val="0"/>
          </c:dLbls>
          <c:cat>
            <c:multiLvlStrRef>
              <c:f>Sheet1!$A$2:$A$12</c:f>
              <c:multiLvlStrCache>
                <c:ptCount val="11"/>
                <c:lvl>
                  <c:pt idx="0">
                    <c:v>DN15</c:v>
                  </c:pt>
                  <c:pt idx="1">
                    <c:v>DN20</c:v>
                  </c:pt>
                  <c:pt idx="2">
                    <c:v>DN25</c:v>
                  </c:pt>
                  <c:pt idx="3">
                    <c:v>DN32</c:v>
                  </c:pt>
                  <c:pt idx="4">
                    <c:v>DN40</c:v>
                  </c:pt>
                  <c:pt idx="5">
                    <c:v>DN50</c:v>
                  </c:pt>
                  <c:pt idx="6">
                    <c:v>DN65</c:v>
                  </c:pt>
                  <c:pt idx="7">
                    <c:v>DN80</c:v>
                  </c:pt>
                  <c:pt idx="8">
                    <c:v>DN100</c:v>
                  </c:pt>
                  <c:pt idx="9">
                    <c:v>DN125</c:v>
                  </c:pt>
                  <c:pt idx="10">
                    <c:v>DN150</c:v>
                  </c:pt>
                </c:lvl>
              </c:multiLvlStrCache>
            </c:multiLvlStrRef>
          </c:cat>
          <c:val>
            <c:numRef>
              <c:f>Sheet1!$B$2:$B$12</c:f>
              <c:numCache>
                <c:formatCode>General</c:formatCode>
                <c:ptCount val="11"/>
                <c:pt idx="0">
                  <c:v>0</c:v>
                </c:pt>
                <c:pt idx="1">
                  <c:v>0</c:v>
                </c:pt>
                <c:pt idx="2">
                  <c:v>0</c:v>
                </c:pt>
                <c:pt idx="3">
                  <c:v>0</c:v>
                </c:pt>
                <c:pt idx="4">
                  <c:v>360</c:v>
                </c:pt>
                <c:pt idx="5">
                  <c:v>0</c:v>
                </c:pt>
                <c:pt idx="6">
                  <c:v>0</c:v>
                </c:pt>
                <c:pt idx="7">
                  <c:v>0</c:v>
                </c:pt>
                <c:pt idx="8">
                  <c:v>0</c:v>
                </c:pt>
                <c:pt idx="9">
                  <c:v>0</c:v>
                </c:pt>
                <c:pt idx="10">
                  <c:v>0</c:v>
                </c:pt>
              </c:numCache>
            </c:numRef>
          </c:val>
        </c:ser>
        <c:ser>
          <c:idx val="1"/>
          <c:order val="1"/>
          <c:tx>
            <c:strRef>
              <c:f>Sheet1!$C$1</c:f>
              <c:strCache>
                <c:ptCount val="1"/>
                <c:pt idx="0">
                  <c:v>no size fits</c:v>
                </c:pt>
              </c:strCache>
            </c:strRef>
          </c:tx>
          <c:spPr>
            <a:solidFill>
              <a:srgbClr val="CFCDC3"/>
            </a:solidFill>
            <a:effectLst/>
          </c:spPr>
          <c:invertIfNegative val="0"/>
          <c:dLbls>
            <c:numFmt formatCode="#,##0;;;" sourceLinked="0"/>
            <c:txPr>
              <a:bodyPr/>
              <a:lstStyle/>
              <a:p>
                <a:pPr>
                  <a:defRPr b="0" i="0" strike="noStrike" sz="1100" u="none">
                    <a:solidFill>
                      <a:srgbClr val="0B0B0B"/>
                    </a:solidFill>
                    <a:latin typeface="+mn-lt"/>
                  </a:defRPr>
                </a:pPr>
              </a:p>
            </c:txPr>
            <c:dLblPos val="ctr"/>
            <c:showLegendKey val="0"/>
            <c:showVal val="1"/>
            <c:showCatName val="0"/>
            <c:showSerName val="0"/>
            <c:showPercent val="0"/>
            <c:showBubbleSize val="0"/>
            <c:showLeaderLines val="0"/>
          </c:dLbls>
          <c:cat>
            <c:multiLvlStrRef>
              <c:f>Sheet1!$A$2:$A$12</c:f>
              <c:multiLvlStrCache>
                <c:ptCount val="11"/>
                <c:lvl>
                  <c:pt idx="0">
                    <c:v>DN15</c:v>
                  </c:pt>
                  <c:pt idx="1">
                    <c:v>DN20</c:v>
                  </c:pt>
                  <c:pt idx="2">
                    <c:v>DN25</c:v>
                  </c:pt>
                  <c:pt idx="3">
                    <c:v>DN32</c:v>
                  </c:pt>
                  <c:pt idx="4">
                    <c:v>DN40</c:v>
                  </c:pt>
                  <c:pt idx="5">
                    <c:v>DN50</c:v>
                  </c:pt>
                  <c:pt idx="6">
                    <c:v>DN65</c:v>
                  </c:pt>
                  <c:pt idx="7">
                    <c:v>DN80</c:v>
                  </c:pt>
                  <c:pt idx="8">
                    <c:v>DN100</c:v>
                  </c:pt>
                  <c:pt idx="9">
                    <c:v>DN125</c:v>
                  </c:pt>
                  <c:pt idx="10">
                    <c:v>DN150</c:v>
                  </c:pt>
                </c:lvl>
              </c:multiLvlStrCache>
            </c:multiLvlStrRef>
          </c:cat>
          <c:val>
            <c:numRef>
              <c:f>Sheet1!$C$2:$C$12</c:f>
              <c:numCache>
                <c:formatCode>General</c:formatCode>
                <c:ptCount val="11"/>
                <c:pt idx="0">
                  <c:v>137</c:v>
                </c:pt>
                <c:pt idx="1">
                  <c:v>239</c:v>
                </c:pt>
                <c:pt idx="2">
                  <c:v>390</c:v>
                </c:pt>
                <c:pt idx="3">
                  <c:v>335</c:v>
                </c:pt>
                <c:pt idx="4">
                  <c:v>0</c:v>
                </c:pt>
                <c:pt idx="5">
                  <c:v>316</c:v>
                </c:pt>
                <c:pt idx="6">
                  <c:v>190</c:v>
                </c:pt>
                <c:pt idx="7">
                  <c:v>160</c:v>
                </c:pt>
                <c:pt idx="8">
                  <c:v>188</c:v>
                </c:pt>
                <c:pt idx="9">
                  <c:v>85</c:v>
                </c:pt>
                <c:pt idx="10">
                  <c:v>88</c:v>
                </c:pt>
              </c:numCache>
            </c:numRef>
          </c:val>
        </c:ser>
        <c:dLbls>
          <c:numFmt formatCode="#,##0;;;" sourceLinked="0"/>
          <c:txPr>
            <a:bodyPr/>
            <a:lstStyle/>
            <a:p>
              <a:pPr>
                <a:defRPr b="0" i="0" strike="noStrike" sz="1100" u="none">
                  <a:solidFill>
                    <a:srgbClr val="0B0B0B"/>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000">
              <a:solidFill>
                <a:srgbClr val="52514E"/>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0B0B"/>
                </a:solidFill>
                <a:latin typeface="+mn-lt"/>
              </a:defRPr>
            </a:pPr>
            <a:r>
              <a:rPr sz="1200" b="0" i="0" u="none" strike="noStrike">
                <a:solidFill>
                  <a:srgbClr val="0B0B0B"/>
                </a:solidFill>
                <a:latin typeface="+mn-lt"/>
              </a:rPr>
              <a:t>Best share of pipes (%) that any k clamp sizes could attach</a:t>
            </a:r>
          </a:p>
        </c:rich>
      </c:tx>
      <c:layout/>
      <c:overlay val="0"/>
    </c:title>
    <c:autoTitleDeleted val="0"/>
    <c:plotArea>
      <c:layout>
        <c:manualLayout>
          <c:layoutTarget val="inner"/>
          <c:xMode val="edge"/>
          <c:yMode val="edge"/>
          <c:x val="0.08"/>
          <c:y val="0.14"/>
          <c:w val="0.9"/>
          <c:h val="0.62"/>
        </c:manualLayout>
      </c:layout>
      <c:barChart>
        <c:barDir val="col"/>
        <c:grouping val="clustered"/>
        <c:varyColors val="0"/>
        <c:ser>
          <c:idx val="0"/>
          <c:order val="0"/>
          <c:tx>
            <c:strRef>
              <c:f>Sheet1!$B$1</c:f>
              <c:strCache>
                <c:ptCount val="1"/>
                <c:pt idx="0">
                  <c:v>best possible share (%)</c:v>
                </c:pt>
              </c:strCache>
            </c:strRef>
          </c:tx>
          <c:spPr>
            <a:solidFill>
              <a:srgbClr val="2A78D6"/>
            </a:solidFill>
            <a:effectLst/>
          </c:spPr>
          <c:invertIfNegative val="0"/>
          <c:dLbls>
            <c:numFmt formatCode="0" sourceLinked="0"/>
            <c:txPr>
              <a:bodyPr/>
              <a:lstStyle/>
              <a:p>
                <a:pPr>
                  <a:defRPr b="0" i="0" strike="noStrike" sz="1100" u="none">
                    <a:solidFill>
                      <a:srgbClr val="0B0B0B"/>
                    </a:solidFill>
                    <a:latin typeface="+mn-lt"/>
                  </a:defRPr>
                </a:pPr>
              </a:p>
            </c:txPr>
            <c:showLegendKey val="0"/>
            <c:showVal val="1"/>
            <c:showCatName val="0"/>
            <c:showSerName val="0"/>
            <c:showPercent val="0"/>
            <c:showBubbleSize val="0"/>
            <c:showLeaderLines val="0"/>
          </c:dLbls>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22.95016077170418</c:v>
                </c:pt>
                <c:pt idx="1">
                  <c:v>38.062700964630224</c:v>
                </c:pt>
                <c:pt idx="2">
                  <c:v>50.643086816720256</c:v>
                </c:pt>
                <c:pt idx="3">
                  <c:v>60.4903536977492</c:v>
                </c:pt>
                <c:pt idx="4">
                  <c:v>68.72990353697749</c:v>
                </c:pt>
                <c:pt idx="5">
                  <c:v>76.20578778135048</c:v>
                </c:pt>
                <c:pt idx="6">
                  <c:v>81.39067524115755</c:v>
                </c:pt>
                <c:pt idx="7">
                  <c:v>85.20900321543408</c:v>
                </c:pt>
                <c:pt idx="8">
                  <c:v>87.78135048231512</c:v>
                </c:pt>
                <c:pt idx="9">
                  <c:v>90.23311897106109</c:v>
                </c:pt>
                <c:pt idx="10">
                  <c:v>92.60450160771704</c:v>
                </c:pt>
                <c:pt idx="11">
                  <c:v>94.85530546623794</c:v>
                </c:pt>
                <c:pt idx="12">
                  <c:v>96.90514469453376</c:v>
                </c:pt>
                <c:pt idx="13">
                  <c:v>98.95498392282958</c:v>
                </c:pt>
                <c:pt idx="14">
                  <c:v>100</c:v>
                </c:pt>
              </c:numCache>
            </c:numRef>
          </c:val>
        </c:ser>
        <c:dLbls>
          <c:numFmt formatCode="0" sourceLinked="0"/>
          <c:txPr>
            <a:bodyPr/>
            <a:lstStyle/>
            <a:p>
              <a:pPr>
                <a:defRPr b="0" i="0" strike="noStrike" sz="1100" u="none">
                  <a:solidFill>
                    <a:srgbClr val="0B0B0B"/>
                  </a:solidFill>
                  <a:latin typeface="+mn-lt"/>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title>
          <c:tx>
            <c:rich>
              <a:bodyPr/>
              <a:lstStyle/>
              <a:p>
                <a:pPr>
                  <a:defRPr sz="1000" b="0" i="0" u="none" strike="noStrike">
                    <a:solidFill>
                      <a:srgbClr val="52514E"/>
                    </a:solidFill>
                    <a:latin typeface="+mn-lt"/>
                  </a:defRPr>
                </a:pPr>
                <a:r>
                  <a:rPr sz="1000" b="0" i="0" u="none" strike="noStrike">
                    <a:solidFill>
                      <a:srgbClr val="52514E"/>
                    </a:solidFill>
                    <a:latin typeface="+mn-lt"/>
                  </a:rPr>
                  <a:t>number of clamp sizes, each fitting a 6 mm diameter window</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Lavinia, a PhD student at Stanford University, and today I am happy to present CrossMEP, which is the dataset we built when we found that the data to learn support design from did not exist. Support design is the one part of MEP that every tool coordinates, every tool checks, and no tool does. A hospital has ten thousand of these supports, each chosen by hand from a catalog. We think a machine can learn to choose them, and what has stopped anyone trying is not the algorithm. It is that nobody had the problems to practise on. So we built the problems.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scale. This is a hospital, and every red mark is a place where services hang from the structure. A modular support groups several services on one prefabricated frame: a structural support assembly. A hospital this size needs about ten thousand of them, each designed individually, twenty minutes to two hours apiece. Add it up and it is about a quarter of the MEP design effort. Practitioner estimates, but these are the numbers people live with.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designed, and from what? In: one cross-section at a hanger. The structure it hangs from, and the services crossing it, each with its trade, position, size and weight per metre. We call that the context. It is the brief. Out: assemblies of catalog parts that carry those services to the structure, checked for statics, anchors, connectors and buildability, ranked by cost. That is the answer. Hold on to these two words, because CrossMEP is contexts only. It contains no assemblies.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still done by hand? A designer works from one section at each hanger, after coordination. Tools coordinate the model and check a design, but they do not choose the layout or the parts. Three reasons it has resisted automation: the topology comes from experience, the rules interact across thousands of combinations, and catalogs change faster than rule systems can be rewritten.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would a machine learn it? Give it a context. Let it propose an assembly. Check the assembly, and feed pass or fail back. Round after round, it gets better. But every round needs a new context, and that is where it stops. Real projects give a handful of sections, all from the same kind of job and confidential: too few to practise on, and a method tuned on them only fits that job. So we generate the contexts, as many as a method needs, and we fix one benchmark to judge every method on. (2:15)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scarce? The real designs we could get were ninety, from one project. Nearly every one had a duct and many pipes. Not one had a cable tray, and not one was as simple as a single pipe: one corner of the design space. A method tuned on them measures fit to that project. So CrossMEP fills the space by construction: every tier from one element to eight, kinds and surfaces varied, without limit. A new seed is a new set. Seven thousand contexts are the release, not the ceiling.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context: a two-dimensional section at one support. Each element has its kind, service and trade, its size, insulation and position, and its load: weight per metre times the span it was sized at. Add the surface, slab or wall, and that is all. No channel, no rods, no anchors, no correct answer, because a feasible support depends on the catalog you build from. (3:35)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a context made? By rules an engineer would recognize. The tier fixes the element count. We pick the surface and fill it the way trades run services: hot and cold together, flow and return together, conduits in groups, bulky services nearest the slab. Gaps are drawn from gaps measured on a built project, never below twenty-five millimetres. On walls, electrical stays above water. Same seed, same file.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the numbers come from? Sizes, weights and spans from standards: EN for pipes and ducts, IEC for conduits and trays, ASME for spans, GEG for insulation. Spacing from measured open buildings. And a few choices of our own, like the trade mix, labelled as choices. (4:30)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analyses. The first is a design check. Each tier adds one element: C1 is a single service, the most common support in any building; C8 has eight. Within a tier everything else varies, so the element count is the one controlled axis. Load at the support rises with the tier, from about 0.3 to 2.0 kilonewtons, and the closest gap narrows at every step, from 130 to about 51 millimetres. The dataset behaves as designed. (4:50)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is the one the generator could fail: is the spacing realistic in a building it has never seen? The gap distribution was fitted on a residential duplex. We held out a medical clinic, cut it into sections every 250 millimetres, and measured the gaps between pipes side by side. Generator to clinic: 32 millimetres. Above the 8 a perfect generator would show, but about as close as the duplex's own two models are to each other. A fixed 25-millimetre gap would be about 190 off. (5:20)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is a use of the dataset: what must a catalog of clamps cover? Our paper's two-size catalog attaches 14.5 percent of the pipes, interval 13 to 16, all one size, DN40. Trays, ducts and conduits are not covered at all. On the right, what the dataset asks of any catalog: two well-placed sizes reach 38 percent, six sizes 76, fifteen every pipe. What the catalog should contain becomes a measurement. (5:55)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it. This is the Generator Studio. I choose what crosses the hanger, a tier or an exact mix, and a seed. Out comes the section a designer receives, drawn as an engineer would issue it: every service at true size, its level, its load, the closest gap, and the run in 3D. Every section is a stored output of the released generator. Scan the code to try it. [Live: switch to the studio, click C3, then Generate another twice, then Exact mix with a duct. If the demo fails, stay on this slide: its screenshot is the fallback. Before the talk: open the studio once with internet, set its link sharing to public, scan the QR from a phone not logged in.] (6:25)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it takes a few lines: load a split, filter by composition, or generate your own mix. Four splits on disjoint seeds: five thousand to train, five hundred each for validation and test, and a benchmark of a thousand, a hundred and twenty-five per tier. The same files serve reinforcement learning, constraint programming and benchmarking, and we ship the scoring. Train on the generator. Evaluate on the benchmark, the same contexts for every method. Report per tier, with intervals and paired tests. (7:30)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CrossMEP is one section at one support. Pipe spacing was checked on two open buildings; the rest rests on practice and standards, and the trade mix is a design choice. It is not for the structural design of real installations. Next: a public checker, so methods can be compared on the answer; the catalog as an input; and a real test set from commercial projects, with supports designed by engineers. That is where I would value your eye. (8:05)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CrossMEP is the brief, not the answer. Seven thousand support-design problems, every constant sourced or declared, spacing checked on two open buildings, all of it open. If you coordinate services or design supports, try the studio and tell me what looks wrong. Thank you. (8:35)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9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60120"/>
            <a:ext cx="6949440" cy="22860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3429000"/>
            <a:ext cx="6766560" cy="1005840"/>
          </a:xfrm>
          <a:prstGeom prst="rect">
            <a:avLst/>
          </a:prstGeom>
          <a:noFill/>
          <a:ln/>
        </p:spPr>
        <p:txBody>
          <a:bodyPr wrap="square" rtlCol="0"/>
          <a:lstStyle>
            <a:lvl1pPr indent="0" marL="0">
              <a:buNone/>
              <a:defRPr lang="en-US" sz="1600" dirty="0">
                <a:solidFill>
                  <a:srgbClr val="CADCFC"/>
                </a:solidFill>
              </a:defRPr>
            </a:lvl1pPr>
          </a:lstStyle>
          <a:p>
            <a:pPr indent="0" marL="0">
              <a:buNone/>
            </a:pPr>
            <a:endParaRPr lang="en-US" sz="1600" dirty="0"/>
          </a:p>
        </p:txBody>
      </p:sp>
      <p:sp>
        <p:nvSpPr>
          <p:cNvPr id="4" name="Text 0"/>
          <p:cNvSpPr/>
          <p:nvPr>
            <p:ph idx="102" type="body" hasCustomPrompt="1"/>
          </p:nvPr>
        </p:nvSpPr>
        <p:spPr>
          <a:xfrm>
            <a:off x="640080" y="4663440"/>
            <a:ext cx="7680960" cy="1463040"/>
          </a:xfrm>
          <a:prstGeom prst="rect">
            <a:avLst/>
          </a:prstGeom>
          <a:noFill/>
          <a:ln/>
        </p:spPr>
        <p:txBody>
          <a:bodyPr wrap="square" rtlCol="0"/>
          <a:lstStyle>
            <a:lvl1pPr indent="0" marL="0">
              <a:buNone/>
              <a:defRPr lang="en-US" sz="1300" dirty="0">
                <a:solidFill>
                  <a:schemeClr val="bg1"/>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898781"/>
                </a:solidFill>
              </a:rPr>
              <a:t>CrossMEP  ·  CIB W78 2026, New Delhi</a:t>
            </a:r>
            <a:endParaRPr lang="en-US" sz="9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F29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49808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3794760"/>
            <a:ext cx="7498080" cy="2011680"/>
          </a:xfrm>
          <a:prstGeom prst="rect">
            <a:avLst/>
          </a:prstGeom>
          <a:noFill/>
          <a:ln/>
        </p:spPr>
        <p:txBody>
          <a:bodyPr wrap="square" rtlCol="0"/>
          <a:lstStyle>
            <a:lvl1pPr indent="0" marL="0">
              <a:buNone/>
              <a:defRPr lang="en-US" sz="1600" dirty="0">
                <a:solidFill>
                  <a:srgbClr val="CADCFC"/>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4.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960120"/>
            <a:ext cx="6949440" cy="2286000"/>
          </a:xfrm>
          <a:prstGeom prst="rect">
            <a:avLst/>
          </a:prstGeom>
          <a:noFill/>
          <a:ln/>
        </p:spPr>
        <p:txBody>
          <a:bodyPr wrap="square" lIns="0" tIns="0" rIns="0" bIns="0" rtlCol="0" anchor="b"/>
          <a:lstStyle/>
          <a:p>
            <a:pPr algn="l" indent="0" marL="0">
              <a:buNone/>
            </a:pPr>
            <a:r>
              <a:rPr lang="en-US" sz="3400" b="1" dirty="0">
                <a:solidFill>
                  <a:schemeClr val="bg1"/>
                </a:solidFill>
              </a:rPr>
              <a:t>CrossMEP: A Tiered Synthetic</a:t>
            </a:r>
            <a:endParaRPr lang="en-US" sz="3400" dirty="0"/>
          </a:p>
          <a:p>
            <a:pPr algn="l" indent="0" marL="0">
              <a:buNone/>
            </a:pPr>
            <a:r>
              <a:rPr lang="en-US" sz="3400" b="1" dirty="0">
                <a:solidFill>
                  <a:schemeClr val="bg1"/>
                </a:solidFill>
              </a:rPr>
              <a:t>Dataset of Multi-Trade MEP</a:t>
            </a:r>
            <a:endParaRPr lang="en-US" sz="3400" dirty="0"/>
          </a:p>
          <a:p>
            <a:pPr algn="l" indent="0" marL="0">
              <a:buNone/>
            </a:pPr>
            <a:r>
              <a:rPr lang="en-US" sz="3400" b="1" dirty="0">
                <a:solidFill>
                  <a:schemeClr val="bg1"/>
                </a:solidFill>
              </a:rPr>
              <a:t>Cross-Sections</a:t>
            </a:r>
            <a:endParaRPr lang="en-US" sz="3400" dirty="0"/>
          </a:p>
        </p:txBody>
      </p:sp>
      <p:sp>
        <p:nvSpPr>
          <p:cNvPr id="3" name="Text 0"/>
          <p:cNvSpPr/>
          <p:nvPr>
            <p:ph idx="101" type="body" hasCustomPrompt="1"/>
          </p:nvPr>
        </p:nvSpPr>
        <p:spPr>
          <a:xfrm>
            <a:off x="640080" y="3429000"/>
            <a:ext cx="6766560" cy="1005840"/>
          </a:xfrm>
          <a:prstGeom prst="rect">
            <a:avLst/>
          </a:prstGeom>
          <a:noFill/>
          <a:ln/>
        </p:spPr>
        <p:txBody>
          <a:bodyPr wrap="square" lIns="0" tIns="0" rIns="0" bIns="0" rtlCol="0" anchor="t"/>
          <a:lstStyle/>
          <a:p>
            <a:pPr indent="0" marL="0">
              <a:buNone/>
            </a:pPr>
            <a:r>
              <a:rPr lang="en-US" sz="1600" dirty="0">
                <a:solidFill>
                  <a:srgbClr val="CADCFC"/>
                </a:solidFill>
              </a:rPr>
              <a:t>A support-design problem distribution for learning-based structural support assembly synthesis</a:t>
            </a:r>
            <a:endParaRPr lang="en-US" sz="1600" dirty="0"/>
          </a:p>
        </p:txBody>
      </p:sp>
      <p:sp>
        <p:nvSpPr>
          <p:cNvPr id="4" name="Text 0"/>
          <p:cNvSpPr/>
          <p:nvPr>
            <p:ph idx="102" type="body" hasCustomPrompt="1"/>
          </p:nvPr>
        </p:nvSpPr>
        <p:spPr>
          <a:xfrm>
            <a:off x="640080" y="4663440"/>
            <a:ext cx="7680960" cy="1463040"/>
          </a:xfrm>
          <a:prstGeom prst="rect">
            <a:avLst/>
          </a:prstGeom>
          <a:noFill/>
          <a:ln/>
        </p:spPr>
        <p:txBody>
          <a:bodyPr wrap="square" lIns="0" tIns="0" rIns="0" bIns="0" rtlCol="0" anchor="t"/>
          <a:lstStyle/>
          <a:p>
            <a:pPr indent="0" marL="0">
              <a:buNone/>
            </a:pPr>
            <a:r>
              <a:rPr lang="en-US" sz="1300" b="1" dirty="0">
                <a:solidFill>
                  <a:schemeClr val="bg1"/>
                </a:solidFill>
              </a:rPr>
              <a:t>Lavinia Pedrollo ¹  ·  David Gvadzabia ²  ·  Torben Graeber ³  ·  Martin Fischer ¹</a:t>
            </a:r>
            <a:endParaRPr lang="en-US" sz="1300" dirty="0"/>
          </a:p>
          <a:p>
            <a:pPr indent="0" marL="0">
              <a:buNone/>
            </a:pPr>
            <a:r>
              <a:rPr lang="en-US" sz="1300" dirty="0">
                <a:solidFill>
                  <a:srgbClr val="CADCFC"/>
                </a:solidFill>
              </a:rPr>
              <a:t>¹ Stanford University, CIFE   ² Lafayette College   ³ Hilti AG</a:t>
            </a:r>
            <a:endParaRPr lang="en-US" sz="1300" dirty="0"/>
          </a:p>
          <a:p>
            <a:pPr indent="0" marL="0">
              <a:buNone/>
            </a:pPr>
            <a:r>
              <a:rPr lang="en-US" sz="600" dirty="0">
                <a:solidFill>
                  <a:schemeClr val="bg1"/>
                </a:solidFill>
              </a:rPr>
              <a:t> </a:t>
            </a:r>
            <a:endParaRPr lang="en-US" sz="1300" dirty="0"/>
          </a:p>
          <a:p>
            <a:pPr indent="0" marL="0">
              <a:buNone/>
            </a:pPr>
            <a:r>
              <a:rPr lang="en-US" sz="1300" dirty="0">
                <a:solidFill>
                  <a:srgbClr val="CADCFC"/>
                </a:solidFill>
              </a:rPr>
              <a:t>43rd International CIB W78 Conference · IT in Construction · New Delhi, 6–8 October 2026</a:t>
            </a:r>
            <a:endParaRPr lang="en-US" sz="1300" dirty="0"/>
          </a:p>
        </p:txBody>
      </p:sp>
      <p:sp>
        <p:nvSpPr>
          <p:cNvPr id="5" name="title art panel"/>
          <p:cNvSpPr/>
          <p:nvPr/>
        </p:nvSpPr>
        <p:spPr>
          <a:xfrm>
            <a:off x="8479705" y="256032"/>
            <a:ext cx="3407495" cy="6345936"/>
          </a:xfrm>
          <a:prstGeom prst="roundRect">
            <a:avLst>
              <a:gd name="adj" fmla="val 2683"/>
            </a:avLst>
          </a:prstGeom>
          <a:solidFill>
            <a:srgbClr val="FFFFFF"/>
          </a:solidFill>
          <a:ln/>
        </p:spPr>
      </p:sp>
      <p:pic>
        <p:nvPicPr>
          <p:cNvPr id="6" name="title art" descr="/home/user/crossmep_dataset/docs/CrossMEP_title_art_idea_white.png">    </p:cNvPr>
          <p:cNvPicPr>
            <a:picLocks noChangeAspect="1"/>
          </p:cNvPicPr>
          <p:nvPr/>
        </p:nvPicPr>
        <p:blipFill>
          <a:blip r:embed="rId1"/>
          <a:stretch>
            <a:fillRect/>
          </a:stretch>
        </p:blipFill>
        <p:spPr>
          <a:xfrm>
            <a:off x="8589433" y="365760"/>
            <a:ext cx="3188039" cy="6126480"/>
          </a:xfrm>
          <a:prstGeom prst="rect">
            <a:avLst/>
          </a:prstGeom>
        </p:spPr>
      </p:pic>
      <p:sp>
        <p:nvSpPr>
          <p:cNvPr id="7" name="logo chip"/>
          <p:cNvSpPr/>
          <p:nvPr/>
        </p:nvSpPr>
        <p:spPr>
          <a:xfrm>
            <a:off x="640080" y="5532120"/>
            <a:ext cx="3566160" cy="1188720"/>
          </a:xfrm>
          <a:prstGeom prst="roundRect">
            <a:avLst>
              <a:gd name="adj" fmla="val 6154"/>
            </a:avLst>
          </a:prstGeom>
          <a:solidFill>
            <a:srgbClr val="FFFFFF"/>
          </a:solidFill>
          <a:ln/>
        </p:spPr>
      </p:sp>
      <p:pic>
        <p:nvPicPr>
          <p:cNvPr id="8" name="logo stanford" descr="preencoded.png">    </p:cNvPr>
          <p:cNvPicPr>
            <a:picLocks noChangeAspect="1"/>
          </p:cNvPicPr>
          <p:nvPr/>
        </p:nvPicPr>
        <p:blipFill>
          <a:blip r:embed="rId2"/>
          <a:stretch>
            <a:fillRect/>
          </a:stretch>
        </p:blipFill>
        <p:spPr>
          <a:xfrm>
            <a:off x="822960" y="5718556"/>
            <a:ext cx="2011680" cy="815848"/>
          </a:xfrm>
          <a:prstGeom prst="rect">
            <a:avLst/>
          </a:prstGeom>
        </p:spPr>
      </p:pic>
      <p:pic>
        <p:nvPicPr>
          <p:cNvPr id="9" name="logo hilti" descr="preencoded.png">    </p:cNvPr>
          <p:cNvPicPr>
            <a:picLocks noChangeAspect="1"/>
          </p:cNvPicPr>
          <p:nvPr/>
        </p:nvPicPr>
        <p:blipFill>
          <a:blip r:embed="rId3"/>
          <a:stretch>
            <a:fillRect/>
          </a:stretch>
        </p:blipFill>
        <p:spPr>
          <a:xfrm>
            <a:off x="3017520" y="6004269"/>
            <a:ext cx="1005840" cy="2444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200" b="1" dirty="0">
                <a:solidFill>
                  <a:schemeClr val="tx1"/>
                </a:solidFill>
              </a:rPr>
              <a:t>The synthesis of structural support assemblies (SSAs) takes 25% of MEP design effort because every assembly must be designed individually</a:t>
            </a:r>
            <a:endParaRPr lang="en-US" sz="2600" dirty="0"/>
          </a:p>
        </p:txBody>
      </p:sp>
      <p:pic>
        <p:nvPicPr>
          <p:cNvPr id="3" name="hospital model" descr="/home/user/crossmep_dataset/docs/figures/isarc_building.jpg">    </p:cNvPr>
          <p:cNvPicPr>
            <a:picLocks noChangeAspect="1"/>
          </p:cNvPicPr>
          <p:nvPr/>
        </p:nvPicPr>
        <p:blipFill>
          <a:blip r:embed="rId1"/>
          <a:stretch>
            <a:fillRect/>
          </a:stretch>
        </p:blipFill>
        <p:spPr>
          <a:xfrm>
            <a:off x="548640" y="1325880"/>
            <a:ext cx="6035040" cy="3394710"/>
          </a:xfrm>
          <a:prstGeom prst="rect">
            <a:avLst/>
          </a:prstGeom>
        </p:spPr>
      </p:pic>
      <p:sp>
        <p:nvSpPr>
          <p:cNvPr id="4" name="zoom box"/>
          <p:cNvSpPr/>
          <p:nvPr/>
        </p:nvSpPr>
        <p:spPr>
          <a:xfrm>
            <a:off x="3304843" y="2791716"/>
            <a:ext cx="592641" cy="473902"/>
          </a:xfrm>
          <a:prstGeom prst="rect">
            <a:avLst/>
          </a:prstGeom>
          <a:ln w="19050">
            <a:solidFill>
              <a:srgbClr val="C00000"/>
            </a:solidFill>
            <a:prstDash val="solid"/>
          </a:ln>
        </p:spPr>
      </p:sp>
      <p:sp>
        <p:nvSpPr>
          <p:cNvPr id="5" name="zoom line top"/>
          <p:cNvSpPr/>
          <p:nvPr/>
        </p:nvSpPr>
        <p:spPr>
          <a:xfrm flipV="1">
            <a:off x="3897484" y="1783080"/>
            <a:ext cx="3051956" cy="1008636"/>
          </a:xfrm>
          <a:prstGeom prst="line">
            <a:avLst/>
          </a:prstGeom>
          <a:noFill/>
          <a:ln w="19050">
            <a:solidFill>
              <a:srgbClr val="C00000"/>
            </a:solidFill>
            <a:prstDash val="solid"/>
          </a:ln>
        </p:spPr>
      </p:sp>
      <p:sp>
        <p:nvSpPr>
          <p:cNvPr id="6" name="zoom line bottom"/>
          <p:cNvSpPr/>
          <p:nvPr/>
        </p:nvSpPr>
        <p:spPr>
          <a:xfrm>
            <a:off x="3897484" y="3265617"/>
            <a:ext cx="3051956" cy="1210645"/>
          </a:xfrm>
          <a:prstGeom prst="line">
            <a:avLst/>
          </a:prstGeom>
          <a:noFill/>
          <a:ln w="19050">
            <a:solidFill>
              <a:srgbClr val="C00000"/>
            </a:solidFill>
            <a:prstDash val="solid"/>
          </a:ln>
        </p:spPr>
      </p:sp>
      <p:pic>
        <p:nvPicPr>
          <p:cNvPr id="7" name="one assembly" descr="/home/user/crossmep_dataset/docs/figures/isarc_ssa.jpg">    </p:cNvPr>
          <p:cNvPicPr>
            <a:picLocks noChangeAspect="1"/>
          </p:cNvPicPr>
          <p:nvPr/>
        </p:nvPicPr>
        <p:blipFill>
          <a:blip r:embed="rId2"/>
          <a:stretch>
            <a:fillRect/>
          </a:stretch>
        </p:blipFill>
        <p:spPr>
          <a:xfrm>
            <a:off x="6949440" y="1783080"/>
            <a:ext cx="4690872" cy="2693182"/>
          </a:xfrm>
          <a:prstGeom prst="rect">
            <a:avLst/>
          </a:prstGeom>
        </p:spPr>
      </p:pic>
      <p:sp>
        <p:nvSpPr>
          <p:cNvPr id="8" name="inset frame"/>
          <p:cNvSpPr/>
          <p:nvPr/>
        </p:nvSpPr>
        <p:spPr>
          <a:xfrm>
            <a:off x="6949440" y="1783080"/>
            <a:ext cx="4690872" cy="2693182"/>
          </a:xfrm>
          <a:prstGeom prst="rect">
            <a:avLst/>
          </a:prstGeom>
          <a:ln w="19050">
            <a:solidFill>
              <a:srgbClr val="C00000"/>
            </a:solidFill>
            <a:prstDash val="solid"/>
          </a:ln>
        </p:spPr>
      </p:sp>
      <p:sp>
        <p:nvSpPr>
          <p:cNvPr id="9" name="inset label"/>
          <p:cNvSpPr txBox="1"/>
          <p:nvPr/>
        </p:nvSpPr>
        <p:spPr>
          <a:xfrm>
            <a:off x="6949440" y="1325880"/>
            <a:ext cx="4690872" cy="411480"/>
          </a:xfrm>
          <a:prstGeom prst="rect">
            <a:avLst/>
          </a:prstGeom>
          <a:noFill/>
          <a:ln/>
        </p:spPr>
        <p:txBody>
          <a:bodyPr wrap="square" lIns="0" tIns="0" rIns="0" bIns="0" rtlCol="0" anchor="b"/>
          <a:lstStyle/>
          <a:p>
            <a:pPr indent="0" marL="0">
              <a:buNone/>
            </a:pPr>
            <a:r>
              <a:rPr lang="en-US" sz="1500" b="1" dirty="0">
                <a:solidFill>
                  <a:schemeClr val="tx1"/>
                </a:solidFill>
              </a:rPr>
              <a:t>1 unit = 1 structural support assembly (SSA)</a:t>
            </a:r>
            <a:endParaRPr lang="en-US" sz="1500" dirty="0"/>
          </a:p>
        </p:txBody>
      </p:sp>
      <p:sp>
        <p:nvSpPr>
          <p:cNvPr id="10" name="model chip"/>
          <p:cNvSpPr/>
          <p:nvPr/>
        </p:nvSpPr>
        <p:spPr>
          <a:xfrm>
            <a:off x="685800" y="4245102"/>
            <a:ext cx="3429000" cy="329184"/>
          </a:xfrm>
          <a:prstGeom prst="roundRect">
            <a:avLst>
              <a:gd name="adj" fmla="val 50000"/>
            </a:avLst>
          </a:prstGeom>
          <a:solidFill>
            <a:srgbClr val="FFFFFF"/>
          </a:solidFill>
          <a:ln w="9525">
            <a:solidFill>
              <a:srgbClr val="E1E0D9"/>
            </a:solidFill>
            <a:prstDash val="solid"/>
          </a:ln>
        </p:spPr>
      </p:sp>
      <p:sp>
        <p:nvSpPr>
          <p:cNvPr id="11" name="model chip dot"/>
          <p:cNvSpPr/>
          <p:nvPr/>
        </p:nvSpPr>
        <p:spPr>
          <a:xfrm>
            <a:off x="822960" y="4336542"/>
            <a:ext cx="146304" cy="146304"/>
          </a:xfrm>
          <a:prstGeom prst="ellipse">
            <a:avLst/>
          </a:prstGeom>
          <a:solidFill>
            <a:srgbClr val="C00000"/>
          </a:solidFill>
          <a:ln/>
        </p:spPr>
      </p:sp>
      <p:sp>
        <p:nvSpPr>
          <p:cNvPr id="12" name="model chip text"/>
          <p:cNvSpPr txBox="1"/>
          <p:nvPr/>
        </p:nvSpPr>
        <p:spPr>
          <a:xfrm>
            <a:off x="1024128" y="4245102"/>
            <a:ext cx="3063240" cy="329184"/>
          </a:xfrm>
          <a:prstGeom prst="rect">
            <a:avLst/>
          </a:prstGeom>
          <a:noFill/>
          <a:ln/>
        </p:spPr>
        <p:txBody>
          <a:bodyPr wrap="square" lIns="0" tIns="0" rIns="0" bIns="0" rtlCol="0" anchor="ctr"/>
          <a:lstStyle/>
          <a:p>
            <a:pPr indent="0" marL="0">
              <a:buNone/>
            </a:pPr>
            <a:r>
              <a:rPr lang="en-US" sz="1050" dirty="0">
                <a:solidFill>
                  <a:schemeClr val="tx1"/>
                </a:solidFill>
              </a:rPr>
              <a:t>200,000 sq ft hospital · every red mark is one support</a:t>
            </a:r>
            <a:endParaRPr lang="en-US" sz="1050" dirty="0"/>
          </a:p>
        </p:txBody>
      </p:sp>
      <p:sp>
        <p:nvSpPr>
          <p:cNvPr id="13" name="tile assemblies"/>
          <p:cNvSpPr/>
          <p:nvPr/>
        </p:nvSpPr>
        <p:spPr>
          <a:xfrm>
            <a:off x="548640" y="4892040"/>
            <a:ext cx="3258312" cy="1188720"/>
          </a:xfrm>
          <a:prstGeom prst="roundRect">
            <a:avLst>
              <a:gd name="adj" fmla="val 5385"/>
            </a:avLst>
          </a:prstGeom>
          <a:solidFill>
            <a:schemeClr val="bg2"/>
          </a:solidFill>
          <a:ln/>
        </p:spPr>
      </p:sp>
      <p:sp>
        <p:nvSpPr>
          <p:cNvPr id="14" name="icon ring assemblies"/>
          <p:cNvSpPr/>
          <p:nvPr/>
        </p:nvSpPr>
        <p:spPr>
          <a:xfrm>
            <a:off x="777240" y="5193792"/>
            <a:ext cx="585216" cy="585216"/>
          </a:xfrm>
          <a:prstGeom prst="ellipse">
            <a:avLst/>
          </a:prstGeom>
          <a:solidFill>
            <a:srgbClr val="C00000"/>
          </a:solidFill>
          <a:ln/>
        </p:spPr>
      </p:sp>
      <p:pic>
        <p:nvPicPr>
          <p:cNvPr id="15" name="icon assemblies" descr="preencoded.png">    </p:cNvPr>
          <p:cNvPicPr>
            <a:picLocks noChangeAspect="1"/>
          </p:cNvPicPr>
          <p:nvPr/>
        </p:nvPicPr>
        <p:blipFill>
          <a:blip r:embed="rId3"/>
          <a:stretch>
            <a:fillRect/>
          </a:stretch>
        </p:blipFill>
        <p:spPr>
          <a:xfrm>
            <a:off x="900135" y="5316687"/>
            <a:ext cx="339425" cy="339425"/>
          </a:xfrm>
          <a:prstGeom prst="rect">
            <a:avLst/>
          </a:prstGeom>
        </p:spPr>
      </p:pic>
      <p:sp>
        <p:nvSpPr>
          <p:cNvPr id="16" name="value assemblies"/>
          <p:cNvSpPr txBox="1"/>
          <p:nvPr/>
        </p:nvSpPr>
        <p:spPr>
          <a:xfrm>
            <a:off x="1554480" y="4956048"/>
            <a:ext cx="2115312" cy="548640"/>
          </a:xfrm>
          <a:prstGeom prst="rect">
            <a:avLst/>
          </a:prstGeom>
          <a:noFill/>
          <a:ln/>
        </p:spPr>
        <p:txBody>
          <a:bodyPr wrap="square" lIns="0" tIns="0" rIns="0" bIns="0" rtlCol="0" anchor="ctr"/>
          <a:lstStyle/>
          <a:p>
            <a:pPr indent="0" marL="0">
              <a:buNone/>
            </a:pPr>
            <a:r>
              <a:rPr lang="en-US" sz="2800" b="1" dirty="0">
                <a:solidFill>
                  <a:srgbClr val="C00000"/>
                </a:solidFill>
              </a:rPr>
              <a:t>≈ 10,000</a:t>
            </a:r>
            <a:endParaRPr lang="en-US" sz="2800" dirty="0"/>
          </a:p>
        </p:txBody>
      </p:sp>
      <p:sp>
        <p:nvSpPr>
          <p:cNvPr id="17" name="label assemblies"/>
          <p:cNvSpPr txBox="1"/>
          <p:nvPr/>
        </p:nvSpPr>
        <p:spPr>
          <a:xfrm>
            <a:off x="1554480" y="5504688"/>
            <a:ext cx="2115312" cy="548640"/>
          </a:xfrm>
          <a:prstGeom prst="rect">
            <a:avLst/>
          </a:prstGeom>
          <a:noFill/>
          <a:ln/>
        </p:spPr>
        <p:txBody>
          <a:bodyPr wrap="square" lIns="0" tIns="0" rIns="0" bIns="0" rtlCol="0" anchor="t"/>
          <a:lstStyle/>
          <a:p>
            <a:pPr indent="0" marL="0">
              <a:buNone/>
            </a:pPr>
            <a:r>
              <a:rPr lang="en-US" sz="1150" b="1" dirty="0">
                <a:solidFill>
                  <a:srgbClr val="C00000"/>
                </a:solidFill>
              </a:rPr>
              <a:t>support assemblies </a:t>
            </a:r>
            <a:r>
              <a:rPr lang="en-US" sz="1150" dirty="0">
                <a:solidFill>
                  <a:srgbClr val="52514E"/>
                </a:solidFill>
              </a:rPr>
              <a:t>in one hospital project, each one its own design</a:t>
            </a:r>
            <a:endParaRPr lang="en-US" sz="1150" dirty="0"/>
          </a:p>
        </p:txBody>
      </p:sp>
      <p:sp>
        <p:nvSpPr>
          <p:cNvPr id="18" name="op times"/>
          <p:cNvSpPr/>
          <p:nvPr/>
        </p:nvSpPr>
        <p:spPr>
          <a:xfrm>
            <a:off x="3944112" y="5294376"/>
            <a:ext cx="384048" cy="384048"/>
          </a:xfrm>
          <a:prstGeom prst="ellipse">
            <a:avLst/>
          </a:prstGeom>
          <a:solidFill>
            <a:srgbClr val="FFFFFF"/>
          </a:solidFill>
          <a:ln w="19050">
            <a:solidFill>
              <a:srgbClr val="C00000"/>
            </a:solidFill>
            <a:prstDash val="solid"/>
          </a:ln>
        </p:spPr>
      </p:sp>
      <p:sp>
        <p:nvSpPr>
          <p:cNvPr id="19" name="op text times"/>
          <p:cNvSpPr txBox="1"/>
          <p:nvPr/>
        </p:nvSpPr>
        <p:spPr>
          <a:xfrm>
            <a:off x="3944112" y="5294376"/>
            <a:ext cx="384048" cy="384048"/>
          </a:xfrm>
          <a:prstGeom prst="rect">
            <a:avLst/>
          </a:prstGeom>
          <a:noFill/>
          <a:ln/>
        </p:spPr>
        <p:txBody>
          <a:bodyPr wrap="square" lIns="0" tIns="0" rIns="0" bIns="0" rtlCol="0" anchor="ctr"/>
          <a:lstStyle/>
          <a:p>
            <a:pPr algn="ctr" indent="0" marL="0">
              <a:buNone/>
            </a:pPr>
            <a:r>
              <a:rPr lang="en-US" sz="1800" b="1" dirty="0">
                <a:solidFill>
                  <a:srgbClr val="C00000"/>
                </a:solidFill>
              </a:rPr>
              <a:t>×</a:t>
            </a:r>
            <a:endParaRPr lang="en-US" sz="1800" dirty="0"/>
          </a:p>
        </p:txBody>
      </p:sp>
      <p:sp>
        <p:nvSpPr>
          <p:cNvPr id="20" name="tile time"/>
          <p:cNvSpPr/>
          <p:nvPr/>
        </p:nvSpPr>
        <p:spPr>
          <a:xfrm>
            <a:off x="4465320" y="4892040"/>
            <a:ext cx="3258312" cy="1188720"/>
          </a:xfrm>
          <a:prstGeom prst="roundRect">
            <a:avLst>
              <a:gd name="adj" fmla="val 5385"/>
            </a:avLst>
          </a:prstGeom>
          <a:solidFill>
            <a:schemeClr val="bg2"/>
          </a:solidFill>
          <a:ln/>
        </p:spPr>
      </p:sp>
      <p:sp>
        <p:nvSpPr>
          <p:cNvPr id="21" name="icon ring time"/>
          <p:cNvSpPr/>
          <p:nvPr/>
        </p:nvSpPr>
        <p:spPr>
          <a:xfrm>
            <a:off x="4693920" y="5193792"/>
            <a:ext cx="585216" cy="585216"/>
          </a:xfrm>
          <a:prstGeom prst="ellipse">
            <a:avLst/>
          </a:prstGeom>
          <a:solidFill>
            <a:srgbClr val="C00000"/>
          </a:solidFill>
          <a:ln/>
        </p:spPr>
      </p:sp>
      <p:pic>
        <p:nvPicPr>
          <p:cNvPr id="22" name="icon time" descr="preencoded.png">    </p:cNvPr>
          <p:cNvPicPr>
            <a:picLocks noChangeAspect="1"/>
          </p:cNvPicPr>
          <p:nvPr/>
        </p:nvPicPr>
        <p:blipFill>
          <a:blip r:embed="rId4"/>
          <a:stretch>
            <a:fillRect/>
          </a:stretch>
        </p:blipFill>
        <p:spPr>
          <a:xfrm>
            <a:off x="4816815" y="5316687"/>
            <a:ext cx="339425" cy="339425"/>
          </a:xfrm>
          <a:prstGeom prst="rect">
            <a:avLst/>
          </a:prstGeom>
        </p:spPr>
      </p:pic>
      <p:sp>
        <p:nvSpPr>
          <p:cNvPr id="23" name="value time"/>
          <p:cNvSpPr txBox="1"/>
          <p:nvPr/>
        </p:nvSpPr>
        <p:spPr>
          <a:xfrm>
            <a:off x="5471160" y="4956048"/>
            <a:ext cx="2115312" cy="548640"/>
          </a:xfrm>
          <a:prstGeom prst="rect">
            <a:avLst/>
          </a:prstGeom>
          <a:noFill/>
          <a:ln/>
        </p:spPr>
        <p:txBody>
          <a:bodyPr wrap="square" lIns="0" tIns="0" rIns="0" bIns="0" rtlCol="0" anchor="ctr"/>
          <a:lstStyle/>
          <a:p>
            <a:pPr indent="0" marL="0">
              <a:buNone/>
            </a:pPr>
            <a:r>
              <a:rPr lang="en-US" sz="2800" b="1" dirty="0">
                <a:solidFill>
                  <a:srgbClr val="C00000"/>
                </a:solidFill>
              </a:rPr>
              <a:t>20 min – 2 h</a:t>
            </a:r>
            <a:endParaRPr lang="en-US" sz="2800" dirty="0"/>
          </a:p>
        </p:txBody>
      </p:sp>
      <p:sp>
        <p:nvSpPr>
          <p:cNvPr id="24" name="label time"/>
          <p:cNvSpPr txBox="1"/>
          <p:nvPr/>
        </p:nvSpPr>
        <p:spPr>
          <a:xfrm>
            <a:off x="5471160" y="5504688"/>
            <a:ext cx="2115312" cy="548640"/>
          </a:xfrm>
          <a:prstGeom prst="rect">
            <a:avLst/>
          </a:prstGeom>
          <a:noFill/>
          <a:ln/>
        </p:spPr>
        <p:txBody>
          <a:bodyPr wrap="square" lIns="0" tIns="0" rIns="0" bIns="0" rtlCol="0" anchor="t"/>
          <a:lstStyle/>
          <a:p>
            <a:pPr indent="0" marL="0">
              <a:buNone/>
            </a:pPr>
            <a:r>
              <a:rPr lang="en-US" sz="1150" b="1" dirty="0">
                <a:solidFill>
                  <a:srgbClr val="C00000"/>
                </a:solidFill>
              </a:rPr>
              <a:t>of engineering time </a:t>
            </a:r>
            <a:r>
              <a:rPr lang="en-US" sz="1150" dirty="0">
                <a:solidFill>
                  <a:srgbClr val="52514E"/>
                </a:solidFill>
              </a:rPr>
              <a:t>for each assembly, designed one by one</a:t>
            </a:r>
            <a:endParaRPr lang="en-US" sz="1150" dirty="0"/>
          </a:p>
        </p:txBody>
      </p:sp>
      <p:sp>
        <p:nvSpPr>
          <p:cNvPr id="25" name="op equals"/>
          <p:cNvSpPr/>
          <p:nvPr/>
        </p:nvSpPr>
        <p:spPr>
          <a:xfrm>
            <a:off x="7860792" y="5294376"/>
            <a:ext cx="384048" cy="384048"/>
          </a:xfrm>
          <a:prstGeom prst="ellipse">
            <a:avLst/>
          </a:prstGeom>
          <a:solidFill>
            <a:srgbClr val="FFFFFF"/>
          </a:solidFill>
          <a:ln w="19050">
            <a:solidFill>
              <a:srgbClr val="C00000"/>
            </a:solidFill>
            <a:prstDash val="solid"/>
          </a:ln>
        </p:spPr>
      </p:sp>
      <p:sp>
        <p:nvSpPr>
          <p:cNvPr id="26" name="op text equals"/>
          <p:cNvSpPr txBox="1"/>
          <p:nvPr/>
        </p:nvSpPr>
        <p:spPr>
          <a:xfrm>
            <a:off x="7860792" y="5294376"/>
            <a:ext cx="384048" cy="384048"/>
          </a:xfrm>
          <a:prstGeom prst="rect">
            <a:avLst/>
          </a:prstGeom>
          <a:noFill/>
          <a:ln/>
        </p:spPr>
        <p:txBody>
          <a:bodyPr wrap="square" lIns="0" tIns="0" rIns="0" bIns="0" rtlCol="0" anchor="ctr"/>
          <a:lstStyle/>
          <a:p>
            <a:pPr algn="ctr" indent="0" marL="0">
              <a:buNone/>
            </a:pPr>
            <a:r>
              <a:rPr lang="en-US" sz="1800" b="1" dirty="0">
                <a:solidFill>
                  <a:srgbClr val="C00000"/>
                </a:solidFill>
              </a:rPr>
              <a:t>=</a:t>
            </a:r>
            <a:endParaRPr lang="en-US" sz="1800" dirty="0"/>
          </a:p>
        </p:txBody>
      </p:sp>
      <p:sp>
        <p:nvSpPr>
          <p:cNvPr id="27" name="tile effort"/>
          <p:cNvSpPr/>
          <p:nvPr/>
        </p:nvSpPr>
        <p:spPr>
          <a:xfrm>
            <a:off x="8382000" y="4892040"/>
            <a:ext cx="3258312" cy="1188720"/>
          </a:xfrm>
          <a:prstGeom prst="roundRect">
            <a:avLst>
              <a:gd name="adj" fmla="val 5385"/>
            </a:avLst>
          </a:prstGeom>
          <a:solidFill>
            <a:schemeClr val="bg2"/>
          </a:solidFill>
          <a:ln/>
        </p:spPr>
      </p:sp>
      <p:sp>
        <p:nvSpPr>
          <p:cNvPr id="28" name="icon ring effort"/>
          <p:cNvSpPr/>
          <p:nvPr/>
        </p:nvSpPr>
        <p:spPr>
          <a:xfrm>
            <a:off x="8610600" y="5193792"/>
            <a:ext cx="585216" cy="585216"/>
          </a:xfrm>
          <a:prstGeom prst="ellipse">
            <a:avLst/>
          </a:prstGeom>
          <a:solidFill>
            <a:srgbClr val="C00000"/>
          </a:solidFill>
          <a:ln/>
        </p:spPr>
      </p:sp>
      <p:pic>
        <p:nvPicPr>
          <p:cNvPr id="29" name="icon effort" descr="preencoded.png">    </p:cNvPr>
          <p:cNvPicPr>
            <a:picLocks noChangeAspect="1"/>
          </p:cNvPicPr>
          <p:nvPr/>
        </p:nvPicPr>
        <p:blipFill>
          <a:blip r:embed="rId5"/>
          <a:stretch>
            <a:fillRect/>
          </a:stretch>
        </p:blipFill>
        <p:spPr>
          <a:xfrm>
            <a:off x="8733495" y="5316687"/>
            <a:ext cx="339425" cy="339425"/>
          </a:xfrm>
          <a:prstGeom prst="rect">
            <a:avLst/>
          </a:prstGeom>
        </p:spPr>
      </p:pic>
      <p:sp>
        <p:nvSpPr>
          <p:cNvPr id="30" name="value effort"/>
          <p:cNvSpPr txBox="1"/>
          <p:nvPr/>
        </p:nvSpPr>
        <p:spPr>
          <a:xfrm>
            <a:off x="9387840" y="4956048"/>
            <a:ext cx="2115312" cy="548640"/>
          </a:xfrm>
          <a:prstGeom prst="rect">
            <a:avLst/>
          </a:prstGeom>
          <a:noFill/>
          <a:ln/>
        </p:spPr>
        <p:txBody>
          <a:bodyPr wrap="square" lIns="0" tIns="0" rIns="0" bIns="0" rtlCol="0" anchor="ctr"/>
          <a:lstStyle/>
          <a:p>
            <a:pPr indent="0" marL="0">
              <a:buNone/>
            </a:pPr>
            <a:r>
              <a:rPr lang="en-US" sz="2800" b="1" dirty="0">
                <a:solidFill>
                  <a:srgbClr val="C00000"/>
                </a:solidFill>
              </a:rPr>
              <a:t>≈ 25 %</a:t>
            </a:r>
            <a:endParaRPr lang="en-US" sz="2800" dirty="0"/>
          </a:p>
        </p:txBody>
      </p:sp>
      <p:sp>
        <p:nvSpPr>
          <p:cNvPr id="31" name="label effort"/>
          <p:cNvSpPr txBox="1"/>
          <p:nvPr/>
        </p:nvSpPr>
        <p:spPr>
          <a:xfrm>
            <a:off x="9387840" y="5504688"/>
            <a:ext cx="2115312" cy="548640"/>
          </a:xfrm>
          <a:prstGeom prst="rect">
            <a:avLst/>
          </a:prstGeom>
          <a:noFill/>
          <a:ln/>
        </p:spPr>
        <p:txBody>
          <a:bodyPr wrap="square" lIns="0" tIns="0" rIns="0" bIns="0" rtlCol="0" anchor="t"/>
          <a:lstStyle/>
          <a:p>
            <a:pPr indent="0" marL="0">
              <a:buNone/>
            </a:pPr>
            <a:r>
              <a:rPr lang="en-US" sz="1150" b="1" dirty="0">
                <a:solidFill>
                  <a:srgbClr val="C00000"/>
                </a:solidFill>
              </a:rPr>
              <a:t>of MEP design effort, </a:t>
            </a:r>
            <a:r>
              <a:rPr lang="en-US" sz="1150" dirty="0">
                <a:solidFill>
                  <a:srgbClr val="52514E"/>
                </a:solidFill>
              </a:rPr>
              <a:t>about $600k of engineering cost per project</a:t>
            </a:r>
            <a:endParaRPr lang="en-US" sz="1150" dirty="0"/>
          </a:p>
        </p:txBody>
      </p:sp>
      <p:sp>
        <p:nvSpPr>
          <p:cNvPr id="32" name="references"/>
          <p:cNvSpPr txBox="1"/>
          <p:nvPr/>
        </p:nvSpPr>
        <p:spPr>
          <a:xfrm>
            <a:off x="548640" y="6163056"/>
            <a:ext cx="11091672" cy="237744"/>
          </a:xfrm>
          <a:prstGeom prst="rect">
            <a:avLst/>
          </a:prstGeom>
          <a:noFill/>
          <a:ln/>
        </p:spPr>
        <p:txBody>
          <a:bodyPr wrap="square" lIns="0" tIns="0" rIns="0" bIns="0" rtlCol="0" anchor="b"/>
          <a:lstStyle/>
          <a:p>
            <a:pPr indent="0" marL="0">
              <a:buNone/>
            </a:pPr>
            <a:r>
              <a:rPr lang="en-US" sz="900" dirty="0">
                <a:solidFill>
                  <a:srgbClr val="52514E"/>
                </a:solidFill>
              </a:rPr>
              <a:t>Approximate practitioner estimates [1].   [1] Pedrollo, Graeber &amp; Fischer (2026), Feasibility-aware sequential synthesis of structural support assemblies, ISARC 2026</a:t>
            </a:r>
            <a:endParaRPr lang="en-US" sz="900" dirty="0"/>
          </a:p>
        </p:txBody>
      </p:sp>
      <p:sp>
        <p:nvSpPr>
          <p:cNvPr id="33"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An SSA designer turns one MEP cross-section into a feasible structural support assembly</a:t>
            </a:r>
            <a:endParaRPr lang="en-US" sz="2600" dirty="0"/>
          </a:p>
        </p:txBody>
      </p:sp>
      <p:sp>
        <p:nvSpPr>
          <p:cNvPr id="3" name="frame in"/>
          <p:cNvSpPr/>
          <p:nvPr/>
        </p:nvSpPr>
        <p:spPr>
          <a:xfrm>
            <a:off x="548640" y="1600200"/>
            <a:ext cx="5029200" cy="3977640"/>
          </a:xfrm>
          <a:prstGeom prst="roundRect">
            <a:avLst>
              <a:gd name="adj" fmla="val 1379"/>
            </a:avLst>
          </a:prstGeom>
          <a:solidFill>
            <a:srgbClr val="FFFFFF"/>
          </a:solidFill>
          <a:ln w="15875">
            <a:solidFill>
              <a:schemeClr val="accent1"/>
            </a:solidFill>
            <a:prstDash val="solid"/>
          </a:ln>
        </p:spPr>
      </p:sp>
      <p:sp>
        <p:nvSpPr>
          <p:cNvPr id="4" name="tab context"/>
          <p:cNvSpPr/>
          <p:nvPr/>
        </p:nvSpPr>
        <p:spPr>
          <a:xfrm>
            <a:off x="777240" y="1444752"/>
            <a:ext cx="2377440" cy="310896"/>
          </a:xfrm>
          <a:prstGeom prst="roundRect">
            <a:avLst>
              <a:gd name="adj" fmla="val 50000"/>
            </a:avLst>
          </a:prstGeom>
          <a:solidFill>
            <a:schemeClr val="accent1"/>
          </a:solidFill>
          <a:ln/>
        </p:spPr>
      </p:sp>
      <p:sp>
        <p:nvSpPr>
          <p:cNvPr id="5" name="tab text context"/>
          <p:cNvSpPr txBox="1"/>
          <p:nvPr/>
        </p:nvSpPr>
        <p:spPr>
          <a:xfrm>
            <a:off x="777240" y="1444752"/>
            <a:ext cx="2377440" cy="310896"/>
          </a:xfrm>
          <a:prstGeom prst="rect">
            <a:avLst/>
          </a:prstGeom>
          <a:noFill/>
          <a:ln/>
        </p:spPr>
        <p:txBody>
          <a:bodyPr wrap="square" lIns="0" tIns="0" rIns="0" bIns="0" rtlCol="0" anchor="ctr"/>
          <a:lstStyle/>
          <a:p>
            <a:pPr algn="ctr" indent="0" marL="0">
              <a:buNone/>
            </a:pPr>
            <a:r>
              <a:rPr lang="en-US" sz="1100" b="1" dirty="0">
                <a:solidFill>
                  <a:srgbClr val="FFFFFF"/>
                </a:solidFill>
              </a:rPr>
              <a:t>CONTEXT  ·  the brief</a:t>
            </a:r>
            <a:endParaRPr lang="en-US" sz="1100" dirty="0"/>
          </a:p>
        </p:txBody>
      </p:sp>
      <p:sp>
        <p:nvSpPr>
          <p:cNvPr id="6" name="ceiling in"/>
          <p:cNvSpPr/>
          <p:nvPr/>
        </p:nvSpPr>
        <p:spPr>
          <a:xfrm>
            <a:off x="777240" y="1965960"/>
            <a:ext cx="4572000" cy="384048"/>
          </a:xfrm>
          <a:prstGeom prst="rect">
            <a:avLst/>
          </a:prstGeom>
          <a:solidFill>
            <a:srgbClr val="EEF1F4"/>
          </a:solidFill>
          <a:ln w="9525">
            <a:solidFill>
              <a:srgbClr val="52514E"/>
            </a:solidFill>
            <a:prstDash val="solid"/>
          </a:ln>
        </p:spPr>
      </p:sp>
      <p:sp>
        <p:nvSpPr>
          <p:cNvPr id="7" name="hatch in 0.8"/>
          <p:cNvSpPr/>
          <p:nvPr/>
        </p:nvSpPr>
        <p:spPr>
          <a:xfrm flipV="1">
            <a:off x="777240" y="1965960"/>
            <a:ext cx="274320" cy="384048"/>
          </a:xfrm>
          <a:prstGeom prst="line">
            <a:avLst/>
          </a:prstGeom>
          <a:noFill/>
          <a:ln w="6350">
            <a:solidFill>
              <a:srgbClr val="898781"/>
            </a:solidFill>
            <a:prstDash val="solid"/>
          </a:ln>
        </p:spPr>
      </p:sp>
      <p:sp>
        <p:nvSpPr>
          <p:cNvPr id="8" name="hatch in 1.1"/>
          <p:cNvSpPr/>
          <p:nvPr/>
        </p:nvSpPr>
        <p:spPr>
          <a:xfrm flipV="1">
            <a:off x="1051560" y="1965960"/>
            <a:ext cx="274320" cy="384048"/>
          </a:xfrm>
          <a:prstGeom prst="line">
            <a:avLst/>
          </a:prstGeom>
          <a:noFill/>
          <a:ln w="6350">
            <a:solidFill>
              <a:srgbClr val="898781"/>
            </a:solidFill>
            <a:prstDash val="solid"/>
          </a:ln>
        </p:spPr>
      </p:sp>
      <p:sp>
        <p:nvSpPr>
          <p:cNvPr id="9" name="hatch in 1.4"/>
          <p:cNvSpPr/>
          <p:nvPr/>
        </p:nvSpPr>
        <p:spPr>
          <a:xfrm flipV="1">
            <a:off x="1325880" y="1965960"/>
            <a:ext cx="274320" cy="384048"/>
          </a:xfrm>
          <a:prstGeom prst="line">
            <a:avLst/>
          </a:prstGeom>
          <a:noFill/>
          <a:ln w="6350">
            <a:solidFill>
              <a:srgbClr val="898781"/>
            </a:solidFill>
            <a:prstDash val="solid"/>
          </a:ln>
        </p:spPr>
      </p:sp>
      <p:sp>
        <p:nvSpPr>
          <p:cNvPr id="10" name="hatch in 1.8"/>
          <p:cNvSpPr/>
          <p:nvPr/>
        </p:nvSpPr>
        <p:spPr>
          <a:xfrm flipV="1">
            <a:off x="1600200" y="1965960"/>
            <a:ext cx="274320" cy="384048"/>
          </a:xfrm>
          <a:prstGeom prst="line">
            <a:avLst/>
          </a:prstGeom>
          <a:noFill/>
          <a:ln w="6350">
            <a:solidFill>
              <a:srgbClr val="898781"/>
            </a:solidFill>
            <a:prstDash val="solid"/>
          </a:ln>
        </p:spPr>
      </p:sp>
      <p:sp>
        <p:nvSpPr>
          <p:cNvPr id="11" name="hatch in 2.0"/>
          <p:cNvSpPr/>
          <p:nvPr/>
        </p:nvSpPr>
        <p:spPr>
          <a:xfrm flipV="1">
            <a:off x="1874520" y="1965960"/>
            <a:ext cx="274320" cy="384048"/>
          </a:xfrm>
          <a:prstGeom prst="line">
            <a:avLst/>
          </a:prstGeom>
          <a:noFill/>
          <a:ln w="6350">
            <a:solidFill>
              <a:srgbClr val="898781"/>
            </a:solidFill>
            <a:prstDash val="solid"/>
          </a:ln>
        </p:spPr>
      </p:sp>
      <p:sp>
        <p:nvSpPr>
          <p:cNvPr id="12" name="hatch in 2.3"/>
          <p:cNvSpPr/>
          <p:nvPr/>
        </p:nvSpPr>
        <p:spPr>
          <a:xfrm flipV="1">
            <a:off x="2148840" y="1965960"/>
            <a:ext cx="274320" cy="384048"/>
          </a:xfrm>
          <a:prstGeom prst="line">
            <a:avLst/>
          </a:prstGeom>
          <a:noFill/>
          <a:ln w="6350">
            <a:solidFill>
              <a:srgbClr val="898781"/>
            </a:solidFill>
            <a:prstDash val="solid"/>
          </a:ln>
        </p:spPr>
      </p:sp>
      <p:sp>
        <p:nvSpPr>
          <p:cNvPr id="13" name="hatch in 2.6"/>
          <p:cNvSpPr/>
          <p:nvPr/>
        </p:nvSpPr>
        <p:spPr>
          <a:xfrm flipV="1">
            <a:off x="2423160" y="1965960"/>
            <a:ext cx="274320" cy="384048"/>
          </a:xfrm>
          <a:prstGeom prst="line">
            <a:avLst/>
          </a:prstGeom>
          <a:noFill/>
          <a:ln w="6350">
            <a:solidFill>
              <a:srgbClr val="898781"/>
            </a:solidFill>
            <a:prstDash val="solid"/>
          </a:ln>
        </p:spPr>
      </p:sp>
      <p:sp>
        <p:nvSpPr>
          <p:cNvPr id="14" name="hatch in 2.9"/>
          <p:cNvSpPr/>
          <p:nvPr/>
        </p:nvSpPr>
        <p:spPr>
          <a:xfrm flipV="1">
            <a:off x="2697480" y="1965960"/>
            <a:ext cx="274320" cy="384048"/>
          </a:xfrm>
          <a:prstGeom prst="line">
            <a:avLst/>
          </a:prstGeom>
          <a:noFill/>
          <a:ln w="6350">
            <a:solidFill>
              <a:srgbClr val="898781"/>
            </a:solidFill>
            <a:prstDash val="solid"/>
          </a:ln>
        </p:spPr>
      </p:sp>
      <p:sp>
        <p:nvSpPr>
          <p:cNvPr id="15" name="hatch in 3.2"/>
          <p:cNvSpPr/>
          <p:nvPr/>
        </p:nvSpPr>
        <p:spPr>
          <a:xfrm flipV="1">
            <a:off x="2971800" y="1965960"/>
            <a:ext cx="274320" cy="384048"/>
          </a:xfrm>
          <a:prstGeom prst="line">
            <a:avLst/>
          </a:prstGeom>
          <a:noFill/>
          <a:ln w="6350">
            <a:solidFill>
              <a:srgbClr val="898781"/>
            </a:solidFill>
            <a:prstDash val="solid"/>
          </a:ln>
        </p:spPr>
      </p:sp>
      <p:sp>
        <p:nvSpPr>
          <p:cNvPr id="16" name="hatch in 3.5"/>
          <p:cNvSpPr/>
          <p:nvPr/>
        </p:nvSpPr>
        <p:spPr>
          <a:xfrm flipV="1">
            <a:off x="3246120" y="1965960"/>
            <a:ext cx="274320" cy="384048"/>
          </a:xfrm>
          <a:prstGeom prst="line">
            <a:avLst/>
          </a:prstGeom>
          <a:noFill/>
          <a:ln w="6350">
            <a:solidFill>
              <a:srgbClr val="898781"/>
            </a:solidFill>
            <a:prstDash val="solid"/>
          </a:ln>
        </p:spPr>
      </p:sp>
      <p:sp>
        <p:nvSpPr>
          <p:cNvPr id="17" name="hatch in 3.8"/>
          <p:cNvSpPr/>
          <p:nvPr/>
        </p:nvSpPr>
        <p:spPr>
          <a:xfrm flipV="1">
            <a:off x="3520440" y="1965960"/>
            <a:ext cx="274320" cy="384048"/>
          </a:xfrm>
          <a:prstGeom prst="line">
            <a:avLst/>
          </a:prstGeom>
          <a:noFill/>
          <a:ln w="6350">
            <a:solidFill>
              <a:srgbClr val="898781"/>
            </a:solidFill>
            <a:prstDash val="solid"/>
          </a:ln>
        </p:spPr>
      </p:sp>
      <p:sp>
        <p:nvSpPr>
          <p:cNvPr id="18" name="hatch in 4.1"/>
          <p:cNvSpPr/>
          <p:nvPr/>
        </p:nvSpPr>
        <p:spPr>
          <a:xfrm flipV="1">
            <a:off x="3794760" y="1965960"/>
            <a:ext cx="274320" cy="384048"/>
          </a:xfrm>
          <a:prstGeom prst="line">
            <a:avLst/>
          </a:prstGeom>
          <a:noFill/>
          <a:ln w="6350">
            <a:solidFill>
              <a:srgbClr val="898781"/>
            </a:solidFill>
            <a:prstDash val="solid"/>
          </a:ln>
        </p:spPr>
      </p:sp>
      <p:sp>
        <p:nvSpPr>
          <p:cNvPr id="19" name="hatch in 4.4"/>
          <p:cNvSpPr/>
          <p:nvPr/>
        </p:nvSpPr>
        <p:spPr>
          <a:xfrm flipV="1">
            <a:off x="4069080" y="1965960"/>
            <a:ext cx="274320" cy="384048"/>
          </a:xfrm>
          <a:prstGeom prst="line">
            <a:avLst/>
          </a:prstGeom>
          <a:noFill/>
          <a:ln w="6350">
            <a:solidFill>
              <a:srgbClr val="898781"/>
            </a:solidFill>
            <a:prstDash val="solid"/>
          </a:ln>
        </p:spPr>
      </p:sp>
      <p:sp>
        <p:nvSpPr>
          <p:cNvPr id="20" name="hatch in 4.7"/>
          <p:cNvSpPr/>
          <p:nvPr/>
        </p:nvSpPr>
        <p:spPr>
          <a:xfrm flipV="1">
            <a:off x="4343400" y="1965960"/>
            <a:ext cx="274320" cy="384048"/>
          </a:xfrm>
          <a:prstGeom prst="line">
            <a:avLst/>
          </a:prstGeom>
          <a:noFill/>
          <a:ln w="6350">
            <a:solidFill>
              <a:srgbClr val="898781"/>
            </a:solidFill>
            <a:prstDash val="solid"/>
          </a:ln>
        </p:spPr>
      </p:sp>
      <p:sp>
        <p:nvSpPr>
          <p:cNvPr id="21" name="hatch in 5.0"/>
          <p:cNvSpPr/>
          <p:nvPr/>
        </p:nvSpPr>
        <p:spPr>
          <a:xfrm flipV="1">
            <a:off x="4617720" y="1965960"/>
            <a:ext cx="274320" cy="384048"/>
          </a:xfrm>
          <a:prstGeom prst="line">
            <a:avLst/>
          </a:prstGeom>
          <a:noFill/>
          <a:ln w="6350">
            <a:solidFill>
              <a:srgbClr val="898781"/>
            </a:solidFill>
            <a:prstDash val="solid"/>
          </a:ln>
        </p:spPr>
      </p:sp>
      <p:sp>
        <p:nvSpPr>
          <p:cNvPr id="22" name="hatch in 5.3"/>
          <p:cNvSpPr/>
          <p:nvPr/>
        </p:nvSpPr>
        <p:spPr>
          <a:xfrm flipV="1">
            <a:off x="4892040" y="1965960"/>
            <a:ext cx="274320" cy="384048"/>
          </a:xfrm>
          <a:prstGeom prst="line">
            <a:avLst/>
          </a:prstGeom>
          <a:noFill/>
          <a:ln w="6350">
            <a:solidFill>
              <a:srgbClr val="898781"/>
            </a:solidFill>
            <a:prstDash val="solid"/>
          </a:ln>
        </p:spPr>
      </p:sp>
      <p:sp>
        <p:nvSpPr>
          <p:cNvPr id="23" name="ceiling label in"/>
          <p:cNvSpPr txBox="1"/>
          <p:nvPr/>
        </p:nvSpPr>
        <p:spPr>
          <a:xfrm>
            <a:off x="2148840" y="2029968"/>
            <a:ext cx="1828800" cy="256032"/>
          </a:xfrm>
          <a:prstGeom prst="rect">
            <a:avLst/>
          </a:prstGeom>
          <a:solidFill>
            <a:srgbClr val="FFFFFF"/>
          </a:solidFill>
          <a:ln/>
        </p:spPr>
        <p:txBody>
          <a:bodyPr wrap="square" lIns="0" tIns="0" rIns="0" bIns="0" rtlCol="0" anchor="ctr"/>
          <a:lstStyle/>
          <a:p>
            <a:pPr algn="ctr" indent="0" marL="0">
              <a:buNone/>
            </a:pPr>
            <a:r>
              <a:rPr lang="en-US" sz="1100" dirty="0">
                <a:solidFill>
                  <a:schemeClr val="tx1"/>
                </a:solidFill>
              </a:rPr>
              <a:t>Concrete slab, 200 mm</a:t>
            </a:r>
            <a:endParaRPr lang="en-US" sz="1100" dirty="0"/>
          </a:p>
        </p:txBody>
      </p:sp>
      <p:sp>
        <p:nvSpPr>
          <p:cNvPr id="24" name="duct in"/>
          <p:cNvSpPr/>
          <p:nvPr/>
        </p:nvSpPr>
        <p:spPr>
          <a:xfrm>
            <a:off x="1005840" y="3246120"/>
            <a:ext cx="1554480" cy="960120"/>
          </a:xfrm>
          <a:prstGeom prst="rect">
            <a:avLst/>
          </a:prstGeom>
          <a:solidFill>
            <a:srgbClr val="EEF1F4"/>
          </a:solidFill>
          <a:ln w="12700">
            <a:solidFill>
              <a:srgbClr val="52514E"/>
            </a:solidFill>
            <a:prstDash val="solid"/>
          </a:ln>
        </p:spPr>
      </p:sp>
      <p:sp>
        <p:nvSpPr>
          <p:cNvPr id="25" name="insulation in"/>
          <p:cNvSpPr/>
          <p:nvPr/>
        </p:nvSpPr>
        <p:spPr>
          <a:xfrm>
            <a:off x="2752344" y="3392424"/>
            <a:ext cx="896112" cy="896112"/>
          </a:xfrm>
          <a:prstGeom prst="ellipse">
            <a:avLst/>
          </a:prstGeom>
          <a:ln w="9525">
            <a:solidFill>
              <a:srgbClr val="52514E"/>
            </a:solidFill>
            <a:prstDash val="sysDash"/>
          </a:ln>
        </p:spPr>
      </p:sp>
      <p:sp>
        <p:nvSpPr>
          <p:cNvPr id="26" name="pipe a in"/>
          <p:cNvSpPr/>
          <p:nvPr/>
        </p:nvSpPr>
        <p:spPr>
          <a:xfrm>
            <a:off x="2834640" y="3474720"/>
            <a:ext cx="731520" cy="731520"/>
          </a:xfrm>
          <a:prstGeom prst="ellipse">
            <a:avLst/>
          </a:prstGeom>
          <a:solidFill>
            <a:srgbClr val="EEF1F4"/>
          </a:solidFill>
          <a:ln w="12700">
            <a:solidFill>
              <a:srgbClr val="52514E"/>
            </a:solidFill>
            <a:prstDash val="solid"/>
          </a:ln>
        </p:spPr>
      </p:sp>
      <p:sp>
        <p:nvSpPr>
          <p:cNvPr id="27" name="pipe b in"/>
          <p:cNvSpPr/>
          <p:nvPr/>
        </p:nvSpPr>
        <p:spPr>
          <a:xfrm>
            <a:off x="3840480" y="3749040"/>
            <a:ext cx="457200" cy="457200"/>
          </a:xfrm>
          <a:prstGeom prst="ellipse">
            <a:avLst/>
          </a:prstGeom>
          <a:solidFill>
            <a:srgbClr val="EEF1F4"/>
          </a:solidFill>
          <a:ln w="12700">
            <a:solidFill>
              <a:srgbClr val="52514E"/>
            </a:solidFill>
            <a:prstDash val="solid"/>
          </a:ln>
        </p:spPr>
      </p:sp>
      <p:sp>
        <p:nvSpPr>
          <p:cNvPr id="28" name="tray in"/>
          <p:cNvSpPr/>
          <p:nvPr/>
        </p:nvSpPr>
        <p:spPr>
          <a:xfrm>
            <a:off x="4434840" y="3913632"/>
            <a:ext cx="777240" cy="292608"/>
          </a:xfrm>
          <a:prstGeom prst="rect">
            <a:avLst/>
          </a:prstGeom>
          <a:solidFill>
            <a:srgbClr val="EEF1F4"/>
          </a:solidFill>
          <a:ln w="12700">
            <a:solidFill>
              <a:srgbClr val="52514E"/>
            </a:solidFill>
            <a:prstDash val="solid"/>
          </a:ln>
        </p:spPr>
      </p:sp>
      <p:sp>
        <p:nvSpPr>
          <p:cNvPr id="29" name="label duct"/>
          <p:cNvSpPr txBox="1"/>
          <p:nvPr/>
        </p:nvSpPr>
        <p:spPr>
          <a:xfrm>
            <a:off x="1005840" y="4279392"/>
            <a:ext cx="1554480" cy="237744"/>
          </a:xfrm>
          <a:prstGeom prst="rect">
            <a:avLst/>
          </a:prstGeom>
          <a:noFill/>
          <a:ln/>
        </p:spPr>
        <p:txBody>
          <a:bodyPr wrap="square" lIns="0" tIns="0" rIns="0" bIns="0" rtlCol="0" anchor="ctr"/>
          <a:lstStyle/>
          <a:p>
            <a:pPr algn="ctr" indent="0" marL="0">
              <a:buNone/>
            </a:pPr>
            <a:r>
              <a:rPr lang="en-US" sz="1050" dirty="0">
                <a:solidFill>
                  <a:srgbClr val="52514E"/>
                </a:solidFill>
              </a:rPr>
              <a:t>Duct 600 × 400</a:t>
            </a:r>
            <a:endParaRPr lang="en-US" sz="1050" dirty="0"/>
          </a:p>
        </p:txBody>
      </p:sp>
      <p:sp>
        <p:nvSpPr>
          <p:cNvPr id="30" name="label dn80"/>
          <p:cNvSpPr txBox="1"/>
          <p:nvPr/>
        </p:nvSpPr>
        <p:spPr>
          <a:xfrm>
            <a:off x="2560320" y="4279392"/>
            <a:ext cx="1371600" cy="237744"/>
          </a:xfrm>
          <a:prstGeom prst="rect">
            <a:avLst/>
          </a:prstGeom>
          <a:noFill/>
          <a:ln/>
        </p:spPr>
        <p:txBody>
          <a:bodyPr wrap="square" lIns="0" tIns="0" rIns="0" bIns="0" rtlCol="0" anchor="ctr"/>
          <a:lstStyle/>
          <a:p>
            <a:pPr algn="ctr" indent="0" marL="0">
              <a:buNone/>
            </a:pPr>
            <a:r>
              <a:rPr lang="en-US" sz="1050" dirty="0">
                <a:solidFill>
                  <a:srgbClr val="52514E"/>
                </a:solidFill>
              </a:rPr>
              <a:t>DN80, insulated</a:t>
            </a:r>
            <a:endParaRPr lang="en-US" sz="1050" dirty="0"/>
          </a:p>
        </p:txBody>
      </p:sp>
      <p:sp>
        <p:nvSpPr>
          <p:cNvPr id="31" name="label dn40"/>
          <p:cNvSpPr txBox="1"/>
          <p:nvPr/>
        </p:nvSpPr>
        <p:spPr>
          <a:xfrm>
            <a:off x="3749040" y="4279392"/>
            <a:ext cx="640080" cy="237744"/>
          </a:xfrm>
          <a:prstGeom prst="rect">
            <a:avLst/>
          </a:prstGeom>
          <a:noFill/>
          <a:ln/>
        </p:spPr>
        <p:txBody>
          <a:bodyPr wrap="square" lIns="0" tIns="0" rIns="0" bIns="0" rtlCol="0" anchor="ctr"/>
          <a:lstStyle/>
          <a:p>
            <a:pPr algn="ctr" indent="0" marL="0">
              <a:buNone/>
            </a:pPr>
            <a:r>
              <a:rPr lang="en-US" sz="1050" dirty="0">
                <a:solidFill>
                  <a:srgbClr val="52514E"/>
                </a:solidFill>
              </a:rPr>
              <a:t>DN40</a:t>
            </a:r>
            <a:endParaRPr lang="en-US" sz="1050" dirty="0"/>
          </a:p>
        </p:txBody>
      </p:sp>
      <p:sp>
        <p:nvSpPr>
          <p:cNvPr id="32" name="label tray"/>
          <p:cNvSpPr txBox="1"/>
          <p:nvPr/>
        </p:nvSpPr>
        <p:spPr>
          <a:xfrm>
            <a:off x="4297680" y="4279392"/>
            <a:ext cx="1051560" cy="237744"/>
          </a:xfrm>
          <a:prstGeom prst="rect">
            <a:avLst/>
          </a:prstGeom>
          <a:noFill/>
          <a:ln/>
        </p:spPr>
        <p:txBody>
          <a:bodyPr wrap="square" lIns="0" tIns="0" rIns="0" bIns="0" rtlCol="0" anchor="ctr"/>
          <a:lstStyle/>
          <a:p>
            <a:pPr algn="ctr" indent="0" marL="0">
              <a:buNone/>
            </a:pPr>
            <a:r>
              <a:rPr lang="en-US" sz="1050" dirty="0">
                <a:solidFill>
                  <a:srgbClr val="52514E"/>
                </a:solidFill>
              </a:rPr>
              <a:t>Cable tray 300</a:t>
            </a:r>
            <a:endParaRPr lang="en-US" sz="1050" dirty="0"/>
          </a:p>
        </p:txBody>
      </p:sp>
      <p:sp>
        <p:nvSpPr>
          <p:cNvPr id="33" name="in note"/>
          <p:cNvSpPr txBox="1"/>
          <p:nvPr/>
        </p:nvSpPr>
        <p:spPr>
          <a:xfrm>
            <a:off x="777240" y="4919472"/>
            <a:ext cx="4572000" cy="502920"/>
          </a:xfrm>
          <a:prstGeom prst="rect">
            <a:avLst/>
          </a:prstGeom>
          <a:noFill/>
          <a:ln/>
        </p:spPr>
        <p:txBody>
          <a:bodyPr wrap="square" lIns="0" tIns="0" rIns="0" bIns="0" rtlCol="0" anchor="ctr"/>
          <a:lstStyle/>
          <a:p>
            <a:pPr indent="0" marL="0">
              <a:buNone/>
            </a:pPr>
            <a:r>
              <a:rPr lang="en-US" sz="1100" dirty="0">
                <a:solidFill>
                  <a:srgbClr val="52514E"/>
                </a:solidFill>
              </a:rPr>
              <a:t>Every element with its kind, trade, size, insulation, position and load per metre. Nothing else.</a:t>
            </a:r>
            <a:endParaRPr lang="en-US" sz="1100" dirty="0"/>
          </a:p>
        </p:txBody>
      </p:sp>
      <p:sp>
        <p:nvSpPr>
          <p:cNvPr id="34" name="arrow in"/>
          <p:cNvSpPr/>
          <p:nvPr/>
        </p:nvSpPr>
        <p:spPr>
          <a:xfrm>
            <a:off x="5650992" y="3589020"/>
            <a:ext cx="123444" cy="0"/>
          </a:xfrm>
          <a:prstGeom prst="line">
            <a:avLst/>
          </a:prstGeom>
          <a:noFill/>
          <a:ln w="19050">
            <a:solidFill>
              <a:srgbClr val="52514E"/>
            </a:solidFill>
            <a:prstDash val="solid"/>
          </a:ln>
        </p:spPr>
      </p:sp>
      <p:sp>
        <p:nvSpPr>
          <p:cNvPr id="35" name="arrow out"/>
          <p:cNvSpPr/>
          <p:nvPr/>
        </p:nvSpPr>
        <p:spPr>
          <a:xfrm>
            <a:off x="6414516" y="3589020"/>
            <a:ext cx="123444" cy="0"/>
          </a:xfrm>
          <a:prstGeom prst="line">
            <a:avLst/>
          </a:prstGeom>
          <a:noFill/>
          <a:ln w="19050">
            <a:solidFill>
              <a:srgbClr val="52514E"/>
            </a:solidFill>
            <a:prstDash val="solid"/>
            <a:tailEnd type="triangle"/>
          </a:ln>
        </p:spPr>
      </p:sp>
      <p:sp>
        <p:nvSpPr>
          <p:cNvPr id="36" name="icon ring designer"/>
          <p:cNvSpPr/>
          <p:nvPr/>
        </p:nvSpPr>
        <p:spPr>
          <a:xfrm>
            <a:off x="5774436" y="3268980"/>
            <a:ext cx="640080" cy="640080"/>
          </a:xfrm>
          <a:prstGeom prst="ellipse">
            <a:avLst/>
          </a:prstGeom>
          <a:solidFill>
            <a:schemeClr val="accent1"/>
          </a:solidFill>
          <a:ln/>
        </p:spPr>
      </p:sp>
      <p:pic>
        <p:nvPicPr>
          <p:cNvPr id="37" name="icon designer" descr="preencoded.png">    </p:cNvPr>
          <p:cNvPicPr>
            <a:picLocks noChangeAspect="1"/>
          </p:cNvPicPr>
          <p:nvPr/>
        </p:nvPicPr>
        <p:blipFill>
          <a:blip r:embed="rId1"/>
          <a:stretch>
            <a:fillRect/>
          </a:stretch>
        </p:blipFill>
        <p:spPr>
          <a:xfrm>
            <a:off x="5908853" y="3403397"/>
            <a:ext cx="371246" cy="371246"/>
          </a:xfrm>
          <a:prstGeom prst="rect">
            <a:avLst/>
          </a:prstGeom>
        </p:spPr>
      </p:pic>
      <p:sp>
        <p:nvSpPr>
          <p:cNvPr id="38" name="designer label"/>
          <p:cNvSpPr txBox="1"/>
          <p:nvPr/>
        </p:nvSpPr>
        <p:spPr>
          <a:xfrm>
            <a:off x="5545836" y="2958084"/>
            <a:ext cx="1097280" cy="237744"/>
          </a:xfrm>
          <a:prstGeom prst="rect">
            <a:avLst/>
          </a:prstGeom>
          <a:noFill/>
          <a:ln/>
        </p:spPr>
        <p:txBody>
          <a:bodyPr wrap="square" lIns="0" tIns="0" rIns="0" bIns="0" rtlCol="0" anchor="ctr"/>
          <a:lstStyle/>
          <a:p>
            <a:pPr algn="ctr" indent="0" marL="0">
              <a:buNone/>
            </a:pPr>
            <a:r>
              <a:rPr lang="en-US" sz="1050" b="1" dirty="0">
                <a:solidFill>
                  <a:schemeClr val="tx1"/>
                </a:solidFill>
              </a:rPr>
              <a:t>SSA designer</a:t>
            </a:r>
            <a:endParaRPr lang="en-US" sz="1050" dirty="0"/>
          </a:p>
        </p:txBody>
      </p:sp>
      <p:sp>
        <p:nvSpPr>
          <p:cNvPr id="39" name="designer sub"/>
          <p:cNvSpPr txBox="1"/>
          <p:nvPr/>
        </p:nvSpPr>
        <p:spPr>
          <a:xfrm>
            <a:off x="5591556" y="3963924"/>
            <a:ext cx="1005840" cy="237744"/>
          </a:xfrm>
          <a:prstGeom prst="rect">
            <a:avLst/>
          </a:prstGeom>
          <a:noFill/>
          <a:ln/>
        </p:spPr>
        <p:txBody>
          <a:bodyPr wrap="square" lIns="0" tIns="0" rIns="0" bIns="0" rtlCol="0" anchor="ctr"/>
          <a:lstStyle/>
          <a:p>
            <a:pPr algn="ctr" indent="0" marL="0">
              <a:buNone/>
            </a:pPr>
            <a:r>
              <a:rPr lang="en-US" sz="1050" dirty="0">
                <a:solidFill>
                  <a:srgbClr val="52514E"/>
                </a:solidFill>
              </a:rPr>
              <a:t>from a catalog</a:t>
            </a:r>
            <a:endParaRPr lang="en-US" sz="1050" dirty="0"/>
          </a:p>
        </p:txBody>
      </p:sp>
      <p:sp>
        <p:nvSpPr>
          <p:cNvPr id="40" name="frame out"/>
          <p:cNvSpPr/>
          <p:nvPr/>
        </p:nvSpPr>
        <p:spPr>
          <a:xfrm>
            <a:off x="6611112" y="1600200"/>
            <a:ext cx="5029200" cy="3977640"/>
          </a:xfrm>
          <a:prstGeom prst="roundRect">
            <a:avLst>
              <a:gd name="adj" fmla="val 1379"/>
            </a:avLst>
          </a:prstGeom>
          <a:solidFill>
            <a:srgbClr val="FFFFFF"/>
          </a:solidFill>
          <a:ln w="15875">
            <a:solidFill>
              <a:srgbClr val="1F2933"/>
            </a:solidFill>
            <a:prstDash val="solid"/>
          </a:ln>
        </p:spPr>
      </p:sp>
      <p:sp>
        <p:nvSpPr>
          <p:cNvPr id="41" name="tab assembly"/>
          <p:cNvSpPr/>
          <p:nvPr/>
        </p:nvSpPr>
        <p:spPr>
          <a:xfrm>
            <a:off x="6839712" y="1444752"/>
            <a:ext cx="2377440" cy="310896"/>
          </a:xfrm>
          <a:prstGeom prst="roundRect">
            <a:avLst>
              <a:gd name="adj" fmla="val 50000"/>
            </a:avLst>
          </a:prstGeom>
          <a:solidFill>
            <a:srgbClr val="1F2933"/>
          </a:solidFill>
          <a:ln/>
        </p:spPr>
      </p:sp>
      <p:sp>
        <p:nvSpPr>
          <p:cNvPr id="42" name="tab text assembly"/>
          <p:cNvSpPr txBox="1"/>
          <p:nvPr/>
        </p:nvSpPr>
        <p:spPr>
          <a:xfrm>
            <a:off x="6839712" y="1444752"/>
            <a:ext cx="2377440" cy="310896"/>
          </a:xfrm>
          <a:prstGeom prst="rect">
            <a:avLst/>
          </a:prstGeom>
          <a:noFill/>
          <a:ln/>
        </p:spPr>
        <p:txBody>
          <a:bodyPr wrap="square" lIns="0" tIns="0" rIns="0" bIns="0" rtlCol="0" anchor="ctr"/>
          <a:lstStyle/>
          <a:p>
            <a:pPr algn="ctr" indent="0" marL="0">
              <a:buNone/>
            </a:pPr>
            <a:r>
              <a:rPr lang="en-US" sz="1100" b="1" dirty="0">
                <a:solidFill>
                  <a:srgbClr val="FFFFFF"/>
                </a:solidFill>
              </a:rPr>
              <a:t>FEASIBLE SSA  ·  the answer</a:t>
            </a:r>
            <a:endParaRPr lang="en-US" sz="1100" dirty="0"/>
          </a:p>
        </p:txBody>
      </p:sp>
      <p:sp>
        <p:nvSpPr>
          <p:cNvPr id="43" name="ceiling out"/>
          <p:cNvSpPr/>
          <p:nvPr/>
        </p:nvSpPr>
        <p:spPr>
          <a:xfrm>
            <a:off x="6839712" y="1965960"/>
            <a:ext cx="4572000" cy="384048"/>
          </a:xfrm>
          <a:prstGeom prst="rect">
            <a:avLst/>
          </a:prstGeom>
          <a:solidFill>
            <a:srgbClr val="EEF1F4"/>
          </a:solidFill>
          <a:ln w="9525">
            <a:solidFill>
              <a:srgbClr val="52514E"/>
            </a:solidFill>
            <a:prstDash val="solid"/>
          </a:ln>
        </p:spPr>
      </p:sp>
      <p:sp>
        <p:nvSpPr>
          <p:cNvPr id="44" name="hatch out 7.5"/>
          <p:cNvSpPr/>
          <p:nvPr/>
        </p:nvSpPr>
        <p:spPr>
          <a:xfrm flipV="1">
            <a:off x="6839712" y="1965960"/>
            <a:ext cx="274320" cy="384048"/>
          </a:xfrm>
          <a:prstGeom prst="line">
            <a:avLst/>
          </a:prstGeom>
          <a:noFill/>
          <a:ln w="6350">
            <a:solidFill>
              <a:srgbClr val="898781"/>
            </a:solidFill>
            <a:prstDash val="solid"/>
          </a:ln>
        </p:spPr>
      </p:sp>
      <p:sp>
        <p:nvSpPr>
          <p:cNvPr id="45" name="hatch out 7.8"/>
          <p:cNvSpPr/>
          <p:nvPr/>
        </p:nvSpPr>
        <p:spPr>
          <a:xfrm flipV="1">
            <a:off x="7114032" y="1965960"/>
            <a:ext cx="274320" cy="384048"/>
          </a:xfrm>
          <a:prstGeom prst="line">
            <a:avLst/>
          </a:prstGeom>
          <a:noFill/>
          <a:ln w="6350">
            <a:solidFill>
              <a:srgbClr val="898781"/>
            </a:solidFill>
            <a:prstDash val="solid"/>
          </a:ln>
        </p:spPr>
      </p:sp>
      <p:sp>
        <p:nvSpPr>
          <p:cNvPr id="46" name="hatch out 8.1"/>
          <p:cNvSpPr/>
          <p:nvPr/>
        </p:nvSpPr>
        <p:spPr>
          <a:xfrm flipV="1">
            <a:off x="7388352" y="1965960"/>
            <a:ext cx="274320" cy="384048"/>
          </a:xfrm>
          <a:prstGeom prst="line">
            <a:avLst/>
          </a:prstGeom>
          <a:noFill/>
          <a:ln w="6350">
            <a:solidFill>
              <a:srgbClr val="898781"/>
            </a:solidFill>
            <a:prstDash val="solid"/>
          </a:ln>
        </p:spPr>
      </p:sp>
      <p:sp>
        <p:nvSpPr>
          <p:cNvPr id="47" name="hatch out 8.4"/>
          <p:cNvSpPr/>
          <p:nvPr/>
        </p:nvSpPr>
        <p:spPr>
          <a:xfrm flipV="1">
            <a:off x="7662672" y="1965960"/>
            <a:ext cx="274320" cy="384048"/>
          </a:xfrm>
          <a:prstGeom prst="line">
            <a:avLst/>
          </a:prstGeom>
          <a:noFill/>
          <a:ln w="6350">
            <a:solidFill>
              <a:srgbClr val="898781"/>
            </a:solidFill>
            <a:prstDash val="solid"/>
          </a:ln>
        </p:spPr>
      </p:sp>
      <p:sp>
        <p:nvSpPr>
          <p:cNvPr id="48" name="hatch out 8.7"/>
          <p:cNvSpPr/>
          <p:nvPr/>
        </p:nvSpPr>
        <p:spPr>
          <a:xfrm flipV="1">
            <a:off x="7936992" y="1965960"/>
            <a:ext cx="274320" cy="384048"/>
          </a:xfrm>
          <a:prstGeom prst="line">
            <a:avLst/>
          </a:prstGeom>
          <a:noFill/>
          <a:ln w="6350">
            <a:solidFill>
              <a:srgbClr val="898781"/>
            </a:solidFill>
            <a:prstDash val="solid"/>
          </a:ln>
        </p:spPr>
      </p:sp>
      <p:sp>
        <p:nvSpPr>
          <p:cNvPr id="49" name="hatch out 9.0"/>
          <p:cNvSpPr/>
          <p:nvPr/>
        </p:nvSpPr>
        <p:spPr>
          <a:xfrm flipV="1">
            <a:off x="8211312" y="1965960"/>
            <a:ext cx="274320" cy="384048"/>
          </a:xfrm>
          <a:prstGeom prst="line">
            <a:avLst/>
          </a:prstGeom>
          <a:noFill/>
          <a:ln w="6350">
            <a:solidFill>
              <a:srgbClr val="898781"/>
            </a:solidFill>
            <a:prstDash val="solid"/>
          </a:ln>
        </p:spPr>
      </p:sp>
      <p:sp>
        <p:nvSpPr>
          <p:cNvPr id="50" name="hatch out 9.3"/>
          <p:cNvSpPr/>
          <p:nvPr/>
        </p:nvSpPr>
        <p:spPr>
          <a:xfrm flipV="1">
            <a:off x="8485632" y="1965960"/>
            <a:ext cx="274320" cy="384048"/>
          </a:xfrm>
          <a:prstGeom prst="line">
            <a:avLst/>
          </a:prstGeom>
          <a:noFill/>
          <a:ln w="6350">
            <a:solidFill>
              <a:srgbClr val="898781"/>
            </a:solidFill>
            <a:prstDash val="solid"/>
          </a:ln>
        </p:spPr>
      </p:sp>
      <p:sp>
        <p:nvSpPr>
          <p:cNvPr id="51" name="hatch out 9.6"/>
          <p:cNvSpPr/>
          <p:nvPr/>
        </p:nvSpPr>
        <p:spPr>
          <a:xfrm flipV="1">
            <a:off x="8759952" y="1965960"/>
            <a:ext cx="274320" cy="384048"/>
          </a:xfrm>
          <a:prstGeom prst="line">
            <a:avLst/>
          </a:prstGeom>
          <a:noFill/>
          <a:ln w="6350">
            <a:solidFill>
              <a:srgbClr val="898781"/>
            </a:solidFill>
            <a:prstDash val="solid"/>
          </a:ln>
        </p:spPr>
      </p:sp>
      <p:sp>
        <p:nvSpPr>
          <p:cNvPr id="52" name="hatch out 9.9"/>
          <p:cNvSpPr/>
          <p:nvPr/>
        </p:nvSpPr>
        <p:spPr>
          <a:xfrm flipV="1">
            <a:off x="9034272" y="1965960"/>
            <a:ext cx="274320" cy="384048"/>
          </a:xfrm>
          <a:prstGeom prst="line">
            <a:avLst/>
          </a:prstGeom>
          <a:noFill/>
          <a:ln w="6350">
            <a:solidFill>
              <a:srgbClr val="898781"/>
            </a:solidFill>
            <a:prstDash val="solid"/>
          </a:ln>
        </p:spPr>
      </p:sp>
      <p:sp>
        <p:nvSpPr>
          <p:cNvPr id="53" name="hatch out 10.2"/>
          <p:cNvSpPr/>
          <p:nvPr/>
        </p:nvSpPr>
        <p:spPr>
          <a:xfrm flipV="1">
            <a:off x="9308592" y="1965960"/>
            <a:ext cx="274320" cy="384048"/>
          </a:xfrm>
          <a:prstGeom prst="line">
            <a:avLst/>
          </a:prstGeom>
          <a:noFill/>
          <a:ln w="6350">
            <a:solidFill>
              <a:srgbClr val="898781"/>
            </a:solidFill>
            <a:prstDash val="solid"/>
          </a:ln>
        </p:spPr>
      </p:sp>
      <p:sp>
        <p:nvSpPr>
          <p:cNvPr id="54" name="hatch out 10.5"/>
          <p:cNvSpPr/>
          <p:nvPr/>
        </p:nvSpPr>
        <p:spPr>
          <a:xfrm flipV="1">
            <a:off x="9582912" y="1965960"/>
            <a:ext cx="274320" cy="384048"/>
          </a:xfrm>
          <a:prstGeom prst="line">
            <a:avLst/>
          </a:prstGeom>
          <a:noFill/>
          <a:ln w="6350">
            <a:solidFill>
              <a:srgbClr val="898781"/>
            </a:solidFill>
            <a:prstDash val="solid"/>
          </a:ln>
        </p:spPr>
      </p:sp>
      <p:sp>
        <p:nvSpPr>
          <p:cNvPr id="55" name="hatch out 10.8"/>
          <p:cNvSpPr/>
          <p:nvPr/>
        </p:nvSpPr>
        <p:spPr>
          <a:xfrm flipV="1">
            <a:off x="9857232" y="1965960"/>
            <a:ext cx="274320" cy="384048"/>
          </a:xfrm>
          <a:prstGeom prst="line">
            <a:avLst/>
          </a:prstGeom>
          <a:noFill/>
          <a:ln w="6350">
            <a:solidFill>
              <a:srgbClr val="898781"/>
            </a:solidFill>
            <a:prstDash val="solid"/>
          </a:ln>
        </p:spPr>
      </p:sp>
      <p:sp>
        <p:nvSpPr>
          <p:cNvPr id="56" name="hatch out 11.1"/>
          <p:cNvSpPr/>
          <p:nvPr/>
        </p:nvSpPr>
        <p:spPr>
          <a:xfrm flipV="1">
            <a:off x="10131552" y="1965960"/>
            <a:ext cx="274320" cy="384048"/>
          </a:xfrm>
          <a:prstGeom prst="line">
            <a:avLst/>
          </a:prstGeom>
          <a:noFill/>
          <a:ln w="6350">
            <a:solidFill>
              <a:srgbClr val="898781"/>
            </a:solidFill>
            <a:prstDash val="solid"/>
          </a:ln>
        </p:spPr>
      </p:sp>
      <p:sp>
        <p:nvSpPr>
          <p:cNvPr id="57" name="hatch out 11.4"/>
          <p:cNvSpPr/>
          <p:nvPr/>
        </p:nvSpPr>
        <p:spPr>
          <a:xfrm flipV="1">
            <a:off x="10405872" y="1965960"/>
            <a:ext cx="274320" cy="384048"/>
          </a:xfrm>
          <a:prstGeom prst="line">
            <a:avLst/>
          </a:prstGeom>
          <a:noFill/>
          <a:ln w="6350">
            <a:solidFill>
              <a:srgbClr val="898781"/>
            </a:solidFill>
            <a:prstDash val="solid"/>
          </a:ln>
        </p:spPr>
      </p:sp>
      <p:sp>
        <p:nvSpPr>
          <p:cNvPr id="58" name="hatch out 11.7"/>
          <p:cNvSpPr/>
          <p:nvPr/>
        </p:nvSpPr>
        <p:spPr>
          <a:xfrm flipV="1">
            <a:off x="10680192" y="1965960"/>
            <a:ext cx="274320" cy="384048"/>
          </a:xfrm>
          <a:prstGeom prst="line">
            <a:avLst/>
          </a:prstGeom>
          <a:noFill/>
          <a:ln w="6350">
            <a:solidFill>
              <a:srgbClr val="898781"/>
            </a:solidFill>
            <a:prstDash val="solid"/>
          </a:ln>
        </p:spPr>
      </p:sp>
      <p:sp>
        <p:nvSpPr>
          <p:cNvPr id="59" name="hatch out 12.0"/>
          <p:cNvSpPr/>
          <p:nvPr/>
        </p:nvSpPr>
        <p:spPr>
          <a:xfrm flipV="1">
            <a:off x="10954512" y="1965960"/>
            <a:ext cx="274320" cy="384048"/>
          </a:xfrm>
          <a:prstGeom prst="line">
            <a:avLst/>
          </a:prstGeom>
          <a:noFill/>
          <a:ln w="6350">
            <a:solidFill>
              <a:srgbClr val="898781"/>
            </a:solidFill>
            <a:prstDash val="solid"/>
          </a:ln>
        </p:spPr>
      </p:sp>
      <p:sp>
        <p:nvSpPr>
          <p:cNvPr id="60" name="ceiling label out"/>
          <p:cNvSpPr txBox="1"/>
          <p:nvPr/>
        </p:nvSpPr>
        <p:spPr>
          <a:xfrm>
            <a:off x="8211312" y="2029968"/>
            <a:ext cx="1828800" cy="256032"/>
          </a:xfrm>
          <a:prstGeom prst="rect">
            <a:avLst/>
          </a:prstGeom>
          <a:solidFill>
            <a:srgbClr val="FFFFFF"/>
          </a:solidFill>
          <a:ln/>
        </p:spPr>
        <p:txBody>
          <a:bodyPr wrap="square" lIns="0" tIns="0" rIns="0" bIns="0" rtlCol="0" anchor="ctr"/>
          <a:lstStyle/>
          <a:p>
            <a:pPr algn="ctr" indent="0" marL="0">
              <a:buNone/>
            </a:pPr>
            <a:r>
              <a:rPr lang="en-US" sz="1100" dirty="0">
                <a:solidFill>
                  <a:schemeClr val="tx1"/>
                </a:solidFill>
              </a:rPr>
              <a:t>Concrete slab, 200 mm</a:t>
            </a:r>
            <a:endParaRPr lang="en-US" sz="1100" dirty="0"/>
          </a:p>
        </p:txBody>
      </p:sp>
      <p:sp>
        <p:nvSpPr>
          <p:cNvPr id="61" name="duct out"/>
          <p:cNvSpPr/>
          <p:nvPr/>
        </p:nvSpPr>
        <p:spPr>
          <a:xfrm>
            <a:off x="7068312" y="3063240"/>
            <a:ext cx="1554480" cy="960120"/>
          </a:xfrm>
          <a:prstGeom prst="rect">
            <a:avLst/>
          </a:prstGeom>
          <a:solidFill>
            <a:srgbClr val="EEF1F4"/>
          </a:solidFill>
          <a:ln w="12700">
            <a:solidFill>
              <a:srgbClr val="52514E"/>
            </a:solidFill>
            <a:prstDash val="solid"/>
          </a:ln>
        </p:spPr>
      </p:sp>
      <p:sp>
        <p:nvSpPr>
          <p:cNvPr id="62" name="insulation out"/>
          <p:cNvSpPr/>
          <p:nvPr/>
        </p:nvSpPr>
        <p:spPr>
          <a:xfrm>
            <a:off x="8814816" y="3209544"/>
            <a:ext cx="896112" cy="896112"/>
          </a:xfrm>
          <a:prstGeom prst="ellipse">
            <a:avLst/>
          </a:prstGeom>
          <a:ln w="9525">
            <a:solidFill>
              <a:srgbClr val="52514E"/>
            </a:solidFill>
            <a:prstDash val="sysDash"/>
          </a:ln>
        </p:spPr>
      </p:sp>
      <p:sp>
        <p:nvSpPr>
          <p:cNvPr id="63" name="pipe a out"/>
          <p:cNvSpPr/>
          <p:nvPr/>
        </p:nvSpPr>
        <p:spPr>
          <a:xfrm>
            <a:off x="8897112" y="3291840"/>
            <a:ext cx="731520" cy="731520"/>
          </a:xfrm>
          <a:prstGeom prst="ellipse">
            <a:avLst/>
          </a:prstGeom>
          <a:solidFill>
            <a:srgbClr val="EEF1F4"/>
          </a:solidFill>
          <a:ln w="12700">
            <a:solidFill>
              <a:srgbClr val="52514E"/>
            </a:solidFill>
            <a:prstDash val="solid"/>
          </a:ln>
        </p:spPr>
      </p:sp>
      <p:sp>
        <p:nvSpPr>
          <p:cNvPr id="64" name="pipe b out"/>
          <p:cNvSpPr/>
          <p:nvPr/>
        </p:nvSpPr>
        <p:spPr>
          <a:xfrm>
            <a:off x="9902952" y="3566160"/>
            <a:ext cx="457200" cy="457200"/>
          </a:xfrm>
          <a:prstGeom prst="ellipse">
            <a:avLst/>
          </a:prstGeom>
          <a:solidFill>
            <a:srgbClr val="EEF1F4"/>
          </a:solidFill>
          <a:ln w="12700">
            <a:solidFill>
              <a:srgbClr val="52514E"/>
            </a:solidFill>
            <a:prstDash val="solid"/>
          </a:ln>
        </p:spPr>
      </p:sp>
      <p:sp>
        <p:nvSpPr>
          <p:cNvPr id="65" name="tray out"/>
          <p:cNvSpPr/>
          <p:nvPr/>
        </p:nvSpPr>
        <p:spPr>
          <a:xfrm>
            <a:off x="10497312" y="3730752"/>
            <a:ext cx="777240" cy="292608"/>
          </a:xfrm>
          <a:prstGeom prst="rect">
            <a:avLst/>
          </a:prstGeom>
          <a:solidFill>
            <a:srgbClr val="EEF1F4"/>
          </a:solidFill>
          <a:ln w="12700">
            <a:solidFill>
              <a:srgbClr val="52514E"/>
            </a:solidFill>
            <a:prstDash val="solid"/>
          </a:ln>
        </p:spPr>
      </p:sp>
      <p:sp>
        <p:nvSpPr>
          <p:cNvPr id="66" name="anchor 0"/>
          <p:cNvSpPr/>
          <p:nvPr/>
        </p:nvSpPr>
        <p:spPr>
          <a:xfrm>
            <a:off x="6885432" y="2240280"/>
            <a:ext cx="164592" cy="146304"/>
          </a:xfrm>
          <a:prstGeom prst="rect">
            <a:avLst/>
          </a:prstGeom>
          <a:solidFill>
            <a:srgbClr val="1F2933"/>
          </a:solidFill>
          <a:ln/>
        </p:spPr>
      </p:sp>
      <p:sp>
        <p:nvSpPr>
          <p:cNvPr id="67" name="rod 0"/>
          <p:cNvSpPr/>
          <p:nvPr/>
        </p:nvSpPr>
        <p:spPr>
          <a:xfrm>
            <a:off x="6949440" y="2350008"/>
            <a:ext cx="36576" cy="1673352"/>
          </a:xfrm>
          <a:prstGeom prst="rect">
            <a:avLst/>
          </a:prstGeom>
          <a:solidFill>
            <a:srgbClr val="1F2933"/>
          </a:solidFill>
          <a:ln/>
        </p:spPr>
      </p:sp>
      <p:sp>
        <p:nvSpPr>
          <p:cNvPr id="68" name="anchor 1"/>
          <p:cNvSpPr/>
          <p:nvPr/>
        </p:nvSpPr>
        <p:spPr>
          <a:xfrm>
            <a:off x="11237976" y="2240280"/>
            <a:ext cx="164592" cy="146304"/>
          </a:xfrm>
          <a:prstGeom prst="rect">
            <a:avLst/>
          </a:prstGeom>
          <a:solidFill>
            <a:srgbClr val="1F2933"/>
          </a:solidFill>
          <a:ln/>
        </p:spPr>
      </p:sp>
      <p:sp>
        <p:nvSpPr>
          <p:cNvPr id="69" name="rod 1"/>
          <p:cNvSpPr/>
          <p:nvPr/>
        </p:nvSpPr>
        <p:spPr>
          <a:xfrm>
            <a:off x="11301984" y="2350008"/>
            <a:ext cx="36576" cy="1673352"/>
          </a:xfrm>
          <a:prstGeom prst="rect">
            <a:avLst/>
          </a:prstGeom>
          <a:solidFill>
            <a:srgbClr val="1F2933"/>
          </a:solidFill>
          <a:ln/>
        </p:spPr>
      </p:sp>
      <p:sp>
        <p:nvSpPr>
          <p:cNvPr id="70" name="channel"/>
          <p:cNvSpPr/>
          <p:nvPr/>
        </p:nvSpPr>
        <p:spPr>
          <a:xfrm>
            <a:off x="6839712" y="4023360"/>
            <a:ext cx="4572000" cy="91440"/>
          </a:xfrm>
          <a:prstGeom prst="rect">
            <a:avLst/>
          </a:prstGeom>
          <a:solidFill>
            <a:srgbClr val="1F2933"/>
          </a:solidFill>
          <a:ln/>
        </p:spPr>
      </p:sp>
      <p:sp>
        <p:nvSpPr>
          <p:cNvPr id="71" name="clamp a"/>
          <p:cNvSpPr/>
          <p:nvPr/>
        </p:nvSpPr>
        <p:spPr>
          <a:xfrm>
            <a:off x="8851392" y="3246120"/>
            <a:ext cx="822960" cy="822960"/>
          </a:xfrm>
          <a:prstGeom prst="ellipse">
            <a:avLst/>
          </a:prstGeom>
          <a:ln w="38100">
            <a:solidFill>
              <a:srgbClr val="1F2933"/>
            </a:solidFill>
            <a:prstDash val="solid"/>
          </a:ln>
        </p:spPr>
      </p:sp>
      <p:sp>
        <p:nvSpPr>
          <p:cNvPr id="72" name="clamp b"/>
          <p:cNvSpPr/>
          <p:nvPr/>
        </p:nvSpPr>
        <p:spPr>
          <a:xfrm>
            <a:off x="9857232" y="3520440"/>
            <a:ext cx="548640" cy="548640"/>
          </a:xfrm>
          <a:prstGeom prst="ellipse">
            <a:avLst/>
          </a:prstGeom>
          <a:ln w="38100">
            <a:solidFill>
              <a:srgbClr val="1F2933"/>
            </a:solidFill>
            <a:prstDash val="solid"/>
          </a:ln>
        </p:spPr>
      </p:sp>
      <p:sp>
        <p:nvSpPr>
          <p:cNvPr id="73" name="label anchor"/>
          <p:cNvSpPr txBox="1"/>
          <p:nvPr/>
        </p:nvSpPr>
        <p:spPr>
          <a:xfrm>
            <a:off x="7159752" y="2368296"/>
            <a:ext cx="1097280" cy="237744"/>
          </a:xfrm>
          <a:prstGeom prst="rect">
            <a:avLst/>
          </a:prstGeom>
          <a:noFill/>
          <a:ln/>
        </p:spPr>
        <p:txBody>
          <a:bodyPr wrap="square" lIns="0" tIns="0" rIns="0" bIns="0" rtlCol="0" anchor="ctr"/>
          <a:lstStyle/>
          <a:p>
            <a:pPr algn="l" indent="0" marL="0">
              <a:buNone/>
            </a:pPr>
            <a:r>
              <a:rPr lang="en-US" sz="1050" dirty="0">
                <a:solidFill>
                  <a:srgbClr val="52514E"/>
                </a:solidFill>
              </a:rPr>
              <a:t>anchor</a:t>
            </a:r>
            <a:endParaRPr lang="en-US" sz="1050" dirty="0"/>
          </a:p>
        </p:txBody>
      </p:sp>
      <p:sp>
        <p:nvSpPr>
          <p:cNvPr id="74" name="label rod"/>
          <p:cNvSpPr txBox="1"/>
          <p:nvPr/>
        </p:nvSpPr>
        <p:spPr>
          <a:xfrm>
            <a:off x="9994392" y="3218688"/>
            <a:ext cx="1234440" cy="237744"/>
          </a:xfrm>
          <a:prstGeom prst="rect">
            <a:avLst/>
          </a:prstGeom>
          <a:noFill/>
          <a:ln/>
        </p:spPr>
        <p:txBody>
          <a:bodyPr wrap="square" lIns="0" tIns="0" rIns="0" bIns="0" rtlCol="0" anchor="ctr"/>
          <a:lstStyle/>
          <a:p>
            <a:pPr algn="r" indent="0" marL="0">
              <a:buNone/>
            </a:pPr>
            <a:r>
              <a:rPr lang="en-US" sz="1050" dirty="0">
                <a:solidFill>
                  <a:srgbClr val="52514E"/>
                </a:solidFill>
              </a:rPr>
              <a:t>threaded rod</a:t>
            </a:r>
            <a:endParaRPr lang="en-US" sz="1050" dirty="0"/>
          </a:p>
        </p:txBody>
      </p:sp>
      <p:sp>
        <p:nvSpPr>
          <p:cNvPr id="75" name="label clamps"/>
          <p:cNvSpPr txBox="1"/>
          <p:nvPr/>
        </p:nvSpPr>
        <p:spPr>
          <a:xfrm>
            <a:off x="8714232" y="4114800"/>
            <a:ext cx="1737360" cy="237744"/>
          </a:xfrm>
          <a:prstGeom prst="rect">
            <a:avLst/>
          </a:prstGeom>
          <a:noFill/>
          <a:ln/>
        </p:spPr>
        <p:txBody>
          <a:bodyPr wrap="square" lIns="0" tIns="0" rIns="0" bIns="0" rtlCol="0" anchor="ctr"/>
          <a:lstStyle/>
          <a:p>
            <a:pPr algn="ctr" indent="0" marL="0">
              <a:buNone/>
            </a:pPr>
            <a:r>
              <a:rPr lang="en-US" sz="1050" dirty="0">
                <a:solidFill>
                  <a:srgbClr val="52514E"/>
                </a:solidFill>
              </a:rPr>
              <a:t>pipe clamps</a:t>
            </a:r>
            <a:endParaRPr lang="en-US" sz="1050" dirty="0"/>
          </a:p>
        </p:txBody>
      </p:sp>
      <p:sp>
        <p:nvSpPr>
          <p:cNvPr id="76" name="label channel"/>
          <p:cNvSpPr txBox="1"/>
          <p:nvPr/>
        </p:nvSpPr>
        <p:spPr>
          <a:xfrm>
            <a:off x="9902952" y="4114800"/>
            <a:ext cx="1463040" cy="237744"/>
          </a:xfrm>
          <a:prstGeom prst="rect">
            <a:avLst/>
          </a:prstGeom>
          <a:noFill/>
          <a:ln/>
        </p:spPr>
        <p:txBody>
          <a:bodyPr wrap="square" lIns="0" tIns="0" rIns="0" bIns="0" rtlCol="0" anchor="ctr"/>
          <a:lstStyle/>
          <a:p>
            <a:pPr algn="r" indent="0" marL="0">
              <a:buNone/>
            </a:pPr>
            <a:r>
              <a:rPr lang="en-US" sz="1050" dirty="0">
                <a:solidFill>
                  <a:srgbClr val="52514E"/>
                </a:solidFill>
              </a:rPr>
              <a:t>channel</a:t>
            </a:r>
            <a:endParaRPr lang="en-US" sz="1050" dirty="0"/>
          </a:p>
        </p:txBody>
      </p:sp>
      <p:sp>
        <p:nvSpPr>
          <p:cNvPr id="77" name="assembly name"/>
          <p:cNvSpPr txBox="1"/>
          <p:nvPr/>
        </p:nvSpPr>
        <p:spPr>
          <a:xfrm>
            <a:off x="8805672" y="2368296"/>
            <a:ext cx="2286000" cy="237744"/>
          </a:xfrm>
          <a:prstGeom prst="rect">
            <a:avLst/>
          </a:prstGeom>
          <a:noFill/>
          <a:ln/>
        </p:spPr>
        <p:txBody>
          <a:bodyPr wrap="square" lIns="0" tIns="0" rIns="0" bIns="0" rtlCol="0" anchor="ctr"/>
          <a:lstStyle/>
          <a:p>
            <a:pPr algn="r" indent="0" marL="0">
              <a:buNone/>
            </a:pPr>
            <a:r>
              <a:rPr lang="en-US" sz="1050" b="1" dirty="0">
                <a:solidFill>
                  <a:schemeClr val="tx1"/>
                </a:solidFill>
              </a:rPr>
              <a:t>Rod trapeze</a:t>
            </a:r>
            <a:endParaRPr lang="en-US" sz="1050" dirty="0"/>
          </a:p>
        </p:txBody>
      </p:sp>
      <p:sp>
        <p:nvSpPr>
          <p:cNvPr id="78" name="check statics"/>
          <p:cNvSpPr/>
          <p:nvPr/>
        </p:nvSpPr>
        <p:spPr>
          <a:xfrm>
            <a:off x="6839712" y="5010912"/>
            <a:ext cx="1074420" cy="329184"/>
          </a:xfrm>
          <a:prstGeom prst="roundRect">
            <a:avLst>
              <a:gd name="adj" fmla="val 50000"/>
            </a:avLst>
          </a:prstGeom>
          <a:solidFill>
            <a:srgbClr val="EAF5EE"/>
          </a:solidFill>
          <a:ln/>
        </p:spPr>
      </p:sp>
      <p:sp>
        <p:nvSpPr>
          <p:cNvPr id="79" name="check text statics"/>
          <p:cNvSpPr txBox="1"/>
          <p:nvPr/>
        </p:nvSpPr>
        <p:spPr>
          <a:xfrm>
            <a:off x="6839712" y="5010912"/>
            <a:ext cx="1074420" cy="329184"/>
          </a:xfrm>
          <a:prstGeom prst="rect">
            <a:avLst/>
          </a:prstGeom>
          <a:noFill/>
          <a:ln/>
        </p:spPr>
        <p:txBody>
          <a:bodyPr wrap="square" lIns="0" tIns="0" rIns="0" bIns="0" rtlCol="0" anchor="ctr"/>
          <a:lstStyle/>
          <a:p>
            <a:pPr algn="ctr" indent="0" marL="0">
              <a:buNone/>
            </a:pPr>
            <a:r>
              <a:rPr lang="en-US" sz="1100" b="1" dirty="0">
                <a:solidFill>
                  <a:srgbClr val="008300"/>
                </a:solidFill>
              </a:rPr>
              <a:t>✓ statics</a:t>
            </a:r>
            <a:endParaRPr lang="en-US" sz="1100" dirty="0"/>
          </a:p>
        </p:txBody>
      </p:sp>
      <p:sp>
        <p:nvSpPr>
          <p:cNvPr id="80" name="check anchors"/>
          <p:cNvSpPr/>
          <p:nvPr/>
        </p:nvSpPr>
        <p:spPr>
          <a:xfrm>
            <a:off x="8005572" y="5010912"/>
            <a:ext cx="1074420" cy="329184"/>
          </a:xfrm>
          <a:prstGeom prst="roundRect">
            <a:avLst>
              <a:gd name="adj" fmla="val 50000"/>
            </a:avLst>
          </a:prstGeom>
          <a:solidFill>
            <a:srgbClr val="EAF5EE"/>
          </a:solidFill>
          <a:ln/>
        </p:spPr>
      </p:sp>
      <p:sp>
        <p:nvSpPr>
          <p:cNvPr id="81" name="check text anchors"/>
          <p:cNvSpPr txBox="1"/>
          <p:nvPr/>
        </p:nvSpPr>
        <p:spPr>
          <a:xfrm>
            <a:off x="8005572" y="5010912"/>
            <a:ext cx="1074420" cy="329184"/>
          </a:xfrm>
          <a:prstGeom prst="rect">
            <a:avLst/>
          </a:prstGeom>
          <a:noFill/>
          <a:ln/>
        </p:spPr>
        <p:txBody>
          <a:bodyPr wrap="square" lIns="0" tIns="0" rIns="0" bIns="0" rtlCol="0" anchor="ctr"/>
          <a:lstStyle/>
          <a:p>
            <a:pPr algn="ctr" indent="0" marL="0">
              <a:buNone/>
            </a:pPr>
            <a:r>
              <a:rPr lang="en-US" sz="1100" b="1" dirty="0">
                <a:solidFill>
                  <a:srgbClr val="008300"/>
                </a:solidFill>
              </a:rPr>
              <a:t>✓ anchors</a:t>
            </a:r>
            <a:endParaRPr lang="en-US" sz="1100" dirty="0"/>
          </a:p>
        </p:txBody>
      </p:sp>
      <p:sp>
        <p:nvSpPr>
          <p:cNvPr id="82" name="check connectors"/>
          <p:cNvSpPr/>
          <p:nvPr/>
        </p:nvSpPr>
        <p:spPr>
          <a:xfrm>
            <a:off x="9171432" y="5010912"/>
            <a:ext cx="1074420" cy="329184"/>
          </a:xfrm>
          <a:prstGeom prst="roundRect">
            <a:avLst>
              <a:gd name="adj" fmla="val 50000"/>
            </a:avLst>
          </a:prstGeom>
          <a:solidFill>
            <a:srgbClr val="EAF5EE"/>
          </a:solidFill>
          <a:ln/>
        </p:spPr>
      </p:sp>
      <p:sp>
        <p:nvSpPr>
          <p:cNvPr id="83" name="check text connectors"/>
          <p:cNvSpPr txBox="1"/>
          <p:nvPr/>
        </p:nvSpPr>
        <p:spPr>
          <a:xfrm>
            <a:off x="9171432" y="5010912"/>
            <a:ext cx="1074420" cy="329184"/>
          </a:xfrm>
          <a:prstGeom prst="rect">
            <a:avLst/>
          </a:prstGeom>
          <a:noFill/>
          <a:ln/>
        </p:spPr>
        <p:txBody>
          <a:bodyPr wrap="square" lIns="0" tIns="0" rIns="0" bIns="0" rtlCol="0" anchor="ctr"/>
          <a:lstStyle/>
          <a:p>
            <a:pPr algn="ctr" indent="0" marL="0">
              <a:buNone/>
            </a:pPr>
            <a:r>
              <a:rPr lang="en-US" sz="1100" b="1" dirty="0">
                <a:solidFill>
                  <a:srgbClr val="008300"/>
                </a:solidFill>
              </a:rPr>
              <a:t>✓ connectors</a:t>
            </a:r>
            <a:endParaRPr lang="en-US" sz="1100" dirty="0"/>
          </a:p>
        </p:txBody>
      </p:sp>
      <p:sp>
        <p:nvSpPr>
          <p:cNvPr id="84" name="check buildable"/>
          <p:cNvSpPr/>
          <p:nvPr/>
        </p:nvSpPr>
        <p:spPr>
          <a:xfrm>
            <a:off x="10337292" y="5010912"/>
            <a:ext cx="1074420" cy="329184"/>
          </a:xfrm>
          <a:prstGeom prst="roundRect">
            <a:avLst>
              <a:gd name="adj" fmla="val 50000"/>
            </a:avLst>
          </a:prstGeom>
          <a:solidFill>
            <a:srgbClr val="EAF5EE"/>
          </a:solidFill>
          <a:ln/>
        </p:spPr>
      </p:sp>
      <p:sp>
        <p:nvSpPr>
          <p:cNvPr id="85" name="check text buildable"/>
          <p:cNvSpPr txBox="1"/>
          <p:nvPr/>
        </p:nvSpPr>
        <p:spPr>
          <a:xfrm>
            <a:off x="10337292" y="5010912"/>
            <a:ext cx="1074420" cy="329184"/>
          </a:xfrm>
          <a:prstGeom prst="rect">
            <a:avLst/>
          </a:prstGeom>
          <a:noFill/>
          <a:ln/>
        </p:spPr>
        <p:txBody>
          <a:bodyPr wrap="square" lIns="0" tIns="0" rIns="0" bIns="0" rtlCol="0" anchor="ctr"/>
          <a:lstStyle/>
          <a:p>
            <a:pPr algn="ctr" indent="0" marL="0">
              <a:buNone/>
            </a:pPr>
            <a:r>
              <a:rPr lang="en-US" sz="1100" b="1" dirty="0">
                <a:solidFill>
                  <a:srgbClr val="008300"/>
                </a:solidFill>
              </a:rPr>
              <a:t>✓ buildable</a:t>
            </a:r>
            <a:endParaRPr lang="en-US" sz="1100" dirty="0"/>
          </a:p>
        </p:txBody>
      </p:sp>
      <p:sp>
        <p:nvSpPr>
          <p:cNvPr id="86" name="references"/>
          <p:cNvSpPr txBox="1"/>
          <p:nvPr/>
        </p:nvSpPr>
        <p:spPr>
          <a:xfrm>
            <a:off x="548640" y="6163056"/>
            <a:ext cx="11091672" cy="237744"/>
          </a:xfrm>
          <a:prstGeom prst="rect">
            <a:avLst/>
          </a:prstGeom>
          <a:noFill/>
          <a:ln/>
        </p:spPr>
        <p:txBody>
          <a:bodyPr wrap="square" lIns="0" tIns="0" rIns="0" bIns="0" rtlCol="0" anchor="b"/>
          <a:lstStyle/>
          <a:p>
            <a:pPr indent="0" marL="0">
              <a:buNone/>
            </a:pPr>
            <a:r>
              <a:rPr lang="en-US" sz="900" dirty="0">
                <a:solidFill>
                  <a:srgbClr val="52514E"/>
                </a:solidFill>
              </a:rPr>
              <a:t>The synthesis problem as defined at ISARC 2026 [1].   [1] Pedrollo, Graeber &amp; Fischer (2026), Feasibility-aware sequential synthesis of structural support assemblies, ISARC 2026</a:t>
            </a:r>
            <a:endParaRPr lang="en-US" sz="900" dirty="0"/>
          </a:p>
        </p:txBody>
      </p:sp>
      <p:sp>
        <p:nvSpPr>
          <p:cNvPr id="87"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200" b="1" dirty="0">
                <a:solidFill>
                  <a:schemeClr val="tx1"/>
                </a:solidFill>
              </a:rPr>
              <a:t>Existing tools coordinate and verify modular support assemblies, but their synthesis remains manual because it relies on tacit engineering expertise and complex catalog-driven rules</a:t>
            </a:r>
            <a:endParaRPr lang="en-US" sz="2600" dirty="0"/>
          </a:p>
        </p:txBody>
      </p:sp>
      <p:sp>
        <p:nvSpPr>
          <p:cNvPr id="3" name="stage coordinate"/>
          <p:cNvSpPr/>
          <p:nvPr/>
        </p:nvSpPr>
        <p:spPr>
          <a:xfrm>
            <a:off x="548640" y="1371600"/>
            <a:ext cx="3337560" cy="2514600"/>
          </a:xfrm>
          <a:prstGeom prst="roundRect">
            <a:avLst>
              <a:gd name="adj" fmla="val 2545"/>
            </a:avLst>
          </a:prstGeom>
          <a:solidFill>
            <a:schemeClr val="bg2"/>
          </a:solidFill>
          <a:ln/>
        </p:spPr>
      </p:sp>
      <p:sp>
        <p:nvSpPr>
          <p:cNvPr id="4" name="icon ring stage coordinate"/>
          <p:cNvSpPr/>
          <p:nvPr/>
        </p:nvSpPr>
        <p:spPr>
          <a:xfrm>
            <a:off x="1943100" y="1600200"/>
            <a:ext cx="548640" cy="548640"/>
          </a:xfrm>
          <a:prstGeom prst="ellipse">
            <a:avLst/>
          </a:prstGeom>
          <a:solidFill>
            <a:schemeClr val="accent1"/>
          </a:solidFill>
          <a:ln/>
        </p:spPr>
      </p:sp>
      <p:pic>
        <p:nvPicPr>
          <p:cNvPr id="5" name="icon stage coordinate" descr="preencoded.png">    </p:cNvPr>
          <p:cNvPicPr>
            <a:picLocks noChangeAspect="1"/>
          </p:cNvPicPr>
          <p:nvPr/>
        </p:nvPicPr>
        <p:blipFill>
          <a:blip r:embed="rId1"/>
          <a:stretch>
            <a:fillRect/>
          </a:stretch>
        </p:blipFill>
        <p:spPr>
          <a:xfrm>
            <a:off x="2058314" y="1715414"/>
            <a:ext cx="318211" cy="318211"/>
          </a:xfrm>
          <a:prstGeom prst="rect">
            <a:avLst/>
          </a:prstGeom>
        </p:spPr>
      </p:pic>
      <p:sp>
        <p:nvSpPr>
          <p:cNvPr id="6" name="stage head coordinate"/>
          <p:cNvSpPr txBox="1"/>
          <p:nvPr/>
        </p:nvSpPr>
        <p:spPr>
          <a:xfrm>
            <a:off x="731520" y="2194560"/>
            <a:ext cx="2971800" cy="365760"/>
          </a:xfrm>
          <a:prstGeom prst="rect">
            <a:avLst/>
          </a:prstGeom>
          <a:noFill/>
          <a:ln/>
        </p:spPr>
        <p:txBody>
          <a:bodyPr wrap="square" lIns="0" tIns="0" rIns="0" bIns="0" rtlCol="0" anchor="ctr"/>
          <a:lstStyle/>
          <a:p>
            <a:pPr algn="ctr" indent="0" marL="0">
              <a:buNone/>
            </a:pPr>
            <a:r>
              <a:rPr lang="en-US" sz="1600" b="1" dirty="0">
                <a:solidFill>
                  <a:schemeClr val="tx1"/>
                </a:solidFill>
              </a:rPr>
              <a:t>Coordinate the model</a:t>
            </a:r>
            <a:endParaRPr lang="en-US" sz="1600" dirty="0"/>
          </a:p>
        </p:txBody>
      </p:sp>
      <p:sp>
        <p:nvSpPr>
          <p:cNvPr id="7" name="pill coordinate"/>
          <p:cNvSpPr/>
          <p:nvPr/>
        </p:nvSpPr>
        <p:spPr>
          <a:xfrm>
            <a:off x="1577340" y="2606040"/>
            <a:ext cx="1280160" cy="292608"/>
          </a:xfrm>
          <a:prstGeom prst="roundRect">
            <a:avLst>
              <a:gd name="adj" fmla="val 50000"/>
            </a:avLst>
          </a:prstGeom>
          <a:solidFill>
            <a:srgbClr val="008300"/>
          </a:solidFill>
          <a:ln/>
        </p:spPr>
      </p:sp>
      <p:sp>
        <p:nvSpPr>
          <p:cNvPr id="8" name="pill text coordinate"/>
          <p:cNvSpPr txBox="1"/>
          <p:nvPr/>
        </p:nvSpPr>
        <p:spPr>
          <a:xfrm>
            <a:off x="1577340" y="260604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rPr>
              <a:t>tools</a:t>
            </a:r>
            <a:endParaRPr lang="en-US" sz="1100" dirty="0"/>
          </a:p>
        </p:txBody>
      </p:sp>
      <p:sp>
        <p:nvSpPr>
          <p:cNvPr id="9" name="stage line coordinate"/>
          <p:cNvSpPr txBox="1"/>
          <p:nvPr/>
        </p:nvSpPr>
        <p:spPr>
          <a:xfrm>
            <a:off x="731520" y="3383280"/>
            <a:ext cx="2971800" cy="365760"/>
          </a:xfrm>
          <a:prstGeom prst="rect">
            <a:avLst/>
          </a:prstGeom>
          <a:noFill/>
          <a:ln/>
        </p:spPr>
        <p:txBody>
          <a:bodyPr wrap="square" lIns="0" tIns="0" rIns="0" bIns="0" rtlCol="0" anchor="ctr"/>
          <a:lstStyle/>
          <a:p>
            <a:pPr algn="ctr" indent="0" marL="0">
              <a:buNone/>
            </a:pPr>
            <a:r>
              <a:rPr lang="en-US" sz="1150" dirty="0">
                <a:solidFill>
                  <a:srgbClr val="52514E"/>
                </a:solidFill>
              </a:rPr>
              <a:t>services routed and clash-free</a:t>
            </a:r>
            <a:endParaRPr lang="en-US" sz="1150" dirty="0"/>
          </a:p>
        </p:txBody>
      </p:sp>
      <p:sp>
        <p:nvSpPr>
          <p:cNvPr id="10" name="stage arrow 0"/>
          <p:cNvSpPr/>
          <p:nvPr/>
        </p:nvSpPr>
        <p:spPr>
          <a:xfrm>
            <a:off x="3977640" y="2628900"/>
            <a:ext cx="356616" cy="0"/>
          </a:xfrm>
          <a:prstGeom prst="line">
            <a:avLst/>
          </a:prstGeom>
          <a:noFill/>
          <a:ln w="19050">
            <a:solidFill>
              <a:srgbClr val="52514E"/>
            </a:solidFill>
            <a:prstDash val="solid"/>
            <a:tailEnd type="triangle"/>
          </a:ln>
        </p:spPr>
      </p:sp>
      <p:sp>
        <p:nvSpPr>
          <p:cNvPr id="11" name="mini card stage section"/>
          <p:cNvSpPr/>
          <p:nvPr/>
        </p:nvSpPr>
        <p:spPr>
          <a:xfrm>
            <a:off x="1668780" y="2971800"/>
            <a:ext cx="1097280" cy="475488"/>
          </a:xfrm>
          <a:prstGeom prst="rect">
            <a:avLst/>
          </a:prstGeom>
          <a:solidFill>
            <a:srgbClr val="FFFFFF"/>
          </a:solidFill>
          <a:ln w="6350">
            <a:solidFill>
              <a:srgbClr val="898781"/>
            </a:solidFill>
            <a:prstDash val="solid"/>
          </a:ln>
        </p:spPr>
      </p:sp>
      <p:sp>
        <p:nvSpPr>
          <p:cNvPr id="12" name="mini slab stage section"/>
          <p:cNvSpPr/>
          <p:nvPr/>
        </p:nvSpPr>
        <p:spPr>
          <a:xfrm>
            <a:off x="1714500" y="3017520"/>
            <a:ext cx="1005840" cy="32004"/>
          </a:xfrm>
          <a:prstGeom prst="rect">
            <a:avLst/>
          </a:prstGeom>
          <a:solidFill>
            <a:srgbClr val="52514E"/>
          </a:solidFill>
          <a:ln/>
        </p:spPr>
      </p:sp>
      <p:sp>
        <p:nvSpPr>
          <p:cNvPr id="13" name="mini stage section 0"/>
          <p:cNvSpPr/>
          <p:nvPr/>
        </p:nvSpPr>
        <p:spPr>
          <a:xfrm>
            <a:off x="1847088" y="3081528"/>
            <a:ext cx="137160" cy="100584"/>
          </a:xfrm>
          <a:prstGeom prst="rect">
            <a:avLst/>
          </a:prstGeom>
          <a:solidFill>
            <a:schemeClr val="accent1"/>
          </a:solidFill>
          <a:ln w="5080">
            <a:solidFill>
              <a:srgbClr val="FFFFFF"/>
            </a:solidFill>
            <a:prstDash val="solid"/>
          </a:ln>
        </p:spPr>
      </p:sp>
      <p:sp>
        <p:nvSpPr>
          <p:cNvPr id="14" name="mini stage section 1"/>
          <p:cNvSpPr/>
          <p:nvPr/>
        </p:nvSpPr>
        <p:spPr>
          <a:xfrm>
            <a:off x="2075688" y="3090672"/>
            <a:ext cx="82296" cy="82296"/>
          </a:xfrm>
          <a:prstGeom prst="ellipse">
            <a:avLst/>
          </a:prstGeom>
          <a:solidFill>
            <a:schemeClr val="accent1"/>
          </a:solidFill>
          <a:ln w="5080">
            <a:solidFill>
              <a:srgbClr val="FFFFFF"/>
            </a:solidFill>
            <a:prstDash val="solid"/>
          </a:ln>
        </p:spPr>
      </p:sp>
      <p:sp>
        <p:nvSpPr>
          <p:cNvPr id="15" name="mini stage section 2"/>
          <p:cNvSpPr/>
          <p:nvPr/>
        </p:nvSpPr>
        <p:spPr>
          <a:xfrm>
            <a:off x="2276856" y="3090672"/>
            <a:ext cx="82296" cy="82296"/>
          </a:xfrm>
          <a:prstGeom prst="ellipse">
            <a:avLst/>
          </a:prstGeom>
          <a:solidFill>
            <a:schemeClr val="accent1"/>
          </a:solidFill>
          <a:ln w="5080">
            <a:solidFill>
              <a:srgbClr val="FFFFFF"/>
            </a:solidFill>
            <a:prstDash val="solid"/>
          </a:ln>
        </p:spPr>
      </p:sp>
      <p:sp>
        <p:nvSpPr>
          <p:cNvPr id="16" name="mini stage section 3"/>
          <p:cNvSpPr/>
          <p:nvPr/>
        </p:nvSpPr>
        <p:spPr>
          <a:xfrm>
            <a:off x="2464308" y="3108960"/>
            <a:ext cx="109728" cy="45720"/>
          </a:xfrm>
          <a:prstGeom prst="rect">
            <a:avLst/>
          </a:prstGeom>
          <a:solidFill>
            <a:schemeClr val="accent1"/>
          </a:solidFill>
          <a:ln w="5080">
            <a:solidFill>
              <a:srgbClr val="FFFFFF"/>
            </a:solidFill>
            <a:prstDash val="solid"/>
          </a:ln>
        </p:spPr>
      </p:sp>
      <p:sp>
        <p:nvSpPr>
          <p:cNvPr id="17" name="stage synthesize"/>
          <p:cNvSpPr/>
          <p:nvPr/>
        </p:nvSpPr>
        <p:spPr>
          <a:xfrm>
            <a:off x="4425696" y="1371600"/>
            <a:ext cx="3337560" cy="2514600"/>
          </a:xfrm>
          <a:prstGeom prst="roundRect">
            <a:avLst>
              <a:gd name="adj" fmla="val 2545"/>
            </a:avLst>
          </a:prstGeom>
          <a:solidFill>
            <a:schemeClr val="bg2"/>
          </a:solidFill>
          <a:ln w="19050">
            <a:solidFill>
              <a:srgbClr val="EB6834"/>
            </a:solidFill>
            <a:prstDash val="solid"/>
          </a:ln>
        </p:spPr>
      </p:sp>
      <p:sp>
        <p:nvSpPr>
          <p:cNvPr id="18" name="icon ring stage synthesize"/>
          <p:cNvSpPr/>
          <p:nvPr/>
        </p:nvSpPr>
        <p:spPr>
          <a:xfrm>
            <a:off x="5820156" y="1600200"/>
            <a:ext cx="548640" cy="548640"/>
          </a:xfrm>
          <a:prstGeom prst="ellipse">
            <a:avLst/>
          </a:prstGeom>
          <a:solidFill>
            <a:schemeClr val="accent1"/>
          </a:solidFill>
          <a:ln/>
        </p:spPr>
      </p:sp>
      <p:pic>
        <p:nvPicPr>
          <p:cNvPr id="19" name="icon stage synthesize" descr="preencoded.png">    </p:cNvPr>
          <p:cNvPicPr>
            <a:picLocks noChangeAspect="1"/>
          </p:cNvPicPr>
          <p:nvPr/>
        </p:nvPicPr>
        <p:blipFill>
          <a:blip r:embed="rId2"/>
          <a:stretch>
            <a:fillRect/>
          </a:stretch>
        </p:blipFill>
        <p:spPr>
          <a:xfrm>
            <a:off x="5935370" y="1715414"/>
            <a:ext cx="318211" cy="318211"/>
          </a:xfrm>
          <a:prstGeom prst="rect">
            <a:avLst/>
          </a:prstGeom>
        </p:spPr>
      </p:pic>
      <p:sp>
        <p:nvSpPr>
          <p:cNvPr id="20" name="stage head synthesize"/>
          <p:cNvSpPr txBox="1"/>
          <p:nvPr/>
        </p:nvSpPr>
        <p:spPr>
          <a:xfrm>
            <a:off x="4608576" y="2194560"/>
            <a:ext cx="2971800" cy="365760"/>
          </a:xfrm>
          <a:prstGeom prst="rect">
            <a:avLst/>
          </a:prstGeom>
          <a:noFill/>
          <a:ln/>
        </p:spPr>
        <p:txBody>
          <a:bodyPr wrap="square" lIns="0" tIns="0" rIns="0" bIns="0" rtlCol="0" anchor="ctr"/>
          <a:lstStyle/>
          <a:p>
            <a:pPr algn="ctr" indent="0" marL="0">
              <a:buNone/>
            </a:pPr>
            <a:r>
              <a:rPr lang="en-US" sz="1600" b="1" dirty="0">
                <a:solidFill>
                  <a:schemeClr val="tx1"/>
                </a:solidFill>
              </a:rPr>
              <a:t>Synthesize the assembly</a:t>
            </a:r>
            <a:endParaRPr lang="en-US" sz="1600" dirty="0"/>
          </a:p>
        </p:txBody>
      </p:sp>
      <p:sp>
        <p:nvSpPr>
          <p:cNvPr id="21" name="pill synthesize"/>
          <p:cNvSpPr/>
          <p:nvPr/>
        </p:nvSpPr>
        <p:spPr>
          <a:xfrm>
            <a:off x="5454396" y="2606040"/>
            <a:ext cx="1280160" cy="292608"/>
          </a:xfrm>
          <a:prstGeom prst="roundRect">
            <a:avLst>
              <a:gd name="adj" fmla="val 50000"/>
            </a:avLst>
          </a:prstGeom>
          <a:solidFill>
            <a:srgbClr val="EB6834"/>
          </a:solidFill>
          <a:ln/>
        </p:spPr>
      </p:sp>
      <p:sp>
        <p:nvSpPr>
          <p:cNvPr id="22" name="pill text synthesize"/>
          <p:cNvSpPr txBox="1"/>
          <p:nvPr/>
        </p:nvSpPr>
        <p:spPr>
          <a:xfrm>
            <a:off x="5454396" y="260604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rPr>
              <a:t>by hand</a:t>
            </a:r>
            <a:endParaRPr lang="en-US" sz="1100" dirty="0"/>
          </a:p>
        </p:txBody>
      </p:sp>
      <p:sp>
        <p:nvSpPr>
          <p:cNvPr id="23" name="stage line synthesize"/>
          <p:cNvSpPr txBox="1"/>
          <p:nvPr/>
        </p:nvSpPr>
        <p:spPr>
          <a:xfrm>
            <a:off x="4608576" y="3383280"/>
            <a:ext cx="2971800" cy="365760"/>
          </a:xfrm>
          <a:prstGeom prst="rect">
            <a:avLst/>
          </a:prstGeom>
          <a:noFill/>
          <a:ln/>
        </p:spPr>
        <p:txBody>
          <a:bodyPr wrap="square" lIns="0" tIns="0" rIns="0" bIns="0" rtlCol="0" anchor="ctr"/>
          <a:lstStyle/>
          <a:p>
            <a:pPr algn="ctr" indent="0" marL="0">
              <a:buNone/>
            </a:pPr>
            <a:r>
              <a:rPr lang="en-US" sz="1150" dirty="0">
                <a:solidFill>
                  <a:srgbClr val="52514E"/>
                </a:solidFill>
              </a:rPr>
              <a:t>topology and parts chosen by an engineer [1]</a:t>
            </a:r>
            <a:endParaRPr lang="en-US" sz="1150" dirty="0"/>
          </a:p>
        </p:txBody>
      </p:sp>
      <p:sp>
        <p:nvSpPr>
          <p:cNvPr id="24" name="stage arrow 1"/>
          <p:cNvSpPr/>
          <p:nvPr/>
        </p:nvSpPr>
        <p:spPr>
          <a:xfrm>
            <a:off x="7854696" y="2628900"/>
            <a:ext cx="356616" cy="0"/>
          </a:xfrm>
          <a:prstGeom prst="line">
            <a:avLst/>
          </a:prstGeom>
          <a:noFill/>
          <a:ln w="19050">
            <a:solidFill>
              <a:srgbClr val="52514E"/>
            </a:solidFill>
            <a:prstDash val="solid"/>
            <a:tailEnd type="triangle"/>
          </a:ln>
        </p:spPr>
      </p:sp>
      <p:sp>
        <p:nvSpPr>
          <p:cNvPr id="25" name="ghost slab"/>
          <p:cNvSpPr/>
          <p:nvPr/>
        </p:nvSpPr>
        <p:spPr>
          <a:xfrm>
            <a:off x="5500116" y="2971800"/>
            <a:ext cx="1188720" cy="64008"/>
          </a:xfrm>
          <a:prstGeom prst="rect">
            <a:avLst/>
          </a:prstGeom>
          <a:solidFill>
            <a:srgbClr val="52514E"/>
          </a:solidFill>
          <a:ln/>
        </p:spPr>
      </p:sp>
      <p:sp>
        <p:nvSpPr>
          <p:cNvPr id="26" name="ghost rod 0"/>
          <p:cNvSpPr/>
          <p:nvPr/>
        </p:nvSpPr>
        <p:spPr>
          <a:xfrm>
            <a:off x="5573268" y="3035808"/>
            <a:ext cx="0" cy="384048"/>
          </a:xfrm>
          <a:prstGeom prst="line">
            <a:avLst/>
          </a:prstGeom>
          <a:noFill/>
          <a:ln w="15875">
            <a:solidFill>
              <a:srgbClr val="898781"/>
            </a:solidFill>
            <a:prstDash val="dash"/>
          </a:ln>
        </p:spPr>
      </p:sp>
      <p:sp>
        <p:nvSpPr>
          <p:cNvPr id="27" name="ghost rod 1"/>
          <p:cNvSpPr/>
          <p:nvPr/>
        </p:nvSpPr>
        <p:spPr>
          <a:xfrm>
            <a:off x="6615684" y="3035808"/>
            <a:ext cx="0" cy="384048"/>
          </a:xfrm>
          <a:prstGeom prst="line">
            <a:avLst/>
          </a:prstGeom>
          <a:noFill/>
          <a:ln w="15875">
            <a:solidFill>
              <a:srgbClr val="898781"/>
            </a:solidFill>
            <a:prstDash val="dash"/>
          </a:ln>
        </p:spPr>
      </p:sp>
      <p:sp>
        <p:nvSpPr>
          <p:cNvPr id="28" name="ghost channel"/>
          <p:cNvSpPr/>
          <p:nvPr/>
        </p:nvSpPr>
        <p:spPr>
          <a:xfrm>
            <a:off x="5500116" y="3419856"/>
            <a:ext cx="1188720" cy="0"/>
          </a:xfrm>
          <a:prstGeom prst="line">
            <a:avLst/>
          </a:prstGeom>
          <a:noFill/>
          <a:ln w="15875">
            <a:solidFill>
              <a:srgbClr val="898781"/>
            </a:solidFill>
            <a:prstDash val="dash"/>
          </a:ln>
        </p:spPr>
      </p:sp>
      <p:sp>
        <p:nvSpPr>
          <p:cNvPr id="29" name="ghost q"/>
          <p:cNvSpPr/>
          <p:nvPr/>
        </p:nvSpPr>
        <p:spPr>
          <a:xfrm>
            <a:off x="5939028" y="3072384"/>
            <a:ext cx="310896" cy="310896"/>
          </a:xfrm>
          <a:prstGeom prst="ellipse">
            <a:avLst/>
          </a:prstGeom>
          <a:solidFill>
            <a:srgbClr val="EB6834"/>
          </a:solidFill>
          <a:ln/>
        </p:spPr>
      </p:sp>
      <p:sp>
        <p:nvSpPr>
          <p:cNvPr id="30" name="ghost q text"/>
          <p:cNvSpPr txBox="1"/>
          <p:nvPr/>
        </p:nvSpPr>
        <p:spPr>
          <a:xfrm>
            <a:off x="5939028" y="30723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1" name="stage verify"/>
          <p:cNvSpPr/>
          <p:nvPr/>
        </p:nvSpPr>
        <p:spPr>
          <a:xfrm>
            <a:off x="8302752" y="1371600"/>
            <a:ext cx="3337560" cy="2514600"/>
          </a:xfrm>
          <a:prstGeom prst="roundRect">
            <a:avLst>
              <a:gd name="adj" fmla="val 2545"/>
            </a:avLst>
          </a:prstGeom>
          <a:solidFill>
            <a:schemeClr val="bg2"/>
          </a:solidFill>
          <a:ln/>
        </p:spPr>
      </p:sp>
      <p:sp>
        <p:nvSpPr>
          <p:cNvPr id="32" name="icon ring stage verify"/>
          <p:cNvSpPr/>
          <p:nvPr/>
        </p:nvSpPr>
        <p:spPr>
          <a:xfrm>
            <a:off x="9697212" y="1600200"/>
            <a:ext cx="548640" cy="548640"/>
          </a:xfrm>
          <a:prstGeom prst="ellipse">
            <a:avLst/>
          </a:prstGeom>
          <a:solidFill>
            <a:schemeClr val="accent1"/>
          </a:solidFill>
          <a:ln/>
        </p:spPr>
      </p:sp>
      <p:pic>
        <p:nvPicPr>
          <p:cNvPr id="33" name="icon stage verify" descr="preencoded.png">    </p:cNvPr>
          <p:cNvPicPr>
            <a:picLocks noChangeAspect="1"/>
          </p:cNvPicPr>
          <p:nvPr/>
        </p:nvPicPr>
        <p:blipFill>
          <a:blip r:embed="rId3"/>
          <a:stretch>
            <a:fillRect/>
          </a:stretch>
        </p:blipFill>
        <p:spPr>
          <a:xfrm>
            <a:off x="9812426" y="1715414"/>
            <a:ext cx="318211" cy="318211"/>
          </a:xfrm>
          <a:prstGeom prst="rect">
            <a:avLst/>
          </a:prstGeom>
        </p:spPr>
      </p:pic>
      <p:sp>
        <p:nvSpPr>
          <p:cNvPr id="34" name="stage head verify"/>
          <p:cNvSpPr txBox="1"/>
          <p:nvPr/>
        </p:nvSpPr>
        <p:spPr>
          <a:xfrm>
            <a:off x="8485632" y="2194560"/>
            <a:ext cx="2971800" cy="365760"/>
          </a:xfrm>
          <a:prstGeom prst="rect">
            <a:avLst/>
          </a:prstGeom>
          <a:noFill/>
          <a:ln/>
        </p:spPr>
        <p:txBody>
          <a:bodyPr wrap="square" lIns="0" tIns="0" rIns="0" bIns="0" rtlCol="0" anchor="ctr"/>
          <a:lstStyle/>
          <a:p>
            <a:pPr algn="ctr" indent="0" marL="0">
              <a:buNone/>
            </a:pPr>
            <a:r>
              <a:rPr lang="en-US" sz="1600" b="1" dirty="0">
                <a:solidFill>
                  <a:schemeClr val="tx1"/>
                </a:solidFill>
              </a:rPr>
              <a:t>Verify the design</a:t>
            </a:r>
            <a:endParaRPr lang="en-US" sz="1600" dirty="0"/>
          </a:p>
        </p:txBody>
      </p:sp>
      <p:sp>
        <p:nvSpPr>
          <p:cNvPr id="35" name="pill verify"/>
          <p:cNvSpPr/>
          <p:nvPr/>
        </p:nvSpPr>
        <p:spPr>
          <a:xfrm>
            <a:off x="9331452" y="2606040"/>
            <a:ext cx="1280160" cy="292608"/>
          </a:xfrm>
          <a:prstGeom prst="roundRect">
            <a:avLst>
              <a:gd name="adj" fmla="val 50000"/>
            </a:avLst>
          </a:prstGeom>
          <a:solidFill>
            <a:srgbClr val="008300"/>
          </a:solidFill>
          <a:ln/>
        </p:spPr>
      </p:sp>
      <p:sp>
        <p:nvSpPr>
          <p:cNvPr id="36" name="pill text verify"/>
          <p:cNvSpPr txBox="1"/>
          <p:nvPr/>
        </p:nvSpPr>
        <p:spPr>
          <a:xfrm>
            <a:off x="9331452" y="260604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rPr>
              <a:t>tools</a:t>
            </a:r>
            <a:endParaRPr lang="en-US" sz="1100" dirty="0"/>
          </a:p>
        </p:txBody>
      </p:sp>
      <p:sp>
        <p:nvSpPr>
          <p:cNvPr id="37" name="stage line verify"/>
          <p:cNvSpPr txBox="1"/>
          <p:nvPr/>
        </p:nvSpPr>
        <p:spPr>
          <a:xfrm>
            <a:off x="8485632" y="3383280"/>
            <a:ext cx="2971800" cy="365760"/>
          </a:xfrm>
          <a:prstGeom prst="rect">
            <a:avLst/>
          </a:prstGeom>
          <a:noFill/>
          <a:ln/>
        </p:spPr>
        <p:txBody>
          <a:bodyPr wrap="square" lIns="0" tIns="0" rIns="0" bIns="0" rtlCol="0" anchor="ctr"/>
          <a:lstStyle/>
          <a:p>
            <a:pPr algn="ctr" indent="0" marL="0">
              <a:buNone/>
            </a:pPr>
            <a:r>
              <a:rPr lang="en-US" sz="1150" dirty="0">
                <a:solidFill>
                  <a:srgbClr val="52514E"/>
                </a:solidFill>
              </a:rPr>
              <a:t>statics, anchors and connectors checked</a:t>
            </a:r>
            <a:endParaRPr lang="en-US" sz="1150" dirty="0"/>
          </a:p>
        </p:txBody>
      </p:sp>
      <p:sp>
        <p:nvSpPr>
          <p:cNvPr id="38" name="verify chip statics"/>
          <p:cNvSpPr/>
          <p:nvPr/>
        </p:nvSpPr>
        <p:spPr>
          <a:xfrm>
            <a:off x="8599932" y="3063240"/>
            <a:ext cx="896112" cy="292608"/>
          </a:xfrm>
          <a:prstGeom prst="roundRect">
            <a:avLst>
              <a:gd name="adj" fmla="val 50000"/>
            </a:avLst>
          </a:prstGeom>
          <a:solidFill>
            <a:srgbClr val="EAF5EE"/>
          </a:solidFill>
          <a:ln/>
        </p:spPr>
      </p:sp>
      <p:sp>
        <p:nvSpPr>
          <p:cNvPr id="39" name="verify chip text statics"/>
          <p:cNvSpPr txBox="1"/>
          <p:nvPr/>
        </p:nvSpPr>
        <p:spPr>
          <a:xfrm>
            <a:off x="8599932" y="3063240"/>
            <a:ext cx="896112" cy="292608"/>
          </a:xfrm>
          <a:prstGeom prst="rect">
            <a:avLst/>
          </a:prstGeom>
          <a:noFill/>
          <a:ln/>
        </p:spPr>
        <p:txBody>
          <a:bodyPr wrap="square" lIns="0" tIns="0" rIns="0" bIns="0" rtlCol="0" anchor="ctr"/>
          <a:lstStyle/>
          <a:p>
            <a:pPr algn="ctr" indent="0" marL="0">
              <a:buNone/>
            </a:pPr>
            <a:r>
              <a:rPr lang="en-US" sz="1000" b="1" dirty="0">
                <a:solidFill>
                  <a:srgbClr val="008300"/>
                </a:solidFill>
              </a:rPr>
              <a:t>✓ statics</a:t>
            </a:r>
            <a:endParaRPr lang="en-US" sz="1000" dirty="0"/>
          </a:p>
        </p:txBody>
      </p:sp>
      <p:sp>
        <p:nvSpPr>
          <p:cNvPr id="40" name="verify chip anchors"/>
          <p:cNvSpPr/>
          <p:nvPr/>
        </p:nvSpPr>
        <p:spPr>
          <a:xfrm>
            <a:off x="9550908" y="3063240"/>
            <a:ext cx="896112" cy="292608"/>
          </a:xfrm>
          <a:prstGeom prst="roundRect">
            <a:avLst>
              <a:gd name="adj" fmla="val 50000"/>
            </a:avLst>
          </a:prstGeom>
          <a:solidFill>
            <a:srgbClr val="EAF5EE"/>
          </a:solidFill>
          <a:ln/>
        </p:spPr>
      </p:sp>
      <p:sp>
        <p:nvSpPr>
          <p:cNvPr id="41" name="verify chip text anchors"/>
          <p:cNvSpPr txBox="1"/>
          <p:nvPr/>
        </p:nvSpPr>
        <p:spPr>
          <a:xfrm>
            <a:off x="9550908" y="3063240"/>
            <a:ext cx="896112" cy="292608"/>
          </a:xfrm>
          <a:prstGeom prst="rect">
            <a:avLst/>
          </a:prstGeom>
          <a:noFill/>
          <a:ln/>
        </p:spPr>
        <p:txBody>
          <a:bodyPr wrap="square" lIns="0" tIns="0" rIns="0" bIns="0" rtlCol="0" anchor="ctr"/>
          <a:lstStyle/>
          <a:p>
            <a:pPr algn="ctr" indent="0" marL="0">
              <a:buNone/>
            </a:pPr>
            <a:r>
              <a:rPr lang="en-US" sz="1000" b="1" dirty="0">
                <a:solidFill>
                  <a:srgbClr val="008300"/>
                </a:solidFill>
              </a:rPr>
              <a:t>✓ anchors</a:t>
            </a:r>
            <a:endParaRPr lang="en-US" sz="1000" dirty="0"/>
          </a:p>
        </p:txBody>
      </p:sp>
      <p:sp>
        <p:nvSpPr>
          <p:cNvPr id="42" name="verify chip connectors"/>
          <p:cNvSpPr/>
          <p:nvPr/>
        </p:nvSpPr>
        <p:spPr>
          <a:xfrm>
            <a:off x="10501884" y="3063240"/>
            <a:ext cx="896112" cy="292608"/>
          </a:xfrm>
          <a:prstGeom prst="roundRect">
            <a:avLst>
              <a:gd name="adj" fmla="val 50000"/>
            </a:avLst>
          </a:prstGeom>
          <a:solidFill>
            <a:srgbClr val="EAF5EE"/>
          </a:solidFill>
          <a:ln/>
        </p:spPr>
      </p:sp>
      <p:sp>
        <p:nvSpPr>
          <p:cNvPr id="43" name="verify chip text connectors"/>
          <p:cNvSpPr txBox="1"/>
          <p:nvPr/>
        </p:nvSpPr>
        <p:spPr>
          <a:xfrm>
            <a:off x="10501884" y="3063240"/>
            <a:ext cx="896112" cy="292608"/>
          </a:xfrm>
          <a:prstGeom prst="rect">
            <a:avLst/>
          </a:prstGeom>
          <a:noFill/>
          <a:ln/>
        </p:spPr>
        <p:txBody>
          <a:bodyPr wrap="square" lIns="0" tIns="0" rIns="0" bIns="0" rtlCol="0" anchor="ctr"/>
          <a:lstStyle/>
          <a:p>
            <a:pPr algn="ctr" indent="0" marL="0">
              <a:buNone/>
            </a:pPr>
            <a:r>
              <a:rPr lang="en-US" sz="1000" b="1" dirty="0">
                <a:solidFill>
                  <a:srgbClr val="008300"/>
                </a:solidFill>
              </a:rPr>
              <a:t>✓ connectors</a:t>
            </a:r>
            <a:endParaRPr lang="en-US" sz="1000" dirty="0"/>
          </a:p>
        </p:txBody>
      </p:sp>
      <p:sp>
        <p:nvSpPr>
          <p:cNvPr id="44" name="why rule"/>
          <p:cNvSpPr/>
          <p:nvPr/>
        </p:nvSpPr>
        <p:spPr>
          <a:xfrm>
            <a:off x="548640" y="4251960"/>
            <a:ext cx="11091672" cy="0"/>
          </a:xfrm>
          <a:prstGeom prst="line">
            <a:avLst/>
          </a:prstGeom>
          <a:noFill/>
          <a:ln w="12700">
            <a:solidFill>
              <a:srgbClr val="E1E0D9"/>
            </a:solidFill>
            <a:prstDash val="solid"/>
          </a:ln>
        </p:spPr>
      </p:sp>
      <p:sp>
        <p:nvSpPr>
          <p:cNvPr id="45" name="why heading"/>
          <p:cNvSpPr txBox="1"/>
          <p:nvPr/>
        </p:nvSpPr>
        <p:spPr>
          <a:xfrm>
            <a:off x="548640" y="4343400"/>
            <a:ext cx="11091672" cy="274320"/>
          </a:xfrm>
          <a:prstGeom prst="rect">
            <a:avLst/>
          </a:prstGeom>
          <a:noFill/>
          <a:ln/>
        </p:spPr>
        <p:txBody>
          <a:bodyPr wrap="square" lIns="0" tIns="0" rIns="0" bIns="0" rtlCol="0" anchor="ctr"/>
          <a:lstStyle/>
          <a:p>
            <a:pPr indent="0" marL="0">
              <a:buNone/>
            </a:pPr>
            <a:r>
              <a:rPr lang="en-US" sz="1200" b="1" dirty="0">
                <a:solidFill>
                  <a:srgbClr val="52514E"/>
                </a:solidFill>
              </a:rPr>
              <a:t>Why the middle step resists automation</a:t>
            </a:r>
            <a:endParaRPr lang="en-US" sz="1200" dirty="0"/>
          </a:p>
        </p:txBody>
      </p:sp>
      <p:sp>
        <p:nvSpPr>
          <p:cNvPr id="46" name="icon ring why Tacit judgment"/>
          <p:cNvSpPr/>
          <p:nvPr/>
        </p:nvSpPr>
        <p:spPr>
          <a:xfrm>
            <a:off x="548640" y="4754880"/>
            <a:ext cx="512064" cy="512064"/>
          </a:xfrm>
          <a:prstGeom prst="ellipse">
            <a:avLst/>
          </a:prstGeom>
          <a:solidFill>
            <a:schemeClr val="accent1"/>
          </a:solidFill>
          <a:ln/>
        </p:spPr>
      </p:sp>
      <p:pic>
        <p:nvPicPr>
          <p:cNvPr id="47" name="icon why Tacit judgment" descr="preencoded.png">    </p:cNvPr>
          <p:cNvPicPr>
            <a:picLocks noChangeAspect="1"/>
          </p:cNvPicPr>
          <p:nvPr/>
        </p:nvPicPr>
        <p:blipFill>
          <a:blip r:embed="rId4"/>
          <a:stretch>
            <a:fillRect/>
          </a:stretch>
        </p:blipFill>
        <p:spPr>
          <a:xfrm>
            <a:off x="656173" y="4862413"/>
            <a:ext cx="296997" cy="296997"/>
          </a:xfrm>
          <a:prstGeom prst="rect">
            <a:avLst/>
          </a:prstGeom>
        </p:spPr>
      </p:pic>
      <p:sp>
        <p:nvSpPr>
          <p:cNvPr id="48" name="why text Tacit judgment"/>
          <p:cNvSpPr txBox="1"/>
          <p:nvPr/>
        </p:nvSpPr>
        <p:spPr>
          <a:xfrm>
            <a:off x="1234440" y="4663440"/>
            <a:ext cx="2782824" cy="731520"/>
          </a:xfrm>
          <a:prstGeom prst="rect">
            <a:avLst/>
          </a:prstGeom>
          <a:noFill/>
          <a:ln/>
        </p:spPr>
        <p:txBody>
          <a:bodyPr wrap="square" lIns="0" tIns="0" rIns="0" bIns="0" rtlCol="0" anchor="ctr"/>
          <a:lstStyle/>
          <a:p>
            <a:pPr indent="0" marL="0">
              <a:buNone/>
            </a:pPr>
            <a:r>
              <a:rPr lang="en-US" sz="1400" b="1" dirty="0">
                <a:solidFill>
                  <a:schemeClr val="tx1"/>
                </a:solidFill>
              </a:rPr>
              <a:t>Tacit judgment</a:t>
            </a:r>
            <a:endParaRPr lang="en-US" sz="1400" dirty="0"/>
          </a:p>
          <a:p>
            <a:pPr indent="0" marL="0">
              <a:buNone/>
            </a:pPr>
            <a:r>
              <a:rPr lang="en-US" sz="1150" dirty="0">
                <a:solidFill>
                  <a:srgbClr val="52514E"/>
                </a:solidFill>
              </a:rPr>
              <a:t>the topology comes from experience</a:t>
            </a:r>
            <a:endParaRPr lang="en-US" sz="1400" dirty="0"/>
          </a:p>
        </p:txBody>
      </p:sp>
      <p:sp>
        <p:nvSpPr>
          <p:cNvPr id="49" name="icon ring why Rule explosion"/>
          <p:cNvSpPr/>
          <p:nvPr/>
        </p:nvSpPr>
        <p:spPr>
          <a:xfrm>
            <a:off x="4337304" y="4754880"/>
            <a:ext cx="512064" cy="512064"/>
          </a:xfrm>
          <a:prstGeom prst="ellipse">
            <a:avLst/>
          </a:prstGeom>
          <a:solidFill>
            <a:schemeClr val="accent1"/>
          </a:solidFill>
          <a:ln/>
        </p:spPr>
      </p:sp>
      <p:pic>
        <p:nvPicPr>
          <p:cNvPr id="50" name="icon why Rule explosion" descr="preencoded.png">    </p:cNvPr>
          <p:cNvPicPr>
            <a:picLocks noChangeAspect="1"/>
          </p:cNvPicPr>
          <p:nvPr/>
        </p:nvPicPr>
        <p:blipFill>
          <a:blip r:embed="rId5"/>
          <a:stretch>
            <a:fillRect/>
          </a:stretch>
        </p:blipFill>
        <p:spPr>
          <a:xfrm>
            <a:off x="4444837" y="4862413"/>
            <a:ext cx="296997" cy="296997"/>
          </a:xfrm>
          <a:prstGeom prst="rect">
            <a:avLst/>
          </a:prstGeom>
        </p:spPr>
      </p:pic>
      <p:sp>
        <p:nvSpPr>
          <p:cNvPr id="51" name="why text Rule explosion"/>
          <p:cNvSpPr txBox="1"/>
          <p:nvPr/>
        </p:nvSpPr>
        <p:spPr>
          <a:xfrm>
            <a:off x="5023104" y="4663440"/>
            <a:ext cx="2782824" cy="731520"/>
          </a:xfrm>
          <a:prstGeom prst="rect">
            <a:avLst/>
          </a:prstGeom>
          <a:noFill/>
          <a:ln/>
        </p:spPr>
        <p:txBody>
          <a:bodyPr wrap="square" lIns="0" tIns="0" rIns="0" bIns="0" rtlCol="0" anchor="ctr"/>
          <a:lstStyle/>
          <a:p>
            <a:pPr indent="0" marL="0">
              <a:buNone/>
            </a:pPr>
            <a:r>
              <a:rPr lang="en-US" sz="1400" b="1" dirty="0">
                <a:solidFill>
                  <a:schemeClr val="tx1"/>
                </a:solidFill>
              </a:rPr>
              <a:t>Rule explosion</a:t>
            </a:r>
            <a:endParaRPr lang="en-US" sz="1400" dirty="0"/>
          </a:p>
          <a:p>
            <a:pPr indent="0" marL="0">
              <a:buNone/>
            </a:pPr>
            <a:r>
              <a:rPr lang="en-US" sz="1150" dirty="0">
                <a:solidFill>
                  <a:srgbClr val="52514E"/>
                </a:solidFill>
              </a:rPr>
              <a:t>constraints interact across thousands of combinations</a:t>
            </a:r>
            <a:endParaRPr lang="en-US" sz="1400" dirty="0"/>
          </a:p>
        </p:txBody>
      </p:sp>
      <p:sp>
        <p:nvSpPr>
          <p:cNvPr id="52" name="icon ring why Catalog volatility"/>
          <p:cNvSpPr/>
          <p:nvPr/>
        </p:nvSpPr>
        <p:spPr>
          <a:xfrm>
            <a:off x="8125968" y="4754880"/>
            <a:ext cx="512064" cy="512064"/>
          </a:xfrm>
          <a:prstGeom prst="ellipse">
            <a:avLst/>
          </a:prstGeom>
          <a:solidFill>
            <a:schemeClr val="accent1"/>
          </a:solidFill>
          <a:ln/>
        </p:spPr>
      </p:sp>
      <p:pic>
        <p:nvPicPr>
          <p:cNvPr id="53" name="icon why Catalog volatility" descr="preencoded.png">    </p:cNvPr>
          <p:cNvPicPr>
            <a:picLocks noChangeAspect="1"/>
          </p:cNvPicPr>
          <p:nvPr/>
        </p:nvPicPr>
        <p:blipFill>
          <a:blip r:embed="rId6"/>
          <a:stretch>
            <a:fillRect/>
          </a:stretch>
        </p:blipFill>
        <p:spPr>
          <a:xfrm>
            <a:off x="8233501" y="4862413"/>
            <a:ext cx="296997" cy="296997"/>
          </a:xfrm>
          <a:prstGeom prst="rect">
            <a:avLst/>
          </a:prstGeom>
        </p:spPr>
      </p:pic>
      <p:sp>
        <p:nvSpPr>
          <p:cNvPr id="54" name="why text Catalog volatility"/>
          <p:cNvSpPr txBox="1"/>
          <p:nvPr/>
        </p:nvSpPr>
        <p:spPr>
          <a:xfrm>
            <a:off x="8811768" y="4663440"/>
            <a:ext cx="2782824" cy="731520"/>
          </a:xfrm>
          <a:prstGeom prst="rect">
            <a:avLst/>
          </a:prstGeom>
          <a:noFill/>
          <a:ln/>
        </p:spPr>
        <p:txBody>
          <a:bodyPr wrap="square" lIns="0" tIns="0" rIns="0" bIns="0" rtlCol="0" anchor="ctr"/>
          <a:lstStyle/>
          <a:p>
            <a:pPr indent="0" marL="0">
              <a:buNone/>
            </a:pPr>
            <a:r>
              <a:rPr lang="en-US" sz="1400" b="1" dirty="0">
                <a:solidFill>
                  <a:schemeClr val="tx1"/>
                </a:solidFill>
              </a:rPr>
              <a:t>Catalog volatility</a:t>
            </a:r>
            <a:endParaRPr lang="en-US" sz="1400" dirty="0"/>
          </a:p>
          <a:p>
            <a:pPr indent="0" marL="0">
              <a:buNone/>
            </a:pPr>
            <a:r>
              <a:rPr lang="en-US" sz="1150" dirty="0">
                <a:solidFill>
                  <a:srgbClr val="52514E"/>
                </a:solidFill>
              </a:rPr>
              <a:t>catalogs change faster than rule systems</a:t>
            </a:r>
            <a:endParaRPr lang="en-US" sz="1400" dirty="0"/>
          </a:p>
        </p:txBody>
      </p:sp>
      <p:sp>
        <p:nvSpPr>
          <p:cNvPr id="55" name="references"/>
          <p:cNvSpPr txBox="1"/>
          <p:nvPr/>
        </p:nvSpPr>
        <p:spPr>
          <a:xfrm>
            <a:off x="548640" y="6163056"/>
            <a:ext cx="11091672" cy="237744"/>
          </a:xfrm>
          <a:prstGeom prst="rect">
            <a:avLst/>
          </a:prstGeom>
          <a:noFill/>
          <a:ln/>
        </p:spPr>
        <p:txBody>
          <a:bodyPr wrap="square" lIns="0" tIns="0" rIns="0" bIns="0" rtlCol="0" anchor="b"/>
          <a:lstStyle/>
          <a:p>
            <a:pPr indent="0" marL="0">
              <a:buNone/>
            </a:pPr>
            <a:r>
              <a:rPr lang="en-US" sz="900" dirty="0">
                <a:solidFill>
                  <a:srgbClr val="52514E"/>
                </a:solidFill>
              </a:rPr>
              <a:t>[1] Pedrollo, Graeber &amp; Fischer (2026), Feasibility-aware sequential synthesis of structural support assemblies, ISARC 2026   [2] Pedrollo, Gvadzabia, Graeber &amp; Fischer (2026), CrossMEP, CIB W78 2026 (this paper)   [3] Korman, Fischer &amp; Tatum (2003), Knowledge and reasoning for MEP coordination, J. Constr. Eng. Manage. 129(6)</a:t>
            </a:r>
            <a:endParaRPr lang="en-US" sz="900" dirty="0"/>
          </a:p>
        </p:txBody>
      </p:sp>
      <p:sp>
        <p:nvSpPr>
          <p:cNvPr id="56"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A learning method needs thousands of contexts to practise on, and real projects give too few, so we generate them</a:t>
            </a:r>
            <a:endParaRPr lang="en-US" sz="2600" dirty="0"/>
          </a:p>
        </p:txBody>
      </p:sp>
      <p:sp>
        <p:nvSpPr>
          <p:cNvPr id="3" name="loop heading"/>
          <p:cNvSpPr txBox="1"/>
          <p:nvPr/>
        </p:nvSpPr>
        <p:spPr>
          <a:xfrm>
            <a:off x="548640" y="1325880"/>
            <a:ext cx="4572000" cy="274320"/>
          </a:xfrm>
          <a:prstGeom prst="rect">
            <a:avLst/>
          </a:prstGeom>
          <a:noFill/>
          <a:ln/>
        </p:spPr>
        <p:txBody>
          <a:bodyPr wrap="square" lIns="0" tIns="0" rIns="0" bIns="0" rtlCol="0" anchor="ctr"/>
          <a:lstStyle/>
          <a:p>
            <a:pPr indent="0" marL="0">
              <a:buNone/>
            </a:pPr>
            <a:r>
              <a:rPr lang="en-US" sz="1200" b="1" dirty="0">
                <a:solidFill>
                  <a:srgbClr val="52514E"/>
                </a:solidFill>
              </a:rPr>
              <a:t>How a learning method learns, round after round</a:t>
            </a:r>
            <a:endParaRPr lang="en-US" sz="1200" dirty="0"/>
          </a:p>
        </p:txBody>
      </p:sp>
      <p:sp>
        <p:nvSpPr>
          <p:cNvPr id="4" name="box context"/>
          <p:cNvSpPr/>
          <p:nvPr/>
        </p:nvSpPr>
        <p:spPr>
          <a:xfrm>
            <a:off x="548640" y="1783080"/>
            <a:ext cx="2103120" cy="1371600"/>
          </a:xfrm>
          <a:prstGeom prst="roundRect">
            <a:avLst>
              <a:gd name="adj" fmla="val 4000"/>
            </a:avLst>
          </a:prstGeom>
          <a:solidFill>
            <a:schemeClr val="bg2"/>
          </a:solidFill>
          <a:ln w="19050">
            <a:solidFill>
              <a:schemeClr val="accent1"/>
            </a:solidFill>
            <a:prstDash val="solid"/>
          </a:ln>
        </p:spPr>
      </p:sp>
      <p:sp>
        <p:nvSpPr>
          <p:cNvPr id="5" name="mini card loop context"/>
          <p:cNvSpPr/>
          <p:nvPr/>
        </p:nvSpPr>
        <p:spPr>
          <a:xfrm>
            <a:off x="1005840" y="1892808"/>
            <a:ext cx="1188720" cy="475488"/>
          </a:xfrm>
          <a:prstGeom prst="rect">
            <a:avLst/>
          </a:prstGeom>
          <a:solidFill>
            <a:srgbClr val="FFFFFF"/>
          </a:solidFill>
          <a:ln w="6350">
            <a:solidFill>
              <a:srgbClr val="898781"/>
            </a:solidFill>
            <a:prstDash val="solid"/>
          </a:ln>
        </p:spPr>
      </p:sp>
      <p:sp>
        <p:nvSpPr>
          <p:cNvPr id="6" name="mini slab loop context"/>
          <p:cNvSpPr/>
          <p:nvPr/>
        </p:nvSpPr>
        <p:spPr>
          <a:xfrm>
            <a:off x="1051560" y="1938528"/>
            <a:ext cx="1097280" cy="32004"/>
          </a:xfrm>
          <a:prstGeom prst="rect">
            <a:avLst/>
          </a:prstGeom>
          <a:solidFill>
            <a:srgbClr val="52514E"/>
          </a:solidFill>
          <a:ln/>
        </p:spPr>
      </p:sp>
      <p:sp>
        <p:nvSpPr>
          <p:cNvPr id="7" name="mini loop context 0"/>
          <p:cNvSpPr/>
          <p:nvPr/>
        </p:nvSpPr>
        <p:spPr>
          <a:xfrm>
            <a:off x="1202436" y="2002536"/>
            <a:ext cx="137160" cy="100584"/>
          </a:xfrm>
          <a:prstGeom prst="rect">
            <a:avLst/>
          </a:prstGeom>
          <a:solidFill>
            <a:schemeClr val="accent1"/>
          </a:solidFill>
          <a:ln w="5080">
            <a:solidFill>
              <a:srgbClr val="FFFFFF"/>
            </a:solidFill>
            <a:prstDash val="solid"/>
          </a:ln>
        </p:spPr>
      </p:sp>
      <p:sp>
        <p:nvSpPr>
          <p:cNvPr id="8" name="mini loop context 1"/>
          <p:cNvSpPr/>
          <p:nvPr/>
        </p:nvSpPr>
        <p:spPr>
          <a:xfrm>
            <a:off x="1449324" y="2011680"/>
            <a:ext cx="82296" cy="82296"/>
          </a:xfrm>
          <a:prstGeom prst="ellipse">
            <a:avLst/>
          </a:prstGeom>
          <a:solidFill>
            <a:schemeClr val="accent1"/>
          </a:solidFill>
          <a:ln w="5080">
            <a:solidFill>
              <a:srgbClr val="FFFFFF"/>
            </a:solidFill>
            <a:prstDash val="solid"/>
          </a:ln>
        </p:spPr>
      </p:sp>
      <p:sp>
        <p:nvSpPr>
          <p:cNvPr id="9" name="mini loop context 2"/>
          <p:cNvSpPr/>
          <p:nvPr/>
        </p:nvSpPr>
        <p:spPr>
          <a:xfrm>
            <a:off x="1668780" y="2011680"/>
            <a:ext cx="82296" cy="82296"/>
          </a:xfrm>
          <a:prstGeom prst="ellipse">
            <a:avLst/>
          </a:prstGeom>
          <a:solidFill>
            <a:schemeClr val="accent1"/>
          </a:solidFill>
          <a:ln w="5080">
            <a:solidFill>
              <a:srgbClr val="FFFFFF"/>
            </a:solidFill>
            <a:prstDash val="solid"/>
          </a:ln>
        </p:spPr>
      </p:sp>
      <p:sp>
        <p:nvSpPr>
          <p:cNvPr id="10" name="mini loop context 3"/>
          <p:cNvSpPr/>
          <p:nvPr/>
        </p:nvSpPr>
        <p:spPr>
          <a:xfrm>
            <a:off x="1874520" y="2029968"/>
            <a:ext cx="109728" cy="45720"/>
          </a:xfrm>
          <a:prstGeom prst="rect">
            <a:avLst/>
          </a:prstGeom>
          <a:solidFill>
            <a:schemeClr val="accent1"/>
          </a:solidFill>
          <a:ln w="5080">
            <a:solidFill>
              <a:srgbClr val="FFFFFF"/>
            </a:solidFill>
            <a:prstDash val="solid"/>
          </a:ln>
        </p:spPr>
      </p:sp>
      <p:sp>
        <p:nvSpPr>
          <p:cNvPr id="11" name="text context"/>
          <p:cNvSpPr txBox="1"/>
          <p:nvPr/>
        </p:nvSpPr>
        <p:spPr>
          <a:xfrm>
            <a:off x="548640" y="2404872"/>
            <a:ext cx="2103120" cy="731520"/>
          </a:xfrm>
          <a:prstGeom prst="rect">
            <a:avLst/>
          </a:prstGeom>
          <a:noFill/>
          <a:ln/>
        </p:spPr>
        <p:txBody>
          <a:bodyPr wrap="square" lIns="762" tIns="762" rIns="762" bIns="762" rtlCol="0" anchor="t"/>
          <a:lstStyle/>
          <a:p>
            <a:pPr algn="ctr" indent="0" marL="0">
              <a:buNone/>
            </a:pPr>
            <a:r>
              <a:rPr lang="en-US" sz="1400" b="1" dirty="0">
                <a:solidFill>
                  <a:schemeClr val="tx1"/>
                </a:solidFill>
              </a:rPr>
              <a:t>Context</a:t>
            </a:r>
            <a:endParaRPr lang="en-US" sz="1400" dirty="0"/>
          </a:p>
          <a:p>
            <a:pPr algn="ctr" indent="0" marL="0">
              <a:buNone/>
            </a:pPr>
            <a:r>
              <a:rPr lang="en-US" sz="1100" dirty="0">
                <a:solidFill>
                  <a:srgbClr val="52514E"/>
                </a:solidFill>
              </a:rPr>
              <a:t>one section at a hanger, without the answer</a:t>
            </a:r>
            <a:endParaRPr lang="en-US" sz="1400" dirty="0"/>
          </a:p>
        </p:txBody>
      </p:sp>
      <p:sp>
        <p:nvSpPr>
          <p:cNvPr id="12" name="black box method"/>
          <p:cNvSpPr/>
          <p:nvPr/>
        </p:nvSpPr>
        <p:spPr>
          <a:xfrm>
            <a:off x="3246120" y="1783080"/>
            <a:ext cx="2468880" cy="1371600"/>
          </a:xfrm>
          <a:prstGeom prst="roundRect">
            <a:avLst>
              <a:gd name="adj" fmla="val 4000"/>
            </a:avLst>
          </a:prstGeom>
          <a:solidFill>
            <a:srgbClr val="0B0B0B"/>
          </a:solidFill>
          <a:ln/>
        </p:spPr>
      </p:sp>
      <p:pic>
        <p:nvPicPr>
          <p:cNvPr id="13" name="icon method" descr="preencoded.png">    </p:cNvPr>
          <p:cNvPicPr>
            <a:picLocks noChangeAspect="1"/>
          </p:cNvPicPr>
          <p:nvPr/>
        </p:nvPicPr>
        <p:blipFill>
          <a:blip r:embed="rId1"/>
          <a:stretch>
            <a:fillRect/>
          </a:stretch>
        </p:blipFill>
        <p:spPr>
          <a:xfrm>
            <a:off x="4251960" y="1911096"/>
            <a:ext cx="457200" cy="457200"/>
          </a:xfrm>
          <a:prstGeom prst="rect">
            <a:avLst/>
          </a:prstGeom>
        </p:spPr>
      </p:pic>
      <p:sp>
        <p:nvSpPr>
          <p:cNvPr id="14" name="text method"/>
          <p:cNvSpPr txBox="1"/>
          <p:nvPr/>
        </p:nvSpPr>
        <p:spPr>
          <a:xfrm>
            <a:off x="3246120" y="2404872"/>
            <a:ext cx="2468880" cy="731520"/>
          </a:xfrm>
          <a:prstGeom prst="rect">
            <a:avLst/>
          </a:prstGeom>
          <a:noFill/>
          <a:ln/>
        </p:spPr>
        <p:txBody>
          <a:bodyPr wrap="square" lIns="762" tIns="762" rIns="762" bIns="762" rtlCol="0" anchor="t"/>
          <a:lstStyle/>
          <a:p>
            <a:pPr algn="ctr" indent="0" marL="0">
              <a:buNone/>
            </a:pPr>
            <a:r>
              <a:rPr lang="en-US" sz="1400" b="1" dirty="0">
                <a:solidFill>
                  <a:srgbClr val="FFFFFF"/>
                </a:solidFill>
              </a:rPr>
              <a:t>Learning method</a:t>
            </a:r>
            <a:endParaRPr lang="en-US" sz="1400" dirty="0"/>
          </a:p>
          <a:p>
            <a:pPr algn="ctr" indent="0" marL="0">
              <a:buNone/>
            </a:pPr>
            <a:r>
              <a:rPr lang="en-US" sz="1100" dirty="0">
                <a:solidFill>
                  <a:srgbClr val="CADCFC"/>
                </a:solidFill>
              </a:rPr>
              <a:t>a black box that proposes a design</a:t>
            </a:r>
            <a:endParaRPr lang="en-US" sz="1400" dirty="0"/>
          </a:p>
        </p:txBody>
      </p:sp>
      <p:sp>
        <p:nvSpPr>
          <p:cNvPr id="15" name="arrow context to method"/>
          <p:cNvSpPr/>
          <p:nvPr/>
        </p:nvSpPr>
        <p:spPr>
          <a:xfrm>
            <a:off x="2651760" y="2468880"/>
            <a:ext cx="594360" cy="0"/>
          </a:xfrm>
          <a:prstGeom prst="line">
            <a:avLst/>
          </a:prstGeom>
          <a:noFill/>
          <a:ln w="19050">
            <a:solidFill>
              <a:srgbClr val="52514E"/>
            </a:solidFill>
            <a:prstDash val="solid"/>
            <a:tailEnd type="triangle"/>
          </a:ln>
        </p:spPr>
      </p:sp>
      <p:sp>
        <p:nvSpPr>
          <p:cNvPr id="16" name="box design"/>
          <p:cNvSpPr/>
          <p:nvPr/>
        </p:nvSpPr>
        <p:spPr>
          <a:xfrm>
            <a:off x="6309360" y="1783080"/>
            <a:ext cx="2103120" cy="1371600"/>
          </a:xfrm>
          <a:prstGeom prst="roundRect">
            <a:avLst>
              <a:gd name="adj" fmla="val 4000"/>
            </a:avLst>
          </a:prstGeom>
          <a:solidFill>
            <a:schemeClr val="bg2"/>
          </a:solidFill>
          <a:ln w="12700">
            <a:solidFill>
              <a:srgbClr val="52514E"/>
            </a:solidFill>
            <a:prstDash val="solid"/>
          </a:ln>
        </p:spPr>
      </p:sp>
      <p:sp>
        <p:nvSpPr>
          <p:cNvPr id="17" name="mini out slab"/>
          <p:cNvSpPr/>
          <p:nvPr/>
        </p:nvSpPr>
        <p:spPr>
          <a:xfrm>
            <a:off x="6903720" y="1911096"/>
            <a:ext cx="914400" cy="73152"/>
          </a:xfrm>
          <a:prstGeom prst="rect">
            <a:avLst/>
          </a:prstGeom>
          <a:solidFill>
            <a:srgbClr val="EEF1F4"/>
          </a:solidFill>
          <a:ln w="6350">
            <a:solidFill>
              <a:srgbClr val="52514E"/>
            </a:solidFill>
            <a:prstDash val="solid"/>
          </a:ln>
        </p:spPr>
      </p:sp>
      <p:sp>
        <p:nvSpPr>
          <p:cNvPr id="18" name="mini rod 0"/>
          <p:cNvSpPr/>
          <p:nvPr/>
        </p:nvSpPr>
        <p:spPr>
          <a:xfrm>
            <a:off x="6976872" y="1984248"/>
            <a:ext cx="27432" cy="347472"/>
          </a:xfrm>
          <a:prstGeom prst="rect">
            <a:avLst/>
          </a:prstGeom>
          <a:solidFill>
            <a:srgbClr val="1F2933"/>
          </a:solidFill>
          <a:ln/>
        </p:spPr>
      </p:sp>
      <p:sp>
        <p:nvSpPr>
          <p:cNvPr id="19" name="mini rod 1"/>
          <p:cNvSpPr/>
          <p:nvPr/>
        </p:nvSpPr>
        <p:spPr>
          <a:xfrm>
            <a:off x="7717536" y="1984248"/>
            <a:ext cx="27432" cy="347472"/>
          </a:xfrm>
          <a:prstGeom prst="rect">
            <a:avLst/>
          </a:prstGeom>
          <a:solidFill>
            <a:srgbClr val="1F2933"/>
          </a:solidFill>
          <a:ln/>
        </p:spPr>
      </p:sp>
      <p:sp>
        <p:nvSpPr>
          <p:cNvPr id="20" name="mini bar"/>
          <p:cNvSpPr/>
          <p:nvPr/>
        </p:nvSpPr>
        <p:spPr>
          <a:xfrm>
            <a:off x="6903720" y="2313432"/>
            <a:ext cx="914400" cy="36576"/>
          </a:xfrm>
          <a:prstGeom prst="rect">
            <a:avLst/>
          </a:prstGeom>
          <a:solidFill>
            <a:srgbClr val="1F2933"/>
          </a:solidFill>
          <a:ln/>
        </p:spPr>
      </p:sp>
      <p:sp>
        <p:nvSpPr>
          <p:cNvPr id="21" name="mini out pipe a"/>
          <p:cNvSpPr/>
          <p:nvPr/>
        </p:nvSpPr>
        <p:spPr>
          <a:xfrm>
            <a:off x="7132320" y="2130552"/>
            <a:ext cx="182880" cy="182880"/>
          </a:xfrm>
          <a:prstGeom prst="ellipse">
            <a:avLst/>
          </a:prstGeom>
          <a:solidFill>
            <a:srgbClr val="FFFFFF"/>
          </a:solidFill>
          <a:ln w="9525">
            <a:solidFill>
              <a:srgbClr val="52514E"/>
            </a:solidFill>
            <a:prstDash val="solid"/>
          </a:ln>
        </p:spPr>
      </p:sp>
      <p:sp>
        <p:nvSpPr>
          <p:cNvPr id="22" name="mini out pipe b"/>
          <p:cNvSpPr/>
          <p:nvPr/>
        </p:nvSpPr>
        <p:spPr>
          <a:xfrm>
            <a:off x="7406640" y="2176272"/>
            <a:ext cx="137160" cy="137160"/>
          </a:xfrm>
          <a:prstGeom prst="ellipse">
            <a:avLst/>
          </a:prstGeom>
          <a:solidFill>
            <a:srgbClr val="FFFFFF"/>
          </a:solidFill>
          <a:ln w="9525">
            <a:solidFill>
              <a:srgbClr val="52514E"/>
            </a:solidFill>
            <a:prstDash val="solid"/>
          </a:ln>
        </p:spPr>
      </p:sp>
      <p:sp>
        <p:nvSpPr>
          <p:cNvPr id="23" name="text design"/>
          <p:cNvSpPr txBox="1"/>
          <p:nvPr/>
        </p:nvSpPr>
        <p:spPr>
          <a:xfrm>
            <a:off x="6309360" y="2404872"/>
            <a:ext cx="2103120" cy="731520"/>
          </a:xfrm>
          <a:prstGeom prst="rect">
            <a:avLst/>
          </a:prstGeom>
          <a:noFill/>
          <a:ln/>
        </p:spPr>
        <p:txBody>
          <a:bodyPr wrap="square" lIns="762" tIns="762" rIns="762" bIns="762" rtlCol="0" anchor="t"/>
          <a:lstStyle/>
          <a:p>
            <a:pPr algn="ctr" indent="0" marL="0">
              <a:buNone/>
            </a:pPr>
            <a:r>
              <a:rPr lang="en-US" sz="1400" b="1" dirty="0">
                <a:solidFill>
                  <a:schemeClr val="tx1"/>
                </a:solidFill>
              </a:rPr>
              <a:t>Proposed design</a:t>
            </a:r>
            <a:endParaRPr lang="en-US" sz="1400" dirty="0"/>
          </a:p>
          <a:p>
            <a:pPr algn="ctr" indent="0" marL="0">
              <a:buNone/>
            </a:pPr>
            <a:r>
              <a:rPr lang="en-US" sz="1100" dirty="0">
                <a:solidFill>
                  <a:srgbClr val="52514E"/>
                </a:solidFill>
              </a:rPr>
              <a:t>an assembly: channel, rods, clamps, anchors</a:t>
            </a:r>
            <a:endParaRPr lang="en-US" sz="1400" dirty="0"/>
          </a:p>
        </p:txBody>
      </p:sp>
      <p:sp>
        <p:nvSpPr>
          <p:cNvPr id="24" name="arrow method to design"/>
          <p:cNvSpPr/>
          <p:nvPr/>
        </p:nvSpPr>
        <p:spPr>
          <a:xfrm>
            <a:off x="5715000" y="2468880"/>
            <a:ext cx="594360" cy="0"/>
          </a:xfrm>
          <a:prstGeom prst="line">
            <a:avLst/>
          </a:prstGeom>
          <a:noFill/>
          <a:ln w="19050">
            <a:solidFill>
              <a:srgbClr val="52514E"/>
            </a:solidFill>
            <a:prstDash val="solid"/>
            <a:tailEnd type="triangle"/>
          </a:ln>
        </p:spPr>
      </p:sp>
      <p:sp>
        <p:nvSpPr>
          <p:cNvPr id="25" name="box check"/>
          <p:cNvSpPr/>
          <p:nvPr/>
        </p:nvSpPr>
        <p:spPr>
          <a:xfrm>
            <a:off x="9006840" y="1783080"/>
            <a:ext cx="2633472" cy="1371600"/>
          </a:xfrm>
          <a:prstGeom prst="roundRect">
            <a:avLst>
              <a:gd name="adj" fmla="val 4000"/>
            </a:avLst>
          </a:prstGeom>
          <a:solidFill>
            <a:srgbClr val="EAF5EE"/>
          </a:solidFill>
          <a:ln w="19050">
            <a:solidFill>
              <a:srgbClr val="008300"/>
            </a:solidFill>
            <a:prstDash val="solid"/>
          </a:ln>
        </p:spPr>
      </p:sp>
      <p:pic>
        <p:nvPicPr>
          <p:cNvPr id="26" name="icon check" descr="preencoded.png">    </p:cNvPr>
          <p:cNvPicPr>
            <a:picLocks noChangeAspect="1"/>
          </p:cNvPicPr>
          <p:nvPr/>
        </p:nvPicPr>
        <p:blipFill>
          <a:blip r:embed="rId2"/>
          <a:stretch>
            <a:fillRect/>
          </a:stretch>
        </p:blipFill>
        <p:spPr>
          <a:xfrm>
            <a:off x="10094976" y="1911096"/>
            <a:ext cx="457200" cy="457200"/>
          </a:xfrm>
          <a:prstGeom prst="rect">
            <a:avLst/>
          </a:prstGeom>
        </p:spPr>
      </p:pic>
      <p:sp>
        <p:nvSpPr>
          <p:cNvPr id="27" name="text check"/>
          <p:cNvSpPr txBox="1"/>
          <p:nvPr/>
        </p:nvSpPr>
        <p:spPr>
          <a:xfrm>
            <a:off x="9006840" y="2404872"/>
            <a:ext cx="2633472" cy="731520"/>
          </a:xfrm>
          <a:prstGeom prst="rect">
            <a:avLst/>
          </a:prstGeom>
          <a:noFill/>
          <a:ln/>
        </p:spPr>
        <p:txBody>
          <a:bodyPr wrap="square" lIns="762" tIns="762" rIns="762" bIns="762" rtlCol="0" anchor="t"/>
          <a:lstStyle/>
          <a:p>
            <a:pPr algn="ctr" indent="0" marL="0">
              <a:buNone/>
            </a:pPr>
            <a:r>
              <a:rPr lang="en-US" sz="1400" b="1" dirty="0">
                <a:solidFill>
                  <a:schemeClr val="tx1"/>
                </a:solidFill>
              </a:rPr>
              <a:t>Check</a:t>
            </a:r>
            <a:endParaRPr lang="en-US" sz="1400" dirty="0"/>
          </a:p>
          <a:p>
            <a:pPr algn="ctr" indent="0" marL="0">
              <a:buNone/>
            </a:pPr>
            <a:r>
              <a:rPr lang="en-US" sz="1100" dirty="0">
                <a:solidFill>
                  <a:srgbClr val="52514E"/>
                </a:solidFill>
              </a:rPr>
              <a:t>statics, anchors, connectors, buildability, cost</a:t>
            </a:r>
            <a:endParaRPr lang="en-US" sz="1400" dirty="0"/>
          </a:p>
        </p:txBody>
      </p:sp>
      <p:sp>
        <p:nvSpPr>
          <p:cNvPr id="28" name="arrow design to check"/>
          <p:cNvSpPr/>
          <p:nvPr/>
        </p:nvSpPr>
        <p:spPr>
          <a:xfrm>
            <a:off x="8412480" y="2468880"/>
            <a:ext cx="594360" cy="0"/>
          </a:xfrm>
          <a:prstGeom prst="line">
            <a:avLst/>
          </a:prstGeom>
          <a:noFill/>
          <a:ln w="19050">
            <a:solidFill>
              <a:srgbClr val="52514E"/>
            </a:solidFill>
            <a:prstDash val="solid"/>
            <a:tailEnd type="triangle"/>
          </a:ln>
        </p:spPr>
      </p:sp>
      <p:sp>
        <p:nvSpPr>
          <p:cNvPr id="29" name="step 1"/>
          <p:cNvSpPr/>
          <p:nvPr/>
        </p:nvSpPr>
        <p:spPr>
          <a:xfrm>
            <a:off x="420624" y="1655064"/>
            <a:ext cx="274320" cy="274320"/>
          </a:xfrm>
          <a:prstGeom prst="ellipse">
            <a:avLst/>
          </a:prstGeom>
          <a:solidFill>
            <a:srgbClr val="1F2933"/>
          </a:solidFill>
          <a:ln w="19050">
            <a:solidFill>
              <a:srgbClr val="FFFFFF"/>
            </a:solidFill>
            <a:prstDash val="solid"/>
          </a:ln>
        </p:spPr>
      </p:sp>
      <p:sp>
        <p:nvSpPr>
          <p:cNvPr id="30" name="step text 1"/>
          <p:cNvSpPr txBox="1"/>
          <p:nvPr/>
        </p:nvSpPr>
        <p:spPr>
          <a:xfrm>
            <a:off x="420624" y="1655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31" name="step 2"/>
          <p:cNvSpPr/>
          <p:nvPr/>
        </p:nvSpPr>
        <p:spPr>
          <a:xfrm>
            <a:off x="3118104" y="1655064"/>
            <a:ext cx="274320" cy="274320"/>
          </a:xfrm>
          <a:prstGeom prst="ellipse">
            <a:avLst/>
          </a:prstGeom>
          <a:solidFill>
            <a:srgbClr val="1F2933"/>
          </a:solidFill>
          <a:ln w="19050">
            <a:solidFill>
              <a:srgbClr val="FFFFFF"/>
            </a:solidFill>
            <a:prstDash val="solid"/>
          </a:ln>
        </p:spPr>
      </p:sp>
      <p:sp>
        <p:nvSpPr>
          <p:cNvPr id="32" name="step text 2"/>
          <p:cNvSpPr txBox="1"/>
          <p:nvPr/>
        </p:nvSpPr>
        <p:spPr>
          <a:xfrm>
            <a:off x="3118104" y="1655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33" name="step 3"/>
          <p:cNvSpPr/>
          <p:nvPr/>
        </p:nvSpPr>
        <p:spPr>
          <a:xfrm>
            <a:off x="6181344" y="1655064"/>
            <a:ext cx="274320" cy="274320"/>
          </a:xfrm>
          <a:prstGeom prst="ellipse">
            <a:avLst/>
          </a:prstGeom>
          <a:solidFill>
            <a:srgbClr val="1F2933"/>
          </a:solidFill>
          <a:ln w="19050">
            <a:solidFill>
              <a:srgbClr val="FFFFFF"/>
            </a:solidFill>
            <a:prstDash val="solid"/>
          </a:ln>
        </p:spPr>
      </p:sp>
      <p:sp>
        <p:nvSpPr>
          <p:cNvPr id="34" name="step text 3"/>
          <p:cNvSpPr txBox="1"/>
          <p:nvPr/>
        </p:nvSpPr>
        <p:spPr>
          <a:xfrm>
            <a:off x="6181344" y="1655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35" name="step 4"/>
          <p:cNvSpPr/>
          <p:nvPr/>
        </p:nvSpPr>
        <p:spPr>
          <a:xfrm>
            <a:off x="8878824" y="1655064"/>
            <a:ext cx="274320" cy="274320"/>
          </a:xfrm>
          <a:prstGeom prst="ellipse">
            <a:avLst/>
          </a:prstGeom>
          <a:solidFill>
            <a:srgbClr val="1F2933"/>
          </a:solidFill>
          <a:ln w="19050">
            <a:solidFill>
              <a:srgbClr val="FFFFFF"/>
            </a:solidFill>
            <a:prstDash val="solid"/>
          </a:ln>
        </p:spPr>
      </p:sp>
      <p:sp>
        <p:nvSpPr>
          <p:cNvPr id="36" name="step text 4"/>
          <p:cNvSpPr txBox="1"/>
          <p:nvPr/>
        </p:nvSpPr>
        <p:spPr>
          <a:xfrm>
            <a:off x="8878824" y="1655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37" name="feedback up"/>
          <p:cNvSpPr/>
          <p:nvPr/>
        </p:nvSpPr>
        <p:spPr>
          <a:xfrm>
            <a:off x="10323576" y="1600200"/>
            <a:ext cx="0" cy="182880"/>
          </a:xfrm>
          <a:prstGeom prst="line">
            <a:avLst/>
          </a:prstGeom>
          <a:noFill/>
          <a:ln w="19050">
            <a:solidFill>
              <a:srgbClr val="008300"/>
            </a:solidFill>
            <a:prstDash val="dash"/>
          </a:ln>
        </p:spPr>
      </p:sp>
      <p:sp>
        <p:nvSpPr>
          <p:cNvPr id="38" name="feedback across"/>
          <p:cNvSpPr/>
          <p:nvPr/>
        </p:nvSpPr>
        <p:spPr>
          <a:xfrm>
            <a:off x="4480560" y="1600200"/>
            <a:ext cx="5843016" cy="0"/>
          </a:xfrm>
          <a:prstGeom prst="line">
            <a:avLst/>
          </a:prstGeom>
          <a:noFill/>
          <a:ln w="19050">
            <a:solidFill>
              <a:srgbClr val="008300"/>
            </a:solidFill>
            <a:prstDash val="dash"/>
          </a:ln>
        </p:spPr>
      </p:sp>
      <p:sp>
        <p:nvSpPr>
          <p:cNvPr id="39" name="feedback down"/>
          <p:cNvSpPr/>
          <p:nvPr/>
        </p:nvSpPr>
        <p:spPr>
          <a:xfrm>
            <a:off x="4480560" y="1600200"/>
            <a:ext cx="0" cy="182880"/>
          </a:xfrm>
          <a:prstGeom prst="line">
            <a:avLst/>
          </a:prstGeom>
          <a:noFill/>
          <a:ln w="19050">
            <a:solidFill>
              <a:srgbClr val="008300"/>
            </a:solidFill>
            <a:prstDash val="dash"/>
            <a:tailEnd type="triangle"/>
          </a:ln>
        </p:spPr>
      </p:sp>
      <p:sp>
        <p:nvSpPr>
          <p:cNvPr id="40" name="label feedback"/>
          <p:cNvSpPr txBox="1"/>
          <p:nvPr/>
        </p:nvSpPr>
        <p:spPr>
          <a:xfrm>
            <a:off x="4754880" y="1325880"/>
            <a:ext cx="5294376" cy="237744"/>
          </a:xfrm>
          <a:prstGeom prst="rect">
            <a:avLst/>
          </a:prstGeom>
          <a:noFill/>
          <a:ln/>
        </p:spPr>
        <p:txBody>
          <a:bodyPr wrap="square" lIns="0" tIns="0" rIns="0" bIns="0" rtlCol="0" anchor="ctr"/>
          <a:lstStyle/>
          <a:p>
            <a:pPr algn="ctr" indent="0" marL="0">
              <a:buNone/>
            </a:pPr>
            <a:r>
              <a:rPr lang="en-US" sz="1100" dirty="0">
                <a:solidFill>
                  <a:srgbClr val="008300"/>
                </a:solidFill>
              </a:rPr>
              <a:t>pass or fail is fed back, and the method improves</a:t>
            </a:r>
            <a:endParaRPr lang="en-US" sz="1100" dirty="0"/>
          </a:p>
        </p:txBody>
      </p:sp>
      <p:sp>
        <p:nvSpPr>
          <p:cNvPr id="41" name="sources frame"/>
          <p:cNvSpPr/>
          <p:nvPr/>
        </p:nvSpPr>
        <p:spPr>
          <a:xfrm>
            <a:off x="548640" y="4005072"/>
            <a:ext cx="11164824" cy="2048256"/>
          </a:xfrm>
          <a:prstGeom prst="roundRect">
            <a:avLst>
              <a:gd name="adj" fmla="val 3125"/>
            </a:avLst>
          </a:prstGeom>
          <a:solidFill>
            <a:schemeClr val="bg2"/>
          </a:solidFill>
          <a:ln w="19050">
            <a:solidFill>
              <a:schemeClr val="accent1"/>
            </a:solidFill>
            <a:prstDash val="solid"/>
          </a:ln>
        </p:spPr>
      </p:sp>
      <p:sp>
        <p:nvSpPr>
          <p:cNvPr id="42" name="callout wedge"/>
          <p:cNvSpPr/>
          <p:nvPr/>
        </p:nvSpPr>
        <p:spPr>
          <a:xfrm>
            <a:off x="548640" y="3154680"/>
            <a:ext cx="11164824" cy="850392"/>
          </a:xfrm>
          <a:custGeom>
            <a:avLst/>
            <a:gdLst/>
            <a:ahLst/>
            <a:cxnLst/>
            <a:rect l="l" t="t" r="r" b="b"/>
            <a:pathLst>
              <a:path w="11164824" h="850392">
                <a:moveTo>
                  <a:pt x="0" y="0"/>
                </a:moveTo>
                <a:lnTo>
                  <a:pt x="2103120" y="0"/>
                </a:lnTo>
                <a:lnTo>
                  <a:pt x="11164824" y="850392"/>
                </a:lnTo>
                <a:lnTo>
                  <a:pt x="0" y="850392"/>
                </a:lnTo>
                <a:close/>
              </a:path>
            </a:pathLst>
          </a:custGeom>
          <a:solidFill>
            <a:schemeClr val="accent1">
              <a:alpha val="12000"/>
            </a:schemeClr>
          </a:solidFill>
          <a:ln w="9525">
            <a:solidFill>
              <a:schemeClr val="accent1"/>
            </a:solidFill>
            <a:prstDash val="sysDot"/>
          </a:ln>
        </p:spPr>
      </p:sp>
      <p:sp>
        <p:nvSpPr>
          <p:cNvPr id="43" name="card real"/>
          <p:cNvSpPr/>
          <p:nvPr/>
        </p:nvSpPr>
        <p:spPr>
          <a:xfrm>
            <a:off x="612648" y="4069080"/>
            <a:ext cx="5330952" cy="1920240"/>
          </a:xfrm>
          <a:prstGeom prst="roundRect">
            <a:avLst>
              <a:gd name="adj" fmla="val 3333"/>
            </a:avLst>
          </a:prstGeom>
          <a:solidFill>
            <a:srgbClr val="FFFFFF"/>
          </a:solidFill>
          <a:ln w="19050">
            <a:solidFill>
              <a:srgbClr val="EB6834"/>
            </a:solidFill>
            <a:prstDash val="solid"/>
          </a:ln>
        </p:spPr>
      </p:sp>
      <p:sp>
        <p:nvSpPr>
          <p:cNvPr id="44" name="card head real"/>
          <p:cNvSpPr txBox="1"/>
          <p:nvPr/>
        </p:nvSpPr>
        <p:spPr>
          <a:xfrm>
            <a:off x="841248" y="4178808"/>
            <a:ext cx="2926080" cy="329184"/>
          </a:xfrm>
          <a:prstGeom prst="rect">
            <a:avLst/>
          </a:prstGeom>
          <a:noFill/>
          <a:ln/>
        </p:spPr>
        <p:txBody>
          <a:bodyPr wrap="square" lIns="0" tIns="0" rIns="0" bIns="0" rtlCol="0" anchor="ctr"/>
          <a:lstStyle/>
          <a:p>
            <a:pPr indent="0" marL="0">
              <a:buNone/>
            </a:pPr>
            <a:r>
              <a:rPr lang="en-US" sz="1500" b="1" dirty="0">
                <a:solidFill>
                  <a:schemeClr val="tx1"/>
                </a:solidFill>
              </a:rPr>
              <a:t>Real projects</a:t>
            </a:r>
            <a:endParaRPr lang="en-US" sz="1500" dirty="0"/>
          </a:p>
        </p:txBody>
      </p:sp>
      <p:sp>
        <p:nvSpPr>
          <p:cNvPr id="45" name="card tag real"/>
          <p:cNvSpPr/>
          <p:nvPr/>
        </p:nvSpPr>
        <p:spPr>
          <a:xfrm>
            <a:off x="3611880" y="4206240"/>
            <a:ext cx="2103120" cy="274320"/>
          </a:xfrm>
          <a:prstGeom prst="roundRect">
            <a:avLst>
              <a:gd name="adj" fmla="val 50000"/>
            </a:avLst>
          </a:prstGeom>
          <a:solidFill>
            <a:srgbClr val="EB6834"/>
          </a:solidFill>
          <a:ln/>
        </p:spPr>
      </p:sp>
      <p:sp>
        <p:nvSpPr>
          <p:cNvPr id="46" name="card tag text real"/>
          <p:cNvSpPr txBox="1"/>
          <p:nvPr/>
        </p:nvSpPr>
        <p:spPr>
          <a:xfrm>
            <a:off x="3611880" y="4206240"/>
            <a:ext cx="2103120" cy="274320"/>
          </a:xfrm>
          <a:prstGeom prst="rect">
            <a:avLst/>
          </a:prstGeom>
          <a:noFill/>
          <a:ln/>
        </p:spPr>
        <p:txBody>
          <a:bodyPr wrap="square" lIns="0" tIns="0" rIns="0" bIns="0" rtlCol="0" anchor="ctr"/>
          <a:lstStyle/>
          <a:p>
            <a:pPr algn="ctr" indent="0" marL="0">
              <a:buNone/>
            </a:pPr>
            <a:r>
              <a:rPr lang="en-US" sz="1050" b="1" dirty="0">
                <a:solidFill>
                  <a:srgbClr val="FFFFFF"/>
                </a:solidFill>
              </a:rPr>
              <a:t>too few, not diverse enough</a:t>
            </a:r>
            <a:endParaRPr lang="en-US" sz="1050" dirty="0"/>
          </a:p>
        </p:txBody>
      </p:sp>
      <p:sp>
        <p:nvSpPr>
          <p:cNvPr id="47" name="card body real"/>
          <p:cNvSpPr txBox="1"/>
          <p:nvPr/>
        </p:nvSpPr>
        <p:spPr>
          <a:xfrm>
            <a:off x="841248" y="5257800"/>
            <a:ext cx="4873752" cy="640080"/>
          </a:xfrm>
          <a:prstGeom prst="rect">
            <a:avLst/>
          </a:prstGeom>
          <a:noFill/>
          <a:ln/>
        </p:spPr>
        <p:txBody>
          <a:bodyPr wrap="square" lIns="0" tIns="0" rIns="0" bIns="0" rtlCol="0" anchor="t"/>
          <a:lstStyle/>
          <a:p>
            <a:pPr indent="0" marL="0">
              <a:buNone/>
            </a:pPr>
            <a:r>
              <a:rPr lang="en-US" sz="1150" dirty="0">
                <a:solidFill>
                  <a:schemeClr val="tx1"/>
                </a:solidFill>
              </a:rPr>
              <a:t>A handful of sections, from one project with one trade mix, and confidential. Not enough to practise on, and a method tuned on them only fits that project.</a:t>
            </a:r>
            <a:endParaRPr lang="en-US" sz="1150" dirty="0"/>
          </a:p>
        </p:txBody>
      </p:sp>
      <p:sp>
        <p:nvSpPr>
          <p:cNvPr id="48" name="mini card real 0"/>
          <p:cNvSpPr/>
          <p:nvPr/>
        </p:nvSpPr>
        <p:spPr>
          <a:xfrm>
            <a:off x="841248" y="4590288"/>
            <a:ext cx="548640" cy="475488"/>
          </a:xfrm>
          <a:prstGeom prst="rect">
            <a:avLst/>
          </a:prstGeom>
          <a:solidFill>
            <a:srgbClr val="FFFFFF"/>
          </a:solidFill>
          <a:ln w="6350">
            <a:solidFill>
              <a:srgbClr val="898781"/>
            </a:solidFill>
            <a:prstDash val="solid"/>
          </a:ln>
        </p:spPr>
      </p:sp>
      <p:sp>
        <p:nvSpPr>
          <p:cNvPr id="49" name="mini slab real 0"/>
          <p:cNvSpPr/>
          <p:nvPr/>
        </p:nvSpPr>
        <p:spPr>
          <a:xfrm>
            <a:off x="886968" y="4636008"/>
            <a:ext cx="457200" cy="32004"/>
          </a:xfrm>
          <a:prstGeom prst="rect">
            <a:avLst/>
          </a:prstGeom>
          <a:solidFill>
            <a:srgbClr val="52514E"/>
          </a:solidFill>
          <a:ln/>
        </p:spPr>
      </p:sp>
      <p:sp>
        <p:nvSpPr>
          <p:cNvPr id="50" name="mini real 0 0"/>
          <p:cNvSpPr/>
          <p:nvPr/>
        </p:nvSpPr>
        <p:spPr>
          <a:xfrm>
            <a:off x="971012" y="4709160"/>
            <a:ext cx="60512" cy="60512"/>
          </a:xfrm>
          <a:prstGeom prst="ellipse">
            <a:avLst/>
          </a:prstGeom>
          <a:solidFill>
            <a:srgbClr val="EB6834"/>
          </a:solidFill>
          <a:ln w="5080">
            <a:solidFill>
              <a:srgbClr val="FFFFFF"/>
            </a:solidFill>
            <a:prstDash val="solid"/>
          </a:ln>
        </p:spPr>
      </p:sp>
      <p:sp>
        <p:nvSpPr>
          <p:cNvPr id="51" name="mini real 0 1"/>
          <p:cNvSpPr/>
          <p:nvPr/>
        </p:nvSpPr>
        <p:spPr>
          <a:xfrm>
            <a:off x="1085312" y="4709160"/>
            <a:ext cx="60512" cy="60512"/>
          </a:xfrm>
          <a:prstGeom prst="ellipse">
            <a:avLst/>
          </a:prstGeom>
          <a:solidFill>
            <a:srgbClr val="EB6834"/>
          </a:solidFill>
          <a:ln w="5080">
            <a:solidFill>
              <a:srgbClr val="FFFFFF"/>
            </a:solidFill>
            <a:prstDash val="solid"/>
          </a:ln>
        </p:spPr>
      </p:sp>
      <p:sp>
        <p:nvSpPr>
          <p:cNvPr id="52" name="mini real 0 2"/>
          <p:cNvSpPr/>
          <p:nvPr/>
        </p:nvSpPr>
        <p:spPr>
          <a:xfrm>
            <a:off x="1199612" y="4709160"/>
            <a:ext cx="60512" cy="60512"/>
          </a:xfrm>
          <a:prstGeom prst="ellipse">
            <a:avLst/>
          </a:prstGeom>
          <a:solidFill>
            <a:srgbClr val="EB6834"/>
          </a:solidFill>
          <a:ln w="5080">
            <a:solidFill>
              <a:srgbClr val="FFFFFF"/>
            </a:solidFill>
            <a:prstDash val="solid"/>
          </a:ln>
        </p:spPr>
      </p:sp>
      <p:sp>
        <p:nvSpPr>
          <p:cNvPr id="53" name="mini card real 1"/>
          <p:cNvSpPr/>
          <p:nvPr/>
        </p:nvSpPr>
        <p:spPr>
          <a:xfrm>
            <a:off x="1408176" y="4590288"/>
            <a:ext cx="548640" cy="475488"/>
          </a:xfrm>
          <a:prstGeom prst="rect">
            <a:avLst/>
          </a:prstGeom>
          <a:solidFill>
            <a:srgbClr val="FFFFFF"/>
          </a:solidFill>
          <a:ln w="6350">
            <a:solidFill>
              <a:srgbClr val="898781"/>
            </a:solidFill>
            <a:prstDash val="solid"/>
          </a:ln>
        </p:spPr>
      </p:sp>
      <p:sp>
        <p:nvSpPr>
          <p:cNvPr id="54" name="mini slab real 1"/>
          <p:cNvSpPr/>
          <p:nvPr/>
        </p:nvSpPr>
        <p:spPr>
          <a:xfrm>
            <a:off x="1453896" y="4636008"/>
            <a:ext cx="457200" cy="32004"/>
          </a:xfrm>
          <a:prstGeom prst="rect">
            <a:avLst/>
          </a:prstGeom>
          <a:solidFill>
            <a:srgbClr val="52514E"/>
          </a:solidFill>
          <a:ln/>
        </p:spPr>
      </p:sp>
      <p:sp>
        <p:nvSpPr>
          <p:cNvPr id="55" name="mini real 1 0"/>
          <p:cNvSpPr/>
          <p:nvPr/>
        </p:nvSpPr>
        <p:spPr>
          <a:xfrm>
            <a:off x="1537940" y="4709160"/>
            <a:ext cx="60512" cy="60512"/>
          </a:xfrm>
          <a:prstGeom prst="ellipse">
            <a:avLst/>
          </a:prstGeom>
          <a:solidFill>
            <a:srgbClr val="EB6834"/>
          </a:solidFill>
          <a:ln w="5080">
            <a:solidFill>
              <a:srgbClr val="FFFFFF"/>
            </a:solidFill>
            <a:prstDash val="solid"/>
          </a:ln>
        </p:spPr>
      </p:sp>
      <p:sp>
        <p:nvSpPr>
          <p:cNvPr id="56" name="mini real 1 1"/>
          <p:cNvSpPr/>
          <p:nvPr/>
        </p:nvSpPr>
        <p:spPr>
          <a:xfrm>
            <a:off x="1652240" y="4709160"/>
            <a:ext cx="60512" cy="60512"/>
          </a:xfrm>
          <a:prstGeom prst="ellipse">
            <a:avLst/>
          </a:prstGeom>
          <a:solidFill>
            <a:srgbClr val="EB6834"/>
          </a:solidFill>
          <a:ln w="5080">
            <a:solidFill>
              <a:srgbClr val="FFFFFF"/>
            </a:solidFill>
            <a:prstDash val="solid"/>
          </a:ln>
        </p:spPr>
      </p:sp>
      <p:sp>
        <p:nvSpPr>
          <p:cNvPr id="57" name="mini real 1 2"/>
          <p:cNvSpPr/>
          <p:nvPr/>
        </p:nvSpPr>
        <p:spPr>
          <a:xfrm>
            <a:off x="1766540" y="4709160"/>
            <a:ext cx="60512" cy="60512"/>
          </a:xfrm>
          <a:prstGeom prst="ellipse">
            <a:avLst/>
          </a:prstGeom>
          <a:solidFill>
            <a:srgbClr val="EB6834"/>
          </a:solidFill>
          <a:ln w="5080">
            <a:solidFill>
              <a:srgbClr val="FFFFFF"/>
            </a:solidFill>
            <a:prstDash val="solid"/>
          </a:ln>
        </p:spPr>
      </p:sp>
      <p:sp>
        <p:nvSpPr>
          <p:cNvPr id="58" name="mini card real 2"/>
          <p:cNvSpPr/>
          <p:nvPr/>
        </p:nvSpPr>
        <p:spPr>
          <a:xfrm>
            <a:off x="1975104" y="4590288"/>
            <a:ext cx="548640" cy="475488"/>
          </a:xfrm>
          <a:prstGeom prst="rect">
            <a:avLst/>
          </a:prstGeom>
          <a:solidFill>
            <a:srgbClr val="FFFFFF"/>
          </a:solidFill>
          <a:ln w="6350">
            <a:solidFill>
              <a:srgbClr val="898781"/>
            </a:solidFill>
            <a:prstDash val="solid"/>
          </a:ln>
        </p:spPr>
      </p:sp>
      <p:sp>
        <p:nvSpPr>
          <p:cNvPr id="59" name="mini slab real 2"/>
          <p:cNvSpPr/>
          <p:nvPr/>
        </p:nvSpPr>
        <p:spPr>
          <a:xfrm>
            <a:off x="2020824" y="4636008"/>
            <a:ext cx="457200" cy="32004"/>
          </a:xfrm>
          <a:prstGeom prst="rect">
            <a:avLst/>
          </a:prstGeom>
          <a:solidFill>
            <a:srgbClr val="52514E"/>
          </a:solidFill>
          <a:ln/>
        </p:spPr>
      </p:sp>
      <p:sp>
        <p:nvSpPr>
          <p:cNvPr id="60" name="mini real 2 0"/>
          <p:cNvSpPr/>
          <p:nvPr/>
        </p:nvSpPr>
        <p:spPr>
          <a:xfrm>
            <a:off x="2104868" y="4709160"/>
            <a:ext cx="60512" cy="60512"/>
          </a:xfrm>
          <a:prstGeom prst="ellipse">
            <a:avLst/>
          </a:prstGeom>
          <a:solidFill>
            <a:srgbClr val="EB6834"/>
          </a:solidFill>
          <a:ln w="5080">
            <a:solidFill>
              <a:srgbClr val="FFFFFF"/>
            </a:solidFill>
            <a:prstDash val="solid"/>
          </a:ln>
        </p:spPr>
      </p:sp>
      <p:sp>
        <p:nvSpPr>
          <p:cNvPr id="61" name="mini real 2 1"/>
          <p:cNvSpPr/>
          <p:nvPr/>
        </p:nvSpPr>
        <p:spPr>
          <a:xfrm>
            <a:off x="2219168" y="4709160"/>
            <a:ext cx="60512" cy="60512"/>
          </a:xfrm>
          <a:prstGeom prst="ellipse">
            <a:avLst/>
          </a:prstGeom>
          <a:solidFill>
            <a:srgbClr val="EB6834"/>
          </a:solidFill>
          <a:ln w="5080">
            <a:solidFill>
              <a:srgbClr val="FFFFFF"/>
            </a:solidFill>
            <a:prstDash val="solid"/>
          </a:ln>
        </p:spPr>
      </p:sp>
      <p:sp>
        <p:nvSpPr>
          <p:cNvPr id="62" name="mini real 2 2"/>
          <p:cNvSpPr/>
          <p:nvPr/>
        </p:nvSpPr>
        <p:spPr>
          <a:xfrm>
            <a:off x="2333468" y="4709160"/>
            <a:ext cx="60512" cy="60512"/>
          </a:xfrm>
          <a:prstGeom prst="ellipse">
            <a:avLst/>
          </a:prstGeom>
          <a:solidFill>
            <a:srgbClr val="EB6834"/>
          </a:solidFill>
          <a:ln w="5080">
            <a:solidFill>
              <a:srgbClr val="FFFFFF"/>
            </a:solidFill>
            <a:prstDash val="solid"/>
          </a:ln>
        </p:spPr>
      </p:sp>
      <p:sp>
        <p:nvSpPr>
          <p:cNvPr id="63" name="mini card real 3"/>
          <p:cNvSpPr/>
          <p:nvPr/>
        </p:nvSpPr>
        <p:spPr>
          <a:xfrm>
            <a:off x="2542032" y="4590288"/>
            <a:ext cx="548640" cy="475488"/>
          </a:xfrm>
          <a:prstGeom prst="rect">
            <a:avLst/>
          </a:prstGeom>
          <a:solidFill>
            <a:srgbClr val="FFFFFF"/>
          </a:solidFill>
          <a:ln w="6350">
            <a:solidFill>
              <a:srgbClr val="898781"/>
            </a:solidFill>
            <a:prstDash val="solid"/>
          </a:ln>
        </p:spPr>
      </p:sp>
      <p:sp>
        <p:nvSpPr>
          <p:cNvPr id="64" name="mini slab real 3"/>
          <p:cNvSpPr/>
          <p:nvPr/>
        </p:nvSpPr>
        <p:spPr>
          <a:xfrm>
            <a:off x="2587752" y="4636008"/>
            <a:ext cx="457200" cy="32004"/>
          </a:xfrm>
          <a:prstGeom prst="rect">
            <a:avLst/>
          </a:prstGeom>
          <a:solidFill>
            <a:srgbClr val="52514E"/>
          </a:solidFill>
          <a:ln/>
        </p:spPr>
      </p:sp>
      <p:sp>
        <p:nvSpPr>
          <p:cNvPr id="65" name="mini real 3 0"/>
          <p:cNvSpPr/>
          <p:nvPr/>
        </p:nvSpPr>
        <p:spPr>
          <a:xfrm>
            <a:off x="2671796" y="4709160"/>
            <a:ext cx="60512" cy="60512"/>
          </a:xfrm>
          <a:prstGeom prst="ellipse">
            <a:avLst/>
          </a:prstGeom>
          <a:solidFill>
            <a:srgbClr val="EB6834"/>
          </a:solidFill>
          <a:ln w="5080">
            <a:solidFill>
              <a:srgbClr val="FFFFFF"/>
            </a:solidFill>
            <a:prstDash val="solid"/>
          </a:ln>
        </p:spPr>
      </p:sp>
      <p:sp>
        <p:nvSpPr>
          <p:cNvPr id="66" name="mini real 3 1"/>
          <p:cNvSpPr/>
          <p:nvPr/>
        </p:nvSpPr>
        <p:spPr>
          <a:xfrm>
            <a:off x="2786096" y="4709160"/>
            <a:ext cx="60512" cy="60512"/>
          </a:xfrm>
          <a:prstGeom prst="ellipse">
            <a:avLst/>
          </a:prstGeom>
          <a:solidFill>
            <a:srgbClr val="EB6834"/>
          </a:solidFill>
          <a:ln w="5080">
            <a:solidFill>
              <a:srgbClr val="FFFFFF"/>
            </a:solidFill>
            <a:prstDash val="solid"/>
          </a:ln>
        </p:spPr>
      </p:sp>
      <p:sp>
        <p:nvSpPr>
          <p:cNvPr id="67" name="mini real 3 2"/>
          <p:cNvSpPr/>
          <p:nvPr/>
        </p:nvSpPr>
        <p:spPr>
          <a:xfrm>
            <a:off x="2900396" y="4709160"/>
            <a:ext cx="60512" cy="60512"/>
          </a:xfrm>
          <a:prstGeom prst="ellipse">
            <a:avLst/>
          </a:prstGeom>
          <a:solidFill>
            <a:srgbClr val="EB6834"/>
          </a:solidFill>
          <a:ln w="5080">
            <a:solidFill>
              <a:srgbClr val="FFFFFF"/>
            </a:solidFill>
            <a:prstDash val="solid"/>
          </a:ln>
        </p:spPr>
      </p:sp>
      <p:sp>
        <p:nvSpPr>
          <p:cNvPr id="68" name="mini card real 4"/>
          <p:cNvSpPr/>
          <p:nvPr/>
        </p:nvSpPr>
        <p:spPr>
          <a:xfrm>
            <a:off x="3108960" y="4590288"/>
            <a:ext cx="548640" cy="475488"/>
          </a:xfrm>
          <a:prstGeom prst="rect">
            <a:avLst/>
          </a:prstGeom>
          <a:solidFill>
            <a:srgbClr val="FFFFFF"/>
          </a:solidFill>
          <a:ln w="6350">
            <a:solidFill>
              <a:srgbClr val="898781"/>
            </a:solidFill>
            <a:prstDash val="solid"/>
          </a:ln>
        </p:spPr>
      </p:sp>
      <p:sp>
        <p:nvSpPr>
          <p:cNvPr id="69" name="mini slab real 4"/>
          <p:cNvSpPr/>
          <p:nvPr/>
        </p:nvSpPr>
        <p:spPr>
          <a:xfrm>
            <a:off x="3154680" y="4636008"/>
            <a:ext cx="457200" cy="32004"/>
          </a:xfrm>
          <a:prstGeom prst="rect">
            <a:avLst/>
          </a:prstGeom>
          <a:solidFill>
            <a:srgbClr val="52514E"/>
          </a:solidFill>
          <a:ln/>
        </p:spPr>
      </p:sp>
      <p:sp>
        <p:nvSpPr>
          <p:cNvPr id="70" name="mini real 4 0"/>
          <p:cNvSpPr/>
          <p:nvPr/>
        </p:nvSpPr>
        <p:spPr>
          <a:xfrm>
            <a:off x="3238724" y="4709160"/>
            <a:ext cx="60512" cy="60512"/>
          </a:xfrm>
          <a:prstGeom prst="ellipse">
            <a:avLst/>
          </a:prstGeom>
          <a:solidFill>
            <a:srgbClr val="EB6834"/>
          </a:solidFill>
          <a:ln w="5080">
            <a:solidFill>
              <a:srgbClr val="FFFFFF"/>
            </a:solidFill>
            <a:prstDash val="solid"/>
          </a:ln>
        </p:spPr>
      </p:sp>
      <p:sp>
        <p:nvSpPr>
          <p:cNvPr id="71" name="mini real 4 1"/>
          <p:cNvSpPr/>
          <p:nvPr/>
        </p:nvSpPr>
        <p:spPr>
          <a:xfrm>
            <a:off x="3353024" y="4709160"/>
            <a:ext cx="60512" cy="60512"/>
          </a:xfrm>
          <a:prstGeom prst="ellipse">
            <a:avLst/>
          </a:prstGeom>
          <a:solidFill>
            <a:srgbClr val="EB6834"/>
          </a:solidFill>
          <a:ln w="5080">
            <a:solidFill>
              <a:srgbClr val="FFFFFF"/>
            </a:solidFill>
            <a:prstDash val="solid"/>
          </a:ln>
        </p:spPr>
      </p:sp>
      <p:sp>
        <p:nvSpPr>
          <p:cNvPr id="72" name="mini real 4 2"/>
          <p:cNvSpPr/>
          <p:nvPr/>
        </p:nvSpPr>
        <p:spPr>
          <a:xfrm>
            <a:off x="3467324" y="4709160"/>
            <a:ext cx="60512" cy="60512"/>
          </a:xfrm>
          <a:prstGeom prst="ellipse">
            <a:avLst/>
          </a:prstGeom>
          <a:solidFill>
            <a:srgbClr val="EB6834"/>
          </a:solidFill>
          <a:ln w="5080">
            <a:solidFill>
              <a:srgbClr val="FFFFFF"/>
            </a:solidFill>
            <a:prstDash val="solid"/>
          </a:ln>
        </p:spPr>
      </p:sp>
      <p:sp>
        <p:nvSpPr>
          <p:cNvPr id="73" name="mini card real 5"/>
          <p:cNvSpPr/>
          <p:nvPr/>
        </p:nvSpPr>
        <p:spPr>
          <a:xfrm>
            <a:off x="3675888" y="4590288"/>
            <a:ext cx="548640" cy="475488"/>
          </a:xfrm>
          <a:prstGeom prst="rect">
            <a:avLst/>
          </a:prstGeom>
          <a:solidFill>
            <a:srgbClr val="FFFFFF"/>
          </a:solidFill>
          <a:ln w="6350">
            <a:solidFill>
              <a:srgbClr val="898781"/>
            </a:solidFill>
            <a:prstDash val="solid"/>
          </a:ln>
        </p:spPr>
      </p:sp>
      <p:sp>
        <p:nvSpPr>
          <p:cNvPr id="74" name="mini slab real 5"/>
          <p:cNvSpPr/>
          <p:nvPr/>
        </p:nvSpPr>
        <p:spPr>
          <a:xfrm>
            <a:off x="3721608" y="4636008"/>
            <a:ext cx="457200" cy="32004"/>
          </a:xfrm>
          <a:prstGeom prst="rect">
            <a:avLst/>
          </a:prstGeom>
          <a:solidFill>
            <a:srgbClr val="52514E"/>
          </a:solidFill>
          <a:ln/>
        </p:spPr>
      </p:sp>
      <p:sp>
        <p:nvSpPr>
          <p:cNvPr id="75" name="mini real 5 0"/>
          <p:cNvSpPr/>
          <p:nvPr/>
        </p:nvSpPr>
        <p:spPr>
          <a:xfrm>
            <a:off x="3805652" y="4709160"/>
            <a:ext cx="60512" cy="60512"/>
          </a:xfrm>
          <a:prstGeom prst="ellipse">
            <a:avLst/>
          </a:prstGeom>
          <a:solidFill>
            <a:srgbClr val="EB6834"/>
          </a:solidFill>
          <a:ln w="5080">
            <a:solidFill>
              <a:srgbClr val="FFFFFF"/>
            </a:solidFill>
            <a:prstDash val="solid"/>
          </a:ln>
        </p:spPr>
      </p:sp>
      <p:sp>
        <p:nvSpPr>
          <p:cNvPr id="76" name="mini real 5 1"/>
          <p:cNvSpPr/>
          <p:nvPr/>
        </p:nvSpPr>
        <p:spPr>
          <a:xfrm>
            <a:off x="3919952" y="4709160"/>
            <a:ext cx="60512" cy="60512"/>
          </a:xfrm>
          <a:prstGeom prst="ellipse">
            <a:avLst/>
          </a:prstGeom>
          <a:solidFill>
            <a:srgbClr val="EB6834"/>
          </a:solidFill>
          <a:ln w="5080">
            <a:solidFill>
              <a:srgbClr val="FFFFFF"/>
            </a:solidFill>
            <a:prstDash val="solid"/>
          </a:ln>
        </p:spPr>
      </p:sp>
      <p:sp>
        <p:nvSpPr>
          <p:cNvPr id="77" name="mini real 5 2"/>
          <p:cNvSpPr/>
          <p:nvPr/>
        </p:nvSpPr>
        <p:spPr>
          <a:xfrm>
            <a:off x="4034252" y="4709160"/>
            <a:ext cx="60512" cy="60512"/>
          </a:xfrm>
          <a:prstGeom prst="ellipse">
            <a:avLst/>
          </a:prstGeom>
          <a:solidFill>
            <a:srgbClr val="EB6834"/>
          </a:solidFill>
          <a:ln w="5080">
            <a:solidFill>
              <a:srgbClr val="FFFFFF"/>
            </a:solidFill>
            <a:prstDash val="solid"/>
          </a:ln>
        </p:spPr>
      </p:sp>
      <p:sp>
        <p:nvSpPr>
          <p:cNvPr id="78" name="empty slot 6"/>
          <p:cNvSpPr/>
          <p:nvPr/>
        </p:nvSpPr>
        <p:spPr>
          <a:xfrm>
            <a:off x="4242816" y="4590288"/>
            <a:ext cx="548640" cy="475488"/>
          </a:xfrm>
          <a:prstGeom prst="rect">
            <a:avLst/>
          </a:prstGeom>
          <a:ln w="6350">
            <a:solidFill>
              <a:srgbClr val="898781"/>
            </a:solidFill>
            <a:prstDash val="dash"/>
          </a:ln>
        </p:spPr>
      </p:sp>
      <p:sp>
        <p:nvSpPr>
          <p:cNvPr id="79" name="empty slot 7"/>
          <p:cNvSpPr/>
          <p:nvPr/>
        </p:nvSpPr>
        <p:spPr>
          <a:xfrm>
            <a:off x="4809744" y="4590288"/>
            <a:ext cx="548640" cy="475488"/>
          </a:xfrm>
          <a:prstGeom prst="rect">
            <a:avLst/>
          </a:prstGeom>
          <a:ln w="6350">
            <a:solidFill>
              <a:srgbClr val="898781"/>
            </a:solidFill>
            <a:prstDash val="dash"/>
          </a:ln>
        </p:spPr>
      </p:sp>
      <p:sp>
        <p:nvSpPr>
          <p:cNvPr id="80" name="empty slot 8"/>
          <p:cNvSpPr/>
          <p:nvPr/>
        </p:nvSpPr>
        <p:spPr>
          <a:xfrm>
            <a:off x="5376672" y="4590288"/>
            <a:ext cx="548640" cy="475488"/>
          </a:xfrm>
          <a:prstGeom prst="rect">
            <a:avLst/>
          </a:prstGeom>
          <a:ln w="6350">
            <a:solidFill>
              <a:srgbClr val="898781"/>
            </a:solidFill>
            <a:prstDash val="dash"/>
          </a:ln>
        </p:spPr>
      </p:sp>
      <p:sp>
        <p:nvSpPr>
          <p:cNvPr id="81" name="card generated"/>
          <p:cNvSpPr/>
          <p:nvPr/>
        </p:nvSpPr>
        <p:spPr>
          <a:xfrm>
            <a:off x="6245352" y="4069080"/>
            <a:ext cx="5330952" cy="1920240"/>
          </a:xfrm>
          <a:prstGeom prst="roundRect">
            <a:avLst>
              <a:gd name="adj" fmla="val 3333"/>
            </a:avLst>
          </a:prstGeom>
          <a:solidFill>
            <a:srgbClr val="FFFFFF"/>
          </a:solidFill>
          <a:ln w="19050">
            <a:solidFill>
              <a:schemeClr val="accent1"/>
            </a:solidFill>
            <a:prstDash val="solid"/>
          </a:ln>
        </p:spPr>
      </p:sp>
      <p:sp>
        <p:nvSpPr>
          <p:cNvPr id="82" name="card head generated"/>
          <p:cNvSpPr txBox="1"/>
          <p:nvPr/>
        </p:nvSpPr>
        <p:spPr>
          <a:xfrm>
            <a:off x="6473952" y="4178808"/>
            <a:ext cx="2926080" cy="329184"/>
          </a:xfrm>
          <a:prstGeom prst="rect">
            <a:avLst/>
          </a:prstGeom>
          <a:noFill/>
          <a:ln/>
        </p:spPr>
        <p:txBody>
          <a:bodyPr wrap="square" lIns="0" tIns="0" rIns="0" bIns="0" rtlCol="0" anchor="ctr"/>
          <a:lstStyle/>
          <a:p>
            <a:pPr indent="0" marL="0">
              <a:buNone/>
            </a:pPr>
            <a:r>
              <a:rPr lang="en-US" sz="1500" b="1" dirty="0">
                <a:solidFill>
                  <a:schemeClr val="tx1"/>
                </a:solidFill>
              </a:rPr>
              <a:t>CrossMEP generates them</a:t>
            </a:r>
            <a:endParaRPr lang="en-US" sz="1500" dirty="0"/>
          </a:p>
        </p:txBody>
      </p:sp>
      <p:sp>
        <p:nvSpPr>
          <p:cNvPr id="83" name="card tag generated"/>
          <p:cNvSpPr/>
          <p:nvPr/>
        </p:nvSpPr>
        <p:spPr>
          <a:xfrm>
            <a:off x="9884664" y="4206240"/>
            <a:ext cx="1463040" cy="274320"/>
          </a:xfrm>
          <a:prstGeom prst="roundRect">
            <a:avLst>
              <a:gd name="adj" fmla="val 50000"/>
            </a:avLst>
          </a:prstGeom>
          <a:solidFill>
            <a:schemeClr val="accent1"/>
          </a:solidFill>
          <a:ln/>
        </p:spPr>
      </p:sp>
      <p:sp>
        <p:nvSpPr>
          <p:cNvPr id="84" name="card tag text generated"/>
          <p:cNvSpPr txBox="1"/>
          <p:nvPr/>
        </p:nvSpPr>
        <p:spPr>
          <a:xfrm>
            <a:off x="9884664" y="4206240"/>
            <a:ext cx="1463040" cy="274320"/>
          </a:xfrm>
          <a:prstGeom prst="rect">
            <a:avLst/>
          </a:prstGeom>
          <a:noFill/>
          <a:ln/>
        </p:spPr>
        <p:txBody>
          <a:bodyPr wrap="square" lIns="0" tIns="0" rIns="0" bIns="0" rtlCol="0" anchor="ctr"/>
          <a:lstStyle/>
          <a:p>
            <a:pPr algn="ctr" indent="0" marL="0">
              <a:buNone/>
            </a:pPr>
            <a:r>
              <a:rPr lang="en-US" sz="1050" b="1" dirty="0">
                <a:solidFill>
                  <a:srgbClr val="FFFFFF"/>
                </a:solidFill>
              </a:rPr>
              <a:t>unlimited, diverse</a:t>
            </a:r>
            <a:endParaRPr lang="en-US" sz="1050" dirty="0"/>
          </a:p>
        </p:txBody>
      </p:sp>
      <p:sp>
        <p:nvSpPr>
          <p:cNvPr id="85" name="card body generated"/>
          <p:cNvSpPr txBox="1"/>
          <p:nvPr/>
        </p:nvSpPr>
        <p:spPr>
          <a:xfrm>
            <a:off x="6473952" y="5257800"/>
            <a:ext cx="4873752" cy="640080"/>
          </a:xfrm>
          <a:prstGeom prst="rect">
            <a:avLst/>
          </a:prstGeom>
          <a:noFill/>
          <a:ln/>
        </p:spPr>
        <p:txBody>
          <a:bodyPr wrap="square" lIns="0" tIns="0" rIns="0" bIns="0" rtlCol="0" anchor="t"/>
          <a:lstStyle/>
          <a:p>
            <a:pPr indent="0" marL="0">
              <a:buNone/>
            </a:pPr>
            <a:r>
              <a:rPr lang="en-US" sz="1150" dirty="0">
                <a:solidFill>
                  <a:schemeClr val="tx1"/>
                </a:solidFill>
              </a:rPr>
              <a:t>As many contexts as a method needs: every tier from one to eight elements, kinds and surfaces varied, a new seed a new set. And one fixed benchmark, never trained on, to judge every method on.</a:t>
            </a:r>
            <a:endParaRPr lang="en-US" sz="1150" dirty="0"/>
          </a:p>
        </p:txBody>
      </p:sp>
      <p:sp>
        <p:nvSpPr>
          <p:cNvPr id="86" name="mini card gen 1"/>
          <p:cNvSpPr/>
          <p:nvPr/>
        </p:nvSpPr>
        <p:spPr>
          <a:xfrm>
            <a:off x="6473952" y="4590288"/>
            <a:ext cx="603504" cy="475488"/>
          </a:xfrm>
          <a:prstGeom prst="rect">
            <a:avLst/>
          </a:prstGeom>
          <a:solidFill>
            <a:srgbClr val="FFFFFF"/>
          </a:solidFill>
          <a:ln w="6350">
            <a:solidFill>
              <a:srgbClr val="898781"/>
            </a:solidFill>
            <a:prstDash val="solid"/>
          </a:ln>
        </p:spPr>
      </p:sp>
      <p:sp>
        <p:nvSpPr>
          <p:cNvPr id="87" name="mini slab gen 1"/>
          <p:cNvSpPr/>
          <p:nvPr/>
        </p:nvSpPr>
        <p:spPr>
          <a:xfrm>
            <a:off x="6519672" y="4636008"/>
            <a:ext cx="512064" cy="32004"/>
          </a:xfrm>
          <a:prstGeom prst="rect">
            <a:avLst/>
          </a:prstGeom>
          <a:solidFill>
            <a:srgbClr val="52514E"/>
          </a:solidFill>
          <a:ln/>
        </p:spPr>
      </p:sp>
      <p:sp>
        <p:nvSpPr>
          <p:cNvPr id="88" name="mini gen 1 0"/>
          <p:cNvSpPr/>
          <p:nvPr/>
        </p:nvSpPr>
        <p:spPr>
          <a:xfrm>
            <a:off x="6707124" y="4700016"/>
            <a:ext cx="137160" cy="100584"/>
          </a:xfrm>
          <a:prstGeom prst="rect">
            <a:avLst/>
          </a:prstGeom>
          <a:solidFill>
            <a:schemeClr val="accent1"/>
          </a:solidFill>
          <a:ln w="5080">
            <a:solidFill>
              <a:srgbClr val="FFFFFF"/>
            </a:solidFill>
            <a:prstDash val="solid"/>
          </a:ln>
        </p:spPr>
      </p:sp>
      <p:sp>
        <p:nvSpPr>
          <p:cNvPr id="89" name="mini card gen 2"/>
          <p:cNvSpPr/>
          <p:nvPr/>
        </p:nvSpPr>
        <p:spPr>
          <a:xfrm>
            <a:off x="7095744" y="4590288"/>
            <a:ext cx="603504" cy="475488"/>
          </a:xfrm>
          <a:prstGeom prst="rect">
            <a:avLst/>
          </a:prstGeom>
          <a:solidFill>
            <a:srgbClr val="FFFFFF"/>
          </a:solidFill>
          <a:ln w="6350">
            <a:solidFill>
              <a:srgbClr val="898781"/>
            </a:solidFill>
            <a:prstDash val="solid"/>
          </a:ln>
        </p:spPr>
      </p:sp>
      <p:sp>
        <p:nvSpPr>
          <p:cNvPr id="90" name="mini slab gen 2"/>
          <p:cNvSpPr/>
          <p:nvPr/>
        </p:nvSpPr>
        <p:spPr>
          <a:xfrm>
            <a:off x="7141464" y="4636008"/>
            <a:ext cx="512064" cy="32004"/>
          </a:xfrm>
          <a:prstGeom prst="rect">
            <a:avLst/>
          </a:prstGeom>
          <a:solidFill>
            <a:srgbClr val="52514E"/>
          </a:solidFill>
          <a:ln/>
        </p:spPr>
      </p:sp>
      <p:sp>
        <p:nvSpPr>
          <p:cNvPr id="91" name="mini gen 2 0"/>
          <p:cNvSpPr/>
          <p:nvPr/>
        </p:nvSpPr>
        <p:spPr>
          <a:xfrm>
            <a:off x="7271004" y="4709160"/>
            <a:ext cx="82296" cy="82296"/>
          </a:xfrm>
          <a:prstGeom prst="ellipse">
            <a:avLst/>
          </a:prstGeom>
          <a:solidFill>
            <a:schemeClr val="accent1"/>
          </a:solidFill>
          <a:ln w="5080">
            <a:solidFill>
              <a:srgbClr val="FFFFFF"/>
            </a:solidFill>
            <a:prstDash val="solid"/>
          </a:ln>
        </p:spPr>
      </p:sp>
      <p:sp>
        <p:nvSpPr>
          <p:cNvPr id="92" name="mini gen 2 1"/>
          <p:cNvSpPr/>
          <p:nvPr/>
        </p:nvSpPr>
        <p:spPr>
          <a:xfrm>
            <a:off x="7427976" y="4727448"/>
            <a:ext cx="109728" cy="45720"/>
          </a:xfrm>
          <a:prstGeom prst="rect">
            <a:avLst/>
          </a:prstGeom>
          <a:solidFill>
            <a:schemeClr val="accent1"/>
          </a:solidFill>
          <a:ln w="5080">
            <a:solidFill>
              <a:srgbClr val="FFFFFF"/>
            </a:solidFill>
            <a:prstDash val="solid"/>
          </a:ln>
        </p:spPr>
      </p:sp>
      <p:sp>
        <p:nvSpPr>
          <p:cNvPr id="93" name="mini card gen 3"/>
          <p:cNvSpPr/>
          <p:nvPr/>
        </p:nvSpPr>
        <p:spPr>
          <a:xfrm>
            <a:off x="7717536" y="4590288"/>
            <a:ext cx="603504" cy="475488"/>
          </a:xfrm>
          <a:prstGeom prst="rect">
            <a:avLst/>
          </a:prstGeom>
          <a:solidFill>
            <a:srgbClr val="FFFFFF"/>
          </a:solidFill>
          <a:ln w="6350">
            <a:solidFill>
              <a:srgbClr val="898781"/>
            </a:solidFill>
            <a:prstDash val="solid"/>
          </a:ln>
        </p:spPr>
      </p:sp>
      <p:sp>
        <p:nvSpPr>
          <p:cNvPr id="94" name="mini wall gen 3"/>
          <p:cNvSpPr/>
          <p:nvPr/>
        </p:nvSpPr>
        <p:spPr>
          <a:xfrm>
            <a:off x="7763256" y="4636008"/>
            <a:ext cx="32004" cy="384048"/>
          </a:xfrm>
          <a:prstGeom prst="rect">
            <a:avLst/>
          </a:prstGeom>
          <a:solidFill>
            <a:srgbClr val="52514E"/>
          </a:solidFill>
          <a:ln/>
        </p:spPr>
      </p:sp>
      <p:sp>
        <p:nvSpPr>
          <p:cNvPr id="95" name="mini gen 3 0"/>
          <p:cNvSpPr/>
          <p:nvPr/>
        </p:nvSpPr>
        <p:spPr>
          <a:xfrm>
            <a:off x="7845552" y="4698785"/>
            <a:ext cx="66470" cy="66470"/>
          </a:xfrm>
          <a:prstGeom prst="ellipse">
            <a:avLst/>
          </a:prstGeom>
          <a:solidFill>
            <a:schemeClr val="accent1"/>
          </a:solidFill>
          <a:ln w="5080">
            <a:solidFill>
              <a:srgbClr val="FFFFFF"/>
            </a:solidFill>
            <a:prstDash val="solid"/>
          </a:ln>
        </p:spPr>
      </p:sp>
      <p:sp>
        <p:nvSpPr>
          <p:cNvPr id="96" name="mini gen 3 1"/>
          <p:cNvSpPr/>
          <p:nvPr/>
        </p:nvSpPr>
        <p:spPr>
          <a:xfrm>
            <a:off x="7845552" y="4794797"/>
            <a:ext cx="66470" cy="66470"/>
          </a:xfrm>
          <a:prstGeom prst="ellipse">
            <a:avLst/>
          </a:prstGeom>
          <a:solidFill>
            <a:schemeClr val="accent1"/>
          </a:solidFill>
          <a:ln w="5080">
            <a:solidFill>
              <a:srgbClr val="FFFFFF"/>
            </a:solidFill>
            <a:prstDash val="solid"/>
          </a:ln>
        </p:spPr>
      </p:sp>
      <p:sp>
        <p:nvSpPr>
          <p:cNvPr id="97" name="mini gen 3 2"/>
          <p:cNvSpPr/>
          <p:nvPr/>
        </p:nvSpPr>
        <p:spPr>
          <a:xfrm>
            <a:off x="7845552" y="4890809"/>
            <a:ext cx="66470" cy="66470"/>
          </a:xfrm>
          <a:prstGeom prst="ellipse">
            <a:avLst/>
          </a:prstGeom>
          <a:solidFill>
            <a:schemeClr val="accent1"/>
          </a:solidFill>
          <a:ln w="5080">
            <a:solidFill>
              <a:srgbClr val="FFFFFF"/>
            </a:solidFill>
            <a:prstDash val="solid"/>
          </a:ln>
        </p:spPr>
      </p:sp>
      <p:sp>
        <p:nvSpPr>
          <p:cNvPr id="98" name="mini card gen 4"/>
          <p:cNvSpPr/>
          <p:nvPr/>
        </p:nvSpPr>
        <p:spPr>
          <a:xfrm>
            <a:off x="8339328" y="4590288"/>
            <a:ext cx="603504" cy="475488"/>
          </a:xfrm>
          <a:prstGeom prst="rect">
            <a:avLst/>
          </a:prstGeom>
          <a:solidFill>
            <a:srgbClr val="FFFFFF"/>
          </a:solidFill>
          <a:ln w="6350">
            <a:solidFill>
              <a:srgbClr val="898781"/>
            </a:solidFill>
            <a:prstDash val="solid"/>
          </a:ln>
        </p:spPr>
      </p:sp>
      <p:sp>
        <p:nvSpPr>
          <p:cNvPr id="99" name="mini slab gen 4"/>
          <p:cNvSpPr/>
          <p:nvPr/>
        </p:nvSpPr>
        <p:spPr>
          <a:xfrm>
            <a:off x="8385048" y="4636008"/>
            <a:ext cx="512064" cy="32004"/>
          </a:xfrm>
          <a:prstGeom prst="rect">
            <a:avLst/>
          </a:prstGeom>
          <a:solidFill>
            <a:srgbClr val="52514E"/>
          </a:solidFill>
          <a:ln/>
        </p:spPr>
      </p:sp>
      <p:sp>
        <p:nvSpPr>
          <p:cNvPr id="100" name="mini gen 4 0"/>
          <p:cNvSpPr/>
          <p:nvPr/>
        </p:nvSpPr>
        <p:spPr>
          <a:xfrm>
            <a:off x="8442279" y="4700016"/>
            <a:ext cx="90364" cy="66267"/>
          </a:xfrm>
          <a:prstGeom prst="rect">
            <a:avLst/>
          </a:prstGeom>
          <a:solidFill>
            <a:schemeClr val="accent1"/>
          </a:solidFill>
          <a:ln w="5080">
            <a:solidFill>
              <a:srgbClr val="FFFFFF"/>
            </a:solidFill>
            <a:prstDash val="solid"/>
          </a:ln>
        </p:spPr>
      </p:sp>
      <p:sp>
        <p:nvSpPr>
          <p:cNvPr id="101" name="mini gen 4 1"/>
          <p:cNvSpPr/>
          <p:nvPr/>
        </p:nvSpPr>
        <p:spPr>
          <a:xfrm>
            <a:off x="8562764" y="4709160"/>
            <a:ext cx="54219" cy="54219"/>
          </a:xfrm>
          <a:prstGeom prst="ellipse">
            <a:avLst/>
          </a:prstGeom>
          <a:solidFill>
            <a:schemeClr val="accent1"/>
          </a:solidFill>
          <a:ln w="5080">
            <a:solidFill>
              <a:srgbClr val="FFFFFF"/>
            </a:solidFill>
            <a:prstDash val="solid"/>
          </a:ln>
        </p:spPr>
      </p:sp>
      <p:sp>
        <p:nvSpPr>
          <p:cNvPr id="102" name="mini gen 4 2"/>
          <p:cNvSpPr/>
          <p:nvPr/>
        </p:nvSpPr>
        <p:spPr>
          <a:xfrm>
            <a:off x="8656141" y="4727448"/>
            <a:ext cx="72291" cy="30121"/>
          </a:xfrm>
          <a:prstGeom prst="rect">
            <a:avLst/>
          </a:prstGeom>
          <a:solidFill>
            <a:schemeClr val="accent1"/>
          </a:solidFill>
          <a:ln w="5080">
            <a:solidFill>
              <a:srgbClr val="FFFFFF"/>
            </a:solidFill>
            <a:prstDash val="solid"/>
          </a:ln>
        </p:spPr>
      </p:sp>
      <p:sp>
        <p:nvSpPr>
          <p:cNvPr id="103" name="mini gen 4 3"/>
          <p:cNvSpPr/>
          <p:nvPr/>
        </p:nvSpPr>
        <p:spPr>
          <a:xfrm>
            <a:off x="8767590" y="4709160"/>
            <a:ext cx="54219" cy="54219"/>
          </a:xfrm>
          <a:prstGeom prst="ellipse">
            <a:avLst/>
          </a:prstGeom>
          <a:solidFill>
            <a:schemeClr val="accent1"/>
          </a:solidFill>
          <a:ln w="5080">
            <a:solidFill>
              <a:srgbClr val="FFFFFF"/>
            </a:solidFill>
            <a:prstDash val="solid"/>
          </a:ln>
        </p:spPr>
      </p:sp>
      <p:sp>
        <p:nvSpPr>
          <p:cNvPr id="104" name="mini card gen 5"/>
          <p:cNvSpPr/>
          <p:nvPr/>
        </p:nvSpPr>
        <p:spPr>
          <a:xfrm>
            <a:off x="8961120" y="4590288"/>
            <a:ext cx="603504" cy="475488"/>
          </a:xfrm>
          <a:prstGeom prst="rect">
            <a:avLst/>
          </a:prstGeom>
          <a:solidFill>
            <a:srgbClr val="FFFFFF"/>
          </a:solidFill>
          <a:ln w="6350">
            <a:solidFill>
              <a:srgbClr val="898781"/>
            </a:solidFill>
            <a:prstDash val="solid"/>
          </a:ln>
        </p:spPr>
      </p:sp>
      <p:sp>
        <p:nvSpPr>
          <p:cNvPr id="105" name="mini slab gen 5"/>
          <p:cNvSpPr/>
          <p:nvPr/>
        </p:nvSpPr>
        <p:spPr>
          <a:xfrm>
            <a:off x="9006840" y="4636008"/>
            <a:ext cx="512064" cy="32004"/>
          </a:xfrm>
          <a:prstGeom prst="rect">
            <a:avLst/>
          </a:prstGeom>
          <a:solidFill>
            <a:srgbClr val="52514E"/>
          </a:solidFill>
          <a:ln/>
        </p:spPr>
      </p:sp>
      <p:sp>
        <p:nvSpPr>
          <p:cNvPr id="106" name="mini gen 5 0"/>
          <p:cNvSpPr/>
          <p:nvPr/>
        </p:nvSpPr>
        <p:spPr>
          <a:xfrm>
            <a:off x="9069593" y="4709160"/>
            <a:ext cx="45182" cy="45182"/>
          </a:xfrm>
          <a:prstGeom prst="ellipse">
            <a:avLst/>
          </a:prstGeom>
          <a:solidFill>
            <a:schemeClr val="accent1"/>
          </a:solidFill>
          <a:ln w="5080">
            <a:solidFill>
              <a:srgbClr val="FFFFFF"/>
            </a:solidFill>
            <a:prstDash val="solid"/>
          </a:ln>
        </p:spPr>
      </p:sp>
      <p:sp>
        <p:nvSpPr>
          <p:cNvPr id="107" name="mini gen 5 1"/>
          <p:cNvSpPr/>
          <p:nvPr/>
        </p:nvSpPr>
        <p:spPr>
          <a:xfrm>
            <a:off x="9147407" y="4727448"/>
            <a:ext cx="60243" cy="25101"/>
          </a:xfrm>
          <a:prstGeom prst="rect">
            <a:avLst/>
          </a:prstGeom>
          <a:solidFill>
            <a:schemeClr val="accent1"/>
          </a:solidFill>
          <a:ln w="5080">
            <a:solidFill>
              <a:srgbClr val="FFFFFF"/>
            </a:solidFill>
            <a:prstDash val="solid"/>
          </a:ln>
        </p:spPr>
      </p:sp>
      <p:sp>
        <p:nvSpPr>
          <p:cNvPr id="108" name="mini gen 5 2"/>
          <p:cNvSpPr/>
          <p:nvPr/>
        </p:nvSpPr>
        <p:spPr>
          <a:xfrm>
            <a:off x="9240281" y="4709160"/>
            <a:ext cx="45182" cy="45182"/>
          </a:xfrm>
          <a:prstGeom prst="ellipse">
            <a:avLst/>
          </a:prstGeom>
          <a:solidFill>
            <a:schemeClr val="accent1"/>
          </a:solidFill>
          <a:ln w="5080">
            <a:solidFill>
              <a:srgbClr val="FFFFFF"/>
            </a:solidFill>
            <a:prstDash val="solid"/>
          </a:ln>
        </p:spPr>
      </p:sp>
      <p:sp>
        <p:nvSpPr>
          <p:cNvPr id="109" name="mini gen 5 3"/>
          <p:cNvSpPr/>
          <p:nvPr/>
        </p:nvSpPr>
        <p:spPr>
          <a:xfrm>
            <a:off x="9325625" y="4709160"/>
            <a:ext cx="45182" cy="45182"/>
          </a:xfrm>
          <a:prstGeom prst="ellipse">
            <a:avLst/>
          </a:prstGeom>
          <a:solidFill>
            <a:schemeClr val="accent1"/>
          </a:solidFill>
          <a:ln w="5080">
            <a:solidFill>
              <a:srgbClr val="FFFFFF"/>
            </a:solidFill>
            <a:prstDash val="solid"/>
          </a:ln>
        </p:spPr>
      </p:sp>
      <p:sp>
        <p:nvSpPr>
          <p:cNvPr id="110" name="mini gen 5 4"/>
          <p:cNvSpPr/>
          <p:nvPr/>
        </p:nvSpPr>
        <p:spPr>
          <a:xfrm>
            <a:off x="9403439" y="4727448"/>
            <a:ext cx="60243" cy="25101"/>
          </a:xfrm>
          <a:prstGeom prst="rect">
            <a:avLst/>
          </a:prstGeom>
          <a:solidFill>
            <a:schemeClr val="accent1"/>
          </a:solidFill>
          <a:ln w="5080">
            <a:solidFill>
              <a:srgbClr val="FFFFFF"/>
            </a:solidFill>
            <a:prstDash val="solid"/>
          </a:ln>
        </p:spPr>
      </p:sp>
      <p:sp>
        <p:nvSpPr>
          <p:cNvPr id="111" name="mini card gen 6"/>
          <p:cNvSpPr/>
          <p:nvPr/>
        </p:nvSpPr>
        <p:spPr>
          <a:xfrm>
            <a:off x="9582912" y="4590288"/>
            <a:ext cx="603504" cy="475488"/>
          </a:xfrm>
          <a:prstGeom prst="rect">
            <a:avLst/>
          </a:prstGeom>
          <a:solidFill>
            <a:srgbClr val="FFFFFF"/>
          </a:solidFill>
          <a:ln w="6350">
            <a:solidFill>
              <a:srgbClr val="898781"/>
            </a:solidFill>
            <a:prstDash val="solid"/>
          </a:ln>
        </p:spPr>
      </p:sp>
      <p:sp>
        <p:nvSpPr>
          <p:cNvPr id="112" name="mini slab gen 6"/>
          <p:cNvSpPr/>
          <p:nvPr/>
        </p:nvSpPr>
        <p:spPr>
          <a:xfrm>
            <a:off x="9628632" y="4636008"/>
            <a:ext cx="512064" cy="32004"/>
          </a:xfrm>
          <a:prstGeom prst="rect">
            <a:avLst/>
          </a:prstGeom>
          <a:solidFill>
            <a:srgbClr val="52514E"/>
          </a:solidFill>
          <a:ln/>
        </p:spPr>
      </p:sp>
      <p:sp>
        <p:nvSpPr>
          <p:cNvPr id="113" name="mini gen 6 0"/>
          <p:cNvSpPr/>
          <p:nvPr/>
        </p:nvSpPr>
        <p:spPr>
          <a:xfrm>
            <a:off x="9682420" y="4709160"/>
            <a:ext cx="38728" cy="38728"/>
          </a:xfrm>
          <a:prstGeom prst="ellipse">
            <a:avLst/>
          </a:prstGeom>
          <a:solidFill>
            <a:schemeClr val="accent1"/>
          </a:solidFill>
          <a:ln w="5080">
            <a:solidFill>
              <a:srgbClr val="FFFFFF"/>
            </a:solidFill>
            <a:prstDash val="solid"/>
          </a:ln>
        </p:spPr>
      </p:sp>
      <p:sp>
        <p:nvSpPr>
          <p:cNvPr id="114" name="mini gen 6 1"/>
          <p:cNvSpPr/>
          <p:nvPr/>
        </p:nvSpPr>
        <p:spPr>
          <a:xfrm>
            <a:off x="9755572" y="4709160"/>
            <a:ext cx="38728" cy="38728"/>
          </a:xfrm>
          <a:prstGeom prst="ellipse">
            <a:avLst/>
          </a:prstGeom>
          <a:solidFill>
            <a:schemeClr val="accent1"/>
          </a:solidFill>
          <a:ln w="5080">
            <a:solidFill>
              <a:srgbClr val="FFFFFF"/>
            </a:solidFill>
            <a:prstDash val="solid"/>
          </a:ln>
        </p:spPr>
      </p:sp>
      <p:sp>
        <p:nvSpPr>
          <p:cNvPr id="115" name="mini gen 6 2"/>
          <p:cNvSpPr/>
          <p:nvPr/>
        </p:nvSpPr>
        <p:spPr>
          <a:xfrm>
            <a:off x="9828724" y="4709160"/>
            <a:ext cx="38728" cy="38728"/>
          </a:xfrm>
          <a:prstGeom prst="ellipse">
            <a:avLst/>
          </a:prstGeom>
          <a:solidFill>
            <a:schemeClr val="accent1"/>
          </a:solidFill>
          <a:ln w="5080">
            <a:solidFill>
              <a:srgbClr val="FFFFFF"/>
            </a:solidFill>
            <a:prstDash val="solid"/>
          </a:ln>
        </p:spPr>
      </p:sp>
      <p:sp>
        <p:nvSpPr>
          <p:cNvPr id="116" name="mini gen 6 3"/>
          <p:cNvSpPr/>
          <p:nvPr/>
        </p:nvSpPr>
        <p:spPr>
          <a:xfrm>
            <a:off x="9901876" y="4709160"/>
            <a:ext cx="38728" cy="38728"/>
          </a:xfrm>
          <a:prstGeom prst="ellipse">
            <a:avLst/>
          </a:prstGeom>
          <a:solidFill>
            <a:schemeClr val="accent1"/>
          </a:solidFill>
          <a:ln w="5080">
            <a:solidFill>
              <a:srgbClr val="FFFFFF"/>
            </a:solidFill>
            <a:prstDash val="solid"/>
          </a:ln>
        </p:spPr>
      </p:sp>
      <p:sp>
        <p:nvSpPr>
          <p:cNvPr id="117" name="mini gen 6 4"/>
          <p:cNvSpPr/>
          <p:nvPr/>
        </p:nvSpPr>
        <p:spPr>
          <a:xfrm>
            <a:off x="9975028" y="4709160"/>
            <a:ext cx="38728" cy="38728"/>
          </a:xfrm>
          <a:prstGeom prst="ellipse">
            <a:avLst/>
          </a:prstGeom>
          <a:solidFill>
            <a:schemeClr val="accent1"/>
          </a:solidFill>
          <a:ln w="5080">
            <a:solidFill>
              <a:srgbClr val="FFFFFF"/>
            </a:solidFill>
            <a:prstDash val="solid"/>
          </a:ln>
        </p:spPr>
      </p:sp>
      <p:sp>
        <p:nvSpPr>
          <p:cNvPr id="118" name="mini gen 6 5"/>
          <p:cNvSpPr/>
          <p:nvPr/>
        </p:nvSpPr>
        <p:spPr>
          <a:xfrm>
            <a:off x="10048180" y="4709160"/>
            <a:ext cx="38728" cy="38728"/>
          </a:xfrm>
          <a:prstGeom prst="ellipse">
            <a:avLst/>
          </a:prstGeom>
          <a:solidFill>
            <a:schemeClr val="accent1"/>
          </a:solidFill>
          <a:ln w="5080">
            <a:solidFill>
              <a:srgbClr val="FFFFFF"/>
            </a:solidFill>
            <a:prstDash val="solid"/>
          </a:ln>
        </p:spPr>
      </p:sp>
      <p:sp>
        <p:nvSpPr>
          <p:cNvPr id="119" name="mini card gen 7"/>
          <p:cNvSpPr/>
          <p:nvPr/>
        </p:nvSpPr>
        <p:spPr>
          <a:xfrm>
            <a:off x="10204704" y="4590288"/>
            <a:ext cx="603504" cy="475488"/>
          </a:xfrm>
          <a:prstGeom prst="rect">
            <a:avLst/>
          </a:prstGeom>
          <a:solidFill>
            <a:srgbClr val="FFFFFF"/>
          </a:solidFill>
          <a:ln w="6350">
            <a:solidFill>
              <a:srgbClr val="898781"/>
            </a:solidFill>
            <a:prstDash val="solid"/>
          </a:ln>
        </p:spPr>
      </p:sp>
      <p:sp>
        <p:nvSpPr>
          <p:cNvPr id="120" name="mini wall gen 7"/>
          <p:cNvSpPr/>
          <p:nvPr/>
        </p:nvSpPr>
        <p:spPr>
          <a:xfrm>
            <a:off x="10250424" y="4636008"/>
            <a:ext cx="32004" cy="384048"/>
          </a:xfrm>
          <a:prstGeom prst="rect">
            <a:avLst/>
          </a:prstGeom>
          <a:solidFill>
            <a:srgbClr val="52514E"/>
          </a:solidFill>
          <a:ln/>
        </p:spPr>
      </p:sp>
      <p:sp>
        <p:nvSpPr>
          <p:cNvPr id="121" name="mini gen 7 0"/>
          <p:cNvSpPr/>
          <p:nvPr/>
        </p:nvSpPr>
        <p:spPr>
          <a:xfrm>
            <a:off x="10323576" y="4665550"/>
            <a:ext cx="55392" cy="36928"/>
          </a:xfrm>
          <a:prstGeom prst="rect">
            <a:avLst/>
          </a:prstGeom>
          <a:solidFill>
            <a:schemeClr val="accent1"/>
          </a:solidFill>
          <a:ln w="5080">
            <a:solidFill>
              <a:srgbClr val="FFFFFF"/>
            </a:solidFill>
            <a:prstDash val="solid"/>
          </a:ln>
        </p:spPr>
      </p:sp>
      <p:sp>
        <p:nvSpPr>
          <p:cNvPr id="122" name="mini gen 7 1"/>
          <p:cNvSpPr/>
          <p:nvPr/>
        </p:nvSpPr>
        <p:spPr>
          <a:xfrm>
            <a:off x="10332720" y="4715403"/>
            <a:ext cx="33235" cy="33235"/>
          </a:xfrm>
          <a:prstGeom prst="ellipse">
            <a:avLst/>
          </a:prstGeom>
          <a:solidFill>
            <a:schemeClr val="accent1"/>
          </a:solidFill>
          <a:ln w="5080">
            <a:solidFill>
              <a:srgbClr val="FFFFFF"/>
            </a:solidFill>
            <a:prstDash val="solid"/>
          </a:ln>
        </p:spPr>
      </p:sp>
      <p:sp>
        <p:nvSpPr>
          <p:cNvPr id="123" name="mini gen 7 2"/>
          <p:cNvSpPr/>
          <p:nvPr/>
        </p:nvSpPr>
        <p:spPr>
          <a:xfrm>
            <a:off x="10323576" y="4770794"/>
            <a:ext cx="44313" cy="18464"/>
          </a:xfrm>
          <a:prstGeom prst="rect">
            <a:avLst/>
          </a:prstGeom>
          <a:solidFill>
            <a:schemeClr val="accent1"/>
          </a:solidFill>
          <a:ln w="5080">
            <a:solidFill>
              <a:srgbClr val="FFFFFF"/>
            </a:solidFill>
            <a:prstDash val="solid"/>
          </a:ln>
        </p:spPr>
      </p:sp>
      <p:sp>
        <p:nvSpPr>
          <p:cNvPr id="124" name="mini gen 7 3"/>
          <p:cNvSpPr/>
          <p:nvPr/>
        </p:nvSpPr>
        <p:spPr>
          <a:xfrm>
            <a:off x="10332720" y="4811415"/>
            <a:ext cx="33235" cy="33235"/>
          </a:xfrm>
          <a:prstGeom prst="ellipse">
            <a:avLst/>
          </a:prstGeom>
          <a:solidFill>
            <a:schemeClr val="accent1"/>
          </a:solidFill>
          <a:ln w="5080">
            <a:solidFill>
              <a:srgbClr val="FFFFFF"/>
            </a:solidFill>
            <a:prstDash val="solid"/>
          </a:ln>
        </p:spPr>
      </p:sp>
      <p:sp>
        <p:nvSpPr>
          <p:cNvPr id="125" name="mini gen 7 4"/>
          <p:cNvSpPr/>
          <p:nvPr/>
        </p:nvSpPr>
        <p:spPr>
          <a:xfrm>
            <a:off x="10323576" y="4857574"/>
            <a:ext cx="55392" cy="36928"/>
          </a:xfrm>
          <a:prstGeom prst="rect">
            <a:avLst/>
          </a:prstGeom>
          <a:solidFill>
            <a:schemeClr val="accent1"/>
          </a:solidFill>
          <a:ln w="5080">
            <a:solidFill>
              <a:srgbClr val="FFFFFF"/>
            </a:solidFill>
            <a:prstDash val="solid"/>
          </a:ln>
        </p:spPr>
      </p:sp>
      <p:sp>
        <p:nvSpPr>
          <p:cNvPr id="126" name="mini gen 7 5"/>
          <p:cNvSpPr/>
          <p:nvPr/>
        </p:nvSpPr>
        <p:spPr>
          <a:xfrm>
            <a:off x="10332720" y="4907427"/>
            <a:ext cx="33235" cy="33235"/>
          </a:xfrm>
          <a:prstGeom prst="ellipse">
            <a:avLst/>
          </a:prstGeom>
          <a:solidFill>
            <a:schemeClr val="accent1"/>
          </a:solidFill>
          <a:ln w="5080">
            <a:solidFill>
              <a:srgbClr val="FFFFFF"/>
            </a:solidFill>
            <a:prstDash val="solid"/>
          </a:ln>
        </p:spPr>
      </p:sp>
      <p:sp>
        <p:nvSpPr>
          <p:cNvPr id="127" name="mini gen 7 6"/>
          <p:cNvSpPr/>
          <p:nvPr/>
        </p:nvSpPr>
        <p:spPr>
          <a:xfrm>
            <a:off x="10323576" y="4962818"/>
            <a:ext cx="44313" cy="18464"/>
          </a:xfrm>
          <a:prstGeom prst="rect">
            <a:avLst/>
          </a:prstGeom>
          <a:solidFill>
            <a:schemeClr val="accent1"/>
          </a:solidFill>
          <a:ln w="5080">
            <a:solidFill>
              <a:srgbClr val="FFFFFF"/>
            </a:solidFill>
            <a:prstDash val="solid"/>
          </a:ln>
        </p:spPr>
      </p:sp>
      <p:sp>
        <p:nvSpPr>
          <p:cNvPr id="128" name="mini card gen 8"/>
          <p:cNvSpPr/>
          <p:nvPr/>
        </p:nvSpPr>
        <p:spPr>
          <a:xfrm>
            <a:off x="10826496" y="4590288"/>
            <a:ext cx="603504" cy="475488"/>
          </a:xfrm>
          <a:prstGeom prst="rect">
            <a:avLst/>
          </a:prstGeom>
          <a:solidFill>
            <a:srgbClr val="FFFFFF"/>
          </a:solidFill>
          <a:ln w="6350">
            <a:solidFill>
              <a:srgbClr val="898781"/>
            </a:solidFill>
            <a:prstDash val="solid"/>
          </a:ln>
        </p:spPr>
      </p:sp>
      <p:sp>
        <p:nvSpPr>
          <p:cNvPr id="129" name="mini slab gen 8"/>
          <p:cNvSpPr/>
          <p:nvPr/>
        </p:nvSpPr>
        <p:spPr>
          <a:xfrm>
            <a:off x="10872216" y="4636008"/>
            <a:ext cx="512064" cy="32004"/>
          </a:xfrm>
          <a:prstGeom prst="rect">
            <a:avLst/>
          </a:prstGeom>
          <a:solidFill>
            <a:srgbClr val="52514E"/>
          </a:solidFill>
          <a:ln/>
        </p:spPr>
      </p:sp>
      <p:sp>
        <p:nvSpPr>
          <p:cNvPr id="130" name="mini gen 8 0"/>
          <p:cNvSpPr/>
          <p:nvPr/>
        </p:nvSpPr>
        <p:spPr>
          <a:xfrm>
            <a:off x="10914051" y="4709160"/>
            <a:ext cx="30121" cy="30121"/>
          </a:xfrm>
          <a:prstGeom prst="ellipse">
            <a:avLst/>
          </a:prstGeom>
          <a:solidFill>
            <a:schemeClr val="accent1"/>
          </a:solidFill>
          <a:ln w="5080">
            <a:solidFill>
              <a:srgbClr val="FFFFFF"/>
            </a:solidFill>
            <a:prstDash val="solid"/>
          </a:ln>
        </p:spPr>
      </p:sp>
      <p:sp>
        <p:nvSpPr>
          <p:cNvPr id="131" name="mini gen 8 1"/>
          <p:cNvSpPr/>
          <p:nvPr/>
        </p:nvSpPr>
        <p:spPr>
          <a:xfrm>
            <a:off x="10965927" y="4727448"/>
            <a:ext cx="40162" cy="16734"/>
          </a:xfrm>
          <a:prstGeom prst="rect">
            <a:avLst/>
          </a:prstGeom>
          <a:solidFill>
            <a:schemeClr val="accent1"/>
          </a:solidFill>
          <a:ln w="5080">
            <a:solidFill>
              <a:srgbClr val="FFFFFF"/>
            </a:solidFill>
            <a:prstDash val="solid"/>
          </a:ln>
        </p:spPr>
      </p:sp>
      <p:sp>
        <p:nvSpPr>
          <p:cNvPr id="132" name="mini gen 8 2"/>
          <p:cNvSpPr/>
          <p:nvPr/>
        </p:nvSpPr>
        <p:spPr>
          <a:xfrm>
            <a:off x="11027843" y="4709160"/>
            <a:ext cx="30121" cy="30121"/>
          </a:xfrm>
          <a:prstGeom prst="ellipse">
            <a:avLst/>
          </a:prstGeom>
          <a:solidFill>
            <a:schemeClr val="accent1"/>
          </a:solidFill>
          <a:ln w="5080">
            <a:solidFill>
              <a:srgbClr val="FFFFFF"/>
            </a:solidFill>
            <a:prstDash val="solid"/>
          </a:ln>
        </p:spPr>
      </p:sp>
      <p:sp>
        <p:nvSpPr>
          <p:cNvPr id="133" name="mini gen 8 3"/>
          <p:cNvSpPr/>
          <p:nvPr/>
        </p:nvSpPr>
        <p:spPr>
          <a:xfrm>
            <a:off x="11084739" y="4709160"/>
            <a:ext cx="30121" cy="30121"/>
          </a:xfrm>
          <a:prstGeom prst="ellipse">
            <a:avLst/>
          </a:prstGeom>
          <a:solidFill>
            <a:schemeClr val="accent1"/>
          </a:solidFill>
          <a:ln w="5080">
            <a:solidFill>
              <a:srgbClr val="FFFFFF"/>
            </a:solidFill>
            <a:prstDash val="solid"/>
          </a:ln>
        </p:spPr>
      </p:sp>
      <p:sp>
        <p:nvSpPr>
          <p:cNvPr id="134" name="mini gen 8 4"/>
          <p:cNvSpPr/>
          <p:nvPr/>
        </p:nvSpPr>
        <p:spPr>
          <a:xfrm>
            <a:off x="11136615" y="4727448"/>
            <a:ext cx="40162" cy="16734"/>
          </a:xfrm>
          <a:prstGeom prst="rect">
            <a:avLst/>
          </a:prstGeom>
          <a:solidFill>
            <a:schemeClr val="accent1"/>
          </a:solidFill>
          <a:ln w="5080">
            <a:solidFill>
              <a:srgbClr val="FFFFFF"/>
            </a:solidFill>
            <a:prstDash val="solid"/>
          </a:ln>
        </p:spPr>
      </p:sp>
      <p:sp>
        <p:nvSpPr>
          <p:cNvPr id="135" name="mini gen 8 5"/>
          <p:cNvSpPr/>
          <p:nvPr/>
        </p:nvSpPr>
        <p:spPr>
          <a:xfrm>
            <a:off x="11198531" y="4709160"/>
            <a:ext cx="30121" cy="30121"/>
          </a:xfrm>
          <a:prstGeom prst="ellipse">
            <a:avLst/>
          </a:prstGeom>
          <a:solidFill>
            <a:schemeClr val="accent1"/>
          </a:solidFill>
          <a:ln w="5080">
            <a:solidFill>
              <a:srgbClr val="FFFFFF"/>
            </a:solidFill>
            <a:prstDash val="solid"/>
          </a:ln>
        </p:spPr>
      </p:sp>
      <p:sp>
        <p:nvSpPr>
          <p:cNvPr id="136" name="mini gen 8 6"/>
          <p:cNvSpPr/>
          <p:nvPr/>
        </p:nvSpPr>
        <p:spPr>
          <a:xfrm>
            <a:off x="11255427" y="4709160"/>
            <a:ext cx="30121" cy="30121"/>
          </a:xfrm>
          <a:prstGeom prst="ellipse">
            <a:avLst/>
          </a:prstGeom>
          <a:solidFill>
            <a:schemeClr val="accent1"/>
          </a:solidFill>
          <a:ln w="5080">
            <a:solidFill>
              <a:srgbClr val="FFFFFF"/>
            </a:solidFill>
            <a:prstDash val="solid"/>
          </a:ln>
        </p:spPr>
      </p:sp>
      <p:sp>
        <p:nvSpPr>
          <p:cNvPr id="137" name="mini gen 8 7"/>
          <p:cNvSpPr/>
          <p:nvPr/>
        </p:nvSpPr>
        <p:spPr>
          <a:xfrm>
            <a:off x="11307303" y="4727448"/>
            <a:ext cx="40162" cy="16734"/>
          </a:xfrm>
          <a:prstGeom prst="rect">
            <a:avLst/>
          </a:prstGeom>
          <a:solidFill>
            <a:schemeClr val="accent1"/>
          </a:solidFill>
          <a:ln w="5080">
            <a:solidFill>
              <a:srgbClr val="FFFFFF"/>
            </a:solidFill>
            <a:prstDash val="solid"/>
          </a:ln>
        </p:spPr>
      </p:sp>
      <p:sp>
        <p:nvSpPr>
          <p:cNvPr id="138"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The ninety real designs we had came from one project and filled one corner of the design space, so CrossMEP covers all of it by construction</a:t>
            </a:r>
            <a:endParaRPr lang="en-US" sz="2600" dirty="0"/>
          </a:p>
        </p:txBody>
      </p:sp>
      <p:sp>
        <p:nvSpPr>
          <p:cNvPr id="3" name="space real"/>
          <p:cNvSpPr/>
          <p:nvPr/>
        </p:nvSpPr>
        <p:spPr>
          <a:xfrm>
            <a:off x="548640" y="1371600"/>
            <a:ext cx="5212080" cy="2103120"/>
          </a:xfrm>
          <a:prstGeom prst="roundRect">
            <a:avLst>
              <a:gd name="adj" fmla="val 3043"/>
            </a:avLst>
          </a:prstGeom>
          <a:solidFill>
            <a:schemeClr val="bg2"/>
          </a:solidFill>
          <a:ln/>
        </p:spPr>
      </p:sp>
      <p:sp>
        <p:nvSpPr>
          <p:cNvPr id="4" name="space head real"/>
          <p:cNvSpPr txBox="1"/>
          <p:nvPr/>
        </p:nvSpPr>
        <p:spPr>
          <a:xfrm>
            <a:off x="731520" y="1463040"/>
            <a:ext cx="4846320" cy="292608"/>
          </a:xfrm>
          <a:prstGeom prst="rect">
            <a:avLst/>
          </a:prstGeom>
          <a:noFill/>
          <a:ln/>
        </p:spPr>
        <p:txBody>
          <a:bodyPr wrap="square" lIns="0" tIns="0" rIns="0" bIns="0" rtlCol="0" anchor="ctr"/>
          <a:lstStyle/>
          <a:p>
            <a:pPr indent="0" marL="0">
              <a:buNone/>
            </a:pPr>
            <a:r>
              <a:rPr lang="en-US" sz="1400" b="1" dirty="0">
                <a:solidFill>
                  <a:schemeClr val="tx1"/>
                </a:solidFill>
              </a:rPr>
              <a:t>The real designs we had</a:t>
            </a:r>
            <a:r>
              <a:rPr lang="en-US" sz="1150" dirty="0">
                <a:solidFill>
                  <a:srgbClr val="52514E"/>
                </a:solidFill>
              </a:rPr>
              <a:t>   ninety · one project · confidential</a:t>
            </a:r>
            <a:endParaRPr lang="en-US" sz="1400" dirty="0"/>
          </a:p>
        </p:txBody>
      </p:sp>
      <p:sp>
        <p:nvSpPr>
          <p:cNvPr id="5" name="x axis real"/>
          <p:cNvSpPr/>
          <p:nvPr/>
        </p:nvSpPr>
        <p:spPr>
          <a:xfrm>
            <a:off x="1005840" y="3081528"/>
            <a:ext cx="4526280" cy="0"/>
          </a:xfrm>
          <a:prstGeom prst="line">
            <a:avLst/>
          </a:prstGeom>
          <a:noFill/>
          <a:ln w="12700">
            <a:solidFill>
              <a:srgbClr val="52514E"/>
            </a:solidFill>
            <a:prstDash val="solid"/>
            <a:tailEnd type="triangle"/>
          </a:ln>
        </p:spPr>
      </p:sp>
      <p:sp>
        <p:nvSpPr>
          <p:cNvPr id="6" name="y axis real"/>
          <p:cNvSpPr/>
          <p:nvPr/>
        </p:nvSpPr>
        <p:spPr>
          <a:xfrm>
            <a:off x="1005840" y="1847088"/>
            <a:ext cx="0" cy="1234440"/>
          </a:xfrm>
          <a:prstGeom prst="line">
            <a:avLst/>
          </a:prstGeom>
          <a:noFill/>
          <a:ln w="12700">
            <a:solidFill>
              <a:srgbClr val="52514E"/>
            </a:solidFill>
            <a:prstDash val="solid"/>
            <a:headEnd type="triangle"/>
          </a:ln>
        </p:spPr>
      </p:sp>
      <p:sp>
        <p:nvSpPr>
          <p:cNvPr id="7" name="x label real"/>
          <p:cNvSpPr txBox="1"/>
          <p:nvPr/>
        </p:nvSpPr>
        <p:spPr>
          <a:xfrm>
            <a:off x="1005840" y="3108960"/>
            <a:ext cx="4526280" cy="228600"/>
          </a:xfrm>
          <a:prstGeom prst="rect">
            <a:avLst/>
          </a:prstGeom>
          <a:noFill/>
          <a:ln/>
        </p:spPr>
        <p:txBody>
          <a:bodyPr wrap="square" lIns="0" tIns="0" rIns="0" bIns="0" rtlCol="0" anchor="ctr"/>
          <a:lstStyle/>
          <a:p>
            <a:pPr algn="ctr" indent="0" marL="0">
              <a:buNone/>
            </a:pPr>
            <a:r>
              <a:rPr lang="en-US" sz="1000" dirty="0">
                <a:solidFill>
                  <a:srgbClr val="52514E"/>
                </a:solidFill>
              </a:rPr>
              <a:t>elements at the hanger: 1 … 8</a:t>
            </a:r>
            <a:endParaRPr lang="en-US" sz="1000" dirty="0"/>
          </a:p>
        </p:txBody>
      </p:sp>
      <p:sp>
        <p:nvSpPr>
          <p:cNvPr id="8" name="y label real"/>
          <p:cNvSpPr txBox="1"/>
          <p:nvPr/>
        </p:nvSpPr>
        <p:spPr>
          <a:xfrm rot="16200000">
            <a:off x="521208" y="1847088"/>
            <a:ext cx="457200" cy="1234440"/>
          </a:xfrm>
          <a:prstGeom prst="rect">
            <a:avLst/>
          </a:prstGeom>
          <a:noFill/>
          <a:ln/>
        </p:spPr>
        <p:txBody>
          <a:bodyPr wrap="square" lIns="0" tIns="0" rIns="0" bIns="0" rtlCol="0" anchor="ctr"/>
          <a:lstStyle/>
          <a:p>
            <a:pPr algn="ctr" indent="0" marL="0">
              <a:buNone/>
            </a:pPr>
            <a:r>
              <a:rPr lang="en-US" sz="1000" dirty="0">
                <a:solidFill>
                  <a:srgbClr val="52514E"/>
                </a:solidFill>
              </a:rPr>
              <a:t>kinds, trades, surface</a:t>
            </a:r>
            <a:endParaRPr lang="en-US" sz="1000" dirty="0"/>
          </a:p>
        </p:txBody>
      </p:sp>
      <p:sp>
        <p:nvSpPr>
          <p:cNvPr id="9" name="mini card real 0"/>
          <p:cNvSpPr/>
          <p:nvPr/>
        </p:nvSpPr>
        <p:spPr>
          <a:xfrm>
            <a:off x="3223260" y="2032711"/>
            <a:ext cx="640080" cy="329184"/>
          </a:xfrm>
          <a:prstGeom prst="rect">
            <a:avLst/>
          </a:prstGeom>
          <a:solidFill>
            <a:srgbClr val="FFFFFF"/>
          </a:solidFill>
          <a:ln w="6350">
            <a:solidFill>
              <a:srgbClr val="898781"/>
            </a:solidFill>
            <a:prstDash val="solid"/>
          </a:ln>
        </p:spPr>
      </p:sp>
      <p:sp>
        <p:nvSpPr>
          <p:cNvPr id="10" name="mini slab real 0"/>
          <p:cNvSpPr/>
          <p:nvPr/>
        </p:nvSpPr>
        <p:spPr>
          <a:xfrm>
            <a:off x="3268980" y="2078431"/>
            <a:ext cx="548640" cy="32004"/>
          </a:xfrm>
          <a:prstGeom prst="rect">
            <a:avLst/>
          </a:prstGeom>
          <a:solidFill>
            <a:srgbClr val="52514E"/>
          </a:solidFill>
          <a:ln/>
        </p:spPr>
      </p:sp>
      <p:sp>
        <p:nvSpPr>
          <p:cNvPr id="11" name="mini real 0 0"/>
          <p:cNvSpPr/>
          <p:nvPr/>
        </p:nvSpPr>
        <p:spPr>
          <a:xfrm>
            <a:off x="3312779" y="2142439"/>
            <a:ext cx="69156" cy="50715"/>
          </a:xfrm>
          <a:prstGeom prst="rect">
            <a:avLst/>
          </a:prstGeom>
          <a:solidFill>
            <a:srgbClr val="EB6834"/>
          </a:solidFill>
          <a:ln w="5080">
            <a:solidFill>
              <a:srgbClr val="FFFFFF"/>
            </a:solidFill>
            <a:prstDash val="solid"/>
          </a:ln>
        </p:spPr>
      </p:sp>
      <p:sp>
        <p:nvSpPr>
          <p:cNvPr id="12" name="mini real 0 1"/>
          <p:cNvSpPr/>
          <p:nvPr/>
        </p:nvSpPr>
        <p:spPr>
          <a:xfrm>
            <a:off x="3404987" y="2151583"/>
            <a:ext cx="41494" cy="41494"/>
          </a:xfrm>
          <a:prstGeom prst="ellipse">
            <a:avLst/>
          </a:prstGeom>
          <a:solidFill>
            <a:srgbClr val="EB6834"/>
          </a:solidFill>
          <a:ln w="5080">
            <a:solidFill>
              <a:srgbClr val="FFFFFF"/>
            </a:solidFill>
            <a:prstDash val="solid"/>
          </a:ln>
        </p:spPr>
      </p:sp>
      <p:sp>
        <p:nvSpPr>
          <p:cNvPr id="13" name="mini real 0 2"/>
          <p:cNvSpPr/>
          <p:nvPr/>
        </p:nvSpPr>
        <p:spPr>
          <a:xfrm>
            <a:off x="3483365" y="2151583"/>
            <a:ext cx="41494" cy="41494"/>
          </a:xfrm>
          <a:prstGeom prst="ellipse">
            <a:avLst/>
          </a:prstGeom>
          <a:solidFill>
            <a:srgbClr val="EB6834"/>
          </a:solidFill>
          <a:ln w="5080">
            <a:solidFill>
              <a:srgbClr val="FFFFFF"/>
            </a:solidFill>
            <a:prstDash val="solid"/>
          </a:ln>
        </p:spPr>
      </p:sp>
      <p:sp>
        <p:nvSpPr>
          <p:cNvPr id="14" name="mini real 0 3"/>
          <p:cNvSpPr/>
          <p:nvPr/>
        </p:nvSpPr>
        <p:spPr>
          <a:xfrm>
            <a:off x="3561742" y="2151583"/>
            <a:ext cx="41494" cy="41494"/>
          </a:xfrm>
          <a:prstGeom prst="ellipse">
            <a:avLst/>
          </a:prstGeom>
          <a:solidFill>
            <a:srgbClr val="EB6834"/>
          </a:solidFill>
          <a:ln w="5080">
            <a:solidFill>
              <a:srgbClr val="FFFFFF"/>
            </a:solidFill>
            <a:prstDash val="solid"/>
          </a:ln>
        </p:spPr>
      </p:sp>
      <p:sp>
        <p:nvSpPr>
          <p:cNvPr id="15" name="mini real 0 4"/>
          <p:cNvSpPr/>
          <p:nvPr/>
        </p:nvSpPr>
        <p:spPr>
          <a:xfrm>
            <a:off x="3626288" y="2142439"/>
            <a:ext cx="69156" cy="50715"/>
          </a:xfrm>
          <a:prstGeom prst="rect">
            <a:avLst/>
          </a:prstGeom>
          <a:solidFill>
            <a:srgbClr val="EB6834"/>
          </a:solidFill>
          <a:ln w="5080">
            <a:solidFill>
              <a:srgbClr val="FFFFFF"/>
            </a:solidFill>
            <a:prstDash val="solid"/>
          </a:ln>
        </p:spPr>
      </p:sp>
      <p:sp>
        <p:nvSpPr>
          <p:cNvPr id="16" name="mini real 0 5"/>
          <p:cNvSpPr/>
          <p:nvPr/>
        </p:nvSpPr>
        <p:spPr>
          <a:xfrm>
            <a:off x="3718496" y="2151583"/>
            <a:ext cx="41494" cy="41494"/>
          </a:xfrm>
          <a:prstGeom prst="ellipse">
            <a:avLst/>
          </a:prstGeom>
          <a:solidFill>
            <a:srgbClr val="EB6834"/>
          </a:solidFill>
          <a:ln w="5080">
            <a:solidFill>
              <a:srgbClr val="FFFFFF"/>
            </a:solidFill>
            <a:prstDash val="solid"/>
          </a:ln>
        </p:spPr>
      </p:sp>
      <p:sp>
        <p:nvSpPr>
          <p:cNvPr id="17" name="mini card real 1"/>
          <p:cNvSpPr/>
          <p:nvPr/>
        </p:nvSpPr>
        <p:spPr>
          <a:xfrm>
            <a:off x="3856939" y="2032711"/>
            <a:ext cx="640080" cy="329184"/>
          </a:xfrm>
          <a:prstGeom prst="rect">
            <a:avLst/>
          </a:prstGeom>
          <a:solidFill>
            <a:srgbClr val="FFFFFF"/>
          </a:solidFill>
          <a:ln w="6350">
            <a:solidFill>
              <a:srgbClr val="898781"/>
            </a:solidFill>
            <a:prstDash val="solid"/>
          </a:ln>
        </p:spPr>
      </p:sp>
      <p:sp>
        <p:nvSpPr>
          <p:cNvPr id="18" name="mini slab real 1"/>
          <p:cNvSpPr/>
          <p:nvPr/>
        </p:nvSpPr>
        <p:spPr>
          <a:xfrm>
            <a:off x="3902659" y="2078431"/>
            <a:ext cx="548640" cy="32004"/>
          </a:xfrm>
          <a:prstGeom prst="rect">
            <a:avLst/>
          </a:prstGeom>
          <a:solidFill>
            <a:srgbClr val="52514E"/>
          </a:solidFill>
          <a:ln/>
        </p:spPr>
      </p:sp>
      <p:sp>
        <p:nvSpPr>
          <p:cNvPr id="19" name="mini real 1 0"/>
          <p:cNvSpPr/>
          <p:nvPr/>
        </p:nvSpPr>
        <p:spPr>
          <a:xfrm>
            <a:off x="3940983" y="2142439"/>
            <a:ext cx="60512" cy="44375"/>
          </a:xfrm>
          <a:prstGeom prst="rect">
            <a:avLst/>
          </a:prstGeom>
          <a:solidFill>
            <a:srgbClr val="EB6834"/>
          </a:solidFill>
          <a:ln w="5080">
            <a:solidFill>
              <a:srgbClr val="FFFFFF"/>
            </a:solidFill>
            <a:prstDash val="solid"/>
          </a:ln>
        </p:spPr>
      </p:sp>
      <p:sp>
        <p:nvSpPr>
          <p:cNvPr id="20" name="mini real 1 1"/>
          <p:cNvSpPr/>
          <p:nvPr/>
        </p:nvSpPr>
        <p:spPr>
          <a:xfrm>
            <a:off x="4021666" y="2151583"/>
            <a:ext cx="36307" cy="36307"/>
          </a:xfrm>
          <a:prstGeom prst="ellipse">
            <a:avLst/>
          </a:prstGeom>
          <a:solidFill>
            <a:srgbClr val="EB6834"/>
          </a:solidFill>
          <a:ln w="5080">
            <a:solidFill>
              <a:srgbClr val="FFFFFF"/>
            </a:solidFill>
            <a:prstDash val="solid"/>
          </a:ln>
        </p:spPr>
      </p:sp>
      <p:sp>
        <p:nvSpPr>
          <p:cNvPr id="21" name="mini real 1 2"/>
          <p:cNvSpPr/>
          <p:nvPr/>
        </p:nvSpPr>
        <p:spPr>
          <a:xfrm>
            <a:off x="4090246" y="2151583"/>
            <a:ext cx="36307" cy="36307"/>
          </a:xfrm>
          <a:prstGeom prst="ellipse">
            <a:avLst/>
          </a:prstGeom>
          <a:solidFill>
            <a:srgbClr val="EB6834"/>
          </a:solidFill>
          <a:ln w="5080">
            <a:solidFill>
              <a:srgbClr val="FFFFFF"/>
            </a:solidFill>
            <a:prstDash val="solid"/>
          </a:ln>
        </p:spPr>
      </p:sp>
      <p:sp>
        <p:nvSpPr>
          <p:cNvPr id="22" name="mini real 1 3"/>
          <p:cNvSpPr/>
          <p:nvPr/>
        </p:nvSpPr>
        <p:spPr>
          <a:xfrm>
            <a:off x="4158826" y="2151583"/>
            <a:ext cx="36307" cy="36307"/>
          </a:xfrm>
          <a:prstGeom prst="ellipse">
            <a:avLst/>
          </a:prstGeom>
          <a:solidFill>
            <a:srgbClr val="EB6834"/>
          </a:solidFill>
          <a:ln w="5080">
            <a:solidFill>
              <a:srgbClr val="FFFFFF"/>
            </a:solidFill>
            <a:prstDash val="solid"/>
          </a:ln>
        </p:spPr>
      </p:sp>
      <p:sp>
        <p:nvSpPr>
          <p:cNvPr id="23" name="mini real 1 4"/>
          <p:cNvSpPr/>
          <p:nvPr/>
        </p:nvSpPr>
        <p:spPr>
          <a:xfrm>
            <a:off x="4215303" y="2142439"/>
            <a:ext cx="60512" cy="44375"/>
          </a:xfrm>
          <a:prstGeom prst="rect">
            <a:avLst/>
          </a:prstGeom>
          <a:solidFill>
            <a:srgbClr val="EB6834"/>
          </a:solidFill>
          <a:ln w="5080">
            <a:solidFill>
              <a:srgbClr val="FFFFFF"/>
            </a:solidFill>
            <a:prstDash val="solid"/>
          </a:ln>
        </p:spPr>
      </p:sp>
      <p:sp>
        <p:nvSpPr>
          <p:cNvPr id="24" name="mini real 1 5"/>
          <p:cNvSpPr/>
          <p:nvPr/>
        </p:nvSpPr>
        <p:spPr>
          <a:xfrm>
            <a:off x="4295986" y="2151583"/>
            <a:ext cx="36307" cy="36307"/>
          </a:xfrm>
          <a:prstGeom prst="ellipse">
            <a:avLst/>
          </a:prstGeom>
          <a:solidFill>
            <a:srgbClr val="EB6834"/>
          </a:solidFill>
          <a:ln w="5080">
            <a:solidFill>
              <a:srgbClr val="FFFFFF"/>
            </a:solidFill>
            <a:prstDash val="solid"/>
          </a:ln>
        </p:spPr>
      </p:sp>
      <p:sp>
        <p:nvSpPr>
          <p:cNvPr id="25" name="mini real 1 6"/>
          <p:cNvSpPr/>
          <p:nvPr/>
        </p:nvSpPr>
        <p:spPr>
          <a:xfrm>
            <a:off x="4364566" y="2151583"/>
            <a:ext cx="36307" cy="36307"/>
          </a:xfrm>
          <a:prstGeom prst="ellipse">
            <a:avLst/>
          </a:prstGeom>
          <a:solidFill>
            <a:srgbClr val="EB6834"/>
          </a:solidFill>
          <a:ln w="5080">
            <a:solidFill>
              <a:srgbClr val="FFFFFF"/>
            </a:solidFill>
            <a:prstDash val="solid"/>
          </a:ln>
        </p:spPr>
      </p:sp>
      <p:sp>
        <p:nvSpPr>
          <p:cNvPr id="26" name="mini card real 2"/>
          <p:cNvSpPr/>
          <p:nvPr/>
        </p:nvSpPr>
        <p:spPr>
          <a:xfrm>
            <a:off x="4490618" y="2032711"/>
            <a:ext cx="640080" cy="329184"/>
          </a:xfrm>
          <a:prstGeom prst="rect">
            <a:avLst/>
          </a:prstGeom>
          <a:solidFill>
            <a:srgbClr val="FFFFFF"/>
          </a:solidFill>
          <a:ln w="6350">
            <a:solidFill>
              <a:srgbClr val="898781"/>
            </a:solidFill>
            <a:prstDash val="solid"/>
          </a:ln>
        </p:spPr>
      </p:sp>
      <p:sp>
        <p:nvSpPr>
          <p:cNvPr id="27" name="mini slab real 2"/>
          <p:cNvSpPr/>
          <p:nvPr/>
        </p:nvSpPr>
        <p:spPr>
          <a:xfrm>
            <a:off x="4536338" y="2078431"/>
            <a:ext cx="548640" cy="32004"/>
          </a:xfrm>
          <a:prstGeom prst="rect">
            <a:avLst/>
          </a:prstGeom>
          <a:solidFill>
            <a:srgbClr val="52514E"/>
          </a:solidFill>
          <a:ln/>
        </p:spPr>
      </p:sp>
      <p:sp>
        <p:nvSpPr>
          <p:cNvPr id="28" name="mini real 2 0"/>
          <p:cNvSpPr/>
          <p:nvPr/>
        </p:nvSpPr>
        <p:spPr>
          <a:xfrm>
            <a:off x="4570404" y="2142439"/>
            <a:ext cx="53788" cy="39445"/>
          </a:xfrm>
          <a:prstGeom prst="rect">
            <a:avLst/>
          </a:prstGeom>
          <a:solidFill>
            <a:srgbClr val="EB6834"/>
          </a:solidFill>
          <a:ln w="5080">
            <a:solidFill>
              <a:srgbClr val="FFFFFF"/>
            </a:solidFill>
            <a:prstDash val="solid"/>
          </a:ln>
        </p:spPr>
      </p:sp>
      <p:sp>
        <p:nvSpPr>
          <p:cNvPr id="29" name="mini real 2 1"/>
          <p:cNvSpPr/>
          <p:nvPr/>
        </p:nvSpPr>
        <p:spPr>
          <a:xfrm>
            <a:off x="4642122" y="2151583"/>
            <a:ext cx="32273" cy="32273"/>
          </a:xfrm>
          <a:prstGeom prst="ellipse">
            <a:avLst/>
          </a:prstGeom>
          <a:solidFill>
            <a:srgbClr val="EB6834"/>
          </a:solidFill>
          <a:ln w="5080">
            <a:solidFill>
              <a:srgbClr val="FFFFFF"/>
            </a:solidFill>
            <a:prstDash val="solid"/>
          </a:ln>
        </p:spPr>
      </p:sp>
      <p:sp>
        <p:nvSpPr>
          <p:cNvPr id="30" name="mini real 2 2"/>
          <p:cNvSpPr/>
          <p:nvPr/>
        </p:nvSpPr>
        <p:spPr>
          <a:xfrm>
            <a:off x="4703082" y="2151583"/>
            <a:ext cx="32273" cy="32273"/>
          </a:xfrm>
          <a:prstGeom prst="ellipse">
            <a:avLst/>
          </a:prstGeom>
          <a:solidFill>
            <a:srgbClr val="EB6834"/>
          </a:solidFill>
          <a:ln w="5080">
            <a:solidFill>
              <a:srgbClr val="FFFFFF"/>
            </a:solidFill>
            <a:prstDash val="solid"/>
          </a:ln>
        </p:spPr>
      </p:sp>
      <p:sp>
        <p:nvSpPr>
          <p:cNvPr id="31" name="mini real 2 3"/>
          <p:cNvSpPr/>
          <p:nvPr/>
        </p:nvSpPr>
        <p:spPr>
          <a:xfrm>
            <a:off x="4764042" y="2151583"/>
            <a:ext cx="32273" cy="32273"/>
          </a:xfrm>
          <a:prstGeom prst="ellipse">
            <a:avLst/>
          </a:prstGeom>
          <a:solidFill>
            <a:srgbClr val="EB6834"/>
          </a:solidFill>
          <a:ln w="5080">
            <a:solidFill>
              <a:srgbClr val="FFFFFF"/>
            </a:solidFill>
            <a:prstDash val="solid"/>
          </a:ln>
        </p:spPr>
      </p:sp>
      <p:sp>
        <p:nvSpPr>
          <p:cNvPr id="32" name="mini real 2 4"/>
          <p:cNvSpPr/>
          <p:nvPr/>
        </p:nvSpPr>
        <p:spPr>
          <a:xfrm>
            <a:off x="4814244" y="2142439"/>
            <a:ext cx="53788" cy="39445"/>
          </a:xfrm>
          <a:prstGeom prst="rect">
            <a:avLst/>
          </a:prstGeom>
          <a:solidFill>
            <a:srgbClr val="EB6834"/>
          </a:solidFill>
          <a:ln w="5080">
            <a:solidFill>
              <a:srgbClr val="FFFFFF"/>
            </a:solidFill>
            <a:prstDash val="solid"/>
          </a:ln>
        </p:spPr>
      </p:sp>
      <p:sp>
        <p:nvSpPr>
          <p:cNvPr id="33" name="mini real 2 5"/>
          <p:cNvSpPr/>
          <p:nvPr/>
        </p:nvSpPr>
        <p:spPr>
          <a:xfrm>
            <a:off x="4885962" y="2151583"/>
            <a:ext cx="32273" cy="32273"/>
          </a:xfrm>
          <a:prstGeom prst="ellipse">
            <a:avLst/>
          </a:prstGeom>
          <a:solidFill>
            <a:srgbClr val="EB6834"/>
          </a:solidFill>
          <a:ln w="5080">
            <a:solidFill>
              <a:srgbClr val="FFFFFF"/>
            </a:solidFill>
            <a:prstDash val="solid"/>
          </a:ln>
        </p:spPr>
      </p:sp>
      <p:sp>
        <p:nvSpPr>
          <p:cNvPr id="34" name="mini real 2 6"/>
          <p:cNvSpPr/>
          <p:nvPr/>
        </p:nvSpPr>
        <p:spPr>
          <a:xfrm>
            <a:off x="4946922" y="2151583"/>
            <a:ext cx="32273" cy="32273"/>
          </a:xfrm>
          <a:prstGeom prst="ellipse">
            <a:avLst/>
          </a:prstGeom>
          <a:solidFill>
            <a:srgbClr val="EB6834"/>
          </a:solidFill>
          <a:ln w="5080">
            <a:solidFill>
              <a:srgbClr val="FFFFFF"/>
            </a:solidFill>
            <a:prstDash val="solid"/>
          </a:ln>
        </p:spPr>
      </p:sp>
      <p:sp>
        <p:nvSpPr>
          <p:cNvPr id="35" name="mini real 2 7"/>
          <p:cNvSpPr/>
          <p:nvPr/>
        </p:nvSpPr>
        <p:spPr>
          <a:xfrm>
            <a:off x="5007882" y="2151583"/>
            <a:ext cx="32273" cy="32273"/>
          </a:xfrm>
          <a:prstGeom prst="ellipse">
            <a:avLst/>
          </a:prstGeom>
          <a:solidFill>
            <a:srgbClr val="EB6834"/>
          </a:solidFill>
          <a:ln w="5080">
            <a:solidFill>
              <a:srgbClr val="FFFFFF"/>
            </a:solidFill>
            <a:prstDash val="solid"/>
          </a:ln>
        </p:spPr>
      </p:sp>
      <p:sp>
        <p:nvSpPr>
          <p:cNvPr id="36" name="mini card real 3"/>
          <p:cNvSpPr/>
          <p:nvPr/>
        </p:nvSpPr>
        <p:spPr>
          <a:xfrm>
            <a:off x="3404311" y="2427732"/>
            <a:ext cx="640080" cy="329184"/>
          </a:xfrm>
          <a:prstGeom prst="rect">
            <a:avLst/>
          </a:prstGeom>
          <a:solidFill>
            <a:srgbClr val="FFFFFF"/>
          </a:solidFill>
          <a:ln w="6350">
            <a:solidFill>
              <a:srgbClr val="898781"/>
            </a:solidFill>
            <a:prstDash val="solid"/>
          </a:ln>
        </p:spPr>
      </p:sp>
      <p:sp>
        <p:nvSpPr>
          <p:cNvPr id="37" name="mini slab real 3"/>
          <p:cNvSpPr/>
          <p:nvPr/>
        </p:nvSpPr>
        <p:spPr>
          <a:xfrm>
            <a:off x="3450031" y="2473452"/>
            <a:ext cx="548640" cy="32004"/>
          </a:xfrm>
          <a:prstGeom prst="rect">
            <a:avLst/>
          </a:prstGeom>
          <a:solidFill>
            <a:srgbClr val="52514E"/>
          </a:solidFill>
          <a:ln/>
        </p:spPr>
      </p:sp>
      <p:sp>
        <p:nvSpPr>
          <p:cNvPr id="38" name="mini real 3 0"/>
          <p:cNvSpPr/>
          <p:nvPr/>
        </p:nvSpPr>
        <p:spPr>
          <a:xfrm>
            <a:off x="3493830" y="2537460"/>
            <a:ext cx="69156" cy="50715"/>
          </a:xfrm>
          <a:prstGeom prst="rect">
            <a:avLst/>
          </a:prstGeom>
          <a:solidFill>
            <a:srgbClr val="EB6834"/>
          </a:solidFill>
          <a:ln w="5080">
            <a:solidFill>
              <a:srgbClr val="FFFFFF"/>
            </a:solidFill>
            <a:prstDash val="solid"/>
          </a:ln>
        </p:spPr>
      </p:sp>
      <p:sp>
        <p:nvSpPr>
          <p:cNvPr id="39" name="mini real 3 1"/>
          <p:cNvSpPr/>
          <p:nvPr/>
        </p:nvSpPr>
        <p:spPr>
          <a:xfrm>
            <a:off x="3586039" y="2546604"/>
            <a:ext cx="41494" cy="41494"/>
          </a:xfrm>
          <a:prstGeom prst="ellipse">
            <a:avLst/>
          </a:prstGeom>
          <a:solidFill>
            <a:srgbClr val="EB6834"/>
          </a:solidFill>
          <a:ln w="5080">
            <a:solidFill>
              <a:srgbClr val="FFFFFF"/>
            </a:solidFill>
            <a:prstDash val="solid"/>
          </a:ln>
        </p:spPr>
      </p:sp>
      <p:sp>
        <p:nvSpPr>
          <p:cNvPr id="40" name="mini real 3 2"/>
          <p:cNvSpPr/>
          <p:nvPr/>
        </p:nvSpPr>
        <p:spPr>
          <a:xfrm>
            <a:off x="3664416" y="2546604"/>
            <a:ext cx="41494" cy="41494"/>
          </a:xfrm>
          <a:prstGeom prst="ellipse">
            <a:avLst/>
          </a:prstGeom>
          <a:solidFill>
            <a:srgbClr val="EB6834"/>
          </a:solidFill>
          <a:ln w="5080">
            <a:solidFill>
              <a:srgbClr val="FFFFFF"/>
            </a:solidFill>
            <a:prstDash val="solid"/>
          </a:ln>
        </p:spPr>
      </p:sp>
      <p:sp>
        <p:nvSpPr>
          <p:cNvPr id="41" name="mini real 3 3"/>
          <p:cNvSpPr/>
          <p:nvPr/>
        </p:nvSpPr>
        <p:spPr>
          <a:xfrm>
            <a:off x="3742793" y="2546604"/>
            <a:ext cx="41494" cy="41494"/>
          </a:xfrm>
          <a:prstGeom prst="ellipse">
            <a:avLst/>
          </a:prstGeom>
          <a:solidFill>
            <a:srgbClr val="EB6834"/>
          </a:solidFill>
          <a:ln w="5080">
            <a:solidFill>
              <a:srgbClr val="FFFFFF"/>
            </a:solidFill>
            <a:prstDash val="solid"/>
          </a:ln>
        </p:spPr>
      </p:sp>
      <p:sp>
        <p:nvSpPr>
          <p:cNvPr id="42" name="mini real 3 4"/>
          <p:cNvSpPr/>
          <p:nvPr/>
        </p:nvSpPr>
        <p:spPr>
          <a:xfrm>
            <a:off x="3807339" y="2537460"/>
            <a:ext cx="69156" cy="50715"/>
          </a:xfrm>
          <a:prstGeom prst="rect">
            <a:avLst/>
          </a:prstGeom>
          <a:solidFill>
            <a:srgbClr val="EB6834"/>
          </a:solidFill>
          <a:ln w="5080">
            <a:solidFill>
              <a:srgbClr val="FFFFFF"/>
            </a:solidFill>
            <a:prstDash val="solid"/>
          </a:ln>
        </p:spPr>
      </p:sp>
      <p:sp>
        <p:nvSpPr>
          <p:cNvPr id="43" name="mini real 3 5"/>
          <p:cNvSpPr/>
          <p:nvPr/>
        </p:nvSpPr>
        <p:spPr>
          <a:xfrm>
            <a:off x="3899547" y="2546604"/>
            <a:ext cx="41494" cy="41494"/>
          </a:xfrm>
          <a:prstGeom prst="ellipse">
            <a:avLst/>
          </a:prstGeom>
          <a:solidFill>
            <a:srgbClr val="EB6834"/>
          </a:solidFill>
          <a:ln w="5080">
            <a:solidFill>
              <a:srgbClr val="FFFFFF"/>
            </a:solidFill>
            <a:prstDash val="solid"/>
          </a:ln>
        </p:spPr>
      </p:sp>
      <p:sp>
        <p:nvSpPr>
          <p:cNvPr id="44" name="mini card real 4"/>
          <p:cNvSpPr/>
          <p:nvPr/>
        </p:nvSpPr>
        <p:spPr>
          <a:xfrm>
            <a:off x="4037990" y="2427732"/>
            <a:ext cx="640080" cy="329184"/>
          </a:xfrm>
          <a:prstGeom prst="rect">
            <a:avLst/>
          </a:prstGeom>
          <a:solidFill>
            <a:srgbClr val="FFFFFF"/>
          </a:solidFill>
          <a:ln w="6350">
            <a:solidFill>
              <a:srgbClr val="898781"/>
            </a:solidFill>
            <a:prstDash val="solid"/>
          </a:ln>
        </p:spPr>
      </p:sp>
      <p:sp>
        <p:nvSpPr>
          <p:cNvPr id="45" name="mini slab real 4"/>
          <p:cNvSpPr/>
          <p:nvPr/>
        </p:nvSpPr>
        <p:spPr>
          <a:xfrm>
            <a:off x="4083710" y="2473452"/>
            <a:ext cx="548640" cy="32004"/>
          </a:xfrm>
          <a:prstGeom prst="rect">
            <a:avLst/>
          </a:prstGeom>
          <a:solidFill>
            <a:srgbClr val="52514E"/>
          </a:solidFill>
          <a:ln/>
        </p:spPr>
      </p:sp>
      <p:sp>
        <p:nvSpPr>
          <p:cNvPr id="46" name="mini real 4 0"/>
          <p:cNvSpPr/>
          <p:nvPr/>
        </p:nvSpPr>
        <p:spPr>
          <a:xfrm>
            <a:off x="4122035" y="2537460"/>
            <a:ext cx="60512" cy="44375"/>
          </a:xfrm>
          <a:prstGeom prst="rect">
            <a:avLst/>
          </a:prstGeom>
          <a:solidFill>
            <a:srgbClr val="EB6834"/>
          </a:solidFill>
          <a:ln w="5080">
            <a:solidFill>
              <a:srgbClr val="FFFFFF"/>
            </a:solidFill>
            <a:prstDash val="solid"/>
          </a:ln>
        </p:spPr>
      </p:sp>
      <p:sp>
        <p:nvSpPr>
          <p:cNvPr id="47" name="mini real 4 1"/>
          <p:cNvSpPr/>
          <p:nvPr/>
        </p:nvSpPr>
        <p:spPr>
          <a:xfrm>
            <a:off x="4202717" y="2546604"/>
            <a:ext cx="36307" cy="36307"/>
          </a:xfrm>
          <a:prstGeom prst="ellipse">
            <a:avLst/>
          </a:prstGeom>
          <a:solidFill>
            <a:srgbClr val="EB6834"/>
          </a:solidFill>
          <a:ln w="5080">
            <a:solidFill>
              <a:srgbClr val="FFFFFF"/>
            </a:solidFill>
            <a:prstDash val="solid"/>
          </a:ln>
        </p:spPr>
      </p:sp>
      <p:sp>
        <p:nvSpPr>
          <p:cNvPr id="48" name="mini real 4 2"/>
          <p:cNvSpPr/>
          <p:nvPr/>
        </p:nvSpPr>
        <p:spPr>
          <a:xfrm>
            <a:off x="4271297" y="2546604"/>
            <a:ext cx="36307" cy="36307"/>
          </a:xfrm>
          <a:prstGeom prst="ellipse">
            <a:avLst/>
          </a:prstGeom>
          <a:solidFill>
            <a:srgbClr val="EB6834"/>
          </a:solidFill>
          <a:ln w="5080">
            <a:solidFill>
              <a:srgbClr val="FFFFFF"/>
            </a:solidFill>
            <a:prstDash val="solid"/>
          </a:ln>
        </p:spPr>
      </p:sp>
      <p:sp>
        <p:nvSpPr>
          <p:cNvPr id="49" name="mini real 4 3"/>
          <p:cNvSpPr/>
          <p:nvPr/>
        </p:nvSpPr>
        <p:spPr>
          <a:xfrm>
            <a:off x="4339877" y="2546604"/>
            <a:ext cx="36307" cy="36307"/>
          </a:xfrm>
          <a:prstGeom prst="ellipse">
            <a:avLst/>
          </a:prstGeom>
          <a:solidFill>
            <a:srgbClr val="EB6834"/>
          </a:solidFill>
          <a:ln w="5080">
            <a:solidFill>
              <a:srgbClr val="FFFFFF"/>
            </a:solidFill>
            <a:prstDash val="solid"/>
          </a:ln>
        </p:spPr>
      </p:sp>
      <p:sp>
        <p:nvSpPr>
          <p:cNvPr id="50" name="mini real 4 4"/>
          <p:cNvSpPr/>
          <p:nvPr/>
        </p:nvSpPr>
        <p:spPr>
          <a:xfrm>
            <a:off x="4396355" y="2537460"/>
            <a:ext cx="60512" cy="44375"/>
          </a:xfrm>
          <a:prstGeom prst="rect">
            <a:avLst/>
          </a:prstGeom>
          <a:solidFill>
            <a:srgbClr val="EB6834"/>
          </a:solidFill>
          <a:ln w="5080">
            <a:solidFill>
              <a:srgbClr val="FFFFFF"/>
            </a:solidFill>
            <a:prstDash val="solid"/>
          </a:ln>
        </p:spPr>
      </p:sp>
      <p:sp>
        <p:nvSpPr>
          <p:cNvPr id="51" name="mini real 4 5"/>
          <p:cNvSpPr/>
          <p:nvPr/>
        </p:nvSpPr>
        <p:spPr>
          <a:xfrm>
            <a:off x="4477037" y="2546604"/>
            <a:ext cx="36307" cy="36307"/>
          </a:xfrm>
          <a:prstGeom prst="ellipse">
            <a:avLst/>
          </a:prstGeom>
          <a:solidFill>
            <a:srgbClr val="EB6834"/>
          </a:solidFill>
          <a:ln w="5080">
            <a:solidFill>
              <a:srgbClr val="FFFFFF"/>
            </a:solidFill>
            <a:prstDash val="solid"/>
          </a:ln>
        </p:spPr>
      </p:sp>
      <p:sp>
        <p:nvSpPr>
          <p:cNvPr id="52" name="mini real 4 6"/>
          <p:cNvSpPr/>
          <p:nvPr/>
        </p:nvSpPr>
        <p:spPr>
          <a:xfrm>
            <a:off x="4545617" y="2546604"/>
            <a:ext cx="36307" cy="36307"/>
          </a:xfrm>
          <a:prstGeom prst="ellipse">
            <a:avLst/>
          </a:prstGeom>
          <a:solidFill>
            <a:srgbClr val="EB6834"/>
          </a:solidFill>
          <a:ln w="5080">
            <a:solidFill>
              <a:srgbClr val="FFFFFF"/>
            </a:solidFill>
            <a:prstDash val="solid"/>
          </a:ln>
        </p:spPr>
      </p:sp>
      <p:sp>
        <p:nvSpPr>
          <p:cNvPr id="53" name="mini card real 5"/>
          <p:cNvSpPr/>
          <p:nvPr/>
        </p:nvSpPr>
        <p:spPr>
          <a:xfrm>
            <a:off x="4671670" y="2427732"/>
            <a:ext cx="640080" cy="329184"/>
          </a:xfrm>
          <a:prstGeom prst="rect">
            <a:avLst/>
          </a:prstGeom>
          <a:solidFill>
            <a:srgbClr val="FFFFFF"/>
          </a:solidFill>
          <a:ln w="6350">
            <a:solidFill>
              <a:srgbClr val="898781"/>
            </a:solidFill>
            <a:prstDash val="solid"/>
          </a:ln>
        </p:spPr>
      </p:sp>
      <p:sp>
        <p:nvSpPr>
          <p:cNvPr id="54" name="mini slab real 5"/>
          <p:cNvSpPr/>
          <p:nvPr/>
        </p:nvSpPr>
        <p:spPr>
          <a:xfrm>
            <a:off x="4717390" y="2473452"/>
            <a:ext cx="548640" cy="32004"/>
          </a:xfrm>
          <a:prstGeom prst="rect">
            <a:avLst/>
          </a:prstGeom>
          <a:solidFill>
            <a:srgbClr val="52514E"/>
          </a:solidFill>
          <a:ln/>
        </p:spPr>
      </p:sp>
      <p:sp>
        <p:nvSpPr>
          <p:cNvPr id="55" name="mini real 5 0"/>
          <p:cNvSpPr/>
          <p:nvPr/>
        </p:nvSpPr>
        <p:spPr>
          <a:xfrm>
            <a:off x="4751455" y="2537460"/>
            <a:ext cx="53788" cy="39445"/>
          </a:xfrm>
          <a:prstGeom prst="rect">
            <a:avLst/>
          </a:prstGeom>
          <a:solidFill>
            <a:srgbClr val="EB6834"/>
          </a:solidFill>
          <a:ln w="5080">
            <a:solidFill>
              <a:srgbClr val="FFFFFF"/>
            </a:solidFill>
            <a:prstDash val="solid"/>
          </a:ln>
        </p:spPr>
      </p:sp>
      <p:sp>
        <p:nvSpPr>
          <p:cNvPr id="56" name="mini real 5 1"/>
          <p:cNvSpPr/>
          <p:nvPr/>
        </p:nvSpPr>
        <p:spPr>
          <a:xfrm>
            <a:off x="4823173" y="2546604"/>
            <a:ext cx="32273" cy="32273"/>
          </a:xfrm>
          <a:prstGeom prst="ellipse">
            <a:avLst/>
          </a:prstGeom>
          <a:solidFill>
            <a:srgbClr val="EB6834"/>
          </a:solidFill>
          <a:ln w="5080">
            <a:solidFill>
              <a:srgbClr val="FFFFFF"/>
            </a:solidFill>
            <a:prstDash val="solid"/>
          </a:ln>
        </p:spPr>
      </p:sp>
      <p:sp>
        <p:nvSpPr>
          <p:cNvPr id="57" name="mini real 5 2"/>
          <p:cNvSpPr/>
          <p:nvPr/>
        </p:nvSpPr>
        <p:spPr>
          <a:xfrm>
            <a:off x="4884133" y="2546604"/>
            <a:ext cx="32273" cy="32273"/>
          </a:xfrm>
          <a:prstGeom prst="ellipse">
            <a:avLst/>
          </a:prstGeom>
          <a:solidFill>
            <a:srgbClr val="EB6834"/>
          </a:solidFill>
          <a:ln w="5080">
            <a:solidFill>
              <a:srgbClr val="FFFFFF"/>
            </a:solidFill>
            <a:prstDash val="solid"/>
          </a:ln>
        </p:spPr>
      </p:sp>
      <p:sp>
        <p:nvSpPr>
          <p:cNvPr id="58" name="mini real 5 3"/>
          <p:cNvSpPr/>
          <p:nvPr/>
        </p:nvSpPr>
        <p:spPr>
          <a:xfrm>
            <a:off x="4945093" y="2546604"/>
            <a:ext cx="32273" cy="32273"/>
          </a:xfrm>
          <a:prstGeom prst="ellipse">
            <a:avLst/>
          </a:prstGeom>
          <a:solidFill>
            <a:srgbClr val="EB6834"/>
          </a:solidFill>
          <a:ln w="5080">
            <a:solidFill>
              <a:srgbClr val="FFFFFF"/>
            </a:solidFill>
            <a:prstDash val="solid"/>
          </a:ln>
        </p:spPr>
      </p:sp>
      <p:sp>
        <p:nvSpPr>
          <p:cNvPr id="59" name="mini real 5 4"/>
          <p:cNvSpPr/>
          <p:nvPr/>
        </p:nvSpPr>
        <p:spPr>
          <a:xfrm>
            <a:off x="4995295" y="2537460"/>
            <a:ext cx="53788" cy="39445"/>
          </a:xfrm>
          <a:prstGeom prst="rect">
            <a:avLst/>
          </a:prstGeom>
          <a:solidFill>
            <a:srgbClr val="EB6834"/>
          </a:solidFill>
          <a:ln w="5080">
            <a:solidFill>
              <a:srgbClr val="FFFFFF"/>
            </a:solidFill>
            <a:prstDash val="solid"/>
          </a:ln>
        </p:spPr>
      </p:sp>
      <p:sp>
        <p:nvSpPr>
          <p:cNvPr id="60" name="mini real 5 5"/>
          <p:cNvSpPr/>
          <p:nvPr/>
        </p:nvSpPr>
        <p:spPr>
          <a:xfrm>
            <a:off x="5067013" y="2546604"/>
            <a:ext cx="32273" cy="32273"/>
          </a:xfrm>
          <a:prstGeom prst="ellipse">
            <a:avLst/>
          </a:prstGeom>
          <a:solidFill>
            <a:srgbClr val="EB6834"/>
          </a:solidFill>
          <a:ln w="5080">
            <a:solidFill>
              <a:srgbClr val="FFFFFF"/>
            </a:solidFill>
            <a:prstDash val="solid"/>
          </a:ln>
        </p:spPr>
      </p:sp>
      <p:sp>
        <p:nvSpPr>
          <p:cNvPr id="61" name="mini real 5 6"/>
          <p:cNvSpPr/>
          <p:nvPr/>
        </p:nvSpPr>
        <p:spPr>
          <a:xfrm>
            <a:off x="5127973" y="2546604"/>
            <a:ext cx="32273" cy="32273"/>
          </a:xfrm>
          <a:prstGeom prst="ellipse">
            <a:avLst/>
          </a:prstGeom>
          <a:solidFill>
            <a:srgbClr val="EB6834"/>
          </a:solidFill>
          <a:ln w="5080">
            <a:solidFill>
              <a:srgbClr val="FFFFFF"/>
            </a:solidFill>
            <a:prstDash val="solid"/>
          </a:ln>
        </p:spPr>
      </p:sp>
      <p:sp>
        <p:nvSpPr>
          <p:cNvPr id="62" name="mini real 5 7"/>
          <p:cNvSpPr/>
          <p:nvPr/>
        </p:nvSpPr>
        <p:spPr>
          <a:xfrm>
            <a:off x="5188933" y="2546604"/>
            <a:ext cx="32273" cy="32273"/>
          </a:xfrm>
          <a:prstGeom prst="ellipse">
            <a:avLst/>
          </a:prstGeom>
          <a:solidFill>
            <a:srgbClr val="EB6834"/>
          </a:solidFill>
          <a:ln w="5080">
            <a:solidFill>
              <a:srgbClr val="FFFFFF"/>
            </a:solidFill>
            <a:prstDash val="solid"/>
          </a:ln>
        </p:spPr>
      </p:sp>
      <p:sp>
        <p:nvSpPr>
          <p:cNvPr id="63" name="real cluster ring"/>
          <p:cNvSpPr/>
          <p:nvPr/>
        </p:nvSpPr>
        <p:spPr>
          <a:xfrm>
            <a:off x="2997403" y="1970532"/>
            <a:ext cx="2444191" cy="962863"/>
          </a:xfrm>
          <a:prstGeom prst="ellipse">
            <a:avLst/>
          </a:prstGeom>
          <a:ln w="12700">
            <a:solidFill>
              <a:srgbClr val="EB6834"/>
            </a:solidFill>
            <a:prstDash val="dash"/>
          </a:ln>
        </p:spPr>
      </p:sp>
      <p:sp>
        <p:nvSpPr>
          <p:cNvPr id="64" name="real note"/>
          <p:cNvSpPr txBox="1"/>
          <p:nvPr/>
        </p:nvSpPr>
        <p:spPr>
          <a:xfrm>
            <a:off x="1024128" y="1995221"/>
            <a:ext cx="1810512" cy="925830"/>
          </a:xfrm>
          <a:prstGeom prst="rect">
            <a:avLst/>
          </a:prstGeom>
          <a:noFill/>
          <a:ln/>
        </p:spPr>
        <p:txBody>
          <a:bodyPr wrap="square" lIns="0" tIns="0" rIns="0" bIns="0" rtlCol="0" anchor="ctr"/>
          <a:lstStyle/>
          <a:p>
            <a:pPr indent="0" marL="0">
              <a:buNone/>
            </a:pPr>
            <a:r>
              <a:rPr lang="en-US" sz="1100" dirty="0">
                <a:solidFill>
                  <a:srgbClr val="52514E"/>
                </a:solidFill>
              </a:rPr>
              <a:t>ducts and many pipes, no trays, nothing as simple as one pipe</a:t>
            </a:r>
            <a:endParaRPr lang="en-US" sz="1100" dirty="0"/>
          </a:p>
          <a:p>
            <a:pPr indent="0" marL="0">
              <a:buNone/>
            </a:pPr>
            <a:r>
              <a:rPr lang="en-US" sz="1100" i="1" dirty="0">
                <a:solidFill>
                  <a:srgbClr val="52514E"/>
                </a:solidFill>
              </a:rPr>
              <a:t>a method tuned here only fits that project</a:t>
            </a:r>
            <a:endParaRPr lang="en-US" sz="1100" dirty="0"/>
          </a:p>
        </p:txBody>
      </p:sp>
      <p:sp>
        <p:nvSpPr>
          <p:cNvPr id="65" name="space synthetic"/>
          <p:cNvSpPr/>
          <p:nvPr/>
        </p:nvSpPr>
        <p:spPr>
          <a:xfrm>
            <a:off x="548640" y="3611880"/>
            <a:ext cx="5212080" cy="2103120"/>
          </a:xfrm>
          <a:prstGeom prst="roundRect">
            <a:avLst>
              <a:gd name="adj" fmla="val 3043"/>
            </a:avLst>
          </a:prstGeom>
          <a:solidFill>
            <a:schemeClr val="bg2"/>
          </a:solidFill>
          <a:ln/>
        </p:spPr>
      </p:sp>
      <p:sp>
        <p:nvSpPr>
          <p:cNvPr id="66" name="space head synthetic"/>
          <p:cNvSpPr txBox="1"/>
          <p:nvPr/>
        </p:nvSpPr>
        <p:spPr>
          <a:xfrm>
            <a:off x="731520" y="3703320"/>
            <a:ext cx="4846320" cy="292608"/>
          </a:xfrm>
          <a:prstGeom prst="rect">
            <a:avLst/>
          </a:prstGeom>
          <a:noFill/>
          <a:ln/>
        </p:spPr>
        <p:txBody>
          <a:bodyPr wrap="square" lIns="0" tIns="0" rIns="0" bIns="0" rtlCol="0" anchor="ctr"/>
          <a:lstStyle/>
          <a:p>
            <a:pPr indent="0" marL="0">
              <a:buNone/>
            </a:pPr>
            <a:r>
              <a:rPr lang="en-US" sz="1400" b="1" dirty="0">
                <a:solidFill>
                  <a:schemeClr val="tx1"/>
                </a:solidFill>
              </a:rPr>
              <a:t>CrossMEP</a:t>
            </a:r>
            <a:r>
              <a:rPr lang="en-US" sz="1150" dirty="0">
                <a:solidFill>
                  <a:srgbClr val="52514E"/>
                </a:solidFill>
              </a:rPr>
              <a:t>   every tier · kinds and surfaces varied · unlimited</a:t>
            </a:r>
            <a:endParaRPr lang="en-US" sz="1400" dirty="0"/>
          </a:p>
        </p:txBody>
      </p:sp>
      <p:sp>
        <p:nvSpPr>
          <p:cNvPr id="67" name="x axis synthetic"/>
          <p:cNvSpPr/>
          <p:nvPr/>
        </p:nvSpPr>
        <p:spPr>
          <a:xfrm>
            <a:off x="1005840" y="5321808"/>
            <a:ext cx="4526280" cy="0"/>
          </a:xfrm>
          <a:prstGeom prst="line">
            <a:avLst/>
          </a:prstGeom>
          <a:noFill/>
          <a:ln w="12700">
            <a:solidFill>
              <a:srgbClr val="52514E"/>
            </a:solidFill>
            <a:prstDash val="solid"/>
            <a:tailEnd type="triangle"/>
          </a:ln>
        </p:spPr>
      </p:sp>
      <p:sp>
        <p:nvSpPr>
          <p:cNvPr id="68" name="y axis synthetic"/>
          <p:cNvSpPr/>
          <p:nvPr/>
        </p:nvSpPr>
        <p:spPr>
          <a:xfrm>
            <a:off x="1005840" y="4087368"/>
            <a:ext cx="0" cy="1234440"/>
          </a:xfrm>
          <a:prstGeom prst="line">
            <a:avLst/>
          </a:prstGeom>
          <a:noFill/>
          <a:ln w="12700">
            <a:solidFill>
              <a:srgbClr val="52514E"/>
            </a:solidFill>
            <a:prstDash val="solid"/>
            <a:headEnd type="triangle"/>
          </a:ln>
        </p:spPr>
      </p:sp>
      <p:sp>
        <p:nvSpPr>
          <p:cNvPr id="69" name="x label synthetic"/>
          <p:cNvSpPr txBox="1"/>
          <p:nvPr/>
        </p:nvSpPr>
        <p:spPr>
          <a:xfrm>
            <a:off x="1005840" y="5349240"/>
            <a:ext cx="4526280" cy="228600"/>
          </a:xfrm>
          <a:prstGeom prst="rect">
            <a:avLst/>
          </a:prstGeom>
          <a:noFill/>
          <a:ln/>
        </p:spPr>
        <p:txBody>
          <a:bodyPr wrap="square" lIns="0" tIns="0" rIns="0" bIns="0" rtlCol="0" anchor="ctr"/>
          <a:lstStyle/>
          <a:p>
            <a:pPr algn="ctr" indent="0" marL="0">
              <a:buNone/>
            </a:pPr>
            <a:r>
              <a:rPr lang="en-US" sz="1000" dirty="0">
                <a:solidFill>
                  <a:srgbClr val="52514E"/>
                </a:solidFill>
              </a:rPr>
              <a:t>elements at the hanger: 1 … 8</a:t>
            </a:r>
            <a:endParaRPr lang="en-US" sz="1000" dirty="0"/>
          </a:p>
        </p:txBody>
      </p:sp>
      <p:sp>
        <p:nvSpPr>
          <p:cNvPr id="70" name="y label synthetic"/>
          <p:cNvSpPr txBox="1"/>
          <p:nvPr/>
        </p:nvSpPr>
        <p:spPr>
          <a:xfrm rot="16200000">
            <a:off x="521208" y="4087368"/>
            <a:ext cx="457200" cy="1234440"/>
          </a:xfrm>
          <a:prstGeom prst="rect">
            <a:avLst/>
          </a:prstGeom>
          <a:noFill/>
          <a:ln/>
        </p:spPr>
        <p:txBody>
          <a:bodyPr wrap="square" lIns="0" tIns="0" rIns="0" bIns="0" rtlCol="0" anchor="ctr"/>
          <a:lstStyle/>
          <a:p>
            <a:pPr algn="ctr" indent="0" marL="0">
              <a:buNone/>
            </a:pPr>
            <a:r>
              <a:rPr lang="en-US" sz="1000" dirty="0">
                <a:solidFill>
                  <a:srgbClr val="52514E"/>
                </a:solidFill>
              </a:rPr>
              <a:t>kinds, trades, surface</a:t>
            </a:r>
            <a:endParaRPr lang="en-US" sz="1000" dirty="0"/>
          </a:p>
        </p:txBody>
      </p:sp>
      <p:sp>
        <p:nvSpPr>
          <p:cNvPr id="71" name="mini card syn 10"/>
          <p:cNvSpPr/>
          <p:nvPr/>
        </p:nvSpPr>
        <p:spPr>
          <a:xfrm>
            <a:off x="1042416" y="4114800"/>
            <a:ext cx="492633" cy="356616"/>
          </a:xfrm>
          <a:prstGeom prst="rect">
            <a:avLst/>
          </a:prstGeom>
          <a:solidFill>
            <a:srgbClr val="FFFFFF"/>
          </a:solidFill>
          <a:ln w="6350">
            <a:solidFill>
              <a:srgbClr val="898781"/>
            </a:solidFill>
            <a:prstDash val="solid"/>
          </a:ln>
        </p:spPr>
      </p:sp>
      <p:sp>
        <p:nvSpPr>
          <p:cNvPr id="72" name="mini slab syn 10"/>
          <p:cNvSpPr/>
          <p:nvPr/>
        </p:nvSpPr>
        <p:spPr>
          <a:xfrm>
            <a:off x="1088136" y="4160520"/>
            <a:ext cx="401193" cy="32004"/>
          </a:xfrm>
          <a:prstGeom prst="rect">
            <a:avLst/>
          </a:prstGeom>
          <a:solidFill>
            <a:srgbClr val="52514E"/>
          </a:solidFill>
          <a:ln/>
        </p:spPr>
      </p:sp>
      <p:sp>
        <p:nvSpPr>
          <p:cNvPr id="73" name="mini syn 10 0"/>
          <p:cNvSpPr/>
          <p:nvPr/>
        </p:nvSpPr>
        <p:spPr>
          <a:xfrm>
            <a:off x="1247585" y="4233672"/>
            <a:ext cx="82296" cy="82296"/>
          </a:xfrm>
          <a:prstGeom prst="ellipse">
            <a:avLst/>
          </a:prstGeom>
          <a:solidFill>
            <a:schemeClr val="accent1"/>
          </a:solidFill>
          <a:ln w="5080">
            <a:solidFill>
              <a:srgbClr val="FFFFFF"/>
            </a:solidFill>
            <a:prstDash val="solid"/>
          </a:ln>
        </p:spPr>
      </p:sp>
      <p:sp>
        <p:nvSpPr>
          <p:cNvPr id="74" name="mini card syn 11"/>
          <p:cNvSpPr/>
          <p:nvPr/>
        </p:nvSpPr>
        <p:spPr>
          <a:xfrm>
            <a:off x="1042416" y="4526280"/>
            <a:ext cx="492633" cy="356616"/>
          </a:xfrm>
          <a:prstGeom prst="rect">
            <a:avLst/>
          </a:prstGeom>
          <a:solidFill>
            <a:srgbClr val="FFFFFF"/>
          </a:solidFill>
          <a:ln w="6350">
            <a:solidFill>
              <a:srgbClr val="898781"/>
            </a:solidFill>
            <a:prstDash val="solid"/>
          </a:ln>
        </p:spPr>
      </p:sp>
      <p:sp>
        <p:nvSpPr>
          <p:cNvPr id="75" name="mini slab syn 11"/>
          <p:cNvSpPr/>
          <p:nvPr/>
        </p:nvSpPr>
        <p:spPr>
          <a:xfrm>
            <a:off x="1088136" y="4572000"/>
            <a:ext cx="401193" cy="32004"/>
          </a:xfrm>
          <a:prstGeom prst="rect">
            <a:avLst/>
          </a:prstGeom>
          <a:solidFill>
            <a:srgbClr val="52514E"/>
          </a:solidFill>
          <a:ln/>
        </p:spPr>
      </p:sp>
      <p:sp>
        <p:nvSpPr>
          <p:cNvPr id="76" name="mini syn 11 0"/>
          <p:cNvSpPr/>
          <p:nvPr/>
        </p:nvSpPr>
        <p:spPr>
          <a:xfrm>
            <a:off x="1220153" y="4636008"/>
            <a:ext cx="137160" cy="100584"/>
          </a:xfrm>
          <a:prstGeom prst="rect">
            <a:avLst/>
          </a:prstGeom>
          <a:solidFill>
            <a:schemeClr val="accent1"/>
          </a:solidFill>
          <a:ln w="5080">
            <a:solidFill>
              <a:srgbClr val="FFFFFF"/>
            </a:solidFill>
            <a:prstDash val="solid"/>
          </a:ln>
        </p:spPr>
      </p:sp>
      <p:sp>
        <p:nvSpPr>
          <p:cNvPr id="77" name="mini card syn 12"/>
          <p:cNvSpPr/>
          <p:nvPr/>
        </p:nvSpPr>
        <p:spPr>
          <a:xfrm>
            <a:off x="1042416" y="4937760"/>
            <a:ext cx="492633" cy="356616"/>
          </a:xfrm>
          <a:prstGeom prst="rect">
            <a:avLst/>
          </a:prstGeom>
          <a:solidFill>
            <a:srgbClr val="FFFFFF"/>
          </a:solidFill>
          <a:ln w="6350">
            <a:solidFill>
              <a:srgbClr val="898781"/>
            </a:solidFill>
            <a:prstDash val="solid"/>
          </a:ln>
        </p:spPr>
      </p:sp>
      <p:sp>
        <p:nvSpPr>
          <p:cNvPr id="78" name="mini wall syn 12"/>
          <p:cNvSpPr/>
          <p:nvPr/>
        </p:nvSpPr>
        <p:spPr>
          <a:xfrm>
            <a:off x="1088136" y="4983480"/>
            <a:ext cx="32004" cy="265176"/>
          </a:xfrm>
          <a:prstGeom prst="rect">
            <a:avLst/>
          </a:prstGeom>
          <a:solidFill>
            <a:srgbClr val="52514E"/>
          </a:solidFill>
          <a:ln/>
        </p:spPr>
      </p:sp>
      <p:sp>
        <p:nvSpPr>
          <p:cNvPr id="79" name="mini syn 12 0"/>
          <p:cNvSpPr/>
          <p:nvPr/>
        </p:nvSpPr>
        <p:spPr>
          <a:xfrm>
            <a:off x="1170432" y="5074920"/>
            <a:ext cx="82296" cy="82296"/>
          </a:xfrm>
          <a:prstGeom prst="ellipse">
            <a:avLst/>
          </a:prstGeom>
          <a:solidFill>
            <a:schemeClr val="accent1"/>
          </a:solidFill>
          <a:ln w="5080">
            <a:solidFill>
              <a:srgbClr val="FFFFFF"/>
            </a:solidFill>
            <a:prstDash val="solid"/>
          </a:ln>
        </p:spPr>
      </p:sp>
      <p:sp>
        <p:nvSpPr>
          <p:cNvPr id="80" name="mini card syn 20"/>
          <p:cNvSpPr/>
          <p:nvPr/>
        </p:nvSpPr>
        <p:spPr>
          <a:xfrm>
            <a:off x="1608201" y="4114800"/>
            <a:ext cx="492633" cy="356616"/>
          </a:xfrm>
          <a:prstGeom prst="rect">
            <a:avLst/>
          </a:prstGeom>
          <a:solidFill>
            <a:srgbClr val="FFFFFF"/>
          </a:solidFill>
          <a:ln w="6350">
            <a:solidFill>
              <a:srgbClr val="898781"/>
            </a:solidFill>
            <a:prstDash val="solid"/>
          </a:ln>
        </p:spPr>
      </p:sp>
      <p:sp>
        <p:nvSpPr>
          <p:cNvPr id="81" name="mini slab syn 20"/>
          <p:cNvSpPr/>
          <p:nvPr/>
        </p:nvSpPr>
        <p:spPr>
          <a:xfrm>
            <a:off x="1653921" y="4160520"/>
            <a:ext cx="401193" cy="32004"/>
          </a:xfrm>
          <a:prstGeom prst="rect">
            <a:avLst/>
          </a:prstGeom>
          <a:solidFill>
            <a:srgbClr val="52514E"/>
          </a:solidFill>
          <a:ln/>
        </p:spPr>
      </p:sp>
      <p:sp>
        <p:nvSpPr>
          <p:cNvPr id="82" name="mini syn 20 0"/>
          <p:cNvSpPr/>
          <p:nvPr/>
        </p:nvSpPr>
        <p:spPr>
          <a:xfrm>
            <a:off x="1752253" y="4233672"/>
            <a:ext cx="70799" cy="70799"/>
          </a:xfrm>
          <a:prstGeom prst="ellipse">
            <a:avLst/>
          </a:prstGeom>
          <a:solidFill>
            <a:schemeClr val="accent1"/>
          </a:solidFill>
          <a:ln w="5080">
            <a:solidFill>
              <a:srgbClr val="FFFFFF"/>
            </a:solidFill>
            <a:prstDash val="solid"/>
          </a:ln>
        </p:spPr>
      </p:sp>
      <p:sp>
        <p:nvSpPr>
          <p:cNvPr id="83" name="mini syn 20 1"/>
          <p:cNvSpPr/>
          <p:nvPr/>
        </p:nvSpPr>
        <p:spPr>
          <a:xfrm>
            <a:off x="1885984" y="4233672"/>
            <a:ext cx="70799" cy="70799"/>
          </a:xfrm>
          <a:prstGeom prst="ellipse">
            <a:avLst/>
          </a:prstGeom>
          <a:solidFill>
            <a:schemeClr val="accent1"/>
          </a:solidFill>
          <a:ln w="5080">
            <a:solidFill>
              <a:srgbClr val="FFFFFF"/>
            </a:solidFill>
            <a:prstDash val="solid"/>
          </a:ln>
        </p:spPr>
      </p:sp>
      <p:sp>
        <p:nvSpPr>
          <p:cNvPr id="84" name="mini card syn 21"/>
          <p:cNvSpPr/>
          <p:nvPr/>
        </p:nvSpPr>
        <p:spPr>
          <a:xfrm>
            <a:off x="1608201" y="4526280"/>
            <a:ext cx="492633" cy="356616"/>
          </a:xfrm>
          <a:prstGeom prst="rect">
            <a:avLst/>
          </a:prstGeom>
          <a:solidFill>
            <a:srgbClr val="FFFFFF"/>
          </a:solidFill>
          <a:ln w="6350">
            <a:solidFill>
              <a:srgbClr val="898781"/>
            </a:solidFill>
            <a:prstDash val="solid"/>
          </a:ln>
        </p:spPr>
      </p:sp>
      <p:sp>
        <p:nvSpPr>
          <p:cNvPr id="85" name="mini slab syn 21"/>
          <p:cNvSpPr/>
          <p:nvPr/>
        </p:nvSpPr>
        <p:spPr>
          <a:xfrm>
            <a:off x="1653921" y="4572000"/>
            <a:ext cx="401193" cy="32004"/>
          </a:xfrm>
          <a:prstGeom prst="rect">
            <a:avLst/>
          </a:prstGeom>
          <a:solidFill>
            <a:srgbClr val="52514E"/>
          </a:solidFill>
          <a:ln/>
        </p:spPr>
      </p:sp>
      <p:sp>
        <p:nvSpPr>
          <p:cNvPr id="86" name="mini syn 21 0"/>
          <p:cNvSpPr/>
          <p:nvPr/>
        </p:nvSpPr>
        <p:spPr>
          <a:xfrm>
            <a:off x="1728653" y="4636008"/>
            <a:ext cx="117998" cy="86532"/>
          </a:xfrm>
          <a:prstGeom prst="rect">
            <a:avLst/>
          </a:prstGeom>
          <a:solidFill>
            <a:schemeClr val="accent1"/>
          </a:solidFill>
          <a:ln w="5080">
            <a:solidFill>
              <a:srgbClr val="FFFFFF"/>
            </a:solidFill>
            <a:prstDash val="solid"/>
          </a:ln>
        </p:spPr>
      </p:sp>
      <p:sp>
        <p:nvSpPr>
          <p:cNvPr id="87" name="mini syn 21 1"/>
          <p:cNvSpPr/>
          <p:nvPr/>
        </p:nvSpPr>
        <p:spPr>
          <a:xfrm>
            <a:off x="1885984" y="4645152"/>
            <a:ext cx="70799" cy="70799"/>
          </a:xfrm>
          <a:prstGeom prst="ellipse">
            <a:avLst/>
          </a:prstGeom>
          <a:solidFill>
            <a:schemeClr val="accent1"/>
          </a:solidFill>
          <a:ln w="5080">
            <a:solidFill>
              <a:srgbClr val="FFFFFF"/>
            </a:solidFill>
            <a:prstDash val="solid"/>
          </a:ln>
        </p:spPr>
      </p:sp>
      <p:sp>
        <p:nvSpPr>
          <p:cNvPr id="88" name="mini card syn 22"/>
          <p:cNvSpPr/>
          <p:nvPr/>
        </p:nvSpPr>
        <p:spPr>
          <a:xfrm>
            <a:off x="1608201" y="4937760"/>
            <a:ext cx="492633" cy="356616"/>
          </a:xfrm>
          <a:prstGeom prst="rect">
            <a:avLst/>
          </a:prstGeom>
          <a:solidFill>
            <a:srgbClr val="FFFFFF"/>
          </a:solidFill>
          <a:ln w="6350">
            <a:solidFill>
              <a:srgbClr val="898781"/>
            </a:solidFill>
            <a:prstDash val="solid"/>
          </a:ln>
        </p:spPr>
      </p:sp>
      <p:sp>
        <p:nvSpPr>
          <p:cNvPr id="89" name="mini wall syn 22"/>
          <p:cNvSpPr/>
          <p:nvPr/>
        </p:nvSpPr>
        <p:spPr>
          <a:xfrm>
            <a:off x="1653921" y="4983480"/>
            <a:ext cx="32004" cy="265176"/>
          </a:xfrm>
          <a:prstGeom prst="rect">
            <a:avLst/>
          </a:prstGeom>
          <a:solidFill>
            <a:srgbClr val="52514E"/>
          </a:solidFill>
          <a:ln/>
        </p:spPr>
      </p:sp>
      <p:sp>
        <p:nvSpPr>
          <p:cNvPr id="90" name="mini syn 22 0"/>
          <p:cNvSpPr/>
          <p:nvPr/>
        </p:nvSpPr>
        <p:spPr>
          <a:xfrm>
            <a:off x="1736217" y="5041275"/>
            <a:ext cx="61194" cy="61194"/>
          </a:xfrm>
          <a:prstGeom prst="ellipse">
            <a:avLst/>
          </a:prstGeom>
          <a:solidFill>
            <a:schemeClr val="accent1"/>
          </a:solidFill>
          <a:ln w="5080">
            <a:solidFill>
              <a:srgbClr val="FFFFFF"/>
            </a:solidFill>
            <a:prstDash val="solid"/>
          </a:ln>
        </p:spPr>
      </p:sp>
      <p:sp>
        <p:nvSpPr>
          <p:cNvPr id="91" name="mini syn 22 1"/>
          <p:cNvSpPr/>
          <p:nvPr/>
        </p:nvSpPr>
        <p:spPr>
          <a:xfrm>
            <a:off x="1727073" y="5143266"/>
            <a:ext cx="81593" cy="33997"/>
          </a:xfrm>
          <a:prstGeom prst="rect">
            <a:avLst/>
          </a:prstGeom>
          <a:solidFill>
            <a:schemeClr val="accent1"/>
          </a:solidFill>
          <a:ln w="5080">
            <a:solidFill>
              <a:srgbClr val="FFFFFF"/>
            </a:solidFill>
            <a:prstDash val="solid"/>
          </a:ln>
        </p:spPr>
      </p:sp>
      <p:sp>
        <p:nvSpPr>
          <p:cNvPr id="92" name="mini card syn 30"/>
          <p:cNvSpPr/>
          <p:nvPr/>
        </p:nvSpPr>
        <p:spPr>
          <a:xfrm>
            <a:off x="2173986" y="4114800"/>
            <a:ext cx="492633" cy="356616"/>
          </a:xfrm>
          <a:prstGeom prst="rect">
            <a:avLst/>
          </a:prstGeom>
          <a:solidFill>
            <a:srgbClr val="FFFFFF"/>
          </a:solidFill>
          <a:ln w="6350">
            <a:solidFill>
              <a:srgbClr val="898781"/>
            </a:solidFill>
            <a:prstDash val="solid"/>
          </a:ln>
        </p:spPr>
      </p:sp>
      <p:sp>
        <p:nvSpPr>
          <p:cNvPr id="93" name="mini slab syn 30"/>
          <p:cNvSpPr/>
          <p:nvPr/>
        </p:nvSpPr>
        <p:spPr>
          <a:xfrm>
            <a:off x="2219706" y="4160520"/>
            <a:ext cx="401193" cy="32004"/>
          </a:xfrm>
          <a:prstGeom prst="rect">
            <a:avLst/>
          </a:prstGeom>
          <a:solidFill>
            <a:srgbClr val="52514E"/>
          </a:solidFill>
          <a:ln/>
        </p:spPr>
      </p:sp>
      <p:sp>
        <p:nvSpPr>
          <p:cNvPr id="94" name="mini syn 30 0"/>
          <p:cNvSpPr/>
          <p:nvPr/>
        </p:nvSpPr>
        <p:spPr>
          <a:xfrm>
            <a:off x="2293455" y="4233672"/>
            <a:ext cx="53099" cy="53099"/>
          </a:xfrm>
          <a:prstGeom prst="ellipse">
            <a:avLst/>
          </a:prstGeom>
          <a:solidFill>
            <a:schemeClr val="accent1"/>
          </a:solidFill>
          <a:ln w="5080">
            <a:solidFill>
              <a:srgbClr val="FFFFFF"/>
            </a:solidFill>
            <a:prstDash val="solid"/>
          </a:ln>
        </p:spPr>
      </p:sp>
      <p:sp>
        <p:nvSpPr>
          <p:cNvPr id="95" name="mini syn 30 1"/>
          <p:cNvSpPr/>
          <p:nvPr/>
        </p:nvSpPr>
        <p:spPr>
          <a:xfrm>
            <a:off x="2393753" y="4233672"/>
            <a:ext cx="53099" cy="53099"/>
          </a:xfrm>
          <a:prstGeom prst="ellipse">
            <a:avLst/>
          </a:prstGeom>
          <a:solidFill>
            <a:schemeClr val="accent1"/>
          </a:solidFill>
          <a:ln w="5080">
            <a:solidFill>
              <a:srgbClr val="FFFFFF"/>
            </a:solidFill>
            <a:prstDash val="solid"/>
          </a:ln>
        </p:spPr>
      </p:sp>
      <p:sp>
        <p:nvSpPr>
          <p:cNvPr id="96" name="mini syn 30 2"/>
          <p:cNvSpPr/>
          <p:nvPr/>
        </p:nvSpPr>
        <p:spPr>
          <a:xfrm>
            <a:off x="2494051" y="4233672"/>
            <a:ext cx="53099" cy="53099"/>
          </a:xfrm>
          <a:prstGeom prst="ellipse">
            <a:avLst/>
          </a:prstGeom>
          <a:solidFill>
            <a:schemeClr val="accent1"/>
          </a:solidFill>
          <a:ln w="5080">
            <a:solidFill>
              <a:srgbClr val="FFFFFF"/>
            </a:solidFill>
            <a:prstDash val="solid"/>
          </a:ln>
        </p:spPr>
      </p:sp>
      <p:sp>
        <p:nvSpPr>
          <p:cNvPr id="97" name="mini card syn 31"/>
          <p:cNvSpPr/>
          <p:nvPr/>
        </p:nvSpPr>
        <p:spPr>
          <a:xfrm>
            <a:off x="2173986" y="4526280"/>
            <a:ext cx="492633" cy="356616"/>
          </a:xfrm>
          <a:prstGeom prst="rect">
            <a:avLst/>
          </a:prstGeom>
          <a:solidFill>
            <a:srgbClr val="FFFFFF"/>
          </a:solidFill>
          <a:ln w="6350">
            <a:solidFill>
              <a:srgbClr val="898781"/>
            </a:solidFill>
            <a:prstDash val="solid"/>
          </a:ln>
        </p:spPr>
      </p:sp>
      <p:sp>
        <p:nvSpPr>
          <p:cNvPr id="98" name="mini slab syn 31"/>
          <p:cNvSpPr/>
          <p:nvPr/>
        </p:nvSpPr>
        <p:spPr>
          <a:xfrm>
            <a:off x="2219706" y="4572000"/>
            <a:ext cx="401193" cy="32004"/>
          </a:xfrm>
          <a:prstGeom prst="rect">
            <a:avLst/>
          </a:prstGeom>
          <a:solidFill>
            <a:srgbClr val="52514E"/>
          </a:solidFill>
          <a:ln/>
        </p:spPr>
      </p:sp>
      <p:sp>
        <p:nvSpPr>
          <p:cNvPr id="99" name="mini syn 31 0"/>
          <p:cNvSpPr/>
          <p:nvPr/>
        </p:nvSpPr>
        <p:spPr>
          <a:xfrm>
            <a:off x="2275755" y="4636008"/>
            <a:ext cx="88498" cy="64899"/>
          </a:xfrm>
          <a:prstGeom prst="rect">
            <a:avLst/>
          </a:prstGeom>
          <a:solidFill>
            <a:schemeClr val="accent1"/>
          </a:solidFill>
          <a:ln w="5080">
            <a:solidFill>
              <a:srgbClr val="FFFFFF"/>
            </a:solidFill>
            <a:prstDash val="solid"/>
          </a:ln>
        </p:spPr>
      </p:sp>
      <p:sp>
        <p:nvSpPr>
          <p:cNvPr id="100" name="mini syn 31 1"/>
          <p:cNvSpPr/>
          <p:nvPr/>
        </p:nvSpPr>
        <p:spPr>
          <a:xfrm>
            <a:off x="2393753" y="4645152"/>
            <a:ext cx="53099" cy="53099"/>
          </a:xfrm>
          <a:prstGeom prst="ellipse">
            <a:avLst/>
          </a:prstGeom>
          <a:solidFill>
            <a:schemeClr val="accent1"/>
          </a:solidFill>
          <a:ln w="5080">
            <a:solidFill>
              <a:srgbClr val="FFFFFF"/>
            </a:solidFill>
            <a:prstDash val="solid"/>
          </a:ln>
        </p:spPr>
      </p:sp>
      <p:sp>
        <p:nvSpPr>
          <p:cNvPr id="101" name="mini syn 31 2"/>
          <p:cNvSpPr/>
          <p:nvPr/>
        </p:nvSpPr>
        <p:spPr>
          <a:xfrm>
            <a:off x="2485201" y="4663440"/>
            <a:ext cx="70799" cy="29499"/>
          </a:xfrm>
          <a:prstGeom prst="rect">
            <a:avLst/>
          </a:prstGeom>
          <a:solidFill>
            <a:schemeClr val="accent1"/>
          </a:solidFill>
          <a:ln w="5080">
            <a:solidFill>
              <a:srgbClr val="FFFFFF"/>
            </a:solidFill>
            <a:prstDash val="solid"/>
          </a:ln>
        </p:spPr>
      </p:sp>
      <p:sp>
        <p:nvSpPr>
          <p:cNvPr id="102" name="mini card syn 32"/>
          <p:cNvSpPr/>
          <p:nvPr/>
        </p:nvSpPr>
        <p:spPr>
          <a:xfrm>
            <a:off x="2173986" y="4937760"/>
            <a:ext cx="492633" cy="356616"/>
          </a:xfrm>
          <a:prstGeom prst="rect">
            <a:avLst/>
          </a:prstGeom>
          <a:solidFill>
            <a:srgbClr val="FFFFFF"/>
          </a:solidFill>
          <a:ln w="6350">
            <a:solidFill>
              <a:srgbClr val="898781"/>
            </a:solidFill>
            <a:prstDash val="solid"/>
          </a:ln>
        </p:spPr>
      </p:sp>
      <p:sp>
        <p:nvSpPr>
          <p:cNvPr id="103" name="mini wall syn 32"/>
          <p:cNvSpPr/>
          <p:nvPr/>
        </p:nvSpPr>
        <p:spPr>
          <a:xfrm>
            <a:off x="2219706" y="4983480"/>
            <a:ext cx="32004" cy="265176"/>
          </a:xfrm>
          <a:prstGeom prst="rect">
            <a:avLst/>
          </a:prstGeom>
          <a:solidFill>
            <a:srgbClr val="52514E"/>
          </a:solidFill>
          <a:ln/>
        </p:spPr>
      </p:sp>
      <p:sp>
        <p:nvSpPr>
          <p:cNvPr id="104" name="mini syn 32 0"/>
          <p:cNvSpPr/>
          <p:nvPr/>
        </p:nvSpPr>
        <p:spPr>
          <a:xfrm>
            <a:off x="2302002" y="5026826"/>
            <a:ext cx="45896" cy="45896"/>
          </a:xfrm>
          <a:prstGeom prst="ellipse">
            <a:avLst/>
          </a:prstGeom>
          <a:solidFill>
            <a:schemeClr val="accent1"/>
          </a:solidFill>
          <a:ln w="5080">
            <a:solidFill>
              <a:srgbClr val="FFFFFF"/>
            </a:solidFill>
            <a:prstDash val="solid"/>
          </a:ln>
        </p:spPr>
      </p:sp>
      <p:sp>
        <p:nvSpPr>
          <p:cNvPr id="105" name="mini syn 32 1"/>
          <p:cNvSpPr/>
          <p:nvPr/>
        </p:nvSpPr>
        <p:spPr>
          <a:xfrm>
            <a:off x="2292858" y="5103319"/>
            <a:ext cx="61194" cy="25498"/>
          </a:xfrm>
          <a:prstGeom prst="rect">
            <a:avLst/>
          </a:prstGeom>
          <a:solidFill>
            <a:schemeClr val="accent1"/>
          </a:solidFill>
          <a:ln w="5080">
            <a:solidFill>
              <a:srgbClr val="FFFFFF"/>
            </a:solidFill>
            <a:prstDash val="solid"/>
          </a:ln>
        </p:spPr>
      </p:sp>
      <p:sp>
        <p:nvSpPr>
          <p:cNvPr id="106" name="mini syn 32 2"/>
          <p:cNvSpPr/>
          <p:nvPr/>
        </p:nvSpPr>
        <p:spPr>
          <a:xfrm>
            <a:off x="2302002" y="5159414"/>
            <a:ext cx="45896" cy="45896"/>
          </a:xfrm>
          <a:prstGeom prst="ellipse">
            <a:avLst/>
          </a:prstGeom>
          <a:solidFill>
            <a:schemeClr val="accent1"/>
          </a:solidFill>
          <a:ln w="5080">
            <a:solidFill>
              <a:srgbClr val="FFFFFF"/>
            </a:solidFill>
            <a:prstDash val="solid"/>
          </a:ln>
        </p:spPr>
      </p:sp>
      <p:sp>
        <p:nvSpPr>
          <p:cNvPr id="107" name="mini card syn 40"/>
          <p:cNvSpPr/>
          <p:nvPr/>
        </p:nvSpPr>
        <p:spPr>
          <a:xfrm>
            <a:off x="2739771" y="4114800"/>
            <a:ext cx="492633" cy="356616"/>
          </a:xfrm>
          <a:prstGeom prst="rect">
            <a:avLst/>
          </a:prstGeom>
          <a:solidFill>
            <a:srgbClr val="FFFFFF"/>
          </a:solidFill>
          <a:ln w="6350">
            <a:solidFill>
              <a:srgbClr val="898781"/>
            </a:solidFill>
            <a:prstDash val="solid"/>
          </a:ln>
        </p:spPr>
      </p:sp>
      <p:sp>
        <p:nvSpPr>
          <p:cNvPr id="108" name="mini slab syn 40"/>
          <p:cNvSpPr/>
          <p:nvPr/>
        </p:nvSpPr>
        <p:spPr>
          <a:xfrm>
            <a:off x="2785491" y="4160520"/>
            <a:ext cx="401193" cy="32004"/>
          </a:xfrm>
          <a:prstGeom prst="rect">
            <a:avLst/>
          </a:prstGeom>
          <a:solidFill>
            <a:srgbClr val="52514E"/>
          </a:solidFill>
          <a:ln/>
        </p:spPr>
      </p:sp>
      <p:sp>
        <p:nvSpPr>
          <p:cNvPr id="109" name="mini syn 40 0"/>
          <p:cNvSpPr/>
          <p:nvPr/>
        </p:nvSpPr>
        <p:spPr>
          <a:xfrm>
            <a:off x="2844490" y="4233672"/>
            <a:ext cx="42479" cy="42479"/>
          </a:xfrm>
          <a:prstGeom prst="ellipse">
            <a:avLst/>
          </a:prstGeom>
          <a:solidFill>
            <a:schemeClr val="accent1"/>
          </a:solidFill>
          <a:ln w="5080">
            <a:solidFill>
              <a:srgbClr val="FFFFFF"/>
            </a:solidFill>
            <a:prstDash val="solid"/>
          </a:ln>
        </p:spPr>
      </p:sp>
      <p:sp>
        <p:nvSpPr>
          <p:cNvPr id="110" name="mini syn 40 1"/>
          <p:cNvSpPr/>
          <p:nvPr/>
        </p:nvSpPr>
        <p:spPr>
          <a:xfrm>
            <a:off x="2924729" y="4233672"/>
            <a:ext cx="42479" cy="42479"/>
          </a:xfrm>
          <a:prstGeom prst="ellipse">
            <a:avLst/>
          </a:prstGeom>
          <a:solidFill>
            <a:schemeClr val="accent1"/>
          </a:solidFill>
          <a:ln w="5080">
            <a:solidFill>
              <a:srgbClr val="FFFFFF"/>
            </a:solidFill>
            <a:prstDash val="solid"/>
          </a:ln>
        </p:spPr>
      </p:sp>
      <p:sp>
        <p:nvSpPr>
          <p:cNvPr id="111" name="mini syn 40 2"/>
          <p:cNvSpPr/>
          <p:nvPr/>
        </p:nvSpPr>
        <p:spPr>
          <a:xfrm>
            <a:off x="3004967" y="4233672"/>
            <a:ext cx="42479" cy="42479"/>
          </a:xfrm>
          <a:prstGeom prst="ellipse">
            <a:avLst/>
          </a:prstGeom>
          <a:solidFill>
            <a:schemeClr val="accent1"/>
          </a:solidFill>
          <a:ln w="5080">
            <a:solidFill>
              <a:srgbClr val="FFFFFF"/>
            </a:solidFill>
            <a:prstDash val="solid"/>
          </a:ln>
        </p:spPr>
      </p:sp>
      <p:sp>
        <p:nvSpPr>
          <p:cNvPr id="112" name="mini syn 40 3"/>
          <p:cNvSpPr/>
          <p:nvPr/>
        </p:nvSpPr>
        <p:spPr>
          <a:xfrm>
            <a:off x="3085206" y="4233672"/>
            <a:ext cx="42479" cy="42479"/>
          </a:xfrm>
          <a:prstGeom prst="ellipse">
            <a:avLst/>
          </a:prstGeom>
          <a:solidFill>
            <a:schemeClr val="accent1"/>
          </a:solidFill>
          <a:ln w="5080">
            <a:solidFill>
              <a:srgbClr val="FFFFFF"/>
            </a:solidFill>
            <a:prstDash val="solid"/>
          </a:ln>
        </p:spPr>
      </p:sp>
      <p:sp>
        <p:nvSpPr>
          <p:cNvPr id="113" name="mini card syn 41"/>
          <p:cNvSpPr/>
          <p:nvPr/>
        </p:nvSpPr>
        <p:spPr>
          <a:xfrm>
            <a:off x="2739771" y="4526280"/>
            <a:ext cx="492633" cy="356616"/>
          </a:xfrm>
          <a:prstGeom prst="rect">
            <a:avLst/>
          </a:prstGeom>
          <a:solidFill>
            <a:srgbClr val="FFFFFF"/>
          </a:solidFill>
          <a:ln w="6350">
            <a:solidFill>
              <a:srgbClr val="898781"/>
            </a:solidFill>
            <a:prstDash val="solid"/>
          </a:ln>
        </p:spPr>
      </p:sp>
      <p:sp>
        <p:nvSpPr>
          <p:cNvPr id="114" name="mini slab syn 41"/>
          <p:cNvSpPr/>
          <p:nvPr/>
        </p:nvSpPr>
        <p:spPr>
          <a:xfrm>
            <a:off x="2785491" y="4572000"/>
            <a:ext cx="401193" cy="32004"/>
          </a:xfrm>
          <a:prstGeom prst="rect">
            <a:avLst/>
          </a:prstGeom>
          <a:solidFill>
            <a:srgbClr val="52514E"/>
          </a:solidFill>
          <a:ln/>
        </p:spPr>
      </p:sp>
      <p:sp>
        <p:nvSpPr>
          <p:cNvPr id="115" name="mini syn 41 0"/>
          <p:cNvSpPr/>
          <p:nvPr/>
        </p:nvSpPr>
        <p:spPr>
          <a:xfrm>
            <a:off x="2830330" y="4636008"/>
            <a:ext cx="70799" cy="51919"/>
          </a:xfrm>
          <a:prstGeom prst="rect">
            <a:avLst/>
          </a:prstGeom>
          <a:solidFill>
            <a:schemeClr val="accent1"/>
          </a:solidFill>
          <a:ln w="5080">
            <a:solidFill>
              <a:srgbClr val="FFFFFF"/>
            </a:solidFill>
            <a:prstDash val="solid"/>
          </a:ln>
        </p:spPr>
      </p:sp>
      <p:sp>
        <p:nvSpPr>
          <p:cNvPr id="116" name="mini syn 41 1"/>
          <p:cNvSpPr/>
          <p:nvPr/>
        </p:nvSpPr>
        <p:spPr>
          <a:xfrm>
            <a:off x="2924729" y="4645152"/>
            <a:ext cx="42479" cy="42479"/>
          </a:xfrm>
          <a:prstGeom prst="ellipse">
            <a:avLst/>
          </a:prstGeom>
          <a:solidFill>
            <a:schemeClr val="accent1"/>
          </a:solidFill>
          <a:ln w="5080">
            <a:solidFill>
              <a:srgbClr val="FFFFFF"/>
            </a:solidFill>
            <a:prstDash val="solid"/>
          </a:ln>
        </p:spPr>
      </p:sp>
      <p:sp>
        <p:nvSpPr>
          <p:cNvPr id="117" name="mini syn 41 2"/>
          <p:cNvSpPr/>
          <p:nvPr/>
        </p:nvSpPr>
        <p:spPr>
          <a:xfrm>
            <a:off x="2997887" y="4663440"/>
            <a:ext cx="56639" cy="23600"/>
          </a:xfrm>
          <a:prstGeom prst="rect">
            <a:avLst/>
          </a:prstGeom>
          <a:solidFill>
            <a:schemeClr val="accent1"/>
          </a:solidFill>
          <a:ln w="5080">
            <a:solidFill>
              <a:srgbClr val="FFFFFF"/>
            </a:solidFill>
            <a:prstDash val="solid"/>
          </a:ln>
        </p:spPr>
      </p:sp>
      <p:sp>
        <p:nvSpPr>
          <p:cNvPr id="118" name="mini syn 41 3"/>
          <p:cNvSpPr/>
          <p:nvPr/>
        </p:nvSpPr>
        <p:spPr>
          <a:xfrm>
            <a:off x="3085206" y="4645152"/>
            <a:ext cx="42479" cy="42479"/>
          </a:xfrm>
          <a:prstGeom prst="ellipse">
            <a:avLst/>
          </a:prstGeom>
          <a:solidFill>
            <a:schemeClr val="accent1"/>
          </a:solidFill>
          <a:ln w="5080">
            <a:solidFill>
              <a:srgbClr val="FFFFFF"/>
            </a:solidFill>
            <a:prstDash val="solid"/>
          </a:ln>
        </p:spPr>
      </p:sp>
      <p:sp>
        <p:nvSpPr>
          <p:cNvPr id="119" name="mini card syn 42"/>
          <p:cNvSpPr/>
          <p:nvPr/>
        </p:nvSpPr>
        <p:spPr>
          <a:xfrm>
            <a:off x="2739771" y="4937760"/>
            <a:ext cx="492633" cy="356616"/>
          </a:xfrm>
          <a:prstGeom prst="rect">
            <a:avLst/>
          </a:prstGeom>
          <a:solidFill>
            <a:srgbClr val="FFFFFF"/>
          </a:solidFill>
          <a:ln w="6350">
            <a:solidFill>
              <a:srgbClr val="898781"/>
            </a:solidFill>
            <a:prstDash val="solid"/>
          </a:ln>
        </p:spPr>
      </p:sp>
      <p:sp>
        <p:nvSpPr>
          <p:cNvPr id="120" name="mini wall syn 42"/>
          <p:cNvSpPr/>
          <p:nvPr/>
        </p:nvSpPr>
        <p:spPr>
          <a:xfrm>
            <a:off x="2785491" y="4983480"/>
            <a:ext cx="32004" cy="265176"/>
          </a:xfrm>
          <a:prstGeom prst="rect">
            <a:avLst/>
          </a:prstGeom>
          <a:solidFill>
            <a:srgbClr val="52514E"/>
          </a:solidFill>
          <a:ln/>
        </p:spPr>
      </p:sp>
      <p:sp>
        <p:nvSpPr>
          <p:cNvPr id="121" name="mini syn 42 0"/>
          <p:cNvSpPr/>
          <p:nvPr/>
        </p:nvSpPr>
        <p:spPr>
          <a:xfrm>
            <a:off x="2867787" y="5018157"/>
            <a:ext cx="36717" cy="36717"/>
          </a:xfrm>
          <a:prstGeom prst="ellipse">
            <a:avLst/>
          </a:prstGeom>
          <a:solidFill>
            <a:schemeClr val="accent1"/>
          </a:solidFill>
          <a:ln w="5080">
            <a:solidFill>
              <a:srgbClr val="FFFFFF"/>
            </a:solidFill>
            <a:prstDash val="solid"/>
          </a:ln>
        </p:spPr>
      </p:sp>
      <p:sp>
        <p:nvSpPr>
          <p:cNvPr id="122" name="mini syn 42 1"/>
          <p:cNvSpPr/>
          <p:nvPr/>
        </p:nvSpPr>
        <p:spPr>
          <a:xfrm>
            <a:off x="2858643" y="5079351"/>
            <a:ext cx="48956" cy="20398"/>
          </a:xfrm>
          <a:prstGeom prst="rect">
            <a:avLst/>
          </a:prstGeom>
          <a:solidFill>
            <a:schemeClr val="accent1"/>
          </a:solidFill>
          <a:ln w="5080">
            <a:solidFill>
              <a:srgbClr val="FFFFFF"/>
            </a:solidFill>
            <a:prstDash val="solid"/>
          </a:ln>
        </p:spPr>
      </p:sp>
      <p:sp>
        <p:nvSpPr>
          <p:cNvPr id="123" name="mini syn 42 2"/>
          <p:cNvSpPr/>
          <p:nvPr/>
        </p:nvSpPr>
        <p:spPr>
          <a:xfrm>
            <a:off x="2867787" y="5124227"/>
            <a:ext cx="36717" cy="36717"/>
          </a:xfrm>
          <a:prstGeom prst="ellipse">
            <a:avLst/>
          </a:prstGeom>
          <a:solidFill>
            <a:schemeClr val="accent1"/>
          </a:solidFill>
          <a:ln w="5080">
            <a:solidFill>
              <a:srgbClr val="FFFFFF"/>
            </a:solidFill>
            <a:prstDash val="solid"/>
          </a:ln>
        </p:spPr>
      </p:sp>
      <p:sp>
        <p:nvSpPr>
          <p:cNvPr id="124" name="mini syn 42 3"/>
          <p:cNvSpPr/>
          <p:nvPr/>
        </p:nvSpPr>
        <p:spPr>
          <a:xfrm>
            <a:off x="2867787" y="5177262"/>
            <a:ext cx="36717" cy="36717"/>
          </a:xfrm>
          <a:prstGeom prst="ellipse">
            <a:avLst/>
          </a:prstGeom>
          <a:solidFill>
            <a:schemeClr val="accent1"/>
          </a:solidFill>
          <a:ln w="5080">
            <a:solidFill>
              <a:srgbClr val="FFFFFF"/>
            </a:solidFill>
            <a:prstDash val="solid"/>
          </a:ln>
        </p:spPr>
      </p:sp>
      <p:sp>
        <p:nvSpPr>
          <p:cNvPr id="125" name="mini card syn 50"/>
          <p:cNvSpPr/>
          <p:nvPr/>
        </p:nvSpPr>
        <p:spPr>
          <a:xfrm>
            <a:off x="3305556" y="4114800"/>
            <a:ext cx="492633" cy="356616"/>
          </a:xfrm>
          <a:prstGeom prst="rect">
            <a:avLst/>
          </a:prstGeom>
          <a:solidFill>
            <a:srgbClr val="FFFFFF"/>
          </a:solidFill>
          <a:ln w="6350">
            <a:solidFill>
              <a:srgbClr val="898781"/>
            </a:solidFill>
            <a:prstDash val="solid"/>
          </a:ln>
        </p:spPr>
      </p:sp>
      <p:sp>
        <p:nvSpPr>
          <p:cNvPr id="126" name="mini slab syn 50"/>
          <p:cNvSpPr/>
          <p:nvPr/>
        </p:nvSpPr>
        <p:spPr>
          <a:xfrm>
            <a:off x="3351276" y="4160520"/>
            <a:ext cx="401193" cy="32004"/>
          </a:xfrm>
          <a:prstGeom prst="rect">
            <a:avLst/>
          </a:prstGeom>
          <a:solidFill>
            <a:srgbClr val="52514E"/>
          </a:solidFill>
          <a:ln/>
        </p:spPr>
      </p:sp>
      <p:sp>
        <p:nvSpPr>
          <p:cNvPr id="127" name="mini syn 50 0"/>
          <p:cNvSpPr/>
          <p:nvPr/>
        </p:nvSpPr>
        <p:spPr>
          <a:xfrm>
            <a:off x="3400442" y="4233672"/>
            <a:ext cx="35399" cy="35399"/>
          </a:xfrm>
          <a:prstGeom prst="ellipse">
            <a:avLst/>
          </a:prstGeom>
          <a:solidFill>
            <a:schemeClr val="accent1"/>
          </a:solidFill>
          <a:ln w="5080">
            <a:solidFill>
              <a:srgbClr val="FFFFFF"/>
            </a:solidFill>
            <a:prstDash val="solid"/>
          </a:ln>
        </p:spPr>
      </p:sp>
      <p:sp>
        <p:nvSpPr>
          <p:cNvPr id="128" name="mini syn 50 1"/>
          <p:cNvSpPr/>
          <p:nvPr/>
        </p:nvSpPr>
        <p:spPr>
          <a:xfrm>
            <a:off x="3467307" y="4233672"/>
            <a:ext cx="35399" cy="35399"/>
          </a:xfrm>
          <a:prstGeom prst="ellipse">
            <a:avLst/>
          </a:prstGeom>
          <a:solidFill>
            <a:schemeClr val="accent1"/>
          </a:solidFill>
          <a:ln w="5080">
            <a:solidFill>
              <a:srgbClr val="FFFFFF"/>
            </a:solidFill>
            <a:prstDash val="solid"/>
          </a:ln>
        </p:spPr>
      </p:sp>
      <p:sp>
        <p:nvSpPr>
          <p:cNvPr id="129" name="mini syn 50 2"/>
          <p:cNvSpPr/>
          <p:nvPr/>
        </p:nvSpPr>
        <p:spPr>
          <a:xfrm>
            <a:off x="3534173" y="4233672"/>
            <a:ext cx="35399" cy="35399"/>
          </a:xfrm>
          <a:prstGeom prst="ellipse">
            <a:avLst/>
          </a:prstGeom>
          <a:solidFill>
            <a:schemeClr val="accent1"/>
          </a:solidFill>
          <a:ln w="5080">
            <a:solidFill>
              <a:srgbClr val="FFFFFF"/>
            </a:solidFill>
            <a:prstDash val="solid"/>
          </a:ln>
        </p:spPr>
      </p:sp>
      <p:sp>
        <p:nvSpPr>
          <p:cNvPr id="130" name="mini syn 50 3"/>
          <p:cNvSpPr/>
          <p:nvPr/>
        </p:nvSpPr>
        <p:spPr>
          <a:xfrm>
            <a:off x="3601038" y="4233672"/>
            <a:ext cx="35399" cy="35399"/>
          </a:xfrm>
          <a:prstGeom prst="ellipse">
            <a:avLst/>
          </a:prstGeom>
          <a:solidFill>
            <a:schemeClr val="accent1"/>
          </a:solidFill>
          <a:ln w="5080">
            <a:solidFill>
              <a:srgbClr val="FFFFFF"/>
            </a:solidFill>
            <a:prstDash val="solid"/>
          </a:ln>
        </p:spPr>
      </p:sp>
      <p:sp>
        <p:nvSpPr>
          <p:cNvPr id="131" name="mini syn 50 4"/>
          <p:cNvSpPr/>
          <p:nvPr/>
        </p:nvSpPr>
        <p:spPr>
          <a:xfrm>
            <a:off x="3667904" y="4233672"/>
            <a:ext cx="35399" cy="35399"/>
          </a:xfrm>
          <a:prstGeom prst="ellipse">
            <a:avLst/>
          </a:prstGeom>
          <a:solidFill>
            <a:schemeClr val="accent1"/>
          </a:solidFill>
          <a:ln w="5080">
            <a:solidFill>
              <a:srgbClr val="FFFFFF"/>
            </a:solidFill>
            <a:prstDash val="solid"/>
          </a:ln>
        </p:spPr>
      </p:sp>
      <p:sp>
        <p:nvSpPr>
          <p:cNvPr id="132" name="mini card syn 51"/>
          <p:cNvSpPr/>
          <p:nvPr/>
        </p:nvSpPr>
        <p:spPr>
          <a:xfrm>
            <a:off x="3305556" y="4526280"/>
            <a:ext cx="492633" cy="356616"/>
          </a:xfrm>
          <a:prstGeom prst="rect">
            <a:avLst/>
          </a:prstGeom>
          <a:solidFill>
            <a:srgbClr val="FFFFFF"/>
          </a:solidFill>
          <a:ln w="6350">
            <a:solidFill>
              <a:srgbClr val="898781"/>
            </a:solidFill>
            <a:prstDash val="solid"/>
          </a:ln>
        </p:spPr>
      </p:sp>
      <p:sp>
        <p:nvSpPr>
          <p:cNvPr id="133" name="mini slab syn 51"/>
          <p:cNvSpPr/>
          <p:nvPr/>
        </p:nvSpPr>
        <p:spPr>
          <a:xfrm>
            <a:off x="3351276" y="4572000"/>
            <a:ext cx="401193" cy="32004"/>
          </a:xfrm>
          <a:prstGeom prst="rect">
            <a:avLst/>
          </a:prstGeom>
          <a:solidFill>
            <a:srgbClr val="52514E"/>
          </a:solidFill>
          <a:ln/>
        </p:spPr>
      </p:sp>
      <p:sp>
        <p:nvSpPr>
          <p:cNvPr id="134" name="mini syn 51 0"/>
          <p:cNvSpPr/>
          <p:nvPr/>
        </p:nvSpPr>
        <p:spPr>
          <a:xfrm>
            <a:off x="3388642" y="4636008"/>
            <a:ext cx="58999" cy="43266"/>
          </a:xfrm>
          <a:prstGeom prst="rect">
            <a:avLst/>
          </a:prstGeom>
          <a:solidFill>
            <a:schemeClr val="accent1"/>
          </a:solidFill>
          <a:ln w="5080">
            <a:solidFill>
              <a:srgbClr val="FFFFFF"/>
            </a:solidFill>
            <a:prstDash val="solid"/>
          </a:ln>
        </p:spPr>
      </p:sp>
      <p:sp>
        <p:nvSpPr>
          <p:cNvPr id="135" name="mini syn 51 1"/>
          <p:cNvSpPr/>
          <p:nvPr/>
        </p:nvSpPr>
        <p:spPr>
          <a:xfrm>
            <a:off x="3467307" y="4645152"/>
            <a:ext cx="35399" cy="35399"/>
          </a:xfrm>
          <a:prstGeom prst="ellipse">
            <a:avLst/>
          </a:prstGeom>
          <a:solidFill>
            <a:schemeClr val="accent1"/>
          </a:solidFill>
          <a:ln w="5080">
            <a:solidFill>
              <a:srgbClr val="FFFFFF"/>
            </a:solidFill>
            <a:prstDash val="solid"/>
          </a:ln>
        </p:spPr>
      </p:sp>
      <p:sp>
        <p:nvSpPr>
          <p:cNvPr id="136" name="mini syn 51 2"/>
          <p:cNvSpPr/>
          <p:nvPr/>
        </p:nvSpPr>
        <p:spPr>
          <a:xfrm>
            <a:off x="3528273" y="4663440"/>
            <a:ext cx="47199" cy="19666"/>
          </a:xfrm>
          <a:prstGeom prst="rect">
            <a:avLst/>
          </a:prstGeom>
          <a:solidFill>
            <a:schemeClr val="accent1"/>
          </a:solidFill>
          <a:ln w="5080">
            <a:solidFill>
              <a:srgbClr val="FFFFFF"/>
            </a:solidFill>
            <a:prstDash val="solid"/>
          </a:ln>
        </p:spPr>
      </p:sp>
      <p:sp>
        <p:nvSpPr>
          <p:cNvPr id="137" name="mini syn 51 3"/>
          <p:cNvSpPr/>
          <p:nvPr/>
        </p:nvSpPr>
        <p:spPr>
          <a:xfrm>
            <a:off x="3601038" y="4645152"/>
            <a:ext cx="35399" cy="35399"/>
          </a:xfrm>
          <a:prstGeom prst="ellipse">
            <a:avLst/>
          </a:prstGeom>
          <a:solidFill>
            <a:schemeClr val="accent1"/>
          </a:solidFill>
          <a:ln w="5080">
            <a:solidFill>
              <a:srgbClr val="FFFFFF"/>
            </a:solidFill>
            <a:prstDash val="solid"/>
          </a:ln>
        </p:spPr>
      </p:sp>
      <p:sp>
        <p:nvSpPr>
          <p:cNvPr id="138" name="mini syn 51 4"/>
          <p:cNvSpPr/>
          <p:nvPr/>
        </p:nvSpPr>
        <p:spPr>
          <a:xfrm>
            <a:off x="3656104" y="4636008"/>
            <a:ext cx="58999" cy="43266"/>
          </a:xfrm>
          <a:prstGeom prst="rect">
            <a:avLst/>
          </a:prstGeom>
          <a:solidFill>
            <a:schemeClr val="accent1"/>
          </a:solidFill>
          <a:ln w="5080">
            <a:solidFill>
              <a:srgbClr val="FFFFFF"/>
            </a:solidFill>
            <a:prstDash val="solid"/>
          </a:ln>
        </p:spPr>
      </p:sp>
      <p:sp>
        <p:nvSpPr>
          <p:cNvPr id="139" name="mini card syn 52"/>
          <p:cNvSpPr/>
          <p:nvPr/>
        </p:nvSpPr>
        <p:spPr>
          <a:xfrm>
            <a:off x="3305556" y="4937760"/>
            <a:ext cx="492633" cy="356616"/>
          </a:xfrm>
          <a:prstGeom prst="rect">
            <a:avLst/>
          </a:prstGeom>
          <a:solidFill>
            <a:srgbClr val="FFFFFF"/>
          </a:solidFill>
          <a:ln w="6350">
            <a:solidFill>
              <a:srgbClr val="898781"/>
            </a:solidFill>
            <a:prstDash val="solid"/>
          </a:ln>
        </p:spPr>
      </p:sp>
      <p:sp>
        <p:nvSpPr>
          <p:cNvPr id="140" name="mini wall syn 52"/>
          <p:cNvSpPr/>
          <p:nvPr/>
        </p:nvSpPr>
        <p:spPr>
          <a:xfrm>
            <a:off x="3351276" y="4983480"/>
            <a:ext cx="32004" cy="265176"/>
          </a:xfrm>
          <a:prstGeom prst="rect">
            <a:avLst/>
          </a:prstGeom>
          <a:solidFill>
            <a:srgbClr val="52514E"/>
          </a:solidFill>
          <a:ln/>
        </p:spPr>
      </p:sp>
      <p:sp>
        <p:nvSpPr>
          <p:cNvPr id="141" name="mini syn 52 0"/>
          <p:cNvSpPr/>
          <p:nvPr/>
        </p:nvSpPr>
        <p:spPr>
          <a:xfrm>
            <a:off x="3433572" y="5012377"/>
            <a:ext cx="30597" cy="30597"/>
          </a:xfrm>
          <a:prstGeom prst="ellipse">
            <a:avLst/>
          </a:prstGeom>
          <a:solidFill>
            <a:schemeClr val="accent1"/>
          </a:solidFill>
          <a:ln w="5080">
            <a:solidFill>
              <a:srgbClr val="FFFFFF"/>
            </a:solidFill>
            <a:prstDash val="solid"/>
          </a:ln>
        </p:spPr>
      </p:sp>
      <p:sp>
        <p:nvSpPr>
          <p:cNvPr id="142" name="mini syn 52 1"/>
          <p:cNvSpPr/>
          <p:nvPr/>
        </p:nvSpPr>
        <p:spPr>
          <a:xfrm>
            <a:off x="3424428" y="5063373"/>
            <a:ext cx="40796" cy="16998"/>
          </a:xfrm>
          <a:prstGeom prst="rect">
            <a:avLst/>
          </a:prstGeom>
          <a:solidFill>
            <a:schemeClr val="accent1"/>
          </a:solidFill>
          <a:ln w="5080">
            <a:solidFill>
              <a:srgbClr val="FFFFFF"/>
            </a:solidFill>
            <a:prstDash val="solid"/>
          </a:ln>
        </p:spPr>
      </p:sp>
      <p:sp>
        <p:nvSpPr>
          <p:cNvPr id="143" name="mini syn 52 2"/>
          <p:cNvSpPr/>
          <p:nvPr/>
        </p:nvSpPr>
        <p:spPr>
          <a:xfrm>
            <a:off x="3433572" y="5100769"/>
            <a:ext cx="30597" cy="30597"/>
          </a:xfrm>
          <a:prstGeom prst="ellipse">
            <a:avLst/>
          </a:prstGeom>
          <a:solidFill>
            <a:schemeClr val="accent1"/>
          </a:solidFill>
          <a:ln w="5080">
            <a:solidFill>
              <a:srgbClr val="FFFFFF"/>
            </a:solidFill>
            <a:prstDash val="solid"/>
          </a:ln>
        </p:spPr>
      </p:sp>
      <p:sp>
        <p:nvSpPr>
          <p:cNvPr id="144" name="mini syn 52 3"/>
          <p:cNvSpPr/>
          <p:nvPr/>
        </p:nvSpPr>
        <p:spPr>
          <a:xfrm>
            <a:off x="3433572" y="5144965"/>
            <a:ext cx="30597" cy="30597"/>
          </a:xfrm>
          <a:prstGeom prst="ellipse">
            <a:avLst/>
          </a:prstGeom>
          <a:solidFill>
            <a:schemeClr val="accent1"/>
          </a:solidFill>
          <a:ln w="5080">
            <a:solidFill>
              <a:srgbClr val="FFFFFF"/>
            </a:solidFill>
            <a:prstDash val="solid"/>
          </a:ln>
        </p:spPr>
      </p:sp>
      <p:sp>
        <p:nvSpPr>
          <p:cNvPr id="145" name="mini syn 52 4"/>
          <p:cNvSpPr/>
          <p:nvPr/>
        </p:nvSpPr>
        <p:spPr>
          <a:xfrm>
            <a:off x="3424428" y="5195961"/>
            <a:ext cx="40796" cy="16998"/>
          </a:xfrm>
          <a:prstGeom prst="rect">
            <a:avLst/>
          </a:prstGeom>
          <a:solidFill>
            <a:schemeClr val="accent1"/>
          </a:solidFill>
          <a:ln w="5080">
            <a:solidFill>
              <a:srgbClr val="FFFFFF"/>
            </a:solidFill>
            <a:prstDash val="solid"/>
          </a:ln>
        </p:spPr>
      </p:sp>
      <p:sp>
        <p:nvSpPr>
          <p:cNvPr id="146" name="mini card syn 60"/>
          <p:cNvSpPr/>
          <p:nvPr/>
        </p:nvSpPr>
        <p:spPr>
          <a:xfrm>
            <a:off x="3871341" y="4114800"/>
            <a:ext cx="492633" cy="356616"/>
          </a:xfrm>
          <a:prstGeom prst="rect">
            <a:avLst/>
          </a:prstGeom>
          <a:solidFill>
            <a:srgbClr val="FFFFFF"/>
          </a:solidFill>
          <a:ln w="6350">
            <a:solidFill>
              <a:srgbClr val="898781"/>
            </a:solidFill>
            <a:prstDash val="solid"/>
          </a:ln>
        </p:spPr>
      </p:sp>
      <p:sp>
        <p:nvSpPr>
          <p:cNvPr id="147" name="mini slab syn 60"/>
          <p:cNvSpPr/>
          <p:nvPr/>
        </p:nvSpPr>
        <p:spPr>
          <a:xfrm>
            <a:off x="3917061" y="4160520"/>
            <a:ext cx="401193" cy="32004"/>
          </a:xfrm>
          <a:prstGeom prst="rect">
            <a:avLst/>
          </a:prstGeom>
          <a:solidFill>
            <a:srgbClr val="52514E"/>
          </a:solidFill>
          <a:ln/>
        </p:spPr>
      </p:sp>
      <p:sp>
        <p:nvSpPr>
          <p:cNvPr id="148" name="mini syn 60 0"/>
          <p:cNvSpPr/>
          <p:nvPr/>
        </p:nvSpPr>
        <p:spPr>
          <a:xfrm>
            <a:off x="3959203" y="4233672"/>
            <a:ext cx="30342" cy="30342"/>
          </a:xfrm>
          <a:prstGeom prst="ellipse">
            <a:avLst/>
          </a:prstGeom>
          <a:solidFill>
            <a:schemeClr val="accent1"/>
          </a:solidFill>
          <a:ln w="5080">
            <a:solidFill>
              <a:srgbClr val="FFFFFF"/>
            </a:solidFill>
            <a:prstDash val="solid"/>
          </a:ln>
        </p:spPr>
      </p:sp>
      <p:sp>
        <p:nvSpPr>
          <p:cNvPr id="149" name="mini syn 60 1"/>
          <p:cNvSpPr/>
          <p:nvPr/>
        </p:nvSpPr>
        <p:spPr>
          <a:xfrm>
            <a:off x="4016516" y="4233672"/>
            <a:ext cx="30342" cy="30342"/>
          </a:xfrm>
          <a:prstGeom prst="ellipse">
            <a:avLst/>
          </a:prstGeom>
          <a:solidFill>
            <a:schemeClr val="accent1"/>
          </a:solidFill>
          <a:ln w="5080">
            <a:solidFill>
              <a:srgbClr val="FFFFFF"/>
            </a:solidFill>
            <a:prstDash val="solid"/>
          </a:ln>
        </p:spPr>
      </p:sp>
      <p:sp>
        <p:nvSpPr>
          <p:cNvPr id="150" name="mini syn 60 2"/>
          <p:cNvSpPr/>
          <p:nvPr/>
        </p:nvSpPr>
        <p:spPr>
          <a:xfrm>
            <a:off x="4073830" y="4233672"/>
            <a:ext cx="30342" cy="30342"/>
          </a:xfrm>
          <a:prstGeom prst="ellipse">
            <a:avLst/>
          </a:prstGeom>
          <a:solidFill>
            <a:schemeClr val="accent1"/>
          </a:solidFill>
          <a:ln w="5080">
            <a:solidFill>
              <a:srgbClr val="FFFFFF"/>
            </a:solidFill>
            <a:prstDash val="solid"/>
          </a:ln>
        </p:spPr>
      </p:sp>
      <p:sp>
        <p:nvSpPr>
          <p:cNvPr id="151" name="mini syn 60 3"/>
          <p:cNvSpPr/>
          <p:nvPr/>
        </p:nvSpPr>
        <p:spPr>
          <a:xfrm>
            <a:off x="4131143" y="4233672"/>
            <a:ext cx="30342" cy="30342"/>
          </a:xfrm>
          <a:prstGeom prst="ellipse">
            <a:avLst/>
          </a:prstGeom>
          <a:solidFill>
            <a:schemeClr val="accent1"/>
          </a:solidFill>
          <a:ln w="5080">
            <a:solidFill>
              <a:srgbClr val="FFFFFF"/>
            </a:solidFill>
            <a:prstDash val="solid"/>
          </a:ln>
        </p:spPr>
      </p:sp>
      <p:sp>
        <p:nvSpPr>
          <p:cNvPr id="152" name="mini syn 60 4"/>
          <p:cNvSpPr/>
          <p:nvPr/>
        </p:nvSpPr>
        <p:spPr>
          <a:xfrm>
            <a:off x="4188456" y="4233672"/>
            <a:ext cx="30342" cy="30342"/>
          </a:xfrm>
          <a:prstGeom prst="ellipse">
            <a:avLst/>
          </a:prstGeom>
          <a:solidFill>
            <a:schemeClr val="accent1"/>
          </a:solidFill>
          <a:ln w="5080">
            <a:solidFill>
              <a:srgbClr val="FFFFFF"/>
            </a:solidFill>
            <a:prstDash val="solid"/>
          </a:ln>
        </p:spPr>
      </p:sp>
      <p:sp>
        <p:nvSpPr>
          <p:cNvPr id="153" name="mini syn 60 5"/>
          <p:cNvSpPr/>
          <p:nvPr/>
        </p:nvSpPr>
        <p:spPr>
          <a:xfrm>
            <a:off x="4245770" y="4233672"/>
            <a:ext cx="30342" cy="30342"/>
          </a:xfrm>
          <a:prstGeom prst="ellipse">
            <a:avLst/>
          </a:prstGeom>
          <a:solidFill>
            <a:schemeClr val="accent1"/>
          </a:solidFill>
          <a:ln w="5080">
            <a:solidFill>
              <a:srgbClr val="FFFFFF"/>
            </a:solidFill>
            <a:prstDash val="solid"/>
          </a:ln>
        </p:spPr>
      </p:sp>
      <p:sp>
        <p:nvSpPr>
          <p:cNvPr id="154" name="mini card syn 61"/>
          <p:cNvSpPr/>
          <p:nvPr/>
        </p:nvSpPr>
        <p:spPr>
          <a:xfrm>
            <a:off x="3871341" y="4526280"/>
            <a:ext cx="492633" cy="356616"/>
          </a:xfrm>
          <a:prstGeom prst="rect">
            <a:avLst/>
          </a:prstGeom>
          <a:solidFill>
            <a:srgbClr val="FFFFFF"/>
          </a:solidFill>
          <a:ln w="6350">
            <a:solidFill>
              <a:srgbClr val="898781"/>
            </a:solidFill>
            <a:prstDash val="solid"/>
          </a:ln>
        </p:spPr>
      </p:sp>
      <p:sp>
        <p:nvSpPr>
          <p:cNvPr id="155" name="mini slab syn 61"/>
          <p:cNvSpPr/>
          <p:nvPr/>
        </p:nvSpPr>
        <p:spPr>
          <a:xfrm>
            <a:off x="3917061" y="4572000"/>
            <a:ext cx="401193" cy="32004"/>
          </a:xfrm>
          <a:prstGeom prst="rect">
            <a:avLst/>
          </a:prstGeom>
          <a:solidFill>
            <a:srgbClr val="52514E"/>
          </a:solidFill>
          <a:ln/>
        </p:spPr>
      </p:sp>
      <p:sp>
        <p:nvSpPr>
          <p:cNvPr id="156" name="mini syn 61 0"/>
          <p:cNvSpPr/>
          <p:nvPr/>
        </p:nvSpPr>
        <p:spPr>
          <a:xfrm>
            <a:off x="3949089" y="4636008"/>
            <a:ext cx="50571" cy="37085"/>
          </a:xfrm>
          <a:prstGeom prst="rect">
            <a:avLst/>
          </a:prstGeom>
          <a:solidFill>
            <a:schemeClr val="accent1"/>
          </a:solidFill>
          <a:ln w="5080">
            <a:solidFill>
              <a:srgbClr val="FFFFFF"/>
            </a:solidFill>
            <a:prstDash val="solid"/>
          </a:ln>
        </p:spPr>
      </p:sp>
      <p:sp>
        <p:nvSpPr>
          <p:cNvPr id="157" name="mini syn 61 1"/>
          <p:cNvSpPr/>
          <p:nvPr/>
        </p:nvSpPr>
        <p:spPr>
          <a:xfrm>
            <a:off x="4016516" y="4645152"/>
            <a:ext cx="30342" cy="30342"/>
          </a:xfrm>
          <a:prstGeom prst="ellipse">
            <a:avLst/>
          </a:prstGeom>
          <a:solidFill>
            <a:schemeClr val="accent1"/>
          </a:solidFill>
          <a:ln w="5080">
            <a:solidFill>
              <a:srgbClr val="FFFFFF"/>
            </a:solidFill>
            <a:prstDash val="solid"/>
          </a:ln>
        </p:spPr>
      </p:sp>
      <p:sp>
        <p:nvSpPr>
          <p:cNvPr id="158" name="mini syn 61 2"/>
          <p:cNvSpPr/>
          <p:nvPr/>
        </p:nvSpPr>
        <p:spPr>
          <a:xfrm>
            <a:off x="4068773" y="4663440"/>
            <a:ext cx="40456" cy="16857"/>
          </a:xfrm>
          <a:prstGeom prst="rect">
            <a:avLst/>
          </a:prstGeom>
          <a:solidFill>
            <a:schemeClr val="accent1"/>
          </a:solidFill>
          <a:ln w="5080">
            <a:solidFill>
              <a:srgbClr val="FFFFFF"/>
            </a:solidFill>
            <a:prstDash val="solid"/>
          </a:ln>
        </p:spPr>
      </p:sp>
      <p:sp>
        <p:nvSpPr>
          <p:cNvPr id="159" name="mini syn 61 3"/>
          <p:cNvSpPr/>
          <p:nvPr/>
        </p:nvSpPr>
        <p:spPr>
          <a:xfrm>
            <a:off x="4131143" y="4645152"/>
            <a:ext cx="30342" cy="30342"/>
          </a:xfrm>
          <a:prstGeom prst="ellipse">
            <a:avLst/>
          </a:prstGeom>
          <a:solidFill>
            <a:schemeClr val="accent1"/>
          </a:solidFill>
          <a:ln w="5080">
            <a:solidFill>
              <a:srgbClr val="FFFFFF"/>
            </a:solidFill>
            <a:prstDash val="solid"/>
          </a:ln>
        </p:spPr>
      </p:sp>
      <p:sp>
        <p:nvSpPr>
          <p:cNvPr id="160" name="mini syn 61 4"/>
          <p:cNvSpPr/>
          <p:nvPr/>
        </p:nvSpPr>
        <p:spPr>
          <a:xfrm>
            <a:off x="4178342" y="4636008"/>
            <a:ext cx="50571" cy="37085"/>
          </a:xfrm>
          <a:prstGeom prst="rect">
            <a:avLst/>
          </a:prstGeom>
          <a:solidFill>
            <a:schemeClr val="accent1"/>
          </a:solidFill>
          <a:ln w="5080">
            <a:solidFill>
              <a:srgbClr val="FFFFFF"/>
            </a:solidFill>
            <a:prstDash val="solid"/>
          </a:ln>
        </p:spPr>
      </p:sp>
      <p:sp>
        <p:nvSpPr>
          <p:cNvPr id="161" name="mini syn 61 5"/>
          <p:cNvSpPr/>
          <p:nvPr/>
        </p:nvSpPr>
        <p:spPr>
          <a:xfrm>
            <a:off x="4245770" y="4645152"/>
            <a:ext cx="30342" cy="30342"/>
          </a:xfrm>
          <a:prstGeom prst="ellipse">
            <a:avLst/>
          </a:prstGeom>
          <a:solidFill>
            <a:schemeClr val="accent1"/>
          </a:solidFill>
          <a:ln w="5080">
            <a:solidFill>
              <a:srgbClr val="FFFFFF"/>
            </a:solidFill>
            <a:prstDash val="solid"/>
          </a:ln>
        </p:spPr>
      </p:sp>
      <p:sp>
        <p:nvSpPr>
          <p:cNvPr id="162" name="mini card syn 62"/>
          <p:cNvSpPr/>
          <p:nvPr/>
        </p:nvSpPr>
        <p:spPr>
          <a:xfrm>
            <a:off x="3871341" y="4937760"/>
            <a:ext cx="492633" cy="356616"/>
          </a:xfrm>
          <a:prstGeom prst="rect">
            <a:avLst/>
          </a:prstGeom>
          <a:solidFill>
            <a:srgbClr val="FFFFFF"/>
          </a:solidFill>
          <a:ln w="6350">
            <a:solidFill>
              <a:srgbClr val="898781"/>
            </a:solidFill>
            <a:prstDash val="solid"/>
          </a:ln>
        </p:spPr>
      </p:sp>
      <p:sp>
        <p:nvSpPr>
          <p:cNvPr id="163" name="mini wall syn 62"/>
          <p:cNvSpPr/>
          <p:nvPr/>
        </p:nvSpPr>
        <p:spPr>
          <a:xfrm>
            <a:off x="3917061" y="4983480"/>
            <a:ext cx="32004" cy="265176"/>
          </a:xfrm>
          <a:prstGeom prst="rect">
            <a:avLst/>
          </a:prstGeom>
          <a:solidFill>
            <a:srgbClr val="52514E"/>
          </a:solidFill>
          <a:ln/>
        </p:spPr>
      </p:sp>
      <p:sp>
        <p:nvSpPr>
          <p:cNvPr id="164" name="mini syn 62 0"/>
          <p:cNvSpPr/>
          <p:nvPr/>
        </p:nvSpPr>
        <p:spPr>
          <a:xfrm>
            <a:off x="3999357" y="5008249"/>
            <a:ext cx="26226" cy="26226"/>
          </a:xfrm>
          <a:prstGeom prst="ellipse">
            <a:avLst/>
          </a:prstGeom>
          <a:solidFill>
            <a:schemeClr val="accent1"/>
          </a:solidFill>
          <a:ln w="5080">
            <a:solidFill>
              <a:srgbClr val="FFFFFF"/>
            </a:solidFill>
            <a:prstDash val="solid"/>
          </a:ln>
        </p:spPr>
      </p:sp>
      <p:sp>
        <p:nvSpPr>
          <p:cNvPr id="165" name="mini syn 62 1"/>
          <p:cNvSpPr/>
          <p:nvPr/>
        </p:nvSpPr>
        <p:spPr>
          <a:xfrm>
            <a:off x="3990213" y="5051960"/>
            <a:ext cx="34968" cy="14570"/>
          </a:xfrm>
          <a:prstGeom prst="rect">
            <a:avLst/>
          </a:prstGeom>
          <a:solidFill>
            <a:schemeClr val="accent1"/>
          </a:solidFill>
          <a:ln w="5080">
            <a:solidFill>
              <a:srgbClr val="FFFFFF"/>
            </a:solidFill>
            <a:prstDash val="solid"/>
          </a:ln>
        </p:spPr>
      </p:sp>
      <p:sp>
        <p:nvSpPr>
          <p:cNvPr id="166" name="mini syn 62 2"/>
          <p:cNvSpPr/>
          <p:nvPr/>
        </p:nvSpPr>
        <p:spPr>
          <a:xfrm>
            <a:off x="3999357" y="5084014"/>
            <a:ext cx="26226" cy="26226"/>
          </a:xfrm>
          <a:prstGeom prst="ellipse">
            <a:avLst/>
          </a:prstGeom>
          <a:solidFill>
            <a:schemeClr val="accent1"/>
          </a:solidFill>
          <a:ln w="5080">
            <a:solidFill>
              <a:srgbClr val="FFFFFF"/>
            </a:solidFill>
            <a:prstDash val="solid"/>
          </a:ln>
        </p:spPr>
      </p:sp>
      <p:sp>
        <p:nvSpPr>
          <p:cNvPr id="167" name="mini syn 62 3"/>
          <p:cNvSpPr/>
          <p:nvPr/>
        </p:nvSpPr>
        <p:spPr>
          <a:xfrm>
            <a:off x="3999357" y="5121896"/>
            <a:ext cx="26226" cy="26226"/>
          </a:xfrm>
          <a:prstGeom prst="ellipse">
            <a:avLst/>
          </a:prstGeom>
          <a:solidFill>
            <a:schemeClr val="accent1"/>
          </a:solidFill>
          <a:ln w="5080">
            <a:solidFill>
              <a:srgbClr val="FFFFFF"/>
            </a:solidFill>
            <a:prstDash val="solid"/>
          </a:ln>
        </p:spPr>
      </p:sp>
      <p:sp>
        <p:nvSpPr>
          <p:cNvPr id="168" name="mini syn 62 4"/>
          <p:cNvSpPr/>
          <p:nvPr/>
        </p:nvSpPr>
        <p:spPr>
          <a:xfrm>
            <a:off x="3990213" y="5165606"/>
            <a:ext cx="34968" cy="14570"/>
          </a:xfrm>
          <a:prstGeom prst="rect">
            <a:avLst/>
          </a:prstGeom>
          <a:solidFill>
            <a:schemeClr val="accent1"/>
          </a:solidFill>
          <a:ln w="5080">
            <a:solidFill>
              <a:srgbClr val="FFFFFF"/>
            </a:solidFill>
            <a:prstDash val="solid"/>
          </a:ln>
        </p:spPr>
      </p:sp>
      <p:sp>
        <p:nvSpPr>
          <p:cNvPr id="169" name="mini syn 62 5"/>
          <p:cNvSpPr/>
          <p:nvPr/>
        </p:nvSpPr>
        <p:spPr>
          <a:xfrm>
            <a:off x="3999357" y="5197661"/>
            <a:ext cx="26226" cy="26226"/>
          </a:xfrm>
          <a:prstGeom prst="ellipse">
            <a:avLst/>
          </a:prstGeom>
          <a:solidFill>
            <a:schemeClr val="accent1"/>
          </a:solidFill>
          <a:ln w="5080">
            <a:solidFill>
              <a:srgbClr val="FFFFFF"/>
            </a:solidFill>
            <a:prstDash val="solid"/>
          </a:ln>
        </p:spPr>
      </p:sp>
      <p:sp>
        <p:nvSpPr>
          <p:cNvPr id="170" name="mini card syn 70"/>
          <p:cNvSpPr/>
          <p:nvPr/>
        </p:nvSpPr>
        <p:spPr>
          <a:xfrm>
            <a:off x="4437126" y="4114800"/>
            <a:ext cx="492633" cy="356616"/>
          </a:xfrm>
          <a:prstGeom prst="rect">
            <a:avLst/>
          </a:prstGeom>
          <a:solidFill>
            <a:srgbClr val="FFFFFF"/>
          </a:solidFill>
          <a:ln w="6350">
            <a:solidFill>
              <a:srgbClr val="898781"/>
            </a:solidFill>
            <a:prstDash val="solid"/>
          </a:ln>
        </p:spPr>
      </p:sp>
      <p:sp>
        <p:nvSpPr>
          <p:cNvPr id="171" name="mini slab syn 70"/>
          <p:cNvSpPr/>
          <p:nvPr/>
        </p:nvSpPr>
        <p:spPr>
          <a:xfrm>
            <a:off x="4482846" y="4160520"/>
            <a:ext cx="401193" cy="32004"/>
          </a:xfrm>
          <a:prstGeom prst="rect">
            <a:avLst/>
          </a:prstGeom>
          <a:solidFill>
            <a:srgbClr val="52514E"/>
          </a:solidFill>
          <a:ln/>
        </p:spPr>
      </p:sp>
      <p:sp>
        <p:nvSpPr>
          <p:cNvPr id="172" name="mini syn 70 0"/>
          <p:cNvSpPr/>
          <p:nvPr/>
        </p:nvSpPr>
        <p:spPr>
          <a:xfrm>
            <a:off x="4519720" y="4233672"/>
            <a:ext cx="26550" cy="26550"/>
          </a:xfrm>
          <a:prstGeom prst="ellipse">
            <a:avLst/>
          </a:prstGeom>
          <a:solidFill>
            <a:schemeClr val="accent1"/>
          </a:solidFill>
          <a:ln w="5080">
            <a:solidFill>
              <a:srgbClr val="FFFFFF"/>
            </a:solidFill>
            <a:prstDash val="solid"/>
          </a:ln>
        </p:spPr>
      </p:sp>
      <p:sp>
        <p:nvSpPr>
          <p:cNvPr id="173" name="mini syn 70 1"/>
          <p:cNvSpPr/>
          <p:nvPr/>
        </p:nvSpPr>
        <p:spPr>
          <a:xfrm>
            <a:off x="4569869" y="4233672"/>
            <a:ext cx="26550" cy="26550"/>
          </a:xfrm>
          <a:prstGeom prst="ellipse">
            <a:avLst/>
          </a:prstGeom>
          <a:solidFill>
            <a:schemeClr val="accent1"/>
          </a:solidFill>
          <a:ln w="5080">
            <a:solidFill>
              <a:srgbClr val="FFFFFF"/>
            </a:solidFill>
            <a:prstDash val="solid"/>
          </a:ln>
        </p:spPr>
      </p:sp>
      <p:sp>
        <p:nvSpPr>
          <p:cNvPr id="174" name="mini syn 70 2"/>
          <p:cNvSpPr/>
          <p:nvPr/>
        </p:nvSpPr>
        <p:spPr>
          <a:xfrm>
            <a:off x="4620019" y="4233672"/>
            <a:ext cx="26550" cy="26550"/>
          </a:xfrm>
          <a:prstGeom prst="ellipse">
            <a:avLst/>
          </a:prstGeom>
          <a:solidFill>
            <a:schemeClr val="accent1"/>
          </a:solidFill>
          <a:ln w="5080">
            <a:solidFill>
              <a:srgbClr val="FFFFFF"/>
            </a:solidFill>
            <a:prstDash val="solid"/>
          </a:ln>
        </p:spPr>
      </p:sp>
      <p:sp>
        <p:nvSpPr>
          <p:cNvPr id="175" name="mini syn 70 3"/>
          <p:cNvSpPr/>
          <p:nvPr/>
        </p:nvSpPr>
        <p:spPr>
          <a:xfrm>
            <a:off x="4670168" y="4233672"/>
            <a:ext cx="26550" cy="26550"/>
          </a:xfrm>
          <a:prstGeom prst="ellipse">
            <a:avLst/>
          </a:prstGeom>
          <a:solidFill>
            <a:schemeClr val="accent1"/>
          </a:solidFill>
          <a:ln w="5080">
            <a:solidFill>
              <a:srgbClr val="FFFFFF"/>
            </a:solidFill>
            <a:prstDash val="solid"/>
          </a:ln>
        </p:spPr>
      </p:sp>
      <p:sp>
        <p:nvSpPr>
          <p:cNvPr id="176" name="mini syn 70 4"/>
          <p:cNvSpPr/>
          <p:nvPr/>
        </p:nvSpPr>
        <p:spPr>
          <a:xfrm>
            <a:off x="4720317" y="4233672"/>
            <a:ext cx="26550" cy="26550"/>
          </a:xfrm>
          <a:prstGeom prst="ellipse">
            <a:avLst/>
          </a:prstGeom>
          <a:solidFill>
            <a:schemeClr val="accent1"/>
          </a:solidFill>
          <a:ln w="5080">
            <a:solidFill>
              <a:srgbClr val="FFFFFF"/>
            </a:solidFill>
            <a:prstDash val="solid"/>
          </a:ln>
        </p:spPr>
      </p:sp>
      <p:sp>
        <p:nvSpPr>
          <p:cNvPr id="177" name="mini syn 70 5"/>
          <p:cNvSpPr/>
          <p:nvPr/>
        </p:nvSpPr>
        <p:spPr>
          <a:xfrm>
            <a:off x="4770466" y="4233672"/>
            <a:ext cx="26550" cy="26550"/>
          </a:xfrm>
          <a:prstGeom prst="ellipse">
            <a:avLst/>
          </a:prstGeom>
          <a:solidFill>
            <a:schemeClr val="accent1"/>
          </a:solidFill>
          <a:ln w="5080">
            <a:solidFill>
              <a:srgbClr val="FFFFFF"/>
            </a:solidFill>
            <a:prstDash val="solid"/>
          </a:ln>
        </p:spPr>
      </p:sp>
      <p:sp>
        <p:nvSpPr>
          <p:cNvPr id="178" name="mini syn 70 6"/>
          <p:cNvSpPr/>
          <p:nvPr/>
        </p:nvSpPr>
        <p:spPr>
          <a:xfrm>
            <a:off x="4820615" y="4233672"/>
            <a:ext cx="26550" cy="26550"/>
          </a:xfrm>
          <a:prstGeom prst="ellipse">
            <a:avLst/>
          </a:prstGeom>
          <a:solidFill>
            <a:schemeClr val="accent1"/>
          </a:solidFill>
          <a:ln w="5080">
            <a:solidFill>
              <a:srgbClr val="FFFFFF"/>
            </a:solidFill>
            <a:prstDash val="solid"/>
          </a:ln>
        </p:spPr>
      </p:sp>
      <p:sp>
        <p:nvSpPr>
          <p:cNvPr id="179" name="mini card syn 71"/>
          <p:cNvSpPr/>
          <p:nvPr/>
        </p:nvSpPr>
        <p:spPr>
          <a:xfrm>
            <a:off x="4437126" y="4526280"/>
            <a:ext cx="492633" cy="356616"/>
          </a:xfrm>
          <a:prstGeom prst="rect">
            <a:avLst/>
          </a:prstGeom>
          <a:solidFill>
            <a:srgbClr val="FFFFFF"/>
          </a:solidFill>
          <a:ln w="6350">
            <a:solidFill>
              <a:srgbClr val="898781"/>
            </a:solidFill>
            <a:prstDash val="solid"/>
          </a:ln>
        </p:spPr>
      </p:sp>
      <p:sp>
        <p:nvSpPr>
          <p:cNvPr id="180" name="mini slab syn 71"/>
          <p:cNvSpPr/>
          <p:nvPr/>
        </p:nvSpPr>
        <p:spPr>
          <a:xfrm>
            <a:off x="4482846" y="4572000"/>
            <a:ext cx="401193" cy="32004"/>
          </a:xfrm>
          <a:prstGeom prst="rect">
            <a:avLst/>
          </a:prstGeom>
          <a:solidFill>
            <a:srgbClr val="52514E"/>
          </a:solidFill>
          <a:ln/>
        </p:spPr>
      </p:sp>
      <p:sp>
        <p:nvSpPr>
          <p:cNvPr id="181" name="mini syn 71 0"/>
          <p:cNvSpPr/>
          <p:nvPr/>
        </p:nvSpPr>
        <p:spPr>
          <a:xfrm>
            <a:off x="4510871" y="4636008"/>
            <a:ext cx="44249" cy="32449"/>
          </a:xfrm>
          <a:prstGeom prst="rect">
            <a:avLst/>
          </a:prstGeom>
          <a:solidFill>
            <a:schemeClr val="accent1"/>
          </a:solidFill>
          <a:ln w="5080">
            <a:solidFill>
              <a:srgbClr val="FFFFFF"/>
            </a:solidFill>
            <a:prstDash val="solid"/>
          </a:ln>
        </p:spPr>
      </p:sp>
      <p:sp>
        <p:nvSpPr>
          <p:cNvPr id="182" name="mini syn 71 1"/>
          <p:cNvSpPr/>
          <p:nvPr/>
        </p:nvSpPr>
        <p:spPr>
          <a:xfrm>
            <a:off x="4569869" y="4645152"/>
            <a:ext cx="26550" cy="26550"/>
          </a:xfrm>
          <a:prstGeom prst="ellipse">
            <a:avLst/>
          </a:prstGeom>
          <a:solidFill>
            <a:schemeClr val="accent1"/>
          </a:solidFill>
          <a:ln w="5080">
            <a:solidFill>
              <a:srgbClr val="FFFFFF"/>
            </a:solidFill>
            <a:prstDash val="solid"/>
          </a:ln>
        </p:spPr>
      </p:sp>
      <p:sp>
        <p:nvSpPr>
          <p:cNvPr id="183" name="mini syn 71 2"/>
          <p:cNvSpPr/>
          <p:nvPr/>
        </p:nvSpPr>
        <p:spPr>
          <a:xfrm>
            <a:off x="4615594" y="4663440"/>
            <a:ext cx="35399" cy="14750"/>
          </a:xfrm>
          <a:prstGeom prst="rect">
            <a:avLst/>
          </a:prstGeom>
          <a:solidFill>
            <a:schemeClr val="accent1"/>
          </a:solidFill>
          <a:ln w="5080">
            <a:solidFill>
              <a:srgbClr val="FFFFFF"/>
            </a:solidFill>
            <a:prstDash val="solid"/>
          </a:ln>
        </p:spPr>
      </p:sp>
      <p:sp>
        <p:nvSpPr>
          <p:cNvPr id="184" name="mini syn 71 3"/>
          <p:cNvSpPr/>
          <p:nvPr/>
        </p:nvSpPr>
        <p:spPr>
          <a:xfrm>
            <a:off x="4670168" y="4645152"/>
            <a:ext cx="26550" cy="26550"/>
          </a:xfrm>
          <a:prstGeom prst="ellipse">
            <a:avLst/>
          </a:prstGeom>
          <a:solidFill>
            <a:schemeClr val="accent1"/>
          </a:solidFill>
          <a:ln w="5080">
            <a:solidFill>
              <a:srgbClr val="FFFFFF"/>
            </a:solidFill>
            <a:prstDash val="solid"/>
          </a:ln>
        </p:spPr>
      </p:sp>
      <p:sp>
        <p:nvSpPr>
          <p:cNvPr id="185" name="mini syn 71 4"/>
          <p:cNvSpPr/>
          <p:nvPr/>
        </p:nvSpPr>
        <p:spPr>
          <a:xfrm>
            <a:off x="4711467" y="4636008"/>
            <a:ext cx="44249" cy="32449"/>
          </a:xfrm>
          <a:prstGeom prst="rect">
            <a:avLst/>
          </a:prstGeom>
          <a:solidFill>
            <a:schemeClr val="accent1"/>
          </a:solidFill>
          <a:ln w="5080">
            <a:solidFill>
              <a:srgbClr val="FFFFFF"/>
            </a:solidFill>
            <a:prstDash val="solid"/>
          </a:ln>
        </p:spPr>
      </p:sp>
      <p:sp>
        <p:nvSpPr>
          <p:cNvPr id="186" name="mini syn 71 5"/>
          <p:cNvSpPr/>
          <p:nvPr/>
        </p:nvSpPr>
        <p:spPr>
          <a:xfrm>
            <a:off x="4770466" y="4645152"/>
            <a:ext cx="26550" cy="26550"/>
          </a:xfrm>
          <a:prstGeom prst="ellipse">
            <a:avLst/>
          </a:prstGeom>
          <a:solidFill>
            <a:schemeClr val="accent1"/>
          </a:solidFill>
          <a:ln w="5080">
            <a:solidFill>
              <a:srgbClr val="FFFFFF"/>
            </a:solidFill>
            <a:prstDash val="solid"/>
          </a:ln>
        </p:spPr>
      </p:sp>
      <p:sp>
        <p:nvSpPr>
          <p:cNvPr id="187" name="mini syn 71 6"/>
          <p:cNvSpPr/>
          <p:nvPr/>
        </p:nvSpPr>
        <p:spPr>
          <a:xfrm>
            <a:off x="4816190" y="4663440"/>
            <a:ext cx="35399" cy="14750"/>
          </a:xfrm>
          <a:prstGeom prst="rect">
            <a:avLst/>
          </a:prstGeom>
          <a:solidFill>
            <a:schemeClr val="accent1"/>
          </a:solidFill>
          <a:ln w="5080">
            <a:solidFill>
              <a:srgbClr val="FFFFFF"/>
            </a:solidFill>
            <a:prstDash val="solid"/>
          </a:ln>
        </p:spPr>
      </p:sp>
      <p:sp>
        <p:nvSpPr>
          <p:cNvPr id="188" name="mini card syn 72"/>
          <p:cNvSpPr/>
          <p:nvPr/>
        </p:nvSpPr>
        <p:spPr>
          <a:xfrm>
            <a:off x="4437126" y="4937760"/>
            <a:ext cx="492633" cy="356616"/>
          </a:xfrm>
          <a:prstGeom prst="rect">
            <a:avLst/>
          </a:prstGeom>
          <a:solidFill>
            <a:srgbClr val="FFFFFF"/>
          </a:solidFill>
          <a:ln w="6350">
            <a:solidFill>
              <a:srgbClr val="898781"/>
            </a:solidFill>
            <a:prstDash val="solid"/>
          </a:ln>
        </p:spPr>
      </p:sp>
      <p:sp>
        <p:nvSpPr>
          <p:cNvPr id="189" name="mini wall syn 72"/>
          <p:cNvSpPr/>
          <p:nvPr/>
        </p:nvSpPr>
        <p:spPr>
          <a:xfrm>
            <a:off x="4482846" y="4983480"/>
            <a:ext cx="32004" cy="265176"/>
          </a:xfrm>
          <a:prstGeom prst="rect">
            <a:avLst/>
          </a:prstGeom>
          <a:solidFill>
            <a:srgbClr val="52514E"/>
          </a:solidFill>
          <a:ln/>
        </p:spPr>
      </p:sp>
      <p:sp>
        <p:nvSpPr>
          <p:cNvPr id="190" name="mini syn 72 0"/>
          <p:cNvSpPr/>
          <p:nvPr/>
        </p:nvSpPr>
        <p:spPr>
          <a:xfrm>
            <a:off x="4565142" y="5005153"/>
            <a:ext cx="22948" cy="22948"/>
          </a:xfrm>
          <a:prstGeom prst="ellipse">
            <a:avLst/>
          </a:prstGeom>
          <a:solidFill>
            <a:schemeClr val="accent1"/>
          </a:solidFill>
          <a:ln w="5080">
            <a:solidFill>
              <a:srgbClr val="FFFFFF"/>
            </a:solidFill>
            <a:prstDash val="solid"/>
          </a:ln>
        </p:spPr>
      </p:sp>
      <p:sp>
        <p:nvSpPr>
          <p:cNvPr id="191" name="mini syn 72 1"/>
          <p:cNvSpPr/>
          <p:nvPr/>
        </p:nvSpPr>
        <p:spPr>
          <a:xfrm>
            <a:off x="4555998" y="5043400"/>
            <a:ext cx="30597" cy="12749"/>
          </a:xfrm>
          <a:prstGeom prst="rect">
            <a:avLst/>
          </a:prstGeom>
          <a:solidFill>
            <a:schemeClr val="accent1"/>
          </a:solidFill>
          <a:ln w="5080">
            <a:solidFill>
              <a:srgbClr val="FFFFFF"/>
            </a:solidFill>
            <a:prstDash val="solid"/>
          </a:ln>
        </p:spPr>
      </p:sp>
      <p:sp>
        <p:nvSpPr>
          <p:cNvPr id="192" name="mini syn 72 2"/>
          <p:cNvSpPr/>
          <p:nvPr/>
        </p:nvSpPr>
        <p:spPr>
          <a:xfrm>
            <a:off x="4565142" y="5071447"/>
            <a:ext cx="22948" cy="22948"/>
          </a:xfrm>
          <a:prstGeom prst="ellipse">
            <a:avLst/>
          </a:prstGeom>
          <a:solidFill>
            <a:schemeClr val="accent1"/>
          </a:solidFill>
          <a:ln w="5080">
            <a:solidFill>
              <a:srgbClr val="FFFFFF"/>
            </a:solidFill>
            <a:prstDash val="solid"/>
          </a:ln>
        </p:spPr>
      </p:sp>
      <p:sp>
        <p:nvSpPr>
          <p:cNvPr id="193" name="mini syn 72 3"/>
          <p:cNvSpPr/>
          <p:nvPr/>
        </p:nvSpPr>
        <p:spPr>
          <a:xfrm>
            <a:off x="4565142" y="5104594"/>
            <a:ext cx="22948" cy="22948"/>
          </a:xfrm>
          <a:prstGeom prst="ellipse">
            <a:avLst/>
          </a:prstGeom>
          <a:solidFill>
            <a:schemeClr val="accent1"/>
          </a:solidFill>
          <a:ln w="5080">
            <a:solidFill>
              <a:srgbClr val="FFFFFF"/>
            </a:solidFill>
            <a:prstDash val="solid"/>
          </a:ln>
        </p:spPr>
      </p:sp>
      <p:sp>
        <p:nvSpPr>
          <p:cNvPr id="194" name="mini syn 72 4"/>
          <p:cNvSpPr/>
          <p:nvPr/>
        </p:nvSpPr>
        <p:spPr>
          <a:xfrm>
            <a:off x="4555998" y="5142841"/>
            <a:ext cx="30597" cy="12749"/>
          </a:xfrm>
          <a:prstGeom prst="rect">
            <a:avLst/>
          </a:prstGeom>
          <a:solidFill>
            <a:schemeClr val="accent1"/>
          </a:solidFill>
          <a:ln w="5080">
            <a:solidFill>
              <a:srgbClr val="FFFFFF"/>
            </a:solidFill>
            <a:prstDash val="solid"/>
          </a:ln>
        </p:spPr>
      </p:sp>
      <p:sp>
        <p:nvSpPr>
          <p:cNvPr id="195" name="mini syn 72 5"/>
          <p:cNvSpPr/>
          <p:nvPr/>
        </p:nvSpPr>
        <p:spPr>
          <a:xfrm>
            <a:off x="4565142" y="5170888"/>
            <a:ext cx="22948" cy="22948"/>
          </a:xfrm>
          <a:prstGeom prst="ellipse">
            <a:avLst/>
          </a:prstGeom>
          <a:solidFill>
            <a:schemeClr val="accent1"/>
          </a:solidFill>
          <a:ln w="5080">
            <a:solidFill>
              <a:srgbClr val="FFFFFF"/>
            </a:solidFill>
            <a:prstDash val="solid"/>
          </a:ln>
        </p:spPr>
      </p:sp>
      <p:sp>
        <p:nvSpPr>
          <p:cNvPr id="196" name="mini syn 72 6"/>
          <p:cNvSpPr/>
          <p:nvPr/>
        </p:nvSpPr>
        <p:spPr>
          <a:xfrm>
            <a:off x="4565142" y="5204035"/>
            <a:ext cx="22948" cy="22948"/>
          </a:xfrm>
          <a:prstGeom prst="ellipse">
            <a:avLst/>
          </a:prstGeom>
          <a:solidFill>
            <a:schemeClr val="accent1"/>
          </a:solidFill>
          <a:ln w="5080">
            <a:solidFill>
              <a:srgbClr val="FFFFFF"/>
            </a:solidFill>
            <a:prstDash val="solid"/>
          </a:ln>
        </p:spPr>
      </p:sp>
      <p:sp>
        <p:nvSpPr>
          <p:cNvPr id="197" name="mini card syn 80"/>
          <p:cNvSpPr/>
          <p:nvPr/>
        </p:nvSpPr>
        <p:spPr>
          <a:xfrm>
            <a:off x="5002911" y="4114800"/>
            <a:ext cx="492633" cy="356616"/>
          </a:xfrm>
          <a:prstGeom prst="rect">
            <a:avLst/>
          </a:prstGeom>
          <a:solidFill>
            <a:srgbClr val="FFFFFF"/>
          </a:solidFill>
          <a:ln w="6350">
            <a:solidFill>
              <a:srgbClr val="898781"/>
            </a:solidFill>
            <a:prstDash val="solid"/>
          </a:ln>
        </p:spPr>
      </p:sp>
      <p:sp>
        <p:nvSpPr>
          <p:cNvPr id="198" name="mini slab syn 80"/>
          <p:cNvSpPr/>
          <p:nvPr/>
        </p:nvSpPr>
        <p:spPr>
          <a:xfrm>
            <a:off x="5048631" y="4160520"/>
            <a:ext cx="401193" cy="32004"/>
          </a:xfrm>
          <a:prstGeom prst="rect">
            <a:avLst/>
          </a:prstGeom>
          <a:solidFill>
            <a:srgbClr val="52514E"/>
          </a:solidFill>
          <a:ln/>
        </p:spPr>
      </p:sp>
      <p:sp>
        <p:nvSpPr>
          <p:cNvPr id="199" name="mini syn 80 0"/>
          <p:cNvSpPr/>
          <p:nvPr/>
        </p:nvSpPr>
        <p:spPr>
          <a:xfrm>
            <a:off x="5081408" y="4233672"/>
            <a:ext cx="23600" cy="23600"/>
          </a:xfrm>
          <a:prstGeom prst="ellipse">
            <a:avLst/>
          </a:prstGeom>
          <a:solidFill>
            <a:schemeClr val="accent1"/>
          </a:solidFill>
          <a:ln w="5080">
            <a:solidFill>
              <a:srgbClr val="FFFFFF"/>
            </a:solidFill>
            <a:prstDash val="solid"/>
          </a:ln>
        </p:spPr>
      </p:sp>
      <p:sp>
        <p:nvSpPr>
          <p:cNvPr id="200" name="mini syn 80 1"/>
          <p:cNvSpPr/>
          <p:nvPr/>
        </p:nvSpPr>
        <p:spPr>
          <a:xfrm>
            <a:off x="5125985" y="4233672"/>
            <a:ext cx="23600" cy="23600"/>
          </a:xfrm>
          <a:prstGeom prst="ellipse">
            <a:avLst/>
          </a:prstGeom>
          <a:solidFill>
            <a:schemeClr val="accent1"/>
          </a:solidFill>
          <a:ln w="5080">
            <a:solidFill>
              <a:srgbClr val="FFFFFF"/>
            </a:solidFill>
            <a:prstDash val="solid"/>
          </a:ln>
        </p:spPr>
      </p:sp>
      <p:sp>
        <p:nvSpPr>
          <p:cNvPr id="201" name="mini syn 80 2"/>
          <p:cNvSpPr/>
          <p:nvPr/>
        </p:nvSpPr>
        <p:spPr>
          <a:xfrm>
            <a:off x="5170562" y="4233672"/>
            <a:ext cx="23600" cy="23600"/>
          </a:xfrm>
          <a:prstGeom prst="ellipse">
            <a:avLst/>
          </a:prstGeom>
          <a:solidFill>
            <a:schemeClr val="accent1"/>
          </a:solidFill>
          <a:ln w="5080">
            <a:solidFill>
              <a:srgbClr val="FFFFFF"/>
            </a:solidFill>
            <a:prstDash val="solid"/>
          </a:ln>
        </p:spPr>
      </p:sp>
      <p:sp>
        <p:nvSpPr>
          <p:cNvPr id="202" name="mini syn 80 3"/>
          <p:cNvSpPr/>
          <p:nvPr/>
        </p:nvSpPr>
        <p:spPr>
          <a:xfrm>
            <a:off x="5215139" y="4233672"/>
            <a:ext cx="23600" cy="23600"/>
          </a:xfrm>
          <a:prstGeom prst="ellipse">
            <a:avLst/>
          </a:prstGeom>
          <a:solidFill>
            <a:schemeClr val="accent1"/>
          </a:solidFill>
          <a:ln w="5080">
            <a:solidFill>
              <a:srgbClr val="FFFFFF"/>
            </a:solidFill>
            <a:prstDash val="solid"/>
          </a:ln>
        </p:spPr>
      </p:sp>
      <p:sp>
        <p:nvSpPr>
          <p:cNvPr id="203" name="mini syn 80 4"/>
          <p:cNvSpPr/>
          <p:nvPr/>
        </p:nvSpPr>
        <p:spPr>
          <a:xfrm>
            <a:off x="5259716" y="4233672"/>
            <a:ext cx="23600" cy="23600"/>
          </a:xfrm>
          <a:prstGeom prst="ellipse">
            <a:avLst/>
          </a:prstGeom>
          <a:solidFill>
            <a:schemeClr val="accent1"/>
          </a:solidFill>
          <a:ln w="5080">
            <a:solidFill>
              <a:srgbClr val="FFFFFF"/>
            </a:solidFill>
            <a:prstDash val="solid"/>
          </a:ln>
        </p:spPr>
      </p:sp>
      <p:sp>
        <p:nvSpPr>
          <p:cNvPr id="204" name="mini syn 80 5"/>
          <p:cNvSpPr/>
          <p:nvPr/>
        </p:nvSpPr>
        <p:spPr>
          <a:xfrm>
            <a:off x="5304293" y="4233672"/>
            <a:ext cx="23600" cy="23600"/>
          </a:xfrm>
          <a:prstGeom prst="ellipse">
            <a:avLst/>
          </a:prstGeom>
          <a:solidFill>
            <a:schemeClr val="accent1"/>
          </a:solidFill>
          <a:ln w="5080">
            <a:solidFill>
              <a:srgbClr val="FFFFFF"/>
            </a:solidFill>
            <a:prstDash val="solid"/>
          </a:ln>
        </p:spPr>
      </p:sp>
      <p:sp>
        <p:nvSpPr>
          <p:cNvPr id="205" name="mini syn 80 6"/>
          <p:cNvSpPr/>
          <p:nvPr/>
        </p:nvSpPr>
        <p:spPr>
          <a:xfrm>
            <a:off x="5348870" y="4233672"/>
            <a:ext cx="23600" cy="23600"/>
          </a:xfrm>
          <a:prstGeom prst="ellipse">
            <a:avLst/>
          </a:prstGeom>
          <a:solidFill>
            <a:schemeClr val="accent1"/>
          </a:solidFill>
          <a:ln w="5080">
            <a:solidFill>
              <a:srgbClr val="FFFFFF"/>
            </a:solidFill>
            <a:prstDash val="solid"/>
          </a:ln>
        </p:spPr>
      </p:sp>
      <p:sp>
        <p:nvSpPr>
          <p:cNvPr id="206" name="mini syn 80 7"/>
          <p:cNvSpPr/>
          <p:nvPr/>
        </p:nvSpPr>
        <p:spPr>
          <a:xfrm>
            <a:off x="5393447" y="4233672"/>
            <a:ext cx="23600" cy="23600"/>
          </a:xfrm>
          <a:prstGeom prst="ellipse">
            <a:avLst/>
          </a:prstGeom>
          <a:solidFill>
            <a:schemeClr val="accent1"/>
          </a:solidFill>
          <a:ln w="5080">
            <a:solidFill>
              <a:srgbClr val="FFFFFF"/>
            </a:solidFill>
            <a:prstDash val="solid"/>
          </a:ln>
        </p:spPr>
      </p:sp>
      <p:sp>
        <p:nvSpPr>
          <p:cNvPr id="207" name="mini card syn 81"/>
          <p:cNvSpPr/>
          <p:nvPr/>
        </p:nvSpPr>
        <p:spPr>
          <a:xfrm>
            <a:off x="5002911" y="4526280"/>
            <a:ext cx="492633" cy="356616"/>
          </a:xfrm>
          <a:prstGeom prst="rect">
            <a:avLst/>
          </a:prstGeom>
          <a:solidFill>
            <a:srgbClr val="FFFFFF"/>
          </a:solidFill>
          <a:ln w="6350">
            <a:solidFill>
              <a:srgbClr val="898781"/>
            </a:solidFill>
            <a:prstDash val="solid"/>
          </a:ln>
        </p:spPr>
      </p:sp>
      <p:sp>
        <p:nvSpPr>
          <p:cNvPr id="208" name="mini slab syn 81"/>
          <p:cNvSpPr/>
          <p:nvPr/>
        </p:nvSpPr>
        <p:spPr>
          <a:xfrm>
            <a:off x="5048631" y="4572000"/>
            <a:ext cx="401193" cy="32004"/>
          </a:xfrm>
          <a:prstGeom prst="rect">
            <a:avLst/>
          </a:prstGeom>
          <a:solidFill>
            <a:srgbClr val="52514E"/>
          </a:solidFill>
          <a:ln/>
        </p:spPr>
      </p:sp>
      <p:sp>
        <p:nvSpPr>
          <p:cNvPr id="209" name="mini syn 81 0"/>
          <p:cNvSpPr/>
          <p:nvPr/>
        </p:nvSpPr>
        <p:spPr>
          <a:xfrm>
            <a:off x="5073542" y="4636008"/>
            <a:ext cx="39333" cy="28844"/>
          </a:xfrm>
          <a:prstGeom prst="rect">
            <a:avLst/>
          </a:prstGeom>
          <a:solidFill>
            <a:schemeClr val="accent1"/>
          </a:solidFill>
          <a:ln w="5080">
            <a:solidFill>
              <a:srgbClr val="FFFFFF"/>
            </a:solidFill>
            <a:prstDash val="solid"/>
          </a:ln>
        </p:spPr>
      </p:sp>
      <p:sp>
        <p:nvSpPr>
          <p:cNvPr id="210" name="mini syn 81 1"/>
          <p:cNvSpPr/>
          <p:nvPr/>
        </p:nvSpPr>
        <p:spPr>
          <a:xfrm>
            <a:off x="5125985" y="4645152"/>
            <a:ext cx="23600" cy="23600"/>
          </a:xfrm>
          <a:prstGeom prst="ellipse">
            <a:avLst/>
          </a:prstGeom>
          <a:solidFill>
            <a:schemeClr val="accent1"/>
          </a:solidFill>
          <a:ln w="5080">
            <a:solidFill>
              <a:srgbClr val="FFFFFF"/>
            </a:solidFill>
            <a:prstDash val="solid"/>
          </a:ln>
        </p:spPr>
      </p:sp>
      <p:sp>
        <p:nvSpPr>
          <p:cNvPr id="211" name="mini syn 81 2"/>
          <p:cNvSpPr/>
          <p:nvPr/>
        </p:nvSpPr>
        <p:spPr>
          <a:xfrm>
            <a:off x="5166629" y="4663440"/>
            <a:ext cx="31466" cy="13111"/>
          </a:xfrm>
          <a:prstGeom prst="rect">
            <a:avLst/>
          </a:prstGeom>
          <a:solidFill>
            <a:schemeClr val="accent1"/>
          </a:solidFill>
          <a:ln w="5080">
            <a:solidFill>
              <a:srgbClr val="FFFFFF"/>
            </a:solidFill>
            <a:prstDash val="solid"/>
          </a:ln>
        </p:spPr>
      </p:sp>
      <p:sp>
        <p:nvSpPr>
          <p:cNvPr id="212" name="mini syn 81 3"/>
          <p:cNvSpPr/>
          <p:nvPr/>
        </p:nvSpPr>
        <p:spPr>
          <a:xfrm>
            <a:off x="5215139" y="4645152"/>
            <a:ext cx="23600" cy="23600"/>
          </a:xfrm>
          <a:prstGeom prst="ellipse">
            <a:avLst/>
          </a:prstGeom>
          <a:solidFill>
            <a:schemeClr val="accent1"/>
          </a:solidFill>
          <a:ln w="5080">
            <a:solidFill>
              <a:srgbClr val="FFFFFF"/>
            </a:solidFill>
            <a:prstDash val="solid"/>
          </a:ln>
        </p:spPr>
      </p:sp>
      <p:sp>
        <p:nvSpPr>
          <p:cNvPr id="213" name="mini syn 81 4"/>
          <p:cNvSpPr/>
          <p:nvPr/>
        </p:nvSpPr>
        <p:spPr>
          <a:xfrm>
            <a:off x="5251850" y="4636008"/>
            <a:ext cx="39333" cy="28844"/>
          </a:xfrm>
          <a:prstGeom prst="rect">
            <a:avLst/>
          </a:prstGeom>
          <a:solidFill>
            <a:schemeClr val="accent1"/>
          </a:solidFill>
          <a:ln w="5080">
            <a:solidFill>
              <a:srgbClr val="FFFFFF"/>
            </a:solidFill>
            <a:prstDash val="solid"/>
          </a:ln>
        </p:spPr>
      </p:sp>
      <p:sp>
        <p:nvSpPr>
          <p:cNvPr id="214" name="mini syn 81 5"/>
          <p:cNvSpPr/>
          <p:nvPr/>
        </p:nvSpPr>
        <p:spPr>
          <a:xfrm>
            <a:off x="5304293" y="4645152"/>
            <a:ext cx="23600" cy="23600"/>
          </a:xfrm>
          <a:prstGeom prst="ellipse">
            <a:avLst/>
          </a:prstGeom>
          <a:solidFill>
            <a:schemeClr val="accent1"/>
          </a:solidFill>
          <a:ln w="5080">
            <a:solidFill>
              <a:srgbClr val="FFFFFF"/>
            </a:solidFill>
            <a:prstDash val="solid"/>
          </a:ln>
        </p:spPr>
      </p:sp>
      <p:sp>
        <p:nvSpPr>
          <p:cNvPr id="215" name="mini syn 81 6"/>
          <p:cNvSpPr/>
          <p:nvPr/>
        </p:nvSpPr>
        <p:spPr>
          <a:xfrm>
            <a:off x="5344937" y="4663440"/>
            <a:ext cx="31466" cy="13111"/>
          </a:xfrm>
          <a:prstGeom prst="rect">
            <a:avLst/>
          </a:prstGeom>
          <a:solidFill>
            <a:schemeClr val="accent1"/>
          </a:solidFill>
          <a:ln w="5080">
            <a:solidFill>
              <a:srgbClr val="FFFFFF"/>
            </a:solidFill>
            <a:prstDash val="solid"/>
          </a:ln>
        </p:spPr>
      </p:sp>
      <p:sp>
        <p:nvSpPr>
          <p:cNvPr id="216" name="mini syn 81 7"/>
          <p:cNvSpPr/>
          <p:nvPr/>
        </p:nvSpPr>
        <p:spPr>
          <a:xfrm>
            <a:off x="5393447" y="4645152"/>
            <a:ext cx="23600" cy="23600"/>
          </a:xfrm>
          <a:prstGeom prst="ellipse">
            <a:avLst/>
          </a:prstGeom>
          <a:solidFill>
            <a:schemeClr val="accent1"/>
          </a:solidFill>
          <a:ln w="5080">
            <a:solidFill>
              <a:srgbClr val="FFFFFF"/>
            </a:solidFill>
            <a:prstDash val="solid"/>
          </a:ln>
        </p:spPr>
      </p:sp>
      <p:sp>
        <p:nvSpPr>
          <p:cNvPr id="217" name="mini card syn 82"/>
          <p:cNvSpPr/>
          <p:nvPr/>
        </p:nvSpPr>
        <p:spPr>
          <a:xfrm>
            <a:off x="5002911" y="4937760"/>
            <a:ext cx="492633" cy="356616"/>
          </a:xfrm>
          <a:prstGeom prst="rect">
            <a:avLst/>
          </a:prstGeom>
          <a:solidFill>
            <a:srgbClr val="FFFFFF"/>
          </a:solidFill>
          <a:ln w="6350">
            <a:solidFill>
              <a:srgbClr val="898781"/>
            </a:solidFill>
            <a:prstDash val="solid"/>
          </a:ln>
        </p:spPr>
      </p:sp>
      <p:sp>
        <p:nvSpPr>
          <p:cNvPr id="218" name="mini wall syn 82"/>
          <p:cNvSpPr/>
          <p:nvPr/>
        </p:nvSpPr>
        <p:spPr>
          <a:xfrm>
            <a:off x="5048631" y="4983480"/>
            <a:ext cx="32004" cy="265176"/>
          </a:xfrm>
          <a:prstGeom prst="rect">
            <a:avLst/>
          </a:prstGeom>
          <a:solidFill>
            <a:srgbClr val="52514E"/>
          </a:solidFill>
          <a:ln/>
        </p:spPr>
      </p:sp>
      <p:sp>
        <p:nvSpPr>
          <p:cNvPr id="219" name="mini syn 82 0"/>
          <p:cNvSpPr/>
          <p:nvPr/>
        </p:nvSpPr>
        <p:spPr>
          <a:xfrm>
            <a:off x="5130927" y="5002745"/>
            <a:ext cx="20398" cy="20398"/>
          </a:xfrm>
          <a:prstGeom prst="ellipse">
            <a:avLst/>
          </a:prstGeom>
          <a:solidFill>
            <a:schemeClr val="accent1"/>
          </a:solidFill>
          <a:ln w="5080">
            <a:solidFill>
              <a:srgbClr val="FFFFFF"/>
            </a:solidFill>
            <a:prstDash val="solid"/>
          </a:ln>
        </p:spPr>
      </p:sp>
      <p:sp>
        <p:nvSpPr>
          <p:cNvPr id="220" name="mini syn 82 1"/>
          <p:cNvSpPr/>
          <p:nvPr/>
        </p:nvSpPr>
        <p:spPr>
          <a:xfrm>
            <a:off x="5121783" y="5036742"/>
            <a:ext cx="27198" cy="11332"/>
          </a:xfrm>
          <a:prstGeom prst="rect">
            <a:avLst/>
          </a:prstGeom>
          <a:solidFill>
            <a:schemeClr val="accent1"/>
          </a:solidFill>
          <a:ln w="5080">
            <a:solidFill>
              <a:srgbClr val="FFFFFF"/>
            </a:solidFill>
            <a:prstDash val="solid"/>
          </a:ln>
        </p:spPr>
      </p:sp>
      <p:sp>
        <p:nvSpPr>
          <p:cNvPr id="221" name="mini syn 82 2"/>
          <p:cNvSpPr/>
          <p:nvPr/>
        </p:nvSpPr>
        <p:spPr>
          <a:xfrm>
            <a:off x="5130927" y="5061673"/>
            <a:ext cx="20398" cy="20398"/>
          </a:xfrm>
          <a:prstGeom prst="ellipse">
            <a:avLst/>
          </a:prstGeom>
          <a:solidFill>
            <a:schemeClr val="accent1"/>
          </a:solidFill>
          <a:ln w="5080">
            <a:solidFill>
              <a:srgbClr val="FFFFFF"/>
            </a:solidFill>
            <a:prstDash val="solid"/>
          </a:ln>
        </p:spPr>
      </p:sp>
      <p:sp>
        <p:nvSpPr>
          <p:cNvPr id="222" name="mini syn 82 3"/>
          <p:cNvSpPr/>
          <p:nvPr/>
        </p:nvSpPr>
        <p:spPr>
          <a:xfrm>
            <a:off x="5130927" y="5091137"/>
            <a:ext cx="20398" cy="20398"/>
          </a:xfrm>
          <a:prstGeom prst="ellipse">
            <a:avLst/>
          </a:prstGeom>
          <a:solidFill>
            <a:schemeClr val="accent1"/>
          </a:solidFill>
          <a:ln w="5080">
            <a:solidFill>
              <a:srgbClr val="FFFFFF"/>
            </a:solidFill>
            <a:prstDash val="solid"/>
          </a:ln>
        </p:spPr>
      </p:sp>
      <p:sp>
        <p:nvSpPr>
          <p:cNvPr id="223" name="mini syn 82 4"/>
          <p:cNvSpPr/>
          <p:nvPr/>
        </p:nvSpPr>
        <p:spPr>
          <a:xfrm>
            <a:off x="5121783" y="5125134"/>
            <a:ext cx="27198" cy="11332"/>
          </a:xfrm>
          <a:prstGeom prst="rect">
            <a:avLst/>
          </a:prstGeom>
          <a:solidFill>
            <a:schemeClr val="accent1"/>
          </a:solidFill>
          <a:ln w="5080">
            <a:solidFill>
              <a:srgbClr val="FFFFFF"/>
            </a:solidFill>
            <a:prstDash val="solid"/>
          </a:ln>
        </p:spPr>
      </p:sp>
      <p:sp>
        <p:nvSpPr>
          <p:cNvPr id="224" name="mini syn 82 5"/>
          <p:cNvSpPr/>
          <p:nvPr/>
        </p:nvSpPr>
        <p:spPr>
          <a:xfrm>
            <a:off x="5130927" y="5150065"/>
            <a:ext cx="20398" cy="20398"/>
          </a:xfrm>
          <a:prstGeom prst="ellipse">
            <a:avLst/>
          </a:prstGeom>
          <a:solidFill>
            <a:schemeClr val="accent1"/>
          </a:solidFill>
          <a:ln w="5080">
            <a:solidFill>
              <a:srgbClr val="FFFFFF"/>
            </a:solidFill>
            <a:prstDash val="solid"/>
          </a:ln>
        </p:spPr>
      </p:sp>
      <p:sp>
        <p:nvSpPr>
          <p:cNvPr id="225" name="mini syn 82 6"/>
          <p:cNvSpPr/>
          <p:nvPr/>
        </p:nvSpPr>
        <p:spPr>
          <a:xfrm>
            <a:off x="5130927" y="5179529"/>
            <a:ext cx="20398" cy="20398"/>
          </a:xfrm>
          <a:prstGeom prst="ellipse">
            <a:avLst/>
          </a:prstGeom>
          <a:solidFill>
            <a:schemeClr val="accent1"/>
          </a:solidFill>
          <a:ln w="5080">
            <a:solidFill>
              <a:srgbClr val="FFFFFF"/>
            </a:solidFill>
            <a:prstDash val="solid"/>
          </a:ln>
        </p:spPr>
      </p:sp>
      <p:sp>
        <p:nvSpPr>
          <p:cNvPr id="226" name="mini syn 82 7"/>
          <p:cNvSpPr/>
          <p:nvPr/>
        </p:nvSpPr>
        <p:spPr>
          <a:xfrm>
            <a:off x="5121783" y="5213526"/>
            <a:ext cx="27198" cy="11332"/>
          </a:xfrm>
          <a:prstGeom prst="rect">
            <a:avLst/>
          </a:prstGeom>
          <a:solidFill>
            <a:schemeClr val="accent1"/>
          </a:solidFill>
          <a:ln w="5080">
            <a:solidFill>
              <a:srgbClr val="FFFFFF"/>
            </a:solidFill>
            <a:prstDash val="solid"/>
          </a:ln>
        </p:spPr>
      </p:sp>
      <p:sp>
        <p:nvSpPr>
          <p:cNvPr id="227" name="glance heading"/>
          <p:cNvSpPr txBox="1"/>
          <p:nvPr/>
        </p:nvSpPr>
        <p:spPr>
          <a:xfrm>
            <a:off x="5806440" y="1371600"/>
            <a:ext cx="5833872" cy="365760"/>
          </a:xfrm>
          <a:prstGeom prst="rect">
            <a:avLst/>
          </a:prstGeom>
          <a:noFill/>
          <a:ln/>
        </p:spPr>
        <p:txBody>
          <a:bodyPr wrap="square" lIns="0" tIns="0" rIns="0" bIns="0" rtlCol="0" anchor="ctr"/>
          <a:lstStyle/>
          <a:p>
            <a:pPr indent="0" marL="0">
              <a:buNone/>
            </a:pPr>
            <a:r>
              <a:rPr lang="en-US" sz="1600" b="1" dirty="0">
                <a:solidFill>
                  <a:schemeClr val="tx1"/>
                </a:solidFill>
              </a:rPr>
              <a:t>CrossMEP at a glance</a:t>
            </a:r>
            <a:endParaRPr lang="en-US" sz="1600" dirty="0"/>
          </a:p>
        </p:txBody>
      </p:sp>
      <p:sp>
        <p:nvSpPr>
          <p:cNvPr id="228" name="glance 7,000"/>
          <p:cNvSpPr/>
          <p:nvPr/>
        </p:nvSpPr>
        <p:spPr>
          <a:xfrm>
            <a:off x="5806440" y="1828800"/>
            <a:ext cx="2825496" cy="1188720"/>
          </a:xfrm>
          <a:prstGeom prst="roundRect">
            <a:avLst>
              <a:gd name="adj" fmla="val 5385"/>
            </a:avLst>
          </a:prstGeom>
          <a:solidFill>
            <a:schemeClr val="bg2"/>
          </a:solidFill>
          <a:ln/>
        </p:spPr>
      </p:sp>
      <p:sp>
        <p:nvSpPr>
          <p:cNvPr id="229" name="icon ring glance 7,000"/>
          <p:cNvSpPr/>
          <p:nvPr/>
        </p:nvSpPr>
        <p:spPr>
          <a:xfrm>
            <a:off x="6007608" y="2130552"/>
            <a:ext cx="585216" cy="585216"/>
          </a:xfrm>
          <a:prstGeom prst="ellipse">
            <a:avLst/>
          </a:prstGeom>
          <a:solidFill>
            <a:schemeClr val="accent1"/>
          </a:solidFill>
          <a:ln/>
        </p:spPr>
      </p:sp>
      <p:pic>
        <p:nvPicPr>
          <p:cNvPr id="230" name="icon glance 7,000" descr="preencoded.png">    </p:cNvPr>
          <p:cNvPicPr>
            <a:picLocks noChangeAspect="1"/>
          </p:cNvPicPr>
          <p:nvPr/>
        </p:nvPicPr>
        <p:blipFill>
          <a:blip r:embed="rId1"/>
          <a:stretch>
            <a:fillRect/>
          </a:stretch>
        </p:blipFill>
        <p:spPr>
          <a:xfrm>
            <a:off x="6130503" y="2253447"/>
            <a:ext cx="339425" cy="339425"/>
          </a:xfrm>
          <a:prstGeom prst="rect">
            <a:avLst/>
          </a:prstGeom>
        </p:spPr>
      </p:pic>
      <p:sp>
        <p:nvSpPr>
          <p:cNvPr id="231" name="glance value 7,000"/>
          <p:cNvSpPr txBox="1"/>
          <p:nvPr/>
        </p:nvSpPr>
        <p:spPr>
          <a:xfrm>
            <a:off x="6766560" y="1938528"/>
            <a:ext cx="1728216" cy="502920"/>
          </a:xfrm>
          <a:prstGeom prst="rect">
            <a:avLst/>
          </a:prstGeom>
          <a:noFill/>
          <a:ln/>
        </p:spPr>
        <p:txBody>
          <a:bodyPr wrap="square" lIns="0" tIns="0" rIns="0" bIns="0" rtlCol="0" anchor="ctr"/>
          <a:lstStyle/>
          <a:p>
            <a:pPr indent="0" marL="0">
              <a:buNone/>
            </a:pPr>
            <a:r>
              <a:rPr lang="en-US" sz="2400" b="1" dirty="0">
                <a:solidFill>
                  <a:schemeClr val="accent1"/>
                </a:solidFill>
              </a:rPr>
              <a:t>7,000</a:t>
            </a:r>
            <a:endParaRPr lang="en-US" sz="2400" dirty="0"/>
          </a:p>
        </p:txBody>
      </p:sp>
      <p:sp>
        <p:nvSpPr>
          <p:cNvPr id="232" name="glance label 7,000"/>
          <p:cNvSpPr txBox="1"/>
          <p:nvPr/>
        </p:nvSpPr>
        <p:spPr>
          <a:xfrm>
            <a:off x="6766560" y="2450592"/>
            <a:ext cx="1728216" cy="502920"/>
          </a:xfrm>
          <a:prstGeom prst="rect">
            <a:avLst/>
          </a:prstGeom>
          <a:noFill/>
          <a:ln/>
        </p:spPr>
        <p:txBody>
          <a:bodyPr wrap="square" lIns="0" tIns="0" rIns="0" bIns="0" rtlCol="0" anchor="t"/>
          <a:lstStyle/>
          <a:p>
            <a:pPr indent="0" marL="0">
              <a:buNone/>
            </a:pPr>
            <a:r>
              <a:rPr lang="en-US" sz="1150" dirty="0">
                <a:solidFill>
                  <a:srgbClr val="52514E"/>
                </a:solidFill>
              </a:rPr>
              <a:t>contexts in four splits, on disjoint seeds</a:t>
            </a:r>
            <a:endParaRPr lang="en-US" sz="1150" dirty="0"/>
          </a:p>
        </p:txBody>
      </p:sp>
      <p:sp>
        <p:nvSpPr>
          <p:cNvPr id="233" name="glance 31,484"/>
          <p:cNvSpPr/>
          <p:nvPr/>
        </p:nvSpPr>
        <p:spPr>
          <a:xfrm>
            <a:off x="8814816" y="1828800"/>
            <a:ext cx="2825496" cy="1188720"/>
          </a:xfrm>
          <a:prstGeom prst="roundRect">
            <a:avLst>
              <a:gd name="adj" fmla="val 5385"/>
            </a:avLst>
          </a:prstGeom>
          <a:solidFill>
            <a:schemeClr val="bg2"/>
          </a:solidFill>
          <a:ln/>
        </p:spPr>
      </p:sp>
      <p:sp>
        <p:nvSpPr>
          <p:cNvPr id="234" name="icon ring glance 31,484"/>
          <p:cNvSpPr/>
          <p:nvPr/>
        </p:nvSpPr>
        <p:spPr>
          <a:xfrm>
            <a:off x="9015984" y="2130552"/>
            <a:ext cx="585216" cy="585216"/>
          </a:xfrm>
          <a:prstGeom prst="ellipse">
            <a:avLst/>
          </a:prstGeom>
          <a:solidFill>
            <a:schemeClr val="accent1"/>
          </a:solidFill>
          <a:ln/>
        </p:spPr>
      </p:sp>
      <p:pic>
        <p:nvPicPr>
          <p:cNvPr id="235" name="icon glance 31,484" descr="preencoded.png">    </p:cNvPr>
          <p:cNvPicPr>
            <a:picLocks noChangeAspect="1"/>
          </p:cNvPicPr>
          <p:nvPr/>
        </p:nvPicPr>
        <p:blipFill>
          <a:blip r:embed="rId2"/>
          <a:stretch>
            <a:fillRect/>
          </a:stretch>
        </p:blipFill>
        <p:spPr>
          <a:xfrm>
            <a:off x="9138879" y="2253447"/>
            <a:ext cx="339425" cy="339425"/>
          </a:xfrm>
          <a:prstGeom prst="rect">
            <a:avLst/>
          </a:prstGeom>
        </p:spPr>
      </p:pic>
      <p:sp>
        <p:nvSpPr>
          <p:cNvPr id="236" name="glance value 31,484"/>
          <p:cNvSpPr txBox="1"/>
          <p:nvPr/>
        </p:nvSpPr>
        <p:spPr>
          <a:xfrm>
            <a:off x="9774936" y="1938528"/>
            <a:ext cx="1728216" cy="502920"/>
          </a:xfrm>
          <a:prstGeom prst="rect">
            <a:avLst/>
          </a:prstGeom>
          <a:noFill/>
          <a:ln/>
        </p:spPr>
        <p:txBody>
          <a:bodyPr wrap="square" lIns="0" tIns="0" rIns="0" bIns="0" rtlCol="0" anchor="ctr"/>
          <a:lstStyle/>
          <a:p>
            <a:pPr indent="0" marL="0">
              <a:buNone/>
            </a:pPr>
            <a:r>
              <a:rPr lang="en-US" sz="2400" b="1" dirty="0">
                <a:solidFill>
                  <a:schemeClr val="accent1"/>
                </a:solidFill>
              </a:rPr>
              <a:t>31,484</a:t>
            </a:r>
            <a:endParaRPr lang="en-US" sz="2400" dirty="0"/>
          </a:p>
        </p:txBody>
      </p:sp>
      <p:sp>
        <p:nvSpPr>
          <p:cNvPr id="237" name="glance label 31,484"/>
          <p:cNvSpPr txBox="1"/>
          <p:nvPr/>
        </p:nvSpPr>
        <p:spPr>
          <a:xfrm>
            <a:off x="9774936" y="2450592"/>
            <a:ext cx="1728216" cy="502920"/>
          </a:xfrm>
          <a:prstGeom prst="rect">
            <a:avLst/>
          </a:prstGeom>
          <a:noFill/>
          <a:ln/>
        </p:spPr>
        <p:txBody>
          <a:bodyPr wrap="square" lIns="0" tIns="0" rIns="0" bIns="0" rtlCol="0" anchor="t"/>
          <a:lstStyle/>
          <a:p>
            <a:pPr indent="0" marL="0">
              <a:buNone/>
            </a:pPr>
            <a:r>
              <a:rPr lang="en-US" sz="1150" dirty="0">
                <a:solidFill>
                  <a:srgbClr val="52514E"/>
                </a:solidFill>
              </a:rPr>
              <a:t>elements: pipes, trays, ducts, conduits; six trades</a:t>
            </a:r>
            <a:endParaRPr lang="en-US" sz="1150" dirty="0"/>
          </a:p>
        </p:txBody>
      </p:sp>
      <p:sp>
        <p:nvSpPr>
          <p:cNvPr id="238" name="glance C1–C8"/>
          <p:cNvSpPr/>
          <p:nvPr/>
        </p:nvSpPr>
        <p:spPr>
          <a:xfrm>
            <a:off x="5806440" y="3172968"/>
            <a:ext cx="2825496" cy="1188720"/>
          </a:xfrm>
          <a:prstGeom prst="roundRect">
            <a:avLst>
              <a:gd name="adj" fmla="val 5385"/>
            </a:avLst>
          </a:prstGeom>
          <a:solidFill>
            <a:schemeClr val="bg2"/>
          </a:solidFill>
          <a:ln/>
        </p:spPr>
      </p:sp>
      <p:sp>
        <p:nvSpPr>
          <p:cNvPr id="239" name="icon ring glance C1–C8"/>
          <p:cNvSpPr/>
          <p:nvPr/>
        </p:nvSpPr>
        <p:spPr>
          <a:xfrm>
            <a:off x="6007608" y="3474720"/>
            <a:ext cx="585216" cy="585216"/>
          </a:xfrm>
          <a:prstGeom prst="ellipse">
            <a:avLst/>
          </a:prstGeom>
          <a:solidFill>
            <a:schemeClr val="accent1"/>
          </a:solidFill>
          <a:ln/>
        </p:spPr>
      </p:sp>
      <p:pic>
        <p:nvPicPr>
          <p:cNvPr id="240" name="icon glance C1–C8" descr="preencoded.png">    </p:cNvPr>
          <p:cNvPicPr>
            <a:picLocks noChangeAspect="1"/>
          </p:cNvPicPr>
          <p:nvPr/>
        </p:nvPicPr>
        <p:blipFill>
          <a:blip r:embed="rId3"/>
          <a:stretch>
            <a:fillRect/>
          </a:stretch>
        </p:blipFill>
        <p:spPr>
          <a:xfrm>
            <a:off x="6130503" y="3597615"/>
            <a:ext cx="339425" cy="339425"/>
          </a:xfrm>
          <a:prstGeom prst="rect">
            <a:avLst/>
          </a:prstGeom>
        </p:spPr>
      </p:pic>
      <p:sp>
        <p:nvSpPr>
          <p:cNvPr id="241" name="glance value C1–C8"/>
          <p:cNvSpPr txBox="1"/>
          <p:nvPr/>
        </p:nvSpPr>
        <p:spPr>
          <a:xfrm>
            <a:off x="6766560" y="3282696"/>
            <a:ext cx="1728216" cy="502920"/>
          </a:xfrm>
          <a:prstGeom prst="rect">
            <a:avLst/>
          </a:prstGeom>
          <a:noFill/>
          <a:ln/>
        </p:spPr>
        <p:txBody>
          <a:bodyPr wrap="square" lIns="0" tIns="0" rIns="0" bIns="0" rtlCol="0" anchor="ctr"/>
          <a:lstStyle/>
          <a:p>
            <a:pPr indent="0" marL="0">
              <a:buNone/>
            </a:pPr>
            <a:r>
              <a:rPr lang="en-US" sz="2400" b="1" dirty="0">
                <a:solidFill>
                  <a:schemeClr val="accent1"/>
                </a:solidFill>
              </a:rPr>
              <a:t>C1–C8</a:t>
            </a:r>
            <a:endParaRPr lang="en-US" sz="2400" dirty="0"/>
          </a:p>
        </p:txBody>
      </p:sp>
      <p:sp>
        <p:nvSpPr>
          <p:cNvPr id="242" name="glance label C1–C8"/>
          <p:cNvSpPr txBox="1"/>
          <p:nvPr/>
        </p:nvSpPr>
        <p:spPr>
          <a:xfrm>
            <a:off x="6766560" y="3794760"/>
            <a:ext cx="1728216" cy="502920"/>
          </a:xfrm>
          <a:prstGeom prst="rect">
            <a:avLst/>
          </a:prstGeom>
          <a:noFill/>
          <a:ln/>
        </p:spPr>
        <p:txBody>
          <a:bodyPr wrap="square" lIns="0" tIns="0" rIns="0" bIns="0" rtlCol="0" anchor="t"/>
          <a:lstStyle/>
          <a:p>
            <a:pPr indent="0" marL="0">
              <a:buNone/>
            </a:pPr>
            <a:r>
              <a:rPr lang="en-US" sz="1150" dirty="0">
                <a:solidFill>
                  <a:srgbClr val="52514E"/>
                </a:solidFill>
              </a:rPr>
              <a:t>eight tiers by exact element count</a:t>
            </a:r>
            <a:endParaRPr lang="en-US" sz="1150" dirty="0"/>
          </a:p>
        </p:txBody>
      </p:sp>
      <p:sp>
        <p:nvSpPr>
          <p:cNvPr id="243" name="glance 0 labels"/>
          <p:cNvSpPr/>
          <p:nvPr/>
        </p:nvSpPr>
        <p:spPr>
          <a:xfrm>
            <a:off x="8814816" y="3172968"/>
            <a:ext cx="2825496" cy="1188720"/>
          </a:xfrm>
          <a:prstGeom prst="roundRect">
            <a:avLst>
              <a:gd name="adj" fmla="val 5385"/>
            </a:avLst>
          </a:prstGeom>
          <a:solidFill>
            <a:schemeClr val="bg2"/>
          </a:solidFill>
          <a:ln/>
        </p:spPr>
      </p:sp>
      <p:sp>
        <p:nvSpPr>
          <p:cNvPr id="244" name="icon ring glance 0 labels"/>
          <p:cNvSpPr/>
          <p:nvPr/>
        </p:nvSpPr>
        <p:spPr>
          <a:xfrm>
            <a:off x="9015984" y="3474720"/>
            <a:ext cx="585216" cy="585216"/>
          </a:xfrm>
          <a:prstGeom prst="ellipse">
            <a:avLst/>
          </a:prstGeom>
          <a:solidFill>
            <a:schemeClr val="accent1"/>
          </a:solidFill>
          <a:ln/>
        </p:spPr>
      </p:sp>
      <p:pic>
        <p:nvPicPr>
          <p:cNvPr id="245" name="icon glance 0 labels" descr="preencoded.png">    </p:cNvPr>
          <p:cNvPicPr>
            <a:picLocks noChangeAspect="1"/>
          </p:cNvPicPr>
          <p:nvPr/>
        </p:nvPicPr>
        <p:blipFill>
          <a:blip r:embed="rId4"/>
          <a:stretch>
            <a:fillRect/>
          </a:stretch>
        </p:blipFill>
        <p:spPr>
          <a:xfrm>
            <a:off x="9138879" y="3597615"/>
            <a:ext cx="339425" cy="339425"/>
          </a:xfrm>
          <a:prstGeom prst="rect">
            <a:avLst/>
          </a:prstGeom>
        </p:spPr>
      </p:pic>
      <p:sp>
        <p:nvSpPr>
          <p:cNvPr id="246" name="glance value 0 labels"/>
          <p:cNvSpPr txBox="1"/>
          <p:nvPr/>
        </p:nvSpPr>
        <p:spPr>
          <a:xfrm>
            <a:off x="9774936" y="3282696"/>
            <a:ext cx="1728216" cy="502920"/>
          </a:xfrm>
          <a:prstGeom prst="rect">
            <a:avLst/>
          </a:prstGeom>
          <a:noFill/>
          <a:ln/>
        </p:spPr>
        <p:txBody>
          <a:bodyPr wrap="square" lIns="0" tIns="0" rIns="0" bIns="0" rtlCol="0" anchor="ctr"/>
          <a:lstStyle/>
          <a:p>
            <a:pPr indent="0" marL="0">
              <a:buNone/>
            </a:pPr>
            <a:r>
              <a:rPr lang="en-US" sz="2400" b="1" dirty="0">
                <a:solidFill>
                  <a:schemeClr val="accent1"/>
                </a:solidFill>
              </a:rPr>
              <a:t>0 labels</a:t>
            </a:r>
            <a:endParaRPr lang="en-US" sz="2400" dirty="0"/>
          </a:p>
        </p:txBody>
      </p:sp>
      <p:sp>
        <p:nvSpPr>
          <p:cNvPr id="247" name="glance label 0 labels"/>
          <p:cNvSpPr txBox="1"/>
          <p:nvPr/>
        </p:nvSpPr>
        <p:spPr>
          <a:xfrm>
            <a:off x="9774936" y="3794760"/>
            <a:ext cx="1728216" cy="502920"/>
          </a:xfrm>
          <a:prstGeom prst="rect">
            <a:avLst/>
          </a:prstGeom>
          <a:noFill/>
          <a:ln/>
        </p:spPr>
        <p:txBody>
          <a:bodyPr wrap="square" lIns="0" tIns="0" rIns="0" bIns="0" rtlCol="0" anchor="t"/>
          <a:lstStyle/>
          <a:p>
            <a:pPr indent="0" marL="0">
              <a:buNone/>
            </a:pPr>
            <a:r>
              <a:rPr lang="en-US" sz="1150" dirty="0">
                <a:solidFill>
                  <a:srgbClr val="52514E"/>
                </a:solidFill>
              </a:rPr>
              <a:t>the brief, not the answer</a:t>
            </a:r>
            <a:endParaRPr lang="en-US" sz="1150" dirty="0"/>
          </a:p>
        </p:txBody>
      </p:sp>
      <p:sp>
        <p:nvSpPr>
          <p:cNvPr id="248" name="glance Traced"/>
          <p:cNvSpPr/>
          <p:nvPr/>
        </p:nvSpPr>
        <p:spPr>
          <a:xfrm>
            <a:off x="5806440" y="4517136"/>
            <a:ext cx="2825496" cy="1188720"/>
          </a:xfrm>
          <a:prstGeom prst="roundRect">
            <a:avLst>
              <a:gd name="adj" fmla="val 5385"/>
            </a:avLst>
          </a:prstGeom>
          <a:solidFill>
            <a:schemeClr val="bg2"/>
          </a:solidFill>
          <a:ln/>
        </p:spPr>
      </p:sp>
      <p:sp>
        <p:nvSpPr>
          <p:cNvPr id="249" name="icon ring glance Traced"/>
          <p:cNvSpPr/>
          <p:nvPr/>
        </p:nvSpPr>
        <p:spPr>
          <a:xfrm>
            <a:off x="6007608" y="4818888"/>
            <a:ext cx="585216" cy="585216"/>
          </a:xfrm>
          <a:prstGeom prst="ellipse">
            <a:avLst/>
          </a:prstGeom>
          <a:solidFill>
            <a:schemeClr val="accent1"/>
          </a:solidFill>
          <a:ln/>
        </p:spPr>
      </p:sp>
      <p:pic>
        <p:nvPicPr>
          <p:cNvPr id="250" name="icon glance Traced" descr="preencoded.png">    </p:cNvPr>
          <p:cNvPicPr>
            <a:picLocks noChangeAspect="1"/>
          </p:cNvPicPr>
          <p:nvPr/>
        </p:nvPicPr>
        <p:blipFill>
          <a:blip r:embed="rId5"/>
          <a:stretch>
            <a:fillRect/>
          </a:stretch>
        </p:blipFill>
        <p:spPr>
          <a:xfrm>
            <a:off x="6130503" y="4941783"/>
            <a:ext cx="339425" cy="339425"/>
          </a:xfrm>
          <a:prstGeom prst="rect">
            <a:avLst/>
          </a:prstGeom>
        </p:spPr>
      </p:pic>
      <p:sp>
        <p:nvSpPr>
          <p:cNvPr id="251" name="glance value Traced"/>
          <p:cNvSpPr txBox="1"/>
          <p:nvPr/>
        </p:nvSpPr>
        <p:spPr>
          <a:xfrm>
            <a:off x="6766560" y="4626864"/>
            <a:ext cx="1728216" cy="502920"/>
          </a:xfrm>
          <a:prstGeom prst="rect">
            <a:avLst/>
          </a:prstGeom>
          <a:noFill/>
          <a:ln/>
        </p:spPr>
        <p:txBody>
          <a:bodyPr wrap="square" lIns="0" tIns="0" rIns="0" bIns="0" rtlCol="0" anchor="ctr"/>
          <a:lstStyle/>
          <a:p>
            <a:pPr indent="0" marL="0">
              <a:buNone/>
            </a:pPr>
            <a:r>
              <a:rPr lang="en-US" sz="2400" b="1" dirty="0">
                <a:solidFill>
                  <a:schemeClr val="accent1"/>
                </a:solidFill>
              </a:rPr>
              <a:t>Traced</a:t>
            </a:r>
            <a:endParaRPr lang="en-US" sz="2400" dirty="0"/>
          </a:p>
        </p:txBody>
      </p:sp>
      <p:sp>
        <p:nvSpPr>
          <p:cNvPr id="252" name="glance label Traced"/>
          <p:cNvSpPr txBox="1"/>
          <p:nvPr/>
        </p:nvSpPr>
        <p:spPr>
          <a:xfrm>
            <a:off x="6766560" y="5138928"/>
            <a:ext cx="1728216" cy="502920"/>
          </a:xfrm>
          <a:prstGeom prst="rect">
            <a:avLst/>
          </a:prstGeom>
          <a:noFill/>
          <a:ln/>
        </p:spPr>
        <p:txBody>
          <a:bodyPr wrap="square" lIns="0" tIns="0" rIns="0" bIns="0" rtlCol="0" anchor="t"/>
          <a:lstStyle/>
          <a:p>
            <a:pPr indent="0" marL="0">
              <a:buNone/>
            </a:pPr>
            <a:r>
              <a:rPr lang="en-US" sz="1150" dirty="0">
                <a:solidFill>
                  <a:srgbClr val="52514E"/>
                </a:solidFill>
              </a:rPr>
              <a:t>every constant sourced or declared</a:t>
            </a:r>
            <a:endParaRPr lang="en-US" sz="1150" dirty="0"/>
          </a:p>
        </p:txBody>
      </p:sp>
      <p:sp>
        <p:nvSpPr>
          <p:cNvPr id="253" name="glance Open"/>
          <p:cNvSpPr/>
          <p:nvPr/>
        </p:nvSpPr>
        <p:spPr>
          <a:xfrm>
            <a:off x="8814816" y="4517136"/>
            <a:ext cx="2825496" cy="1188720"/>
          </a:xfrm>
          <a:prstGeom prst="roundRect">
            <a:avLst>
              <a:gd name="adj" fmla="val 5385"/>
            </a:avLst>
          </a:prstGeom>
          <a:solidFill>
            <a:schemeClr val="bg2"/>
          </a:solidFill>
          <a:ln/>
        </p:spPr>
      </p:sp>
      <p:sp>
        <p:nvSpPr>
          <p:cNvPr id="254" name="icon ring glance Open"/>
          <p:cNvSpPr/>
          <p:nvPr/>
        </p:nvSpPr>
        <p:spPr>
          <a:xfrm>
            <a:off x="9015984" y="4818888"/>
            <a:ext cx="585216" cy="585216"/>
          </a:xfrm>
          <a:prstGeom prst="ellipse">
            <a:avLst/>
          </a:prstGeom>
          <a:solidFill>
            <a:schemeClr val="accent1"/>
          </a:solidFill>
          <a:ln/>
        </p:spPr>
      </p:sp>
      <p:pic>
        <p:nvPicPr>
          <p:cNvPr id="255" name="icon glance Open" descr="preencoded.png">    </p:cNvPr>
          <p:cNvPicPr>
            <a:picLocks noChangeAspect="1"/>
          </p:cNvPicPr>
          <p:nvPr/>
        </p:nvPicPr>
        <p:blipFill>
          <a:blip r:embed="rId6"/>
          <a:stretch>
            <a:fillRect/>
          </a:stretch>
        </p:blipFill>
        <p:spPr>
          <a:xfrm>
            <a:off x="9138879" y="4941783"/>
            <a:ext cx="339425" cy="339425"/>
          </a:xfrm>
          <a:prstGeom prst="rect">
            <a:avLst/>
          </a:prstGeom>
        </p:spPr>
      </p:pic>
      <p:sp>
        <p:nvSpPr>
          <p:cNvPr id="256" name="glance value Open"/>
          <p:cNvSpPr txBox="1"/>
          <p:nvPr/>
        </p:nvSpPr>
        <p:spPr>
          <a:xfrm>
            <a:off x="9774936" y="4626864"/>
            <a:ext cx="1728216" cy="502920"/>
          </a:xfrm>
          <a:prstGeom prst="rect">
            <a:avLst/>
          </a:prstGeom>
          <a:noFill/>
          <a:ln/>
        </p:spPr>
        <p:txBody>
          <a:bodyPr wrap="square" lIns="0" tIns="0" rIns="0" bIns="0" rtlCol="0" anchor="ctr"/>
          <a:lstStyle/>
          <a:p>
            <a:pPr indent="0" marL="0">
              <a:buNone/>
            </a:pPr>
            <a:r>
              <a:rPr lang="en-US" sz="2400" b="1" dirty="0">
                <a:solidFill>
                  <a:schemeClr val="accent1"/>
                </a:solidFill>
              </a:rPr>
              <a:t>Open</a:t>
            </a:r>
            <a:endParaRPr lang="en-US" sz="2400" dirty="0"/>
          </a:p>
        </p:txBody>
      </p:sp>
      <p:sp>
        <p:nvSpPr>
          <p:cNvPr id="257" name="glance label Open"/>
          <p:cNvSpPr txBox="1"/>
          <p:nvPr/>
        </p:nvSpPr>
        <p:spPr>
          <a:xfrm>
            <a:off x="9774936" y="5138928"/>
            <a:ext cx="1728216" cy="502920"/>
          </a:xfrm>
          <a:prstGeom prst="rect">
            <a:avLst/>
          </a:prstGeom>
          <a:noFill/>
          <a:ln/>
        </p:spPr>
        <p:txBody>
          <a:bodyPr wrap="square" lIns="0" tIns="0" rIns="0" bIns="0" rtlCol="0" anchor="t"/>
          <a:lstStyle/>
          <a:p>
            <a:pPr indent="0" marL="0">
              <a:buNone/>
            </a:pPr>
            <a:r>
              <a:rPr lang="en-US" sz="1150" dirty="0">
                <a:solidFill>
                  <a:srgbClr val="52514E"/>
                </a:solidFill>
              </a:rPr>
              <a:t>data CC BY 4.0, code MIT, seeded generator</a:t>
            </a:r>
            <a:endParaRPr lang="en-US" sz="1150" dirty="0"/>
          </a:p>
        </p:txBody>
      </p:sp>
      <p:sp>
        <p:nvSpPr>
          <p:cNvPr id="258"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One context is exactly what a support designer receives at one hanger, without the answer</a:t>
            </a:r>
            <a:endParaRPr lang="en-US" sz="2600" dirty="0"/>
          </a:p>
        </p:txBody>
      </p:sp>
      <p:pic>
        <p:nvPicPr>
          <p:cNvPr id="3" name="section sheet" descr="preencoded.png">    </p:cNvPr>
          <p:cNvPicPr>
            <a:picLocks noChangeAspect="1"/>
          </p:cNvPicPr>
          <p:nvPr/>
        </p:nvPicPr>
        <p:blipFill>
          <a:blip r:embed="rId1"/>
          <a:stretch>
            <a:fillRect/>
          </a:stretch>
        </p:blipFill>
        <p:spPr>
          <a:xfrm>
            <a:off x="700592" y="1325880"/>
            <a:ext cx="5456816" cy="2788920"/>
          </a:xfrm>
          <a:prstGeom prst="rect">
            <a:avLst/>
          </a:prstGeom>
        </p:spPr>
      </p:pic>
      <p:sp>
        <p:nvSpPr>
          <p:cNvPr id="4" name="sheet frame"/>
          <p:cNvSpPr/>
          <p:nvPr/>
        </p:nvSpPr>
        <p:spPr>
          <a:xfrm>
            <a:off x="645728" y="1271016"/>
            <a:ext cx="5566544" cy="2898648"/>
          </a:xfrm>
          <a:prstGeom prst="rect">
            <a:avLst/>
          </a:prstGeom>
          <a:ln w="9525">
            <a:solidFill>
              <a:srgbClr val="E1E0D9"/>
            </a:solidFill>
            <a:prstDash val="solid"/>
          </a:ln>
        </p:spPr>
      </p:sp>
      <p:pic>
        <p:nvPicPr>
          <p:cNvPr id="5" name="section 3d" descr="preencoded.png">    </p:cNvPr>
          <p:cNvPicPr>
            <a:picLocks noChangeAspect="1"/>
          </p:cNvPicPr>
          <p:nvPr/>
        </p:nvPicPr>
        <p:blipFill>
          <a:blip r:embed="rId2"/>
          <a:stretch>
            <a:fillRect/>
          </a:stretch>
        </p:blipFill>
        <p:spPr>
          <a:xfrm>
            <a:off x="548640" y="4297680"/>
            <a:ext cx="2468880" cy="1601016"/>
          </a:xfrm>
          <a:prstGeom prst="rect">
            <a:avLst/>
          </a:prstGeom>
        </p:spPr>
      </p:pic>
      <p:sp>
        <p:nvSpPr>
          <p:cNvPr id="6" name="3d legend"/>
          <p:cNvSpPr txBox="1"/>
          <p:nvPr/>
        </p:nvSpPr>
        <p:spPr>
          <a:xfrm>
            <a:off x="548640" y="6108192"/>
            <a:ext cx="2926080" cy="201168"/>
          </a:xfrm>
          <a:prstGeom prst="rect">
            <a:avLst/>
          </a:prstGeom>
          <a:noFill/>
          <a:ln/>
        </p:spPr>
        <p:txBody>
          <a:bodyPr wrap="square" lIns="0" tIns="0" rIns="0" bIns="0" rtlCol="0" anchor="ctr"/>
          <a:lstStyle/>
          <a:p>
            <a:pPr indent="0" marL="0">
              <a:buNone/>
            </a:pPr>
            <a:r>
              <a:rPr lang="en-US" sz="900" dirty="0">
                <a:solidFill>
                  <a:srgbClr val="008300"/>
                </a:solidFill>
              </a:rPr>
              <a:t>● </a:t>
            </a:r>
            <a:r>
              <a:rPr lang="en-US" sz="900" dirty="0">
                <a:solidFill>
                  <a:srgbClr val="52514E"/>
                </a:solidFill>
              </a:rPr>
              <a:t>ventilation   </a:t>
            </a:r>
            <a:r>
              <a:rPr lang="en-US" sz="900" dirty="0">
                <a:solidFill>
                  <a:srgbClr val="4A3AA7"/>
                </a:solidFill>
              </a:rPr>
              <a:t>● </a:t>
            </a:r>
            <a:r>
              <a:rPr lang="en-US" sz="900" dirty="0">
                <a:solidFill>
                  <a:srgbClr val="52514E"/>
                </a:solidFill>
              </a:rPr>
              <a:t>electrical   </a:t>
            </a:r>
            <a:r>
              <a:rPr lang="en-US" sz="900" dirty="0">
                <a:solidFill>
                  <a:srgbClr val="EB6834"/>
                </a:solidFill>
              </a:rPr>
              <a:t>● </a:t>
            </a:r>
            <a:r>
              <a:rPr lang="en-US" sz="900" dirty="0">
                <a:solidFill>
                  <a:srgbClr val="52514E"/>
                </a:solidFill>
              </a:rPr>
              <a:t>heating   </a:t>
            </a:r>
            <a:endParaRPr lang="en-US" sz="900" dirty="0"/>
          </a:p>
        </p:txBody>
      </p:sp>
      <p:sp>
        <p:nvSpPr>
          <p:cNvPr id="7" name="fields heading"/>
          <p:cNvSpPr txBox="1"/>
          <p:nvPr/>
        </p:nvSpPr>
        <p:spPr>
          <a:xfrm>
            <a:off x="3246120" y="4297680"/>
            <a:ext cx="3063240" cy="274320"/>
          </a:xfrm>
          <a:prstGeom prst="rect">
            <a:avLst/>
          </a:prstGeom>
          <a:noFill/>
          <a:ln/>
        </p:spPr>
        <p:txBody>
          <a:bodyPr wrap="square" lIns="0" tIns="0" rIns="0" bIns="0" rtlCol="0" anchor="ctr"/>
          <a:lstStyle/>
          <a:p>
            <a:pPr indent="0" marL="0">
              <a:buNone/>
            </a:pPr>
            <a:r>
              <a:rPr lang="en-US" sz="1200" b="1" dirty="0">
                <a:solidFill>
                  <a:schemeClr val="tx1"/>
                </a:solidFill>
              </a:rPr>
              <a:t>What every element carries</a:t>
            </a:r>
            <a:endParaRPr lang="en-US" sz="1200" dirty="0"/>
          </a:p>
        </p:txBody>
      </p:sp>
      <p:sp>
        <p:nvSpPr>
          <p:cNvPr id="8" name="chip kind"/>
          <p:cNvSpPr/>
          <p:nvPr/>
        </p:nvSpPr>
        <p:spPr>
          <a:xfrm>
            <a:off x="3246120" y="4663440"/>
            <a:ext cx="453542" cy="310896"/>
          </a:xfrm>
          <a:prstGeom prst="roundRect">
            <a:avLst>
              <a:gd name="adj" fmla="val 50000"/>
            </a:avLst>
          </a:prstGeom>
          <a:solidFill>
            <a:srgbClr val="EEF1F4"/>
          </a:solidFill>
          <a:ln w="9525">
            <a:solidFill>
              <a:srgbClr val="E1E0D9"/>
            </a:solidFill>
            <a:prstDash val="solid"/>
          </a:ln>
        </p:spPr>
      </p:sp>
      <p:sp>
        <p:nvSpPr>
          <p:cNvPr id="9" name="chip text kind"/>
          <p:cNvSpPr txBox="1"/>
          <p:nvPr/>
        </p:nvSpPr>
        <p:spPr>
          <a:xfrm>
            <a:off x="3246120" y="4663440"/>
            <a:ext cx="453542" cy="310896"/>
          </a:xfrm>
          <a:prstGeom prst="rect">
            <a:avLst/>
          </a:prstGeom>
          <a:noFill/>
          <a:ln/>
        </p:spPr>
        <p:txBody>
          <a:bodyPr wrap="square" lIns="0" tIns="0" rIns="0" bIns="0" rtlCol="0" anchor="ctr"/>
          <a:lstStyle/>
          <a:p>
            <a:pPr algn="ctr" indent="0" marL="0">
              <a:buNone/>
            </a:pPr>
            <a:r>
              <a:rPr lang="en-US" sz="1000" dirty="0">
                <a:solidFill>
                  <a:schemeClr val="tx1"/>
                </a:solidFill>
              </a:rPr>
              <a:t>kind</a:t>
            </a:r>
            <a:endParaRPr lang="en-US" sz="1000" dirty="0"/>
          </a:p>
        </p:txBody>
      </p:sp>
      <p:sp>
        <p:nvSpPr>
          <p:cNvPr id="10" name="chip service, trade"/>
          <p:cNvSpPr/>
          <p:nvPr/>
        </p:nvSpPr>
        <p:spPr>
          <a:xfrm>
            <a:off x="3809390" y="4663440"/>
            <a:ext cx="1038758" cy="310896"/>
          </a:xfrm>
          <a:prstGeom prst="roundRect">
            <a:avLst>
              <a:gd name="adj" fmla="val 50000"/>
            </a:avLst>
          </a:prstGeom>
          <a:solidFill>
            <a:srgbClr val="EEF1F4"/>
          </a:solidFill>
          <a:ln w="9525">
            <a:solidFill>
              <a:srgbClr val="E1E0D9"/>
            </a:solidFill>
            <a:prstDash val="solid"/>
          </a:ln>
        </p:spPr>
      </p:sp>
      <p:sp>
        <p:nvSpPr>
          <p:cNvPr id="11" name="chip text service, trade"/>
          <p:cNvSpPr txBox="1"/>
          <p:nvPr/>
        </p:nvSpPr>
        <p:spPr>
          <a:xfrm>
            <a:off x="3809390" y="4663440"/>
            <a:ext cx="1038758" cy="310896"/>
          </a:xfrm>
          <a:prstGeom prst="rect">
            <a:avLst/>
          </a:prstGeom>
          <a:noFill/>
          <a:ln/>
        </p:spPr>
        <p:txBody>
          <a:bodyPr wrap="square" lIns="0" tIns="0" rIns="0" bIns="0" rtlCol="0" anchor="ctr"/>
          <a:lstStyle/>
          <a:p>
            <a:pPr algn="ctr" indent="0" marL="0">
              <a:buNone/>
            </a:pPr>
            <a:r>
              <a:rPr lang="en-US" sz="1000" dirty="0">
                <a:solidFill>
                  <a:schemeClr val="tx1"/>
                </a:solidFill>
              </a:rPr>
              <a:t>service, trade</a:t>
            </a:r>
            <a:endParaRPr lang="en-US" sz="1000" dirty="0"/>
          </a:p>
        </p:txBody>
      </p:sp>
      <p:sp>
        <p:nvSpPr>
          <p:cNvPr id="12" name="chip size"/>
          <p:cNvSpPr/>
          <p:nvPr/>
        </p:nvSpPr>
        <p:spPr>
          <a:xfrm>
            <a:off x="4957877" y="4663440"/>
            <a:ext cx="453542" cy="310896"/>
          </a:xfrm>
          <a:prstGeom prst="roundRect">
            <a:avLst>
              <a:gd name="adj" fmla="val 50000"/>
            </a:avLst>
          </a:prstGeom>
          <a:solidFill>
            <a:srgbClr val="EEF1F4"/>
          </a:solidFill>
          <a:ln w="9525">
            <a:solidFill>
              <a:srgbClr val="E1E0D9"/>
            </a:solidFill>
            <a:prstDash val="solid"/>
          </a:ln>
        </p:spPr>
      </p:sp>
      <p:sp>
        <p:nvSpPr>
          <p:cNvPr id="13" name="chip text size"/>
          <p:cNvSpPr txBox="1"/>
          <p:nvPr/>
        </p:nvSpPr>
        <p:spPr>
          <a:xfrm>
            <a:off x="4957877" y="4663440"/>
            <a:ext cx="453542" cy="310896"/>
          </a:xfrm>
          <a:prstGeom prst="rect">
            <a:avLst/>
          </a:prstGeom>
          <a:noFill/>
          <a:ln/>
        </p:spPr>
        <p:txBody>
          <a:bodyPr wrap="square" lIns="0" tIns="0" rIns="0" bIns="0" rtlCol="0" anchor="ctr"/>
          <a:lstStyle/>
          <a:p>
            <a:pPr algn="ctr" indent="0" marL="0">
              <a:buNone/>
            </a:pPr>
            <a:r>
              <a:rPr lang="en-US" sz="1000" dirty="0">
                <a:solidFill>
                  <a:schemeClr val="tx1"/>
                </a:solidFill>
              </a:rPr>
              <a:t>size</a:t>
            </a:r>
            <a:endParaRPr lang="en-US" sz="1000" dirty="0"/>
          </a:p>
        </p:txBody>
      </p:sp>
      <p:sp>
        <p:nvSpPr>
          <p:cNvPr id="14" name="chip insulation"/>
          <p:cNvSpPr/>
          <p:nvPr/>
        </p:nvSpPr>
        <p:spPr>
          <a:xfrm>
            <a:off x="3246120" y="5084064"/>
            <a:ext cx="804672" cy="310896"/>
          </a:xfrm>
          <a:prstGeom prst="roundRect">
            <a:avLst>
              <a:gd name="adj" fmla="val 50000"/>
            </a:avLst>
          </a:prstGeom>
          <a:solidFill>
            <a:srgbClr val="EEF1F4"/>
          </a:solidFill>
          <a:ln w="9525">
            <a:solidFill>
              <a:srgbClr val="E1E0D9"/>
            </a:solidFill>
            <a:prstDash val="solid"/>
          </a:ln>
        </p:spPr>
      </p:sp>
      <p:sp>
        <p:nvSpPr>
          <p:cNvPr id="15" name="chip text insulation"/>
          <p:cNvSpPr txBox="1"/>
          <p:nvPr/>
        </p:nvSpPr>
        <p:spPr>
          <a:xfrm>
            <a:off x="3246120" y="5084064"/>
            <a:ext cx="804672" cy="310896"/>
          </a:xfrm>
          <a:prstGeom prst="rect">
            <a:avLst/>
          </a:prstGeom>
          <a:noFill/>
          <a:ln/>
        </p:spPr>
        <p:txBody>
          <a:bodyPr wrap="square" lIns="0" tIns="0" rIns="0" bIns="0" rtlCol="0" anchor="ctr"/>
          <a:lstStyle/>
          <a:p>
            <a:pPr algn="ctr" indent="0" marL="0">
              <a:buNone/>
            </a:pPr>
            <a:r>
              <a:rPr lang="en-US" sz="1000" dirty="0">
                <a:solidFill>
                  <a:schemeClr val="tx1"/>
                </a:solidFill>
              </a:rPr>
              <a:t>insulation</a:t>
            </a:r>
            <a:endParaRPr lang="en-US" sz="1000" dirty="0"/>
          </a:p>
        </p:txBody>
      </p:sp>
      <p:sp>
        <p:nvSpPr>
          <p:cNvPr id="16" name="chip position"/>
          <p:cNvSpPr/>
          <p:nvPr/>
        </p:nvSpPr>
        <p:spPr>
          <a:xfrm>
            <a:off x="4160520" y="5084064"/>
            <a:ext cx="687629" cy="310896"/>
          </a:xfrm>
          <a:prstGeom prst="roundRect">
            <a:avLst>
              <a:gd name="adj" fmla="val 50000"/>
            </a:avLst>
          </a:prstGeom>
          <a:solidFill>
            <a:srgbClr val="EEF1F4"/>
          </a:solidFill>
          <a:ln w="9525">
            <a:solidFill>
              <a:srgbClr val="E1E0D9"/>
            </a:solidFill>
            <a:prstDash val="solid"/>
          </a:ln>
        </p:spPr>
      </p:sp>
      <p:sp>
        <p:nvSpPr>
          <p:cNvPr id="17" name="chip text position"/>
          <p:cNvSpPr txBox="1"/>
          <p:nvPr/>
        </p:nvSpPr>
        <p:spPr>
          <a:xfrm>
            <a:off x="4160520" y="5084064"/>
            <a:ext cx="687629" cy="310896"/>
          </a:xfrm>
          <a:prstGeom prst="rect">
            <a:avLst/>
          </a:prstGeom>
          <a:noFill/>
          <a:ln/>
        </p:spPr>
        <p:txBody>
          <a:bodyPr wrap="square" lIns="0" tIns="0" rIns="0" bIns="0" rtlCol="0" anchor="ctr"/>
          <a:lstStyle/>
          <a:p>
            <a:pPr algn="ctr" indent="0" marL="0">
              <a:buNone/>
            </a:pPr>
            <a:r>
              <a:rPr lang="en-US" sz="1000" dirty="0">
                <a:solidFill>
                  <a:schemeClr val="tx1"/>
                </a:solidFill>
              </a:rPr>
              <a:t>position</a:t>
            </a:r>
            <a:endParaRPr lang="en-US" sz="1000" dirty="0"/>
          </a:p>
        </p:txBody>
      </p:sp>
      <p:sp>
        <p:nvSpPr>
          <p:cNvPr id="18" name="chip load = kN/m × span"/>
          <p:cNvSpPr/>
          <p:nvPr/>
        </p:nvSpPr>
        <p:spPr>
          <a:xfrm>
            <a:off x="4957877" y="5084064"/>
            <a:ext cx="1272845" cy="310896"/>
          </a:xfrm>
          <a:prstGeom prst="roundRect">
            <a:avLst>
              <a:gd name="adj" fmla="val 50000"/>
            </a:avLst>
          </a:prstGeom>
          <a:solidFill>
            <a:srgbClr val="EEF1F4"/>
          </a:solidFill>
          <a:ln w="9525">
            <a:solidFill>
              <a:srgbClr val="E1E0D9"/>
            </a:solidFill>
            <a:prstDash val="solid"/>
          </a:ln>
        </p:spPr>
      </p:sp>
      <p:sp>
        <p:nvSpPr>
          <p:cNvPr id="19" name="chip text load = kN/m × span"/>
          <p:cNvSpPr txBox="1"/>
          <p:nvPr/>
        </p:nvSpPr>
        <p:spPr>
          <a:xfrm>
            <a:off x="4957877" y="5084064"/>
            <a:ext cx="1272845" cy="310896"/>
          </a:xfrm>
          <a:prstGeom prst="rect">
            <a:avLst/>
          </a:prstGeom>
          <a:noFill/>
          <a:ln/>
        </p:spPr>
        <p:txBody>
          <a:bodyPr wrap="square" lIns="0" tIns="0" rIns="0" bIns="0" rtlCol="0" anchor="ctr"/>
          <a:lstStyle/>
          <a:p>
            <a:pPr algn="ctr" indent="0" marL="0">
              <a:buNone/>
            </a:pPr>
            <a:r>
              <a:rPr lang="en-US" sz="1000" dirty="0">
                <a:solidFill>
                  <a:schemeClr val="tx1"/>
                </a:solidFill>
              </a:rPr>
              <a:t>load = kN/m × span</a:t>
            </a:r>
            <a:endParaRPr lang="en-US" sz="1000" dirty="0"/>
          </a:p>
        </p:txBody>
      </p:sp>
      <p:sp>
        <p:nvSpPr>
          <p:cNvPr id="20" name="given heading"/>
          <p:cNvSpPr txBox="1"/>
          <p:nvPr/>
        </p:nvSpPr>
        <p:spPr>
          <a:xfrm>
            <a:off x="6537960" y="1325880"/>
            <a:ext cx="5102352" cy="320040"/>
          </a:xfrm>
          <a:prstGeom prst="rect">
            <a:avLst/>
          </a:prstGeom>
          <a:noFill/>
          <a:ln/>
        </p:spPr>
        <p:txBody>
          <a:bodyPr wrap="square" lIns="0" tIns="0" rIns="0" bIns="0" rtlCol="0" anchor="ctr"/>
          <a:lstStyle/>
          <a:p>
            <a:pPr indent="0" marL="0">
              <a:buNone/>
            </a:pPr>
            <a:r>
              <a:rPr lang="en-US" sz="1400" b="1" dirty="0">
                <a:solidFill>
                  <a:schemeClr val="tx1"/>
                </a:solidFill>
              </a:rPr>
              <a:t>What the support designer is given</a:t>
            </a:r>
            <a:endParaRPr lang="en-US" sz="1400" dirty="0"/>
          </a:p>
        </p:txBody>
      </p:sp>
      <p:graphicFrame>
        <p:nvGraphicFramePr>
          <p:cNvPr id="21" name="record table"/>
          <p:cNvGraphicFramePr>
            <a:graphicFrameLocks noGrp="1"/>
          </p:cNvGraphicFramePr>
          <p:nvPr>
            <p:extLst>
              <p:ext uri="{D42A27DB-BD31-4B8C-83A1-F6EECF244321}">
                <p14:modId xmlns:p14="http://schemas.microsoft.com/office/powerpoint/2010/main" val="1579011935"/>
              </p:ext>
            </p:extLst>
          </p:nvPr>
        </p:nvGraphicFramePr>
        <p:xfrm>
          <a:off x="6537960" y="1691640"/>
          <a:ext cx="5102352" cy="914400"/>
        </p:xfrm>
        <a:graphic>
          <a:graphicData uri="http://schemas.openxmlformats.org/drawingml/2006/table">
            <a:tbl>
              <a:tblPr/>
              <a:tblGrid>
                <a:gridCol w="1234440"/>
                <a:gridCol w="1188720"/>
                <a:gridCol w="640080"/>
                <a:gridCol w="640080"/>
                <a:gridCol w="594360"/>
                <a:gridCol w="804672"/>
              </a:tblGrid>
              <a:tr h="310896">
                <a:tc>
                  <a:txBody>
                    <a:bodyPr/>
                    <a:lstStyle/>
                    <a:p>
                      <a:pPr algn="l" indent="0" marL="0">
                        <a:buNone/>
                      </a:pPr>
                      <a:r>
                        <a:rPr lang="en-US" sz="1100" b="1" dirty="0">
                          <a:solidFill>
                            <a:srgbClr val="FFFFFF"/>
                          </a:solidFill>
                          <a:latin typeface="Aptos" pitchFamily="34" charset="0"/>
                          <a:ea typeface="Aptos" pitchFamily="34" charset="-122"/>
                          <a:cs typeface="Aptos" pitchFamily="34" charset="-120"/>
                        </a:rPr>
                        <a:t>Element</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F2933"/>
                    </a:solidFill>
                  </a:tcPr>
                </a:tc>
                <a:tc>
                  <a:txBody>
                    <a:bodyPr/>
                    <a:lstStyle/>
                    <a:p>
                      <a:pPr algn="l" indent="0" marL="0">
                        <a:buNone/>
                      </a:pPr>
                      <a:r>
                        <a:rPr lang="en-US" sz="1100" b="1" dirty="0">
                          <a:solidFill>
                            <a:srgbClr val="FFFFFF"/>
                          </a:solidFill>
                          <a:latin typeface="Aptos" pitchFamily="34" charset="0"/>
                          <a:ea typeface="Aptos" pitchFamily="34" charset="-122"/>
                          <a:cs typeface="Aptos" pitchFamily="34" charset="-120"/>
                        </a:rPr>
                        <a:t>Trade</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F2933"/>
                    </a:solidFill>
                  </a:tcPr>
                </a:tc>
                <a:tc>
                  <a:txBody>
                    <a:bodyPr/>
                    <a:lstStyle/>
                    <a:p>
                      <a:pPr algn="r" indent="0" marL="0">
                        <a:buNone/>
                      </a:pPr>
                      <a:r>
                        <a:rPr lang="en-US" sz="1100" b="1" dirty="0">
                          <a:solidFill>
                            <a:srgbClr val="FFFFFF"/>
                          </a:solidFill>
                          <a:latin typeface="Aptos" pitchFamily="34" charset="0"/>
                          <a:ea typeface="Aptos" pitchFamily="34" charset="-122"/>
                          <a:cs typeface="Aptos" pitchFamily="34" charset="-120"/>
                        </a:rPr>
                        <a:t>Ins. mm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F2933"/>
                    </a:solidFill>
                  </a:tcPr>
                </a:tc>
                <a:tc>
                  <a:txBody>
                    <a:bodyPr/>
                    <a:lstStyle/>
                    <a:p>
                      <a:pPr algn="r" indent="0" marL="0">
                        <a:buNone/>
                      </a:pPr>
                      <a:r>
                        <a:rPr lang="en-US" sz="1100" b="1" dirty="0">
                          <a:solidFill>
                            <a:srgbClr val="FFFFFF"/>
                          </a:solidFill>
                          <a:latin typeface="Aptos" pitchFamily="34" charset="0"/>
                          <a:ea typeface="Aptos" pitchFamily="34" charset="-122"/>
                          <a:cs typeface="Aptos" pitchFamily="34" charset="-120"/>
                        </a:rPr>
                        <a:t>kN/m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F2933"/>
                    </a:solidFill>
                  </a:tcPr>
                </a:tc>
                <a:tc>
                  <a:txBody>
                    <a:bodyPr/>
                    <a:lstStyle/>
                    <a:p>
                      <a:pPr algn="r" indent="0" marL="0">
                        <a:buNone/>
                      </a:pPr>
                      <a:r>
                        <a:rPr lang="en-US" sz="1100" b="1" dirty="0">
                          <a:solidFill>
                            <a:srgbClr val="FFFFFF"/>
                          </a:solidFill>
                          <a:latin typeface="Aptos" pitchFamily="34" charset="0"/>
                          <a:ea typeface="Aptos" pitchFamily="34" charset="-122"/>
                          <a:cs typeface="Aptos" pitchFamily="34" charset="-120"/>
                        </a:rPr>
                        <a:t>Span</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F2933"/>
                    </a:solidFill>
                  </a:tcPr>
                </a:tc>
                <a:tc>
                  <a:txBody>
                    <a:bodyPr/>
                    <a:lstStyle/>
                    <a:p>
                      <a:pPr algn="r" indent="0" marL="0">
                        <a:buNone/>
                      </a:pPr>
                      <a:r>
                        <a:rPr lang="en-US" sz="1100" b="1" dirty="0">
                          <a:solidFill>
                            <a:srgbClr val="FFFFFF"/>
                          </a:solidFill>
                          <a:latin typeface="Aptos" pitchFamily="34" charset="0"/>
                          <a:ea typeface="Aptos" pitchFamily="34" charset="-122"/>
                          <a:cs typeface="Aptos" pitchFamily="34" charset="-120"/>
                        </a:rPr>
                        <a:t>kN at support</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F2933"/>
                    </a:solidFill>
                  </a:tcPr>
                </a:tc>
              </a:tr>
              <a:tr h="310896">
                <a:tc>
                  <a:txBody>
                    <a:bodyPr/>
                    <a:lstStyle/>
                    <a:p>
                      <a:pPr algn="l" indent="0" marL="0">
                        <a:buNone/>
                      </a:pPr>
                      <a:r>
                        <a:rPr lang="en-US" sz="1100" b="1" dirty="0">
                          <a:solidFill>
                            <a:srgbClr val="0B0B0B"/>
                          </a:solidFill>
                          <a:latin typeface="Aptos" pitchFamily="34" charset="0"/>
                          <a:ea typeface="Aptos" pitchFamily="34" charset="-122"/>
                          <a:cs typeface="Aptos" pitchFamily="34" charset="-120"/>
                        </a:rPr>
                        <a:t>400×250 duct</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l" indent="0" marL="0">
                        <a:buNone/>
                      </a:pPr>
                      <a:r>
                        <a:rPr lang="en-US" sz="1100" dirty="0">
                          <a:solidFill>
                            <a:srgbClr val="008300"/>
                          </a:solidFill>
                          <a:latin typeface="Aptos" pitchFamily="34" charset="0"/>
                          <a:ea typeface="Aptos" pitchFamily="34" charset="-122"/>
                          <a:cs typeface="Aptos" pitchFamily="34" charset="-120"/>
                        </a:rPr>
                        <a:t>● </a:t>
                      </a:r>
                      <a:r>
                        <a:rPr lang="en-US" sz="1100" dirty="0">
                          <a:solidFill>
                            <a:srgbClr val="0B0B0B"/>
                          </a:solidFill>
                          <a:latin typeface="Aptos" pitchFamily="34" charset="0"/>
                          <a:ea typeface="Aptos" pitchFamily="34" charset="-122"/>
                          <a:cs typeface="Aptos" pitchFamily="34" charset="-120"/>
                        </a:rPr>
                        <a:t>ventilation</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0.115</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2.4 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rgbClr val="0B0B0B"/>
                          </a:solidFill>
                          <a:latin typeface="Aptos" pitchFamily="34" charset="0"/>
                          <a:ea typeface="Aptos" pitchFamily="34" charset="-122"/>
                          <a:cs typeface="Aptos" pitchFamily="34" charset="-120"/>
                        </a:rPr>
                        <a:t>0.28</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algn="l" indent="0" marL="0">
                        <a:buNone/>
                      </a:pPr>
                      <a:r>
                        <a:rPr lang="en-US" sz="1100" b="1" dirty="0">
                          <a:solidFill>
                            <a:srgbClr val="0B0B0B"/>
                          </a:solidFill>
                          <a:latin typeface="Aptos" pitchFamily="34" charset="0"/>
                          <a:ea typeface="Aptos" pitchFamily="34" charset="-122"/>
                          <a:cs typeface="Aptos" pitchFamily="34" charset="-120"/>
                        </a:rPr>
                        <a:t>400×250 duct</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l" indent="0" marL="0">
                        <a:buNone/>
                      </a:pPr>
                      <a:r>
                        <a:rPr lang="en-US" sz="1100" dirty="0">
                          <a:solidFill>
                            <a:srgbClr val="008300"/>
                          </a:solidFill>
                          <a:latin typeface="Aptos" pitchFamily="34" charset="0"/>
                          <a:ea typeface="Aptos" pitchFamily="34" charset="-122"/>
                          <a:cs typeface="Aptos" pitchFamily="34" charset="-120"/>
                        </a:rPr>
                        <a:t>● </a:t>
                      </a:r>
                      <a:r>
                        <a:rPr lang="en-US" sz="1100" dirty="0">
                          <a:solidFill>
                            <a:srgbClr val="0B0B0B"/>
                          </a:solidFill>
                          <a:latin typeface="Aptos" pitchFamily="34" charset="0"/>
                          <a:ea typeface="Aptos" pitchFamily="34" charset="-122"/>
                          <a:cs typeface="Aptos" pitchFamily="34" charset="-120"/>
                        </a:rPr>
                        <a:t>ventilation</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0.115</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2.4 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rgbClr val="0B0B0B"/>
                          </a:solidFill>
                          <a:latin typeface="Aptos" pitchFamily="34" charset="0"/>
                          <a:ea typeface="Aptos" pitchFamily="34" charset="-122"/>
                          <a:cs typeface="Aptos" pitchFamily="34" charset="-120"/>
                        </a:rPr>
                        <a:t>0.28</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algn="l" indent="0" marL="0">
                        <a:buNone/>
                      </a:pPr>
                      <a:r>
                        <a:rPr lang="en-US" sz="1100" b="1" dirty="0">
                          <a:solidFill>
                            <a:srgbClr val="0B0B0B"/>
                          </a:solidFill>
                          <a:latin typeface="Aptos" pitchFamily="34" charset="0"/>
                          <a:ea typeface="Aptos" pitchFamily="34" charset="-122"/>
                          <a:cs typeface="Aptos" pitchFamily="34" charset="-120"/>
                        </a:rPr>
                        <a:t>450 tray</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l" indent="0" marL="0">
                        <a:buNone/>
                      </a:pPr>
                      <a:r>
                        <a:rPr lang="en-US" sz="1100" dirty="0">
                          <a:solidFill>
                            <a:srgbClr val="4A3AA7"/>
                          </a:solidFill>
                          <a:latin typeface="Aptos" pitchFamily="34" charset="0"/>
                          <a:ea typeface="Aptos" pitchFamily="34" charset="-122"/>
                          <a:cs typeface="Aptos" pitchFamily="34" charset="-120"/>
                        </a:rPr>
                        <a:t>● </a:t>
                      </a:r>
                      <a:r>
                        <a:rPr lang="en-US" sz="1100" dirty="0">
                          <a:solidFill>
                            <a:srgbClr val="0B0B0B"/>
                          </a:solidFill>
                          <a:latin typeface="Aptos" pitchFamily="34" charset="0"/>
                          <a:ea typeface="Aptos" pitchFamily="34" charset="-122"/>
                          <a:cs typeface="Aptos" pitchFamily="34" charset="-120"/>
                        </a:rPr>
                        <a:t>electrical</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0.809</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2.0 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rgbClr val="0B0B0B"/>
                          </a:solidFill>
                          <a:latin typeface="Aptos" pitchFamily="34" charset="0"/>
                          <a:ea typeface="Aptos" pitchFamily="34" charset="-122"/>
                          <a:cs typeface="Aptos" pitchFamily="34" charset="-120"/>
                        </a:rPr>
                        <a:t>1.62</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algn="l" indent="0" marL="0">
                        <a:buNone/>
                      </a:pPr>
                      <a:r>
                        <a:rPr lang="en-US" sz="1100" b="1" dirty="0">
                          <a:solidFill>
                            <a:srgbClr val="0B0B0B"/>
                          </a:solidFill>
                          <a:latin typeface="Aptos" pitchFamily="34" charset="0"/>
                          <a:ea typeface="Aptos" pitchFamily="34" charset="-122"/>
                          <a:cs typeface="Aptos" pitchFamily="34" charset="-120"/>
                        </a:rPr>
                        <a:t>300 tray</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l" indent="0" marL="0">
                        <a:buNone/>
                      </a:pPr>
                      <a:r>
                        <a:rPr lang="en-US" sz="1100" dirty="0">
                          <a:solidFill>
                            <a:srgbClr val="4A3AA7"/>
                          </a:solidFill>
                          <a:latin typeface="Aptos" pitchFamily="34" charset="0"/>
                          <a:ea typeface="Aptos" pitchFamily="34" charset="-122"/>
                          <a:cs typeface="Aptos" pitchFamily="34" charset="-120"/>
                        </a:rPr>
                        <a:t>● </a:t>
                      </a:r>
                      <a:r>
                        <a:rPr lang="en-US" sz="1100" dirty="0">
                          <a:solidFill>
                            <a:srgbClr val="0B0B0B"/>
                          </a:solidFill>
                          <a:latin typeface="Aptos" pitchFamily="34" charset="0"/>
                          <a:ea typeface="Aptos" pitchFamily="34" charset="-122"/>
                          <a:cs typeface="Aptos" pitchFamily="34" charset="-120"/>
                        </a:rPr>
                        <a:t>electrical</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0.540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2.0 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rgbClr val="0B0B0B"/>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310896">
                <a:tc>
                  <a:txBody>
                    <a:bodyPr/>
                    <a:lstStyle/>
                    <a:p>
                      <a:pPr algn="l" indent="0" marL="0">
                        <a:buNone/>
                      </a:pPr>
                      <a:r>
                        <a:rPr lang="en-US" sz="1100" b="1" dirty="0">
                          <a:solidFill>
                            <a:srgbClr val="0B0B0B"/>
                          </a:solidFill>
                          <a:latin typeface="Aptos" pitchFamily="34" charset="0"/>
                          <a:ea typeface="Aptos" pitchFamily="34" charset="-122"/>
                          <a:cs typeface="Aptos" pitchFamily="34" charset="-120"/>
                        </a:rPr>
                        <a:t>DN20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l" indent="0" marL="0">
                        <a:buNone/>
                      </a:pPr>
                      <a:r>
                        <a:rPr lang="en-US" sz="1100" dirty="0">
                          <a:solidFill>
                            <a:srgbClr val="EB6834"/>
                          </a:solidFill>
                          <a:latin typeface="Aptos" pitchFamily="34" charset="0"/>
                          <a:ea typeface="Aptos" pitchFamily="34" charset="-122"/>
                          <a:cs typeface="Aptos" pitchFamily="34" charset="-120"/>
                        </a:rPr>
                        <a:t>● </a:t>
                      </a:r>
                      <a:r>
                        <a:rPr lang="en-US" sz="1100" dirty="0">
                          <a:solidFill>
                            <a:srgbClr val="0B0B0B"/>
                          </a:solidFill>
                          <a:latin typeface="Aptos" pitchFamily="34" charset="0"/>
                          <a:ea typeface="Aptos" pitchFamily="34" charset="-122"/>
                          <a:cs typeface="Aptos" pitchFamily="34" charset="-120"/>
                        </a:rPr>
                        <a:t>heating</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20</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0.019</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dirty="0">
                          <a:solidFill>
                            <a:srgbClr val="0B0B0B"/>
                          </a:solidFill>
                          <a:latin typeface="Aptos" pitchFamily="34" charset="0"/>
                          <a:ea typeface="Aptos" pitchFamily="34" charset="-122"/>
                          <a:cs typeface="Aptos" pitchFamily="34" charset="-120"/>
                        </a:rPr>
                        <a:t>2.1 m</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algn="r" indent="0" marL="0">
                        <a:buNone/>
                      </a:pPr>
                      <a:r>
                        <a:rPr lang="en-US" sz="1100" b="1" dirty="0">
                          <a:solidFill>
                            <a:srgbClr val="0B0B0B"/>
                          </a:solidFill>
                          <a:latin typeface="Aptos" pitchFamily="34" charset="0"/>
                          <a:ea typeface="Aptos" pitchFamily="34" charset="-122"/>
                          <a:cs typeface="Aptos" pitchFamily="34" charset="-120"/>
                        </a:rPr>
                        <a:t>0.04</a:t>
                      </a:r>
                      <a:endParaRPr lang="en-US" sz="1100" dirty="0">
                        <a:latin typeface="Aptos" charset="0"/>
                        <a:ea typeface="Aptos" charset="0"/>
                        <a:cs typeface="Aptos" charset="0"/>
                      </a:endParaRPr>
                    </a:p>
                  </a:txBody>
                  <a:tcPr marL="54864" marR="54864" marT="54864" marB="54864"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22" name="fact ceiling slab, concrete C30"/>
          <p:cNvSpPr/>
          <p:nvPr/>
        </p:nvSpPr>
        <p:spPr>
          <a:xfrm>
            <a:off x="6537960" y="3785616"/>
            <a:ext cx="1609344" cy="914400"/>
          </a:xfrm>
          <a:prstGeom prst="roundRect">
            <a:avLst>
              <a:gd name="adj" fmla="val 7000"/>
            </a:avLst>
          </a:prstGeom>
          <a:solidFill>
            <a:schemeClr val="bg2"/>
          </a:solidFill>
          <a:ln/>
        </p:spPr>
      </p:sp>
      <p:sp>
        <p:nvSpPr>
          <p:cNvPr id="23" name="icon ring fact ceiling slab, concrete C30"/>
          <p:cNvSpPr/>
          <p:nvPr/>
        </p:nvSpPr>
        <p:spPr>
          <a:xfrm>
            <a:off x="6675120" y="4014216"/>
            <a:ext cx="457200" cy="457200"/>
          </a:xfrm>
          <a:prstGeom prst="ellipse">
            <a:avLst/>
          </a:prstGeom>
          <a:solidFill>
            <a:schemeClr val="accent1"/>
          </a:solidFill>
          <a:ln/>
        </p:spPr>
      </p:sp>
      <p:pic>
        <p:nvPicPr>
          <p:cNvPr id="24" name="icon fact ceiling slab, concrete C30" descr="preencoded.png">    </p:cNvPr>
          <p:cNvPicPr>
            <a:picLocks noChangeAspect="1"/>
          </p:cNvPicPr>
          <p:nvPr/>
        </p:nvPicPr>
        <p:blipFill>
          <a:blip r:embed="rId3"/>
          <a:stretch>
            <a:fillRect/>
          </a:stretch>
        </p:blipFill>
        <p:spPr>
          <a:xfrm>
            <a:off x="6771132" y="4110228"/>
            <a:ext cx="265176" cy="265176"/>
          </a:xfrm>
          <a:prstGeom prst="rect">
            <a:avLst/>
          </a:prstGeom>
        </p:spPr>
      </p:pic>
      <p:sp>
        <p:nvSpPr>
          <p:cNvPr id="25" name="fact text ceiling slab, concrete C30"/>
          <p:cNvSpPr txBox="1"/>
          <p:nvPr/>
        </p:nvSpPr>
        <p:spPr>
          <a:xfrm>
            <a:off x="7223760" y="3858768"/>
            <a:ext cx="832104" cy="768096"/>
          </a:xfrm>
          <a:prstGeom prst="rect">
            <a:avLst/>
          </a:prstGeom>
          <a:noFill/>
          <a:ln/>
        </p:spPr>
        <p:txBody>
          <a:bodyPr wrap="square" lIns="0" tIns="0" rIns="0" bIns="0" rtlCol="0" anchor="ctr"/>
          <a:lstStyle/>
          <a:p>
            <a:pPr indent="0" marL="0">
              <a:buNone/>
            </a:pPr>
            <a:r>
              <a:rPr lang="en-US" sz="1250" b="1" dirty="0">
                <a:solidFill>
                  <a:schemeClr val="tx1"/>
                </a:solidFill>
              </a:rPr>
              <a:t>200 mm</a:t>
            </a:r>
            <a:endParaRPr lang="en-US" sz="1250" dirty="0"/>
          </a:p>
          <a:p>
            <a:pPr indent="0" marL="0">
              <a:buNone/>
            </a:pPr>
            <a:r>
              <a:rPr lang="en-US" sz="950" dirty="0">
                <a:solidFill>
                  <a:srgbClr val="52514E"/>
                </a:solidFill>
              </a:rPr>
              <a:t>ceiling slab, concrete C30</a:t>
            </a:r>
            <a:endParaRPr lang="en-US" sz="1250" dirty="0"/>
          </a:p>
        </p:txBody>
      </p:sp>
      <p:sp>
        <p:nvSpPr>
          <p:cNvPr id="26" name="fact total load at this support"/>
          <p:cNvSpPr/>
          <p:nvPr/>
        </p:nvSpPr>
        <p:spPr>
          <a:xfrm>
            <a:off x="8284464" y="3785616"/>
            <a:ext cx="1609344" cy="914400"/>
          </a:xfrm>
          <a:prstGeom prst="roundRect">
            <a:avLst>
              <a:gd name="adj" fmla="val 7000"/>
            </a:avLst>
          </a:prstGeom>
          <a:solidFill>
            <a:schemeClr val="bg2"/>
          </a:solidFill>
          <a:ln/>
        </p:spPr>
      </p:sp>
      <p:sp>
        <p:nvSpPr>
          <p:cNvPr id="27" name="icon ring fact total load at this support"/>
          <p:cNvSpPr/>
          <p:nvPr/>
        </p:nvSpPr>
        <p:spPr>
          <a:xfrm>
            <a:off x="8421624" y="4014216"/>
            <a:ext cx="457200" cy="457200"/>
          </a:xfrm>
          <a:prstGeom prst="ellipse">
            <a:avLst/>
          </a:prstGeom>
          <a:solidFill>
            <a:schemeClr val="accent1"/>
          </a:solidFill>
          <a:ln/>
        </p:spPr>
      </p:sp>
      <p:pic>
        <p:nvPicPr>
          <p:cNvPr id="28" name="icon fact total load at this support" descr="preencoded.png">    </p:cNvPr>
          <p:cNvPicPr>
            <a:picLocks noChangeAspect="1"/>
          </p:cNvPicPr>
          <p:nvPr/>
        </p:nvPicPr>
        <p:blipFill>
          <a:blip r:embed="rId4"/>
          <a:stretch>
            <a:fillRect/>
          </a:stretch>
        </p:blipFill>
        <p:spPr>
          <a:xfrm>
            <a:off x="8517636" y="4110228"/>
            <a:ext cx="265176" cy="265176"/>
          </a:xfrm>
          <a:prstGeom prst="rect">
            <a:avLst/>
          </a:prstGeom>
        </p:spPr>
      </p:pic>
      <p:sp>
        <p:nvSpPr>
          <p:cNvPr id="29" name="fact text total load at this support"/>
          <p:cNvSpPr txBox="1"/>
          <p:nvPr/>
        </p:nvSpPr>
        <p:spPr>
          <a:xfrm>
            <a:off x="8970264" y="3858768"/>
            <a:ext cx="832104" cy="768096"/>
          </a:xfrm>
          <a:prstGeom prst="rect">
            <a:avLst/>
          </a:prstGeom>
          <a:noFill/>
          <a:ln/>
        </p:spPr>
        <p:txBody>
          <a:bodyPr wrap="square" lIns="0" tIns="0" rIns="0" bIns="0" rtlCol="0" anchor="ctr"/>
          <a:lstStyle/>
          <a:p>
            <a:pPr indent="0" marL="0">
              <a:buNone/>
            </a:pPr>
            <a:r>
              <a:rPr lang="en-US" sz="1250" b="1" dirty="0">
                <a:solidFill>
                  <a:schemeClr val="tx1"/>
                </a:solidFill>
              </a:rPr>
              <a:t>3.30 kN</a:t>
            </a:r>
            <a:endParaRPr lang="en-US" sz="1250" dirty="0"/>
          </a:p>
          <a:p>
            <a:pPr indent="0" marL="0">
              <a:buNone/>
            </a:pPr>
            <a:r>
              <a:rPr lang="en-US" sz="950" dirty="0">
                <a:solidFill>
                  <a:srgbClr val="52514E"/>
                </a:solidFill>
              </a:rPr>
              <a:t>total load at this support</a:t>
            </a:r>
            <a:endParaRPr lang="en-US" sz="1250" dirty="0"/>
          </a:p>
        </p:txBody>
      </p:sp>
      <p:sp>
        <p:nvSpPr>
          <p:cNvPr id="30" name="fact closest clear gap, 2 rows"/>
          <p:cNvSpPr/>
          <p:nvPr/>
        </p:nvSpPr>
        <p:spPr>
          <a:xfrm>
            <a:off x="10030968" y="3785616"/>
            <a:ext cx="1609344" cy="914400"/>
          </a:xfrm>
          <a:prstGeom prst="roundRect">
            <a:avLst>
              <a:gd name="adj" fmla="val 7000"/>
            </a:avLst>
          </a:prstGeom>
          <a:solidFill>
            <a:schemeClr val="bg2"/>
          </a:solidFill>
          <a:ln/>
        </p:spPr>
      </p:sp>
      <p:sp>
        <p:nvSpPr>
          <p:cNvPr id="31" name="icon ring fact closest clear gap, 2 rows"/>
          <p:cNvSpPr/>
          <p:nvPr/>
        </p:nvSpPr>
        <p:spPr>
          <a:xfrm>
            <a:off x="10168128" y="4014216"/>
            <a:ext cx="457200" cy="457200"/>
          </a:xfrm>
          <a:prstGeom prst="ellipse">
            <a:avLst/>
          </a:prstGeom>
          <a:solidFill>
            <a:schemeClr val="accent1"/>
          </a:solidFill>
          <a:ln/>
        </p:spPr>
      </p:sp>
      <p:pic>
        <p:nvPicPr>
          <p:cNvPr id="32" name="icon fact closest clear gap, 2 rows" descr="preencoded.png">    </p:cNvPr>
          <p:cNvPicPr>
            <a:picLocks noChangeAspect="1"/>
          </p:cNvPicPr>
          <p:nvPr/>
        </p:nvPicPr>
        <p:blipFill>
          <a:blip r:embed="rId5"/>
          <a:stretch>
            <a:fillRect/>
          </a:stretch>
        </p:blipFill>
        <p:spPr>
          <a:xfrm>
            <a:off x="10264140" y="4110228"/>
            <a:ext cx="265176" cy="265176"/>
          </a:xfrm>
          <a:prstGeom prst="rect">
            <a:avLst/>
          </a:prstGeom>
        </p:spPr>
      </p:pic>
      <p:sp>
        <p:nvSpPr>
          <p:cNvPr id="33" name="fact text closest clear gap, 2 rows"/>
          <p:cNvSpPr txBox="1"/>
          <p:nvPr/>
        </p:nvSpPr>
        <p:spPr>
          <a:xfrm>
            <a:off x="10716768" y="3858768"/>
            <a:ext cx="832104" cy="768096"/>
          </a:xfrm>
          <a:prstGeom prst="rect">
            <a:avLst/>
          </a:prstGeom>
          <a:noFill/>
          <a:ln/>
        </p:spPr>
        <p:txBody>
          <a:bodyPr wrap="square" lIns="0" tIns="0" rIns="0" bIns="0" rtlCol="0" anchor="ctr"/>
          <a:lstStyle/>
          <a:p>
            <a:pPr indent="0" marL="0">
              <a:buNone/>
            </a:pPr>
            <a:r>
              <a:rPr lang="en-US" sz="1250" b="1" dirty="0">
                <a:solidFill>
                  <a:schemeClr val="tx1"/>
                </a:solidFill>
              </a:rPr>
              <a:t>44 mm</a:t>
            </a:r>
            <a:endParaRPr lang="en-US" sz="1250" dirty="0"/>
          </a:p>
          <a:p>
            <a:pPr indent="0" marL="0">
              <a:buNone/>
            </a:pPr>
            <a:r>
              <a:rPr lang="en-US" sz="950" dirty="0">
                <a:solidFill>
                  <a:srgbClr val="52514E"/>
                </a:solidFill>
              </a:rPr>
              <a:t>closest clear gap, 2 rows</a:t>
            </a:r>
            <a:endParaRPr lang="en-US" sz="1250" dirty="0"/>
          </a:p>
        </p:txBody>
      </p:sp>
      <p:sp>
        <p:nvSpPr>
          <p:cNvPr id="34" name="absent band"/>
          <p:cNvSpPr/>
          <p:nvPr/>
        </p:nvSpPr>
        <p:spPr>
          <a:xfrm>
            <a:off x="6537960" y="4882896"/>
            <a:ext cx="5102352" cy="1188720"/>
          </a:xfrm>
          <a:prstGeom prst="roundRect">
            <a:avLst>
              <a:gd name="adj" fmla="val 5385"/>
            </a:avLst>
          </a:prstGeom>
          <a:solidFill>
            <a:srgbClr val="1F2933"/>
          </a:solidFill>
          <a:ln/>
        </p:spPr>
      </p:sp>
      <p:pic>
        <p:nvPicPr>
          <p:cNvPr id="35" name="icon absent" descr="preencoded.png">    </p:cNvPr>
          <p:cNvPicPr>
            <a:picLocks noChangeAspect="1"/>
          </p:cNvPicPr>
          <p:nvPr/>
        </p:nvPicPr>
        <p:blipFill>
          <a:blip r:embed="rId6"/>
          <a:stretch>
            <a:fillRect/>
          </a:stretch>
        </p:blipFill>
        <p:spPr>
          <a:xfrm>
            <a:off x="6766560" y="5248656"/>
            <a:ext cx="457200" cy="457200"/>
          </a:xfrm>
          <a:prstGeom prst="rect">
            <a:avLst/>
          </a:prstGeom>
        </p:spPr>
      </p:pic>
      <p:sp>
        <p:nvSpPr>
          <p:cNvPr id="36" name="absent text"/>
          <p:cNvSpPr txBox="1"/>
          <p:nvPr/>
        </p:nvSpPr>
        <p:spPr>
          <a:xfrm>
            <a:off x="7406640" y="4882896"/>
            <a:ext cx="4050792" cy="1188720"/>
          </a:xfrm>
          <a:prstGeom prst="rect">
            <a:avLst/>
          </a:prstGeom>
          <a:noFill/>
          <a:ln/>
        </p:spPr>
        <p:txBody>
          <a:bodyPr wrap="square" lIns="0" tIns="0" rIns="0" bIns="0" rtlCol="0" anchor="ctr"/>
          <a:lstStyle/>
          <a:p>
            <a:pPr indent="0" marL="0">
              <a:buNone/>
            </a:pPr>
            <a:r>
              <a:rPr lang="en-US" sz="1200" b="1" dirty="0">
                <a:solidFill>
                  <a:srgbClr val="FFFFFF"/>
                </a:solidFill>
              </a:rPr>
              <a:t>Not given, by design: </a:t>
            </a:r>
            <a:r>
              <a:rPr lang="en-US" sz="1200" dirty="0">
                <a:solidFill>
                  <a:srgbClr val="CADCFC"/>
                </a:solidFill>
              </a:rPr>
              <a:t>channel, rods, clamps, anchors. No correct answer either: a feasible support depends on the catalog you build from.</a:t>
            </a:r>
            <a:endParaRPr lang="en-US" sz="1200" dirty="0"/>
          </a:p>
        </p:txBody>
      </p:sp>
      <p:sp>
        <p:nvSpPr>
          <p:cNvPr id="37"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Every section is built the way trades run services, with gaps measured on a real building</a:t>
            </a:r>
            <a:endParaRPr lang="en-US" sz="2600" dirty="0"/>
          </a:p>
        </p:txBody>
      </p:sp>
      <p:sp>
        <p:nvSpPr>
          <p:cNvPr id="3" name="step spine"/>
          <p:cNvSpPr/>
          <p:nvPr/>
        </p:nvSpPr>
        <p:spPr>
          <a:xfrm>
            <a:off x="749808" y="1618488"/>
            <a:ext cx="0" cy="3931920"/>
          </a:xfrm>
          <a:prstGeom prst="line">
            <a:avLst/>
          </a:prstGeom>
          <a:noFill/>
          <a:ln w="25400">
            <a:solidFill>
              <a:srgbClr val="E1E0D9"/>
            </a:solidFill>
            <a:prstDash val="solid"/>
          </a:ln>
        </p:spPr>
      </p:sp>
      <p:sp>
        <p:nvSpPr>
          <p:cNvPr id="4" name="step card 1"/>
          <p:cNvSpPr/>
          <p:nvPr/>
        </p:nvSpPr>
        <p:spPr>
          <a:xfrm>
            <a:off x="1097280" y="1417320"/>
            <a:ext cx="5029200" cy="658368"/>
          </a:xfrm>
          <a:prstGeom prst="roundRect">
            <a:avLst>
              <a:gd name="adj" fmla="val 9722"/>
            </a:avLst>
          </a:prstGeom>
          <a:solidFill>
            <a:schemeClr val="bg2"/>
          </a:solidFill>
          <a:ln/>
        </p:spPr>
      </p:sp>
      <p:sp>
        <p:nvSpPr>
          <p:cNvPr id="5" name="step circle 1"/>
          <p:cNvSpPr/>
          <p:nvPr/>
        </p:nvSpPr>
        <p:spPr>
          <a:xfrm>
            <a:off x="548640" y="1545336"/>
            <a:ext cx="402336" cy="402336"/>
          </a:xfrm>
          <a:prstGeom prst="ellipse">
            <a:avLst/>
          </a:prstGeom>
          <a:solidFill>
            <a:schemeClr val="accent1"/>
          </a:solidFill>
          <a:ln w="19050">
            <a:solidFill>
              <a:srgbClr val="FFFFFF"/>
            </a:solidFill>
            <a:prstDash val="solid"/>
          </a:ln>
        </p:spPr>
      </p:sp>
      <p:sp>
        <p:nvSpPr>
          <p:cNvPr id="6" name="step number 1"/>
          <p:cNvSpPr txBox="1"/>
          <p:nvPr/>
        </p:nvSpPr>
        <p:spPr>
          <a:xfrm>
            <a:off x="548640" y="154533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pic>
        <p:nvPicPr>
          <p:cNvPr id="7" name="step icon Tier" descr="preencoded.png">    </p:cNvPr>
          <p:cNvPicPr>
            <a:picLocks noChangeAspect="1"/>
          </p:cNvPicPr>
          <p:nvPr/>
        </p:nvPicPr>
        <p:blipFill>
          <a:blip r:embed="rId1"/>
          <a:stretch>
            <a:fillRect/>
          </a:stretch>
        </p:blipFill>
        <p:spPr>
          <a:xfrm>
            <a:off x="1261872" y="1591056"/>
            <a:ext cx="310896" cy="310896"/>
          </a:xfrm>
          <a:prstGeom prst="rect">
            <a:avLst/>
          </a:prstGeom>
        </p:spPr>
      </p:pic>
      <p:sp>
        <p:nvSpPr>
          <p:cNvPr id="8" name="step 1"/>
          <p:cNvSpPr txBox="1"/>
          <p:nvPr/>
        </p:nvSpPr>
        <p:spPr>
          <a:xfrm>
            <a:off x="1737360" y="1417320"/>
            <a:ext cx="4251960" cy="658368"/>
          </a:xfrm>
          <a:prstGeom prst="rect">
            <a:avLst/>
          </a:prstGeom>
          <a:noFill/>
          <a:ln/>
        </p:spPr>
        <p:txBody>
          <a:bodyPr wrap="square" lIns="0" tIns="0" rIns="0" bIns="0" rtlCol="0" anchor="ctr"/>
          <a:lstStyle/>
          <a:p>
            <a:pPr indent="0" marL="0">
              <a:buNone/>
            </a:pPr>
            <a:r>
              <a:rPr lang="en-US" sz="1300" b="1" dirty="0">
                <a:solidFill>
                  <a:schemeClr val="tx1"/>
                </a:solidFill>
              </a:rPr>
              <a:t>Tier</a:t>
            </a:r>
            <a:endParaRPr lang="en-US" sz="1300" dirty="0"/>
          </a:p>
          <a:p>
            <a:pPr indent="0" marL="0">
              <a:buNone/>
            </a:pPr>
            <a:r>
              <a:rPr lang="en-US" sz="1150" dirty="0">
                <a:solidFill>
                  <a:srgbClr val="52514E"/>
                </a:solidFill>
              </a:rPr>
              <a:t>Cn fixes the exact element count, n = 1 … 8</a:t>
            </a:r>
            <a:endParaRPr lang="en-US" sz="1300" dirty="0"/>
          </a:p>
        </p:txBody>
      </p:sp>
      <p:sp>
        <p:nvSpPr>
          <p:cNvPr id="9" name="step card 2"/>
          <p:cNvSpPr/>
          <p:nvPr/>
        </p:nvSpPr>
        <p:spPr>
          <a:xfrm>
            <a:off x="1097280" y="2203704"/>
            <a:ext cx="5029200" cy="658368"/>
          </a:xfrm>
          <a:prstGeom prst="roundRect">
            <a:avLst>
              <a:gd name="adj" fmla="val 9722"/>
            </a:avLst>
          </a:prstGeom>
          <a:solidFill>
            <a:schemeClr val="bg2"/>
          </a:solidFill>
          <a:ln/>
        </p:spPr>
      </p:sp>
      <p:sp>
        <p:nvSpPr>
          <p:cNvPr id="10" name="step circle 2"/>
          <p:cNvSpPr/>
          <p:nvPr/>
        </p:nvSpPr>
        <p:spPr>
          <a:xfrm>
            <a:off x="548640" y="2331720"/>
            <a:ext cx="402336" cy="402336"/>
          </a:xfrm>
          <a:prstGeom prst="ellipse">
            <a:avLst/>
          </a:prstGeom>
          <a:solidFill>
            <a:schemeClr val="accent1"/>
          </a:solidFill>
          <a:ln w="19050">
            <a:solidFill>
              <a:srgbClr val="FFFFFF"/>
            </a:solidFill>
            <a:prstDash val="solid"/>
          </a:ln>
        </p:spPr>
      </p:sp>
      <p:sp>
        <p:nvSpPr>
          <p:cNvPr id="11" name="step number 2"/>
          <p:cNvSpPr txBox="1"/>
          <p:nvPr/>
        </p:nvSpPr>
        <p:spPr>
          <a:xfrm>
            <a:off x="548640" y="233172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pic>
        <p:nvPicPr>
          <p:cNvPr id="12" name="step icon Surface" descr="preencoded.png">    </p:cNvPr>
          <p:cNvPicPr>
            <a:picLocks noChangeAspect="1"/>
          </p:cNvPicPr>
          <p:nvPr/>
        </p:nvPicPr>
        <p:blipFill>
          <a:blip r:embed="rId2"/>
          <a:stretch>
            <a:fillRect/>
          </a:stretch>
        </p:blipFill>
        <p:spPr>
          <a:xfrm>
            <a:off x="1261872" y="2377440"/>
            <a:ext cx="310896" cy="310896"/>
          </a:xfrm>
          <a:prstGeom prst="rect">
            <a:avLst/>
          </a:prstGeom>
        </p:spPr>
      </p:pic>
      <p:sp>
        <p:nvSpPr>
          <p:cNvPr id="13" name="step 2"/>
          <p:cNvSpPr txBox="1"/>
          <p:nvPr/>
        </p:nvSpPr>
        <p:spPr>
          <a:xfrm>
            <a:off x="1737360" y="2203704"/>
            <a:ext cx="4251960" cy="658368"/>
          </a:xfrm>
          <a:prstGeom prst="rect">
            <a:avLst/>
          </a:prstGeom>
          <a:noFill/>
          <a:ln/>
        </p:spPr>
        <p:txBody>
          <a:bodyPr wrap="square" lIns="0" tIns="0" rIns="0" bIns="0" rtlCol="0" anchor="ctr"/>
          <a:lstStyle/>
          <a:p>
            <a:pPr indent="0" marL="0">
              <a:buNone/>
            </a:pPr>
            <a:r>
              <a:rPr lang="en-US" sz="1300" b="1" dirty="0">
                <a:solidFill>
                  <a:schemeClr val="tx1"/>
                </a:solidFill>
              </a:rPr>
              <a:t>Surface</a:t>
            </a:r>
            <a:endParaRPr lang="en-US" sz="1300" dirty="0"/>
          </a:p>
          <a:p>
            <a:pPr indent="0" marL="0">
              <a:buNone/>
            </a:pPr>
            <a:r>
              <a:rPr lang="en-US" sz="1150" dirty="0">
                <a:solidFill>
                  <a:srgbClr val="52514E"/>
                </a:solidFill>
              </a:rPr>
              <a:t>ceiling or wall (78 / 22 %); concrete, 150–300 mm thick</a:t>
            </a:r>
            <a:endParaRPr lang="en-US" sz="1300" dirty="0"/>
          </a:p>
        </p:txBody>
      </p:sp>
      <p:sp>
        <p:nvSpPr>
          <p:cNvPr id="14" name="step card 3"/>
          <p:cNvSpPr/>
          <p:nvPr/>
        </p:nvSpPr>
        <p:spPr>
          <a:xfrm>
            <a:off x="1097280" y="2990088"/>
            <a:ext cx="5029200" cy="658368"/>
          </a:xfrm>
          <a:prstGeom prst="roundRect">
            <a:avLst>
              <a:gd name="adj" fmla="val 9722"/>
            </a:avLst>
          </a:prstGeom>
          <a:solidFill>
            <a:schemeClr val="bg2"/>
          </a:solidFill>
          <a:ln/>
        </p:spPr>
      </p:sp>
      <p:sp>
        <p:nvSpPr>
          <p:cNvPr id="15" name="step circle 3"/>
          <p:cNvSpPr/>
          <p:nvPr/>
        </p:nvSpPr>
        <p:spPr>
          <a:xfrm>
            <a:off x="548640" y="3118104"/>
            <a:ext cx="402336" cy="402336"/>
          </a:xfrm>
          <a:prstGeom prst="ellipse">
            <a:avLst/>
          </a:prstGeom>
          <a:solidFill>
            <a:schemeClr val="accent1"/>
          </a:solidFill>
          <a:ln w="19050">
            <a:solidFill>
              <a:srgbClr val="FFFFFF"/>
            </a:solidFill>
            <a:prstDash val="solid"/>
          </a:ln>
        </p:spPr>
      </p:sp>
      <p:sp>
        <p:nvSpPr>
          <p:cNvPr id="16" name="step number 3"/>
          <p:cNvSpPr txBox="1"/>
          <p:nvPr/>
        </p:nvSpPr>
        <p:spPr>
          <a:xfrm>
            <a:off x="548640" y="311810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pic>
        <p:nvPicPr>
          <p:cNvPr id="17" name="step icon Services" descr="preencoded.png">    </p:cNvPr>
          <p:cNvPicPr>
            <a:picLocks noChangeAspect="1"/>
          </p:cNvPicPr>
          <p:nvPr/>
        </p:nvPicPr>
        <p:blipFill>
          <a:blip r:embed="rId3"/>
          <a:stretch>
            <a:fillRect/>
          </a:stretch>
        </p:blipFill>
        <p:spPr>
          <a:xfrm>
            <a:off x="1261872" y="3163824"/>
            <a:ext cx="310896" cy="310896"/>
          </a:xfrm>
          <a:prstGeom prst="rect">
            <a:avLst/>
          </a:prstGeom>
        </p:spPr>
      </p:pic>
      <p:sp>
        <p:nvSpPr>
          <p:cNvPr id="18" name="step 3"/>
          <p:cNvSpPr txBox="1"/>
          <p:nvPr/>
        </p:nvSpPr>
        <p:spPr>
          <a:xfrm>
            <a:off x="1737360" y="2990088"/>
            <a:ext cx="4251960" cy="658368"/>
          </a:xfrm>
          <a:prstGeom prst="rect">
            <a:avLst/>
          </a:prstGeom>
          <a:noFill/>
          <a:ln/>
        </p:spPr>
        <p:txBody>
          <a:bodyPr wrap="square" lIns="0" tIns="0" rIns="0" bIns="0" rtlCol="0" anchor="ctr"/>
          <a:lstStyle/>
          <a:p>
            <a:pPr indent="0" marL="0">
              <a:buNone/>
            </a:pPr>
            <a:r>
              <a:rPr lang="en-US" sz="1300" b="1" dirty="0">
                <a:solidFill>
                  <a:schemeClr val="tx1"/>
                </a:solidFill>
              </a:rPr>
              <a:t>Services</a:t>
            </a:r>
            <a:endParaRPr lang="en-US" sz="1300" dirty="0"/>
          </a:p>
          <a:p>
            <a:pPr indent="0" marL="0">
              <a:buNone/>
            </a:pPr>
            <a:r>
              <a:rPr lang="en-US" sz="1150" dirty="0">
                <a:solidFill>
                  <a:srgbClr val="52514E"/>
                </a:solidFill>
              </a:rPr>
              <a:t>grouped as trades run [3]: hot + cold, flow + return, conduit groups, 1–2 trays, ducts</a:t>
            </a:r>
            <a:endParaRPr lang="en-US" sz="1300" dirty="0"/>
          </a:p>
        </p:txBody>
      </p:sp>
      <p:sp>
        <p:nvSpPr>
          <p:cNvPr id="19" name="step card 4"/>
          <p:cNvSpPr/>
          <p:nvPr/>
        </p:nvSpPr>
        <p:spPr>
          <a:xfrm>
            <a:off x="1097280" y="3776472"/>
            <a:ext cx="5029200" cy="658368"/>
          </a:xfrm>
          <a:prstGeom prst="roundRect">
            <a:avLst>
              <a:gd name="adj" fmla="val 9722"/>
            </a:avLst>
          </a:prstGeom>
          <a:solidFill>
            <a:schemeClr val="bg2"/>
          </a:solidFill>
          <a:ln/>
        </p:spPr>
      </p:sp>
      <p:sp>
        <p:nvSpPr>
          <p:cNvPr id="20" name="step circle 4"/>
          <p:cNvSpPr/>
          <p:nvPr/>
        </p:nvSpPr>
        <p:spPr>
          <a:xfrm>
            <a:off x="548640" y="3904488"/>
            <a:ext cx="402336" cy="402336"/>
          </a:xfrm>
          <a:prstGeom prst="ellipse">
            <a:avLst/>
          </a:prstGeom>
          <a:solidFill>
            <a:schemeClr val="accent1"/>
          </a:solidFill>
          <a:ln w="19050">
            <a:solidFill>
              <a:srgbClr val="FFFFFF"/>
            </a:solidFill>
            <a:prstDash val="solid"/>
          </a:ln>
        </p:spPr>
      </p:sp>
      <p:sp>
        <p:nvSpPr>
          <p:cNvPr id="21" name="step number 4"/>
          <p:cNvSpPr txBox="1"/>
          <p:nvPr/>
        </p:nvSpPr>
        <p:spPr>
          <a:xfrm>
            <a:off x="548640" y="390448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pic>
        <p:nvPicPr>
          <p:cNvPr id="22" name="step icon Rows" descr="preencoded.png">    </p:cNvPr>
          <p:cNvPicPr>
            <a:picLocks noChangeAspect="1"/>
          </p:cNvPicPr>
          <p:nvPr/>
        </p:nvPicPr>
        <p:blipFill>
          <a:blip r:embed="rId4"/>
          <a:stretch>
            <a:fillRect/>
          </a:stretch>
        </p:blipFill>
        <p:spPr>
          <a:xfrm>
            <a:off x="1261872" y="3950208"/>
            <a:ext cx="310896" cy="310896"/>
          </a:xfrm>
          <a:prstGeom prst="rect">
            <a:avLst/>
          </a:prstGeom>
        </p:spPr>
      </p:pic>
      <p:sp>
        <p:nvSpPr>
          <p:cNvPr id="23" name="step 4"/>
          <p:cNvSpPr txBox="1"/>
          <p:nvPr/>
        </p:nvSpPr>
        <p:spPr>
          <a:xfrm>
            <a:off x="1737360" y="3776472"/>
            <a:ext cx="4251960" cy="658368"/>
          </a:xfrm>
          <a:prstGeom prst="rect">
            <a:avLst/>
          </a:prstGeom>
          <a:noFill/>
          <a:ln/>
        </p:spPr>
        <p:txBody>
          <a:bodyPr wrap="square" lIns="0" tIns="0" rIns="0" bIns="0" rtlCol="0" anchor="ctr"/>
          <a:lstStyle/>
          <a:p>
            <a:pPr indent="0" marL="0">
              <a:buNone/>
            </a:pPr>
            <a:r>
              <a:rPr lang="en-US" sz="1300" b="1" dirty="0">
                <a:solidFill>
                  <a:schemeClr val="tx1"/>
                </a:solidFill>
              </a:rPr>
              <a:t>Rows</a:t>
            </a:r>
            <a:endParaRPr lang="en-US" sz="1300" dirty="0"/>
          </a:p>
          <a:p>
            <a:pPr indent="0" marL="0">
              <a:buNone/>
            </a:pPr>
            <a:r>
              <a:rPr lang="en-US" sz="1150" dirty="0">
                <a:solidFill>
                  <a:srgbClr val="52514E"/>
                </a:solidFill>
              </a:rPr>
              <a:t>bulky first: ducts nearest the slab, then trays and conduits, then pipes</a:t>
            </a:r>
            <a:endParaRPr lang="en-US" sz="1300" dirty="0"/>
          </a:p>
        </p:txBody>
      </p:sp>
      <p:sp>
        <p:nvSpPr>
          <p:cNvPr id="24" name="step card 5"/>
          <p:cNvSpPr/>
          <p:nvPr/>
        </p:nvSpPr>
        <p:spPr>
          <a:xfrm>
            <a:off x="1097280" y="4562856"/>
            <a:ext cx="5029200" cy="658368"/>
          </a:xfrm>
          <a:prstGeom prst="roundRect">
            <a:avLst>
              <a:gd name="adj" fmla="val 9722"/>
            </a:avLst>
          </a:prstGeom>
          <a:solidFill>
            <a:schemeClr val="bg2"/>
          </a:solidFill>
          <a:ln/>
        </p:spPr>
      </p:sp>
      <p:sp>
        <p:nvSpPr>
          <p:cNvPr id="25" name="step circle 5"/>
          <p:cNvSpPr/>
          <p:nvPr/>
        </p:nvSpPr>
        <p:spPr>
          <a:xfrm>
            <a:off x="548640" y="4690872"/>
            <a:ext cx="402336" cy="402336"/>
          </a:xfrm>
          <a:prstGeom prst="ellipse">
            <a:avLst/>
          </a:prstGeom>
          <a:solidFill>
            <a:schemeClr val="accent1"/>
          </a:solidFill>
          <a:ln w="19050">
            <a:solidFill>
              <a:srgbClr val="FFFFFF"/>
            </a:solidFill>
            <a:prstDash val="solid"/>
          </a:ln>
        </p:spPr>
      </p:sp>
      <p:sp>
        <p:nvSpPr>
          <p:cNvPr id="26" name="step number 5"/>
          <p:cNvSpPr txBox="1"/>
          <p:nvPr/>
        </p:nvSpPr>
        <p:spPr>
          <a:xfrm>
            <a:off x="548640" y="46908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pic>
        <p:nvPicPr>
          <p:cNvPr id="27" name="step icon Spacing" descr="preencoded.png">    </p:cNvPr>
          <p:cNvPicPr>
            <a:picLocks noChangeAspect="1"/>
          </p:cNvPicPr>
          <p:nvPr/>
        </p:nvPicPr>
        <p:blipFill>
          <a:blip r:embed="rId5"/>
          <a:stretch>
            <a:fillRect/>
          </a:stretch>
        </p:blipFill>
        <p:spPr>
          <a:xfrm>
            <a:off x="1261872" y="4736592"/>
            <a:ext cx="310896" cy="310896"/>
          </a:xfrm>
          <a:prstGeom prst="rect">
            <a:avLst/>
          </a:prstGeom>
        </p:spPr>
      </p:pic>
      <p:sp>
        <p:nvSpPr>
          <p:cNvPr id="28" name="step 5"/>
          <p:cNvSpPr txBox="1"/>
          <p:nvPr/>
        </p:nvSpPr>
        <p:spPr>
          <a:xfrm>
            <a:off x="1737360" y="4562856"/>
            <a:ext cx="4251960" cy="658368"/>
          </a:xfrm>
          <a:prstGeom prst="rect">
            <a:avLst/>
          </a:prstGeom>
          <a:noFill/>
          <a:ln/>
        </p:spPr>
        <p:txBody>
          <a:bodyPr wrap="square" lIns="0" tIns="0" rIns="0" bIns="0" rtlCol="0" anchor="ctr"/>
          <a:lstStyle/>
          <a:p>
            <a:pPr indent="0" marL="0">
              <a:buNone/>
            </a:pPr>
            <a:r>
              <a:rPr lang="en-US" sz="1300" b="1" dirty="0">
                <a:solidFill>
                  <a:schemeClr val="tx1"/>
                </a:solidFill>
              </a:rPr>
              <a:t>Spacing</a:t>
            </a:r>
            <a:endParaRPr lang="en-US" sz="1300" dirty="0"/>
          </a:p>
          <a:p>
            <a:pPr indent="0" marL="0">
              <a:buNone/>
            </a:pPr>
            <a:r>
              <a:rPr lang="en-US" sz="1150" dirty="0">
                <a:solidFill>
                  <a:srgbClr val="52514E"/>
                </a:solidFill>
              </a:rPr>
              <a:t>gaps drawn from a built project [12], at least 25 mm; electrical above wet on walls [10]</a:t>
            </a:r>
            <a:endParaRPr lang="en-US" sz="1300" dirty="0"/>
          </a:p>
        </p:txBody>
      </p:sp>
      <p:sp>
        <p:nvSpPr>
          <p:cNvPr id="29" name="step card 6"/>
          <p:cNvSpPr/>
          <p:nvPr/>
        </p:nvSpPr>
        <p:spPr>
          <a:xfrm>
            <a:off x="1097280" y="5349240"/>
            <a:ext cx="5029200" cy="658368"/>
          </a:xfrm>
          <a:prstGeom prst="roundRect">
            <a:avLst>
              <a:gd name="adj" fmla="val 9722"/>
            </a:avLst>
          </a:prstGeom>
          <a:solidFill>
            <a:schemeClr val="bg2"/>
          </a:solidFill>
          <a:ln/>
        </p:spPr>
      </p:sp>
      <p:sp>
        <p:nvSpPr>
          <p:cNvPr id="30" name="step circle 6"/>
          <p:cNvSpPr/>
          <p:nvPr/>
        </p:nvSpPr>
        <p:spPr>
          <a:xfrm>
            <a:off x="548640" y="5477256"/>
            <a:ext cx="402336" cy="402336"/>
          </a:xfrm>
          <a:prstGeom prst="ellipse">
            <a:avLst/>
          </a:prstGeom>
          <a:solidFill>
            <a:schemeClr val="accent1"/>
          </a:solidFill>
          <a:ln w="19050">
            <a:solidFill>
              <a:srgbClr val="FFFFFF"/>
            </a:solidFill>
            <a:prstDash val="solid"/>
          </a:ln>
        </p:spPr>
      </p:sp>
      <p:sp>
        <p:nvSpPr>
          <p:cNvPr id="31" name="step number 6"/>
          <p:cNvSpPr txBox="1"/>
          <p:nvPr/>
        </p:nvSpPr>
        <p:spPr>
          <a:xfrm>
            <a:off x="548640" y="547725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pic>
        <p:nvPicPr>
          <p:cNvPr id="32" name="step icon Check" descr="preencoded.png">    </p:cNvPr>
          <p:cNvPicPr>
            <a:picLocks noChangeAspect="1"/>
          </p:cNvPicPr>
          <p:nvPr/>
        </p:nvPicPr>
        <p:blipFill>
          <a:blip r:embed="rId6"/>
          <a:stretch>
            <a:fillRect/>
          </a:stretch>
        </p:blipFill>
        <p:spPr>
          <a:xfrm>
            <a:off x="1261872" y="5522976"/>
            <a:ext cx="310896" cy="310896"/>
          </a:xfrm>
          <a:prstGeom prst="rect">
            <a:avLst/>
          </a:prstGeom>
        </p:spPr>
      </p:pic>
      <p:sp>
        <p:nvSpPr>
          <p:cNvPr id="33" name="step 6"/>
          <p:cNvSpPr txBox="1"/>
          <p:nvPr/>
        </p:nvSpPr>
        <p:spPr>
          <a:xfrm>
            <a:off x="1737360" y="5349240"/>
            <a:ext cx="4251960" cy="658368"/>
          </a:xfrm>
          <a:prstGeom prst="rect">
            <a:avLst/>
          </a:prstGeom>
          <a:noFill/>
          <a:ln/>
        </p:spPr>
        <p:txBody>
          <a:bodyPr wrap="square" lIns="0" tIns="0" rIns="0" bIns="0" rtlCol="0" anchor="ctr"/>
          <a:lstStyle/>
          <a:p>
            <a:pPr indent="0" marL="0">
              <a:buNone/>
            </a:pPr>
            <a:r>
              <a:rPr lang="en-US" sz="1300" b="1" dirty="0">
                <a:solidFill>
                  <a:schemeClr val="tx1"/>
                </a:solidFill>
              </a:rPr>
              <a:t>Check</a:t>
            </a:r>
            <a:endParaRPr lang="en-US" sz="1300" dirty="0"/>
          </a:p>
          <a:p>
            <a:pPr indent="0" marL="0">
              <a:buNone/>
            </a:pPr>
            <a:r>
              <a:rPr lang="en-US" sz="1150" dirty="0">
                <a:solidFill>
                  <a:srgbClr val="52514E"/>
                </a:solidFill>
              </a:rPr>
              <a:t>every pair 25 mm clear, rows centred, everything recorded; same seed, same file</a:t>
            </a:r>
            <a:endParaRPr lang="en-US" sz="1300" dirty="0"/>
          </a:p>
        </p:txBody>
      </p:sp>
      <p:pic>
        <p:nvPicPr>
          <p:cNvPr id="34" name="generated sheet" descr="preencoded.png">    </p:cNvPr>
          <p:cNvPicPr>
            <a:picLocks noChangeAspect="1"/>
          </p:cNvPicPr>
          <p:nvPr/>
        </p:nvPicPr>
        <p:blipFill>
          <a:blip r:embed="rId7"/>
          <a:stretch>
            <a:fillRect/>
          </a:stretch>
        </p:blipFill>
        <p:spPr>
          <a:xfrm>
            <a:off x="6757067" y="1371600"/>
            <a:ext cx="4481258" cy="2697480"/>
          </a:xfrm>
          <a:prstGeom prst="rect">
            <a:avLst/>
          </a:prstGeom>
        </p:spPr>
      </p:pic>
      <p:sp>
        <p:nvSpPr>
          <p:cNvPr id="35" name="generated sheet frame"/>
          <p:cNvSpPr/>
          <p:nvPr/>
        </p:nvSpPr>
        <p:spPr>
          <a:xfrm>
            <a:off x="6702203" y="1316736"/>
            <a:ext cx="4590986" cy="2807208"/>
          </a:xfrm>
          <a:prstGeom prst="rect">
            <a:avLst/>
          </a:prstGeom>
          <a:ln w="9525">
            <a:solidFill>
              <a:srgbClr val="E1E0D9"/>
            </a:solidFill>
            <a:prstDash val="solid"/>
          </a:ln>
        </p:spPr>
      </p:sp>
      <p:pic>
        <p:nvPicPr>
          <p:cNvPr id="36" name="generated 3d" descr="preencoded.png">    </p:cNvPr>
          <p:cNvPicPr>
            <a:picLocks noChangeAspect="1"/>
          </p:cNvPicPr>
          <p:nvPr/>
        </p:nvPicPr>
        <p:blipFill>
          <a:blip r:embed="rId8"/>
          <a:stretch>
            <a:fillRect/>
          </a:stretch>
        </p:blipFill>
        <p:spPr>
          <a:xfrm>
            <a:off x="6598516" y="4206240"/>
            <a:ext cx="2027727" cy="1691640"/>
          </a:xfrm>
          <a:prstGeom prst="rect">
            <a:avLst/>
          </a:prstGeom>
        </p:spPr>
      </p:pic>
      <p:sp>
        <p:nvSpPr>
          <p:cNvPr id="37" name="generated 3d legend"/>
          <p:cNvSpPr txBox="1"/>
          <p:nvPr/>
        </p:nvSpPr>
        <p:spPr>
          <a:xfrm>
            <a:off x="6355080" y="5925312"/>
            <a:ext cx="2743200" cy="201168"/>
          </a:xfrm>
          <a:prstGeom prst="rect">
            <a:avLst/>
          </a:prstGeom>
          <a:noFill/>
          <a:ln/>
        </p:spPr>
        <p:txBody>
          <a:bodyPr wrap="square" lIns="0" tIns="0" rIns="0" bIns="0" rtlCol="0" anchor="ctr"/>
          <a:lstStyle/>
          <a:p>
            <a:pPr indent="0" marL="0">
              <a:buNone/>
            </a:pPr>
            <a:r>
              <a:rPr lang="en-US" sz="900" dirty="0">
                <a:solidFill>
                  <a:srgbClr val="008300"/>
                </a:solidFill>
              </a:rPr>
              <a:t>● </a:t>
            </a:r>
            <a:r>
              <a:rPr lang="en-US" sz="900" dirty="0">
                <a:solidFill>
                  <a:srgbClr val="52514E"/>
                </a:solidFill>
              </a:rPr>
              <a:t>ventilation   </a:t>
            </a:r>
            <a:r>
              <a:rPr lang="en-US" sz="900" dirty="0">
                <a:solidFill>
                  <a:srgbClr val="4A3AA7"/>
                </a:solidFill>
              </a:rPr>
              <a:t>● </a:t>
            </a:r>
            <a:r>
              <a:rPr lang="en-US" sz="900" dirty="0">
                <a:solidFill>
                  <a:srgbClr val="52514E"/>
                </a:solidFill>
              </a:rPr>
              <a:t>electrical   </a:t>
            </a:r>
            <a:r>
              <a:rPr lang="en-US" sz="900" dirty="0">
                <a:solidFill>
                  <a:srgbClr val="EB6834"/>
                </a:solidFill>
              </a:rPr>
              <a:t>● </a:t>
            </a:r>
            <a:r>
              <a:rPr lang="en-US" sz="900" dirty="0">
                <a:solidFill>
                  <a:srgbClr val="52514E"/>
                </a:solidFill>
              </a:rPr>
              <a:t>heating   </a:t>
            </a:r>
            <a:endParaRPr lang="en-US" sz="900" dirty="0"/>
          </a:p>
        </p:txBody>
      </p:sp>
      <p:sp>
        <p:nvSpPr>
          <p:cNvPr id="38" name="generation caption"/>
          <p:cNvSpPr txBox="1"/>
          <p:nvPr/>
        </p:nvSpPr>
        <p:spPr>
          <a:xfrm>
            <a:off x="9098280" y="4206240"/>
            <a:ext cx="2542032" cy="1737360"/>
          </a:xfrm>
          <a:prstGeom prst="rect">
            <a:avLst/>
          </a:prstGeom>
          <a:noFill/>
          <a:ln/>
        </p:spPr>
        <p:txBody>
          <a:bodyPr wrap="square" lIns="0" tIns="0" rIns="0" bIns="0" rtlCol="0" anchor="t"/>
          <a:lstStyle/>
          <a:p>
            <a:pPr indent="0" marL="0">
              <a:buNone/>
            </a:pPr>
            <a:r>
              <a:rPr lang="en-US" sz="1100" dirty="0">
                <a:solidFill>
                  <a:srgbClr val="52514E"/>
                </a:solidFill>
              </a:rPr>
              <a:t>One generated context, tier C8: 8 services on 3 rows, ducts nearest the slab, then the tray and conduits, then the pipe. The gap marked on the sheet is one draw from the measured distribution; the same seed gives the same section.</a:t>
            </a:r>
            <a:endParaRPr lang="en-US" sz="1100" dirty="0"/>
          </a:p>
        </p:txBody>
      </p:sp>
      <p:sp>
        <p:nvSpPr>
          <p:cNvPr id="39" name="references"/>
          <p:cNvSpPr txBox="1"/>
          <p:nvPr/>
        </p:nvSpPr>
        <p:spPr>
          <a:xfrm>
            <a:off x="548640" y="6163056"/>
            <a:ext cx="11091672" cy="237744"/>
          </a:xfrm>
          <a:prstGeom prst="rect">
            <a:avLst/>
          </a:prstGeom>
          <a:noFill/>
          <a:ln/>
        </p:spPr>
        <p:txBody>
          <a:bodyPr wrap="square" lIns="0" tIns="0" rIns="0" bIns="0" rtlCol="0" anchor="b"/>
          <a:lstStyle/>
          <a:p>
            <a:pPr indent="0" marL="0">
              <a:buNone/>
            </a:pPr>
            <a:r>
              <a:rPr lang="en-US" sz="900" dirty="0">
                <a:solidFill>
                  <a:srgbClr val="52514E"/>
                </a:solidFill>
              </a:rPr>
              <a:t>[3] Korman, Fischer &amp; Tatum (2003), Knowledge and reasoning for MEP coordination, J. Constr. Eng. Manage. 129(6)   [10] IET On-Site Guide (BS 7671), conduit support spacing; BS 7671 Reg. 528.3.2   [12] buildingSMART International (2020), Duplex Apartment and Medical-Dental Clinic sample IFC files, CC BY 4.0</a:t>
            </a:r>
            <a:endParaRPr lang="en-US" sz="900" dirty="0"/>
          </a:p>
        </p:txBody>
      </p:sp>
      <p:sp>
        <p:nvSpPr>
          <p:cNvPr id="40"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Every number is traced to a standard, to a measurement, or to a choice we declare as ours</a:t>
            </a:r>
            <a:endParaRPr lang="en-US" sz="2600" dirty="0"/>
          </a:p>
        </p:txBody>
      </p:sp>
      <p:sp>
        <p:nvSpPr>
          <p:cNvPr id="3" name="kind Pipes DN15–150"/>
          <p:cNvSpPr/>
          <p:nvPr/>
        </p:nvSpPr>
        <p:spPr>
          <a:xfrm>
            <a:off x="548640" y="1371600"/>
            <a:ext cx="6812280" cy="713232"/>
          </a:xfrm>
          <a:prstGeom prst="roundRect">
            <a:avLst>
              <a:gd name="adj" fmla="val 8974"/>
            </a:avLst>
          </a:prstGeom>
          <a:solidFill>
            <a:schemeClr val="bg2"/>
          </a:solidFill>
          <a:ln/>
        </p:spPr>
      </p:sp>
      <p:sp>
        <p:nvSpPr>
          <p:cNvPr id="4" name="glyph card Pipes DN15–150"/>
          <p:cNvSpPr/>
          <p:nvPr/>
        </p:nvSpPr>
        <p:spPr>
          <a:xfrm>
            <a:off x="658368" y="1472184"/>
            <a:ext cx="512064" cy="512064"/>
          </a:xfrm>
          <a:prstGeom prst="roundRect">
            <a:avLst>
              <a:gd name="adj" fmla="val 10714"/>
            </a:avLst>
          </a:prstGeom>
          <a:solidFill>
            <a:srgbClr val="FFFFFF"/>
          </a:solidFill>
          <a:ln w="9525">
            <a:solidFill>
              <a:srgbClr val="E1E0D9"/>
            </a:solidFill>
            <a:prstDash val="solid"/>
          </a:ln>
        </p:spPr>
      </p:sp>
      <p:sp>
        <p:nvSpPr>
          <p:cNvPr id="5" name="glyph pipe"/>
          <p:cNvSpPr/>
          <p:nvPr/>
        </p:nvSpPr>
        <p:spPr>
          <a:xfrm>
            <a:off x="749808" y="1563624"/>
            <a:ext cx="329184" cy="329184"/>
          </a:xfrm>
          <a:prstGeom prst="ellipse">
            <a:avLst/>
          </a:prstGeom>
          <a:solidFill>
            <a:srgbClr val="EEF1F4"/>
          </a:solidFill>
          <a:ln w="12700">
            <a:solidFill>
              <a:srgbClr val="1F2933"/>
            </a:solidFill>
            <a:prstDash val="solid"/>
          </a:ln>
        </p:spPr>
      </p:sp>
      <p:sp>
        <p:nvSpPr>
          <p:cNvPr id="6" name="kind name Pipes DN15–150"/>
          <p:cNvSpPr txBox="1"/>
          <p:nvPr/>
        </p:nvSpPr>
        <p:spPr>
          <a:xfrm>
            <a:off x="1325880" y="1417320"/>
            <a:ext cx="1600200" cy="621792"/>
          </a:xfrm>
          <a:prstGeom prst="rect">
            <a:avLst/>
          </a:prstGeom>
          <a:noFill/>
          <a:ln/>
        </p:spPr>
        <p:txBody>
          <a:bodyPr wrap="square" lIns="0" tIns="0" rIns="0" bIns="0" rtlCol="0" anchor="ctr"/>
          <a:lstStyle/>
          <a:p>
            <a:pPr indent="0" marL="0">
              <a:buNone/>
            </a:pPr>
            <a:r>
              <a:rPr lang="en-US" sz="1300" b="1" dirty="0">
                <a:solidFill>
                  <a:schemeClr val="tx1"/>
                </a:solidFill>
              </a:rPr>
              <a:t>Pipes DN15–150</a:t>
            </a:r>
            <a:endParaRPr lang="en-US" sz="1300" dirty="0"/>
          </a:p>
        </p:txBody>
      </p:sp>
      <p:sp>
        <p:nvSpPr>
          <p:cNvPr id="7" name="kind text Pipes DN15–150"/>
          <p:cNvSpPr txBox="1"/>
          <p:nvPr/>
        </p:nvSpPr>
        <p:spPr>
          <a:xfrm>
            <a:off x="2971800" y="1417320"/>
            <a:ext cx="4206240" cy="621792"/>
          </a:xfrm>
          <a:prstGeom prst="rect">
            <a:avLst/>
          </a:prstGeom>
          <a:noFill/>
          <a:ln/>
        </p:spPr>
        <p:txBody>
          <a:bodyPr wrap="square" lIns="0" tIns="0" rIns="0" bIns="0" rtlCol="0" anchor="ctr"/>
          <a:lstStyle/>
          <a:p>
            <a:pPr indent="0" marL="0">
              <a:buNone/>
            </a:pPr>
            <a:r>
              <a:rPr lang="en-US" sz="1050" b="1" dirty="0">
                <a:solidFill>
                  <a:schemeClr val="accent1"/>
                </a:solidFill>
              </a:rPr>
              <a:t>Sizes  </a:t>
            </a:r>
            <a:r>
              <a:rPr lang="en-US" sz="1050" dirty="0">
                <a:solidFill>
                  <a:schemeClr val="tx1"/>
                </a:solidFill>
              </a:rPr>
              <a:t>EN 10220 / EN 10255 medium series [4]</a:t>
            </a:r>
            <a:endParaRPr lang="en-US" sz="1050" dirty="0"/>
          </a:p>
          <a:p>
            <a:pPr indent="0" marL="0">
              <a:buNone/>
            </a:pPr>
            <a:r>
              <a:rPr lang="en-US" sz="1050" b="1" dirty="0">
                <a:solidFill>
                  <a:schemeClr val="accent1"/>
                </a:solidFill>
              </a:rPr>
              <a:t>Load  </a:t>
            </a:r>
            <a:r>
              <a:rPr lang="en-US" sz="1050" dirty="0">
                <a:solidFill>
                  <a:schemeClr val="tx1"/>
                </a:solidFill>
              </a:rPr>
              <a:t>steel + water × ASME B31.1 water-service span [8]</a:t>
            </a:r>
            <a:endParaRPr lang="en-US" sz="1050" dirty="0"/>
          </a:p>
        </p:txBody>
      </p:sp>
      <p:sp>
        <p:nvSpPr>
          <p:cNvPr id="8" name="kind Insulation"/>
          <p:cNvSpPr/>
          <p:nvPr/>
        </p:nvSpPr>
        <p:spPr>
          <a:xfrm>
            <a:off x="548640" y="2176272"/>
            <a:ext cx="6812280" cy="713232"/>
          </a:xfrm>
          <a:prstGeom prst="roundRect">
            <a:avLst>
              <a:gd name="adj" fmla="val 8974"/>
            </a:avLst>
          </a:prstGeom>
          <a:solidFill>
            <a:schemeClr val="bg2"/>
          </a:solidFill>
          <a:ln/>
        </p:spPr>
      </p:sp>
      <p:sp>
        <p:nvSpPr>
          <p:cNvPr id="9" name="glyph card Insulation"/>
          <p:cNvSpPr/>
          <p:nvPr/>
        </p:nvSpPr>
        <p:spPr>
          <a:xfrm>
            <a:off x="658368" y="2276856"/>
            <a:ext cx="512064" cy="512064"/>
          </a:xfrm>
          <a:prstGeom prst="roundRect">
            <a:avLst>
              <a:gd name="adj" fmla="val 10714"/>
            </a:avLst>
          </a:prstGeom>
          <a:solidFill>
            <a:srgbClr val="FFFFFF"/>
          </a:solidFill>
          <a:ln w="9525">
            <a:solidFill>
              <a:srgbClr val="E1E0D9"/>
            </a:solidFill>
            <a:prstDash val="solid"/>
          </a:ln>
        </p:spPr>
      </p:sp>
      <p:sp>
        <p:nvSpPr>
          <p:cNvPr id="10" name="glyph insulation ring"/>
          <p:cNvSpPr/>
          <p:nvPr/>
        </p:nvSpPr>
        <p:spPr>
          <a:xfrm>
            <a:off x="694944" y="2313432"/>
            <a:ext cx="438912" cy="438912"/>
          </a:xfrm>
          <a:prstGeom prst="ellipse">
            <a:avLst/>
          </a:prstGeom>
          <a:ln w="12700">
            <a:solidFill>
              <a:srgbClr val="1F2933"/>
            </a:solidFill>
            <a:prstDash val="dash"/>
          </a:ln>
        </p:spPr>
      </p:sp>
      <p:sp>
        <p:nvSpPr>
          <p:cNvPr id="11" name="glyph insulation pipe"/>
          <p:cNvSpPr/>
          <p:nvPr/>
        </p:nvSpPr>
        <p:spPr>
          <a:xfrm>
            <a:off x="804672" y="2423160"/>
            <a:ext cx="219456" cy="219456"/>
          </a:xfrm>
          <a:prstGeom prst="ellipse">
            <a:avLst/>
          </a:prstGeom>
          <a:solidFill>
            <a:srgbClr val="EEF1F4"/>
          </a:solidFill>
          <a:ln w="12700">
            <a:solidFill>
              <a:srgbClr val="1F2933"/>
            </a:solidFill>
            <a:prstDash val="solid"/>
          </a:ln>
        </p:spPr>
      </p:sp>
      <p:sp>
        <p:nvSpPr>
          <p:cNvPr id="12" name="kind name Insulation"/>
          <p:cNvSpPr txBox="1"/>
          <p:nvPr/>
        </p:nvSpPr>
        <p:spPr>
          <a:xfrm>
            <a:off x="1325880" y="2221992"/>
            <a:ext cx="1600200" cy="621792"/>
          </a:xfrm>
          <a:prstGeom prst="rect">
            <a:avLst/>
          </a:prstGeom>
          <a:noFill/>
          <a:ln/>
        </p:spPr>
        <p:txBody>
          <a:bodyPr wrap="square" lIns="0" tIns="0" rIns="0" bIns="0" rtlCol="0" anchor="ctr"/>
          <a:lstStyle/>
          <a:p>
            <a:pPr indent="0" marL="0">
              <a:buNone/>
            </a:pPr>
            <a:r>
              <a:rPr lang="en-US" sz="1300" b="1" dirty="0">
                <a:solidFill>
                  <a:schemeClr val="tx1"/>
                </a:solidFill>
              </a:rPr>
              <a:t>Insulation</a:t>
            </a:r>
            <a:endParaRPr lang="en-US" sz="1300" dirty="0"/>
          </a:p>
        </p:txBody>
      </p:sp>
      <p:sp>
        <p:nvSpPr>
          <p:cNvPr id="13" name="kind text Insulation"/>
          <p:cNvSpPr txBox="1"/>
          <p:nvPr/>
        </p:nvSpPr>
        <p:spPr>
          <a:xfrm>
            <a:off x="2971800" y="2221992"/>
            <a:ext cx="4206240" cy="621792"/>
          </a:xfrm>
          <a:prstGeom prst="rect">
            <a:avLst/>
          </a:prstGeom>
          <a:noFill/>
          <a:ln/>
        </p:spPr>
        <p:txBody>
          <a:bodyPr wrap="square" lIns="0" tIns="0" rIns="0" bIns="0" rtlCol="0" anchor="ctr"/>
          <a:lstStyle/>
          <a:p>
            <a:pPr indent="0" marL="0">
              <a:buNone/>
            </a:pPr>
            <a:r>
              <a:rPr lang="en-US" sz="1050" b="1" dirty="0">
                <a:solidFill>
                  <a:schemeClr val="accent1"/>
                </a:solidFill>
              </a:rPr>
              <a:t>Sizes  </a:t>
            </a:r>
            <a:r>
              <a:rPr lang="en-US" sz="1050" dirty="0">
                <a:solidFill>
                  <a:schemeClr val="tx1"/>
                </a:solidFill>
              </a:rPr>
              <a:t>GEG Anlage 8, heated lines [11]; 30 / 50 mm condensation control, chilled</a:t>
            </a:r>
            <a:endParaRPr lang="en-US" sz="1050" dirty="0"/>
          </a:p>
          <a:p>
            <a:pPr indent="0" marL="0">
              <a:buNone/>
            </a:pPr>
            <a:r>
              <a:rPr lang="en-US" sz="1050" b="1" dirty="0">
                <a:solidFill>
                  <a:schemeClr val="accent1"/>
                </a:solidFill>
              </a:rPr>
              <a:t>Load  </a:t>
            </a:r>
            <a:r>
              <a:rPr lang="en-US" sz="1050" dirty="0">
                <a:solidFill>
                  <a:schemeClr val="tx1"/>
                </a:solidFill>
              </a:rPr>
              <a:t>adds to the size, not the load</a:t>
            </a:r>
            <a:endParaRPr lang="en-US" sz="1050" dirty="0"/>
          </a:p>
        </p:txBody>
      </p:sp>
      <p:sp>
        <p:nvSpPr>
          <p:cNvPr id="14" name="kind Cable trays 150–600"/>
          <p:cNvSpPr/>
          <p:nvPr/>
        </p:nvSpPr>
        <p:spPr>
          <a:xfrm>
            <a:off x="548640" y="2980944"/>
            <a:ext cx="6812280" cy="713232"/>
          </a:xfrm>
          <a:prstGeom prst="roundRect">
            <a:avLst>
              <a:gd name="adj" fmla="val 8974"/>
            </a:avLst>
          </a:prstGeom>
          <a:solidFill>
            <a:schemeClr val="bg2"/>
          </a:solidFill>
          <a:ln/>
        </p:spPr>
      </p:sp>
      <p:sp>
        <p:nvSpPr>
          <p:cNvPr id="15" name="glyph card Cable trays 150–600"/>
          <p:cNvSpPr/>
          <p:nvPr/>
        </p:nvSpPr>
        <p:spPr>
          <a:xfrm>
            <a:off x="658368" y="3081528"/>
            <a:ext cx="512064" cy="512064"/>
          </a:xfrm>
          <a:prstGeom prst="roundRect">
            <a:avLst>
              <a:gd name="adj" fmla="val 10714"/>
            </a:avLst>
          </a:prstGeom>
          <a:solidFill>
            <a:srgbClr val="FFFFFF"/>
          </a:solidFill>
          <a:ln w="9525">
            <a:solidFill>
              <a:srgbClr val="E1E0D9"/>
            </a:solidFill>
            <a:prstDash val="solid"/>
          </a:ln>
        </p:spPr>
      </p:sp>
      <p:sp>
        <p:nvSpPr>
          <p:cNvPr id="16" name="glyph tray base"/>
          <p:cNvSpPr/>
          <p:nvPr/>
        </p:nvSpPr>
        <p:spPr>
          <a:xfrm>
            <a:off x="694944" y="3355848"/>
            <a:ext cx="438912" cy="45720"/>
          </a:xfrm>
          <a:prstGeom prst="rect">
            <a:avLst/>
          </a:prstGeom>
          <a:solidFill>
            <a:srgbClr val="1F2933"/>
          </a:solidFill>
          <a:ln/>
        </p:spPr>
      </p:sp>
      <p:sp>
        <p:nvSpPr>
          <p:cNvPr id="17" name="glyph tray side 0"/>
          <p:cNvSpPr/>
          <p:nvPr/>
        </p:nvSpPr>
        <p:spPr>
          <a:xfrm>
            <a:off x="694944" y="3246120"/>
            <a:ext cx="45720" cy="155448"/>
          </a:xfrm>
          <a:prstGeom prst="rect">
            <a:avLst/>
          </a:prstGeom>
          <a:solidFill>
            <a:srgbClr val="1F2933"/>
          </a:solidFill>
          <a:ln/>
        </p:spPr>
      </p:sp>
      <p:sp>
        <p:nvSpPr>
          <p:cNvPr id="18" name="glyph tray side 1"/>
          <p:cNvSpPr/>
          <p:nvPr/>
        </p:nvSpPr>
        <p:spPr>
          <a:xfrm>
            <a:off x="1088136" y="3246120"/>
            <a:ext cx="45720" cy="155448"/>
          </a:xfrm>
          <a:prstGeom prst="rect">
            <a:avLst/>
          </a:prstGeom>
          <a:solidFill>
            <a:srgbClr val="1F2933"/>
          </a:solidFill>
          <a:ln/>
        </p:spPr>
      </p:sp>
      <p:sp>
        <p:nvSpPr>
          <p:cNvPr id="19" name="kind name Cable trays 150–600"/>
          <p:cNvSpPr txBox="1"/>
          <p:nvPr/>
        </p:nvSpPr>
        <p:spPr>
          <a:xfrm>
            <a:off x="1325880" y="3026664"/>
            <a:ext cx="1600200" cy="621792"/>
          </a:xfrm>
          <a:prstGeom prst="rect">
            <a:avLst/>
          </a:prstGeom>
          <a:noFill/>
          <a:ln/>
        </p:spPr>
        <p:txBody>
          <a:bodyPr wrap="square" lIns="0" tIns="0" rIns="0" bIns="0" rtlCol="0" anchor="ctr"/>
          <a:lstStyle/>
          <a:p>
            <a:pPr indent="0" marL="0">
              <a:buNone/>
            </a:pPr>
            <a:r>
              <a:rPr lang="en-US" sz="1300" b="1" dirty="0">
                <a:solidFill>
                  <a:schemeClr val="tx1"/>
                </a:solidFill>
              </a:rPr>
              <a:t>Cable trays 150–600</a:t>
            </a:r>
            <a:endParaRPr lang="en-US" sz="1300" dirty="0"/>
          </a:p>
        </p:txBody>
      </p:sp>
      <p:sp>
        <p:nvSpPr>
          <p:cNvPr id="20" name="kind text Cable trays 150–600"/>
          <p:cNvSpPr txBox="1"/>
          <p:nvPr/>
        </p:nvSpPr>
        <p:spPr>
          <a:xfrm>
            <a:off x="2971800" y="3026664"/>
            <a:ext cx="4206240" cy="621792"/>
          </a:xfrm>
          <a:prstGeom prst="rect">
            <a:avLst/>
          </a:prstGeom>
          <a:noFill/>
          <a:ln/>
        </p:spPr>
        <p:txBody>
          <a:bodyPr wrap="square" lIns="0" tIns="0" rIns="0" bIns="0" rtlCol="0" anchor="ctr"/>
          <a:lstStyle/>
          <a:p>
            <a:pPr indent="0" marL="0">
              <a:buNone/>
            </a:pPr>
            <a:r>
              <a:rPr lang="en-US" sz="1050" b="1" dirty="0">
                <a:solidFill>
                  <a:schemeClr val="accent1"/>
                </a:solidFill>
              </a:rPr>
              <a:t>Sizes  </a:t>
            </a:r>
            <a:r>
              <a:rPr lang="en-US" sz="1050" dirty="0">
                <a:solidFill>
                  <a:schemeClr val="tx1"/>
                </a:solidFill>
              </a:rPr>
              <a:t>IEC 61537 systems [6] in NEMA VE 1 widths [7]</a:t>
            </a:r>
            <a:endParaRPr lang="en-US" sz="1050" dirty="0"/>
          </a:p>
          <a:p>
            <a:pPr indent="0" marL="0">
              <a:buNone/>
            </a:pPr>
            <a:r>
              <a:rPr lang="en-US" sz="1050" b="1" dirty="0">
                <a:solidFill>
                  <a:schemeClr val="accent1"/>
                </a:solidFill>
              </a:rPr>
              <a:t>Load  </a:t>
            </a:r>
            <a:r>
              <a:rPr lang="en-US" sz="1050" dirty="0">
                <a:solidFill>
                  <a:schemeClr val="tx1"/>
                </a:solidFill>
              </a:rPr>
              <a:t>50 kg/m full at 300 mm × 2.0 m, below the shortest NEMA class span [7]</a:t>
            </a:r>
            <a:endParaRPr lang="en-US" sz="1050" dirty="0"/>
          </a:p>
        </p:txBody>
      </p:sp>
      <p:sp>
        <p:nvSpPr>
          <p:cNvPr id="21" name="kind Ducts"/>
          <p:cNvSpPr/>
          <p:nvPr/>
        </p:nvSpPr>
        <p:spPr>
          <a:xfrm>
            <a:off x="548640" y="3785616"/>
            <a:ext cx="6812280" cy="713232"/>
          </a:xfrm>
          <a:prstGeom prst="roundRect">
            <a:avLst>
              <a:gd name="adj" fmla="val 8974"/>
            </a:avLst>
          </a:prstGeom>
          <a:solidFill>
            <a:schemeClr val="bg2"/>
          </a:solidFill>
          <a:ln/>
        </p:spPr>
      </p:sp>
      <p:sp>
        <p:nvSpPr>
          <p:cNvPr id="22" name="glyph card Ducts"/>
          <p:cNvSpPr/>
          <p:nvPr/>
        </p:nvSpPr>
        <p:spPr>
          <a:xfrm>
            <a:off x="658368" y="3886200"/>
            <a:ext cx="512064" cy="512064"/>
          </a:xfrm>
          <a:prstGeom prst="roundRect">
            <a:avLst>
              <a:gd name="adj" fmla="val 10714"/>
            </a:avLst>
          </a:prstGeom>
          <a:solidFill>
            <a:srgbClr val="FFFFFF"/>
          </a:solidFill>
          <a:ln w="9525">
            <a:solidFill>
              <a:srgbClr val="E1E0D9"/>
            </a:solidFill>
            <a:prstDash val="solid"/>
          </a:ln>
        </p:spPr>
      </p:sp>
      <p:sp>
        <p:nvSpPr>
          <p:cNvPr id="23" name="glyph duct"/>
          <p:cNvSpPr/>
          <p:nvPr/>
        </p:nvSpPr>
        <p:spPr>
          <a:xfrm>
            <a:off x="694944" y="3995928"/>
            <a:ext cx="438912" cy="292608"/>
          </a:xfrm>
          <a:prstGeom prst="rect">
            <a:avLst/>
          </a:prstGeom>
          <a:solidFill>
            <a:srgbClr val="EEF1F4"/>
          </a:solidFill>
          <a:ln w="12700">
            <a:solidFill>
              <a:srgbClr val="1F2933"/>
            </a:solidFill>
            <a:prstDash val="solid"/>
          </a:ln>
        </p:spPr>
      </p:sp>
      <p:sp>
        <p:nvSpPr>
          <p:cNvPr id="24" name="kind name Ducts"/>
          <p:cNvSpPr txBox="1"/>
          <p:nvPr/>
        </p:nvSpPr>
        <p:spPr>
          <a:xfrm>
            <a:off x="1325880" y="3831336"/>
            <a:ext cx="1600200" cy="621792"/>
          </a:xfrm>
          <a:prstGeom prst="rect">
            <a:avLst/>
          </a:prstGeom>
          <a:noFill/>
          <a:ln/>
        </p:spPr>
        <p:txBody>
          <a:bodyPr wrap="square" lIns="0" tIns="0" rIns="0" bIns="0" rtlCol="0" anchor="ctr"/>
          <a:lstStyle/>
          <a:p>
            <a:pPr indent="0" marL="0">
              <a:buNone/>
            </a:pPr>
            <a:r>
              <a:rPr lang="en-US" sz="1300" b="1" dirty="0">
                <a:solidFill>
                  <a:schemeClr val="tx1"/>
                </a:solidFill>
              </a:rPr>
              <a:t>Ducts</a:t>
            </a:r>
            <a:endParaRPr lang="en-US" sz="1300" dirty="0"/>
          </a:p>
        </p:txBody>
      </p:sp>
      <p:sp>
        <p:nvSpPr>
          <p:cNvPr id="25" name="kind text Ducts"/>
          <p:cNvSpPr txBox="1"/>
          <p:nvPr/>
        </p:nvSpPr>
        <p:spPr>
          <a:xfrm>
            <a:off x="2971800" y="3831336"/>
            <a:ext cx="4206240" cy="621792"/>
          </a:xfrm>
          <a:prstGeom prst="rect">
            <a:avLst/>
          </a:prstGeom>
          <a:noFill/>
          <a:ln/>
        </p:spPr>
        <p:txBody>
          <a:bodyPr wrap="square" lIns="0" tIns="0" rIns="0" bIns="0" rtlCol="0" anchor="ctr"/>
          <a:lstStyle/>
          <a:p>
            <a:pPr indent="0" marL="0">
              <a:buNone/>
            </a:pPr>
            <a:r>
              <a:rPr lang="en-US" sz="1050" b="1" dirty="0">
                <a:solidFill>
                  <a:schemeClr val="accent1"/>
                </a:solidFill>
              </a:rPr>
              <a:t>Sizes  </a:t>
            </a:r>
            <a:r>
              <a:rPr lang="en-US" sz="1050" dirty="0">
                <a:solidFill>
                  <a:schemeClr val="tx1"/>
                </a:solidFill>
              </a:rPr>
              <a:t>EN 1505 rectangular, EN 1506 round [5]</a:t>
            </a:r>
            <a:endParaRPr lang="en-US" sz="1050" dirty="0"/>
          </a:p>
          <a:p>
            <a:pPr indent="0" marL="0">
              <a:buNone/>
            </a:pPr>
            <a:r>
              <a:rPr lang="en-US" sz="1050" b="1" dirty="0">
                <a:solidFill>
                  <a:schemeClr val="accent1"/>
                </a:solidFill>
              </a:rPr>
              <a:t>Load  </a:t>
            </a:r>
            <a:r>
              <a:rPr lang="en-US" sz="1050" dirty="0">
                <a:solidFill>
                  <a:schemeClr val="tx1"/>
                </a:solidFill>
              </a:rPr>
              <a:t>manufacturer weight table with flanges × 2.4 m (SMACNA) [9]</a:t>
            </a:r>
            <a:endParaRPr lang="en-US" sz="1050" dirty="0"/>
          </a:p>
        </p:txBody>
      </p:sp>
      <p:sp>
        <p:nvSpPr>
          <p:cNvPr id="26" name="kind Conduits Ø20–50"/>
          <p:cNvSpPr/>
          <p:nvPr/>
        </p:nvSpPr>
        <p:spPr>
          <a:xfrm>
            <a:off x="548640" y="4590288"/>
            <a:ext cx="6812280" cy="713232"/>
          </a:xfrm>
          <a:prstGeom prst="roundRect">
            <a:avLst>
              <a:gd name="adj" fmla="val 8974"/>
            </a:avLst>
          </a:prstGeom>
          <a:solidFill>
            <a:schemeClr val="bg2"/>
          </a:solidFill>
          <a:ln/>
        </p:spPr>
      </p:sp>
      <p:sp>
        <p:nvSpPr>
          <p:cNvPr id="27" name="glyph card Conduits Ø20–50"/>
          <p:cNvSpPr/>
          <p:nvPr/>
        </p:nvSpPr>
        <p:spPr>
          <a:xfrm>
            <a:off x="658368" y="4690872"/>
            <a:ext cx="512064" cy="512064"/>
          </a:xfrm>
          <a:prstGeom prst="roundRect">
            <a:avLst>
              <a:gd name="adj" fmla="val 10714"/>
            </a:avLst>
          </a:prstGeom>
          <a:solidFill>
            <a:srgbClr val="FFFFFF"/>
          </a:solidFill>
          <a:ln w="9525">
            <a:solidFill>
              <a:srgbClr val="E1E0D9"/>
            </a:solidFill>
            <a:prstDash val="solid"/>
          </a:ln>
        </p:spPr>
      </p:sp>
      <p:sp>
        <p:nvSpPr>
          <p:cNvPr id="28" name="glyph conduit 0"/>
          <p:cNvSpPr/>
          <p:nvPr/>
        </p:nvSpPr>
        <p:spPr>
          <a:xfrm>
            <a:off x="704088" y="4873752"/>
            <a:ext cx="128016" cy="128016"/>
          </a:xfrm>
          <a:prstGeom prst="ellipse">
            <a:avLst/>
          </a:prstGeom>
          <a:solidFill>
            <a:srgbClr val="EEF1F4"/>
          </a:solidFill>
          <a:ln w="12700">
            <a:solidFill>
              <a:srgbClr val="1F2933"/>
            </a:solidFill>
            <a:prstDash val="solid"/>
          </a:ln>
        </p:spPr>
      </p:sp>
      <p:sp>
        <p:nvSpPr>
          <p:cNvPr id="29" name="glyph conduit 1"/>
          <p:cNvSpPr/>
          <p:nvPr/>
        </p:nvSpPr>
        <p:spPr>
          <a:xfrm>
            <a:off x="859536" y="4873752"/>
            <a:ext cx="128016" cy="128016"/>
          </a:xfrm>
          <a:prstGeom prst="ellipse">
            <a:avLst/>
          </a:prstGeom>
          <a:solidFill>
            <a:srgbClr val="EEF1F4"/>
          </a:solidFill>
          <a:ln w="12700">
            <a:solidFill>
              <a:srgbClr val="1F2933"/>
            </a:solidFill>
            <a:prstDash val="solid"/>
          </a:ln>
        </p:spPr>
      </p:sp>
      <p:sp>
        <p:nvSpPr>
          <p:cNvPr id="30" name="glyph conduit 2"/>
          <p:cNvSpPr/>
          <p:nvPr/>
        </p:nvSpPr>
        <p:spPr>
          <a:xfrm>
            <a:off x="1014984" y="4873752"/>
            <a:ext cx="128016" cy="128016"/>
          </a:xfrm>
          <a:prstGeom prst="ellipse">
            <a:avLst/>
          </a:prstGeom>
          <a:solidFill>
            <a:srgbClr val="EEF1F4"/>
          </a:solidFill>
          <a:ln w="12700">
            <a:solidFill>
              <a:srgbClr val="1F2933"/>
            </a:solidFill>
            <a:prstDash val="solid"/>
          </a:ln>
        </p:spPr>
      </p:sp>
      <p:sp>
        <p:nvSpPr>
          <p:cNvPr id="31" name="kind name Conduits Ø20–50"/>
          <p:cNvSpPr txBox="1"/>
          <p:nvPr/>
        </p:nvSpPr>
        <p:spPr>
          <a:xfrm>
            <a:off x="1325880" y="4636008"/>
            <a:ext cx="1600200" cy="621792"/>
          </a:xfrm>
          <a:prstGeom prst="rect">
            <a:avLst/>
          </a:prstGeom>
          <a:noFill/>
          <a:ln/>
        </p:spPr>
        <p:txBody>
          <a:bodyPr wrap="square" lIns="0" tIns="0" rIns="0" bIns="0" rtlCol="0" anchor="ctr"/>
          <a:lstStyle/>
          <a:p>
            <a:pPr indent="0" marL="0">
              <a:buNone/>
            </a:pPr>
            <a:r>
              <a:rPr lang="en-US" sz="1300" b="1" dirty="0">
                <a:solidFill>
                  <a:schemeClr val="tx1"/>
                </a:solidFill>
              </a:rPr>
              <a:t>Conduits Ø20–50</a:t>
            </a:r>
            <a:endParaRPr lang="en-US" sz="1300" dirty="0"/>
          </a:p>
        </p:txBody>
      </p:sp>
      <p:sp>
        <p:nvSpPr>
          <p:cNvPr id="32" name="kind text Conduits Ø20–50"/>
          <p:cNvSpPr txBox="1"/>
          <p:nvPr/>
        </p:nvSpPr>
        <p:spPr>
          <a:xfrm>
            <a:off x="2971800" y="4636008"/>
            <a:ext cx="4206240" cy="621792"/>
          </a:xfrm>
          <a:prstGeom prst="rect">
            <a:avLst/>
          </a:prstGeom>
          <a:noFill/>
          <a:ln/>
        </p:spPr>
        <p:txBody>
          <a:bodyPr wrap="square" lIns="0" tIns="0" rIns="0" bIns="0" rtlCol="0" anchor="ctr"/>
          <a:lstStyle/>
          <a:p>
            <a:pPr indent="0" marL="0">
              <a:buNone/>
            </a:pPr>
            <a:r>
              <a:rPr lang="en-US" sz="1050" b="1" dirty="0">
                <a:solidFill>
                  <a:schemeClr val="accent1"/>
                </a:solidFill>
              </a:rPr>
              <a:t>Sizes  </a:t>
            </a:r>
            <a:r>
              <a:rPr lang="en-US" sz="1050" dirty="0">
                <a:solidFill>
                  <a:schemeClr val="tx1"/>
                </a:solidFill>
              </a:rPr>
              <a:t>IEC 61386-1 [6], parallel groups of 2–6</a:t>
            </a:r>
            <a:endParaRPr lang="en-US" sz="1050" dirty="0"/>
          </a:p>
          <a:p>
            <a:pPr indent="0" marL="0">
              <a:buNone/>
            </a:pPr>
            <a:r>
              <a:rPr lang="en-US" sz="1050" b="1" dirty="0">
                <a:solidFill>
                  <a:schemeClr val="accent1"/>
                </a:solidFill>
              </a:rPr>
              <a:t>Load  </a:t>
            </a:r>
            <a:r>
              <a:rPr lang="en-US" sz="1050" dirty="0">
                <a:solidFill>
                  <a:schemeClr val="tx1"/>
                </a:solidFill>
              </a:rPr>
              <a:t>steel tube + 40 % cable fill × 2.0 m (IET / BS 7671) [10]</a:t>
            </a:r>
            <a:endParaRPr lang="en-US" sz="1050" dirty="0"/>
          </a:p>
        </p:txBody>
      </p:sp>
      <p:sp>
        <p:nvSpPr>
          <p:cNvPr id="33" name="ground Standards"/>
          <p:cNvSpPr/>
          <p:nvPr/>
        </p:nvSpPr>
        <p:spPr>
          <a:xfrm>
            <a:off x="7589520" y="1371600"/>
            <a:ext cx="4050792" cy="1219200"/>
          </a:xfrm>
          <a:prstGeom prst="roundRect">
            <a:avLst>
              <a:gd name="adj" fmla="val 5250"/>
            </a:avLst>
          </a:prstGeom>
          <a:solidFill>
            <a:schemeClr val="bg2"/>
          </a:solidFill>
          <a:ln/>
        </p:spPr>
      </p:sp>
      <p:sp>
        <p:nvSpPr>
          <p:cNvPr id="34" name="ground bar Standards"/>
          <p:cNvSpPr/>
          <p:nvPr/>
        </p:nvSpPr>
        <p:spPr>
          <a:xfrm>
            <a:off x="7662672" y="1499616"/>
            <a:ext cx="73152" cy="963168"/>
          </a:xfrm>
          <a:prstGeom prst="roundRect">
            <a:avLst>
              <a:gd name="adj" fmla="val 50000"/>
            </a:avLst>
          </a:prstGeom>
          <a:solidFill>
            <a:schemeClr val="accent1"/>
          </a:solidFill>
          <a:ln/>
        </p:spPr>
      </p:sp>
      <p:sp>
        <p:nvSpPr>
          <p:cNvPr id="35" name="ground ring Standards"/>
          <p:cNvSpPr/>
          <p:nvPr/>
        </p:nvSpPr>
        <p:spPr>
          <a:xfrm>
            <a:off x="7863840" y="1716024"/>
            <a:ext cx="530352" cy="530352"/>
          </a:xfrm>
          <a:prstGeom prst="ellipse">
            <a:avLst/>
          </a:prstGeom>
          <a:solidFill>
            <a:schemeClr val="accent1"/>
          </a:solidFill>
          <a:ln/>
        </p:spPr>
      </p:sp>
      <p:pic>
        <p:nvPicPr>
          <p:cNvPr id="36" name="ground icon Standards" descr="preencoded.png">    </p:cNvPr>
          <p:cNvPicPr>
            <a:picLocks noChangeAspect="1"/>
          </p:cNvPicPr>
          <p:nvPr/>
        </p:nvPicPr>
        <p:blipFill>
          <a:blip r:embed="rId1"/>
          <a:stretch>
            <a:fillRect/>
          </a:stretch>
        </p:blipFill>
        <p:spPr>
          <a:xfrm>
            <a:off x="7982712" y="1834896"/>
            <a:ext cx="292608" cy="292608"/>
          </a:xfrm>
          <a:prstGeom prst="rect">
            <a:avLst/>
          </a:prstGeom>
        </p:spPr>
      </p:pic>
      <p:sp>
        <p:nvSpPr>
          <p:cNvPr id="37" name="ground text Standards"/>
          <p:cNvSpPr txBox="1"/>
          <p:nvPr/>
        </p:nvSpPr>
        <p:spPr>
          <a:xfrm>
            <a:off x="8549640" y="1371600"/>
            <a:ext cx="2907792" cy="1219200"/>
          </a:xfrm>
          <a:prstGeom prst="rect">
            <a:avLst/>
          </a:prstGeom>
          <a:noFill/>
          <a:ln/>
        </p:spPr>
        <p:txBody>
          <a:bodyPr wrap="square" lIns="0" tIns="0" rIns="0" bIns="0" rtlCol="0" anchor="ctr"/>
          <a:lstStyle/>
          <a:p>
            <a:pPr indent="0" marL="0">
              <a:buNone/>
            </a:pPr>
            <a:r>
              <a:rPr lang="en-US" sz="1400" b="1" dirty="0">
                <a:solidFill>
                  <a:schemeClr val="tx1"/>
                </a:solidFill>
              </a:rPr>
              <a:t>Standards</a:t>
            </a:r>
            <a:endParaRPr lang="en-US" sz="1400" dirty="0"/>
          </a:p>
          <a:p>
            <a:pPr indent="0" marL="0">
              <a:buNone/>
            </a:pPr>
            <a:r>
              <a:rPr lang="en-US" sz="1100" dirty="0">
                <a:solidFill>
                  <a:srgbClr val="52514E"/>
                </a:solidFill>
              </a:rPr>
              <a:t>what each element is and weighs: sizes, walls, spans, insulation [4]–[11]</a:t>
            </a:r>
            <a:endParaRPr lang="en-US" sz="1400" dirty="0"/>
          </a:p>
        </p:txBody>
      </p:sp>
      <p:sp>
        <p:nvSpPr>
          <p:cNvPr id="38" name="ground Measured"/>
          <p:cNvSpPr/>
          <p:nvPr/>
        </p:nvSpPr>
        <p:spPr>
          <a:xfrm>
            <a:off x="7589520" y="2727960"/>
            <a:ext cx="4050792" cy="1219200"/>
          </a:xfrm>
          <a:prstGeom prst="roundRect">
            <a:avLst>
              <a:gd name="adj" fmla="val 5250"/>
            </a:avLst>
          </a:prstGeom>
          <a:solidFill>
            <a:schemeClr val="bg2"/>
          </a:solidFill>
          <a:ln/>
        </p:spPr>
      </p:sp>
      <p:sp>
        <p:nvSpPr>
          <p:cNvPr id="39" name="ground bar Measured"/>
          <p:cNvSpPr/>
          <p:nvPr/>
        </p:nvSpPr>
        <p:spPr>
          <a:xfrm>
            <a:off x="7662672" y="2855976"/>
            <a:ext cx="73152" cy="963168"/>
          </a:xfrm>
          <a:prstGeom prst="roundRect">
            <a:avLst>
              <a:gd name="adj" fmla="val 50000"/>
            </a:avLst>
          </a:prstGeom>
          <a:solidFill>
            <a:srgbClr val="1BAF7A"/>
          </a:solidFill>
          <a:ln/>
        </p:spPr>
      </p:sp>
      <p:sp>
        <p:nvSpPr>
          <p:cNvPr id="40" name="ground ring Measured"/>
          <p:cNvSpPr/>
          <p:nvPr/>
        </p:nvSpPr>
        <p:spPr>
          <a:xfrm>
            <a:off x="7863840" y="3072384"/>
            <a:ext cx="530352" cy="530352"/>
          </a:xfrm>
          <a:prstGeom prst="ellipse">
            <a:avLst/>
          </a:prstGeom>
          <a:solidFill>
            <a:srgbClr val="1BAF7A"/>
          </a:solidFill>
          <a:ln/>
        </p:spPr>
      </p:sp>
      <p:pic>
        <p:nvPicPr>
          <p:cNvPr id="41" name="ground icon Measured" descr="preencoded.png">    </p:cNvPr>
          <p:cNvPicPr>
            <a:picLocks noChangeAspect="1"/>
          </p:cNvPicPr>
          <p:nvPr/>
        </p:nvPicPr>
        <p:blipFill>
          <a:blip r:embed="rId2"/>
          <a:stretch>
            <a:fillRect/>
          </a:stretch>
        </p:blipFill>
        <p:spPr>
          <a:xfrm>
            <a:off x="7982712" y="3191256"/>
            <a:ext cx="292608" cy="292608"/>
          </a:xfrm>
          <a:prstGeom prst="rect">
            <a:avLst/>
          </a:prstGeom>
        </p:spPr>
      </p:pic>
      <p:sp>
        <p:nvSpPr>
          <p:cNvPr id="42" name="ground text Measured"/>
          <p:cNvSpPr txBox="1"/>
          <p:nvPr/>
        </p:nvSpPr>
        <p:spPr>
          <a:xfrm>
            <a:off x="8549640" y="2727960"/>
            <a:ext cx="2907792" cy="1219200"/>
          </a:xfrm>
          <a:prstGeom prst="rect">
            <a:avLst/>
          </a:prstGeom>
          <a:noFill/>
          <a:ln/>
        </p:spPr>
        <p:txBody>
          <a:bodyPr wrap="square" lIns="0" tIns="0" rIns="0" bIns="0" rtlCol="0" anchor="ctr"/>
          <a:lstStyle/>
          <a:p>
            <a:pPr indent="0" marL="0">
              <a:buNone/>
            </a:pPr>
            <a:r>
              <a:rPr lang="en-US" sz="1400" b="1" dirty="0">
                <a:solidFill>
                  <a:schemeClr val="tx1"/>
                </a:solidFill>
              </a:rPr>
              <a:t>Measured</a:t>
            </a:r>
            <a:endParaRPr lang="en-US" sz="1400" dirty="0"/>
          </a:p>
          <a:p>
            <a:pPr indent="0" marL="0">
              <a:buNone/>
            </a:pPr>
            <a:r>
              <a:rPr lang="en-US" sz="1100" dirty="0">
                <a:solidFill>
                  <a:srgbClr val="52514E"/>
                </a:solidFill>
              </a:rPr>
              <a:t>how close neighbours sit: clear gaps and row stagger from two open buildings [12]</a:t>
            </a:r>
            <a:endParaRPr lang="en-US" sz="1400" dirty="0"/>
          </a:p>
        </p:txBody>
      </p:sp>
      <p:sp>
        <p:nvSpPr>
          <p:cNvPr id="43" name="ground Declared"/>
          <p:cNvSpPr/>
          <p:nvPr/>
        </p:nvSpPr>
        <p:spPr>
          <a:xfrm>
            <a:off x="7589520" y="4084320"/>
            <a:ext cx="4050792" cy="1219200"/>
          </a:xfrm>
          <a:prstGeom prst="roundRect">
            <a:avLst>
              <a:gd name="adj" fmla="val 5250"/>
            </a:avLst>
          </a:prstGeom>
          <a:solidFill>
            <a:schemeClr val="bg2"/>
          </a:solidFill>
          <a:ln/>
        </p:spPr>
      </p:sp>
      <p:sp>
        <p:nvSpPr>
          <p:cNvPr id="44" name="ground bar Declared"/>
          <p:cNvSpPr/>
          <p:nvPr/>
        </p:nvSpPr>
        <p:spPr>
          <a:xfrm>
            <a:off x="7662672" y="4212336"/>
            <a:ext cx="73152" cy="963168"/>
          </a:xfrm>
          <a:prstGeom prst="roundRect">
            <a:avLst>
              <a:gd name="adj" fmla="val 50000"/>
            </a:avLst>
          </a:prstGeom>
          <a:solidFill>
            <a:srgbClr val="EB6834"/>
          </a:solidFill>
          <a:ln/>
        </p:spPr>
      </p:sp>
      <p:sp>
        <p:nvSpPr>
          <p:cNvPr id="45" name="ground ring Declared"/>
          <p:cNvSpPr/>
          <p:nvPr/>
        </p:nvSpPr>
        <p:spPr>
          <a:xfrm>
            <a:off x="7863840" y="4428744"/>
            <a:ext cx="530352" cy="530352"/>
          </a:xfrm>
          <a:prstGeom prst="ellipse">
            <a:avLst/>
          </a:prstGeom>
          <a:solidFill>
            <a:srgbClr val="EB6834"/>
          </a:solidFill>
          <a:ln/>
        </p:spPr>
      </p:sp>
      <p:pic>
        <p:nvPicPr>
          <p:cNvPr id="46" name="ground icon Declared" descr="preencoded.png">    </p:cNvPr>
          <p:cNvPicPr>
            <a:picLocks noChangeAspect="1"/>
          </p:cNvPicPr>
          <p:nvPr/>
        </p:nvPicPr>
        <p:blipFill>
          <a:blip r:embed="rId3"/>
          <a:stretch>
            <a:fillRect/>
          </a:stretch>
        </p:blipFill>
        <p:spPr>
          <a:xfrm>
            <a:off x="7982712" y="4547616"/>
            <a:ext cx="292608" cy="292608"/>
          </a:xfrm>
          <a:prstGeom prst="rect">
            <a:avLst/>
          </a:prstGeom>
        </p:spPr>
      </p:pic>
      <p:sp>
        <p:nvSpPr>
          <p:cNvPr id="47" name="ground text Declared"/>
          <p:cNvSpPr txBox="1"/>
          <p:nvPr/>
        </p:nvSpPr>
        <p:spPr>
          <a:xfrm>
            <a:off x="8549640" y="4084320"/>
            <a:ext cx="2907792" cy="1219200"/>
          </a:xfrm>
          <a:prstGeom prst="rect">
            <a:avLst/>
          </a:prstGeom>
          <a:noFill/>
          <a:ln/>
        </p:spPr>
        <p:txBody>
          <a:bodyPr wrap="square" lIns="0" tIns="0" rIns="0" bIns="0" rtlCol="0" anchor="ctr"/>
          <a:lstStyle/>
          <a:p>
            <a:pPr indent="0" marL="0">
              <a:buNone/>
            </a:pPr>
            <a:r>
              <a:rPr lang="en-US" sz="1400" b="1" dirty="0">
                <a:solidFill>
                  <a:schemeClr val="tx1"/>
                </a:solidFill>
              </a:rPr>
              <a:t>Declared</a:t>
            </a:r>
            <a:endParaRPr lang="en-US" sz="1400" dirty="0"/>
          </a:p>
          <a:p>
            <a:pPr indent="0" marL="0">
              <a:buNone/>
            </a:pPr>
            <a:r>
              <a:rPr lang="en-US" sz="1100" dirty="0">
                <a:solidFill>
                  <a:srgbClr val="52514E"/>
                </a:solidFill>
              </a:rPr>
              <a:t>our choices, labelled as such: trade mix, ceiling / wall 78 / 22 %, number of rows</a:t>
            </a:r>
            <a:endParaRPr lang="en-US" sz="1400" dirty="0"/>
          </a:p>
        </p:txBody>
      </p:sp>
      <p:sp>
        <p:nvSpPr>
          <p:cNvPr id="48" name="sources note"/>
          <p:cNvSpPr txBox="1"/>
          <p:nvPr/>
        </p:nvSpPr>
        <p:spPr>
          <a:xfrm>
            <a:off x="548640" y="5376672"/>
            <a:ext cx="11091672" cy="274320"/>
          </a:xfrm>
          <a:prstGeom prst="rect">
            <a:avLst/>
          </a:prstGeom>
          <a:noFill/>
          <a:ln/>
        </p:spPr>
        <p:txBody>
          <a:bodyPr wrap="square" lIns="0" tIns="0" rIns="0" bIns="0" rtlCol="0" anchor="t"/>
          <a:lstStyle/>
          <a:p>
            <a:pPr indent="0" marL="0">
              <a:buNone/>
            </a:pPr>
            <a:r>
              <a:rPr lang="en-US" sz="1100" dirty="0">
                <a:solidFill>
                  <a:srgbClr val="52514E"/>
                </a:solidFill>
              </a:rPr>
              <a:t>Every constant carries its source and its status, and why each standard was chosen over its alternatives is written down with it.</a:t>
            </a:r>
            <a:endParaRPr lang="en-US" sz="1100" dirty="0"/>
          </a:p>
        </p:txBody>
      </p:sp>
      <p:sp>
        <p:nvSpPr>
          <p:cNvPr id="49" name="references"/>
          <p:cNvSpPr txBox="1"/>
          <p:nvPr/>
        </p:nvSpPr>
        <p:spPr>
          <a:xfrm>
            <a:off x="548640" y="5687568"/>
            <a:ext cx="11091672" cy="694944"/>
          </a:xfrm>
          <a:prstGeom prst="rect">
            <a:avLst/>
          </a:prstGeom>
          <a:noFill/>
          <a:ln/>
        </p:spPr>
        <p:txBody>
          <a:bodyPr wrap="square" lIns="0" tIns="0" rIns="0" bIns="0" rtlCol="0" anchor="b"/>
          <a:lstStyle/>
          <a:p>
            <a:pPr indent="0" marL="0">
              <a:buNone/>
            </a:pPr>
            <a:r>
              <a:rPr lang="en-US" sz="900" dirty="0">
                <a:solidFill>
                  <a:srgbClr val="52514E"/>
                </a:solidFill>
              </a:rPr>
              <a:t>[4] EN 10220:2002, EN 10255:2004 (steel tubes: dimensions, medium series)   [5] EN 1505:1997, EN 1506:2007 (sheet-metal air ducts: rectangular and circular dimensions)   [6] IEC 61386-1 (conduit systems), IEC 61537 (cable tray and ladder systems)   [7] NEMA VE 1 (metal cable tray systems: widths, load-class spans)   [8] ASME B31.1 Table 121.5 (hanger spacing), as republished in the ASHRAE Handbook, HVAC Systems and Equipment   [9] SMACNA, HVAC Duct Construction Standards, Metal and Flexible, Table 5-1   [10] IET On-Site Guide (BS 7671), conduit support spacing; BS 7671 Reg. 528.3.2   [11] GEG (Gebäudeenergiegesetz), Anlage 8 (pipe insulation thickness)   [12] buildingSMART International (2020), Duplex Apartment and Medical-Dental Clinic sample IFC files, CC BY 4.0</a:t>
            </a:r>
            <a:endParaRPr lang="en-US" sz="900" dirty="0"/>
          </a:p>
        </p:txBody>
      </p:sp>
      <p:sp>
        <p:nvSpPr>
          <p:cNvPr id="50"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The tier fixes the element count, and load and congestion grow with it as the rules intend</a:t>
            </a:r>
            <a:endParaRPr lang="en-US" sz="2600" dirty="0"/>
          </a:p>
        </p:txBody>
      </p:sp>
      <p:graphicFrame>
        <p:nvGraphicFramePr>
          <p:cNvPr id="3" name="load chart" descr=""/>
          <p:cNvGraphicFramePr/>
          <p:nvPr/>
        </p:nvGraphicFramePr>
        <p:xfrm>
          <a:off x="548640" y="1325880"/>
          <a:ext cx="544068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ap chart" descr=""/>
          <p:cNvGraphicFramePr/>
          <p:nvPr/>
        </p:nvGraphicFramePr>
        <p:xfrm>
          <a:off x="6199632" y="1325880"/>
          <a:ext cx="5440680" cy="4343400"/>
        </p:xfrm>
        <a:graphic xmlns:a="http://schemas.openxmlformats.org/drawingml/2006/main">
          <a:graphicData uri="http://schemas.openxmlformats.org/drawingml/2006/chart">
            <c:chart xmlns:c="http://schemas.openxmlformats.org/drawingml/2006/chart" r:id="rId2"/>
          </a:graphicData>
        </a:graphic>
      </p:graphicFrame>
      <p:sp>
        <p:nvSpPr>
          <p:cNvPr id="5" name="experiment 1 caption"/>
          <p:cNvSpPr txBox="1"/>
          <p:nvPr/>
        </p:nvSpPr>
        <p:spPr>
          <a:xfrm>
            <a:off x="548640" y="5760720"/>
            <a:ext cx="11091672" cy="502920"/>
          </a:xfrm>
          <a:prstGeom prst="rect">
            <a:avLst/>
          </a:prstGeom>
          <a:noFill/>
          <a:ln/>
        </p:spPr>
        <p:txBody>
          <a:bodyPr wrap="square" lIns="0" tIns="0" rIns="0" bIns="0" rtlCol="0" anchor="t"/>
          <a:lstStyle/>
          <a:p>
            <a:pPr indent="0" marL="0">
              <a:buNone/>
            </a:pPr>
            <a:r>
              <a:rPr lang="en-US" sz="1100" dirty="0">
                <a:solidFill>
                  <a:srgbClr val="52514E"/>
                </a:solidFill>
              </a:rPr>
              <a:t>A check that the dataset behaves as designed, not a discovery: the tier fixes the element count; load and congestion follow from the rules. Within a tier, kinds, trades, surfaces and stacking all vary. Load rises with the tier (rank correlation +0.46 on the benchmark, 125 contexts per tier; the population medians rise at every step) and the closest gap narrows at every step (−0.38); intervals are bootstrapped over contexts.</a:t>
            </a:r>
            <a:endParaRPr lang="en-US" sz="1100" dirty="0"/>
          </a:p>
        </p:txBody>
      </p:sp>
      <p:sp>
        <p:nvSpPr>
          <p:cNvPr id="6"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Generated spacing matches a clinic the generator never saw to within 32 millimetres</a:t>
            </a:r>
            <a:endParaRPr lang="en-US" sz="2600" dirty="0"/>
          </a:p>
        </p:txBody>
      </p:sp>
      <p:graphicFrame>
        <p:nvGraphicFramePr>
          <p:cNvPr id="3" name="gap histogram" descr=""/>
          <p:cNvGraphicFramePr/>
          <p:nvPr/>
        </p:nvGraphicFramePr>
        <p:xfrm>
          <a:off x="548640" y="132588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4" name="distance panel"/>
          <p:cNvSpPr/>
          <p:nvPr/>
        </p:nvSpPr>
        <p:spPr>
          <a:xfrm>
            <a:off x="6172200" y="1325880"/>
            <a:ext cx="5468112" cy="3749040"/>
          </a:xfrm>
          <a:prstGeom prst="roundRect">
            <a:avLst>
              <a:gd name="adj" fmla="val 1707"/>
            </a:avLst>
          </a:prstGeom>
          <a:solidFill>
            <a:schemeClr val="bg2"/>
          </a:solidFill>
          <a:ln/>
        </p:spPr>
      </p:sp>
      <p:sp>
        <p:nvSpPr>
          <p:cNvPr id="5" name="distance title"/>
          <p:cNvSpPr txBox="1"/>
          <p:nvPr/>
        </p:nvSpPr>
        <p:spPr>
          <a:xfrm>
            <a:off x="6355080" y="1399032"/>
            <a:ext cx="5102352" cy="274320"/>
          </a:xfrm>
          <a:prstGeom prst="rect">
            <a:avLst/>
          </a:prstGeom>
          <a:noFill/>
          <a:ln/>
        </p:spPr>
        <p:txBody>
          <a:bodyPr wrap="square" lIns="0" tIns="0" rIns="0" bIns="0" rtlCol="0" anchor="ctr"/>
          <a:lstStyle/>
          <a:p>
            <a:pPr indent="0" marL="0">
              <a:buNone/>
            </a:pPr>
            <a:r>
              <a:rPr lang="en-US" sz="1200" b="1" dirty="0">
                <a:solidFill>
                  <a:schemeClr val="tx1"/>
                </a:solidFill>
              </a:rPr>
              <a:t>How far apart the distributions are: Wasserstein-1 (mm) with 95 % interval</a:t>
            </a:r>
            <a:endParaRPr lang="en-US" sz="1200" dirty="0"/>
          </a:p>
        </p:txBody>
      </p:sp>
      <p:sp>
        <p:nvSpPr>
          <p:cNvPr id="6" name="grid 0"/>
          <p:cNvSpPr/>
          <p:nvPr/>
        </p:nvSpPr>
        <p:spPr>
          <a:xfrm>
            <a:off x="8503920" y="1828800"/>
            <a:ext cx="0" cy="2788920"/>
          </a:xfrm>
          <a:prstGeom prst="line">
            <a:avLst/>
          </a:prstGeom>
          <a:noFill/>
          <a:ln w="9525">
            <a:solidFill>
              <a:srgbClr val="E1E0D9"/>
            </a:solidFill>
            <a:prstDash val="solid"/>
          </a:ln>
        </p:spPr>
      </p:sp>
      <p:sp>
        <p:nvSpPr>
          <p:cNvPr id="7" name="tick 0"/>
          <p:cNvSpPr txBox="1"/>
          <p:nvPr/>
        </p:nvSpPr>
        <p:spPr>
          <a:xfrm>
            <a:off x="8229600" y="4636008"/>
            <a:ext cx="548640" cy="201168"/>
          </a:xfrm>
          <a:prstGeom prst="rect">
            <a:avLst/>
          </a:prstGeom>
          <a:noFill/>
          <a:ln/>
        </p:spPr>
        <p:txBody>
          <a:bodyPr wrap="square" lIns="0" tIns="0" rIns="0" bIns="0" rtlCol="0" anchor="ctr"/>
          <a:lstStyle/>
          <a:p>
            <a:pPr algn="ctr" indent="0" marL="0">
              <a:buNone/>
            </a:pPr>
            <a:r>
              <a:rPr lang="en-US" sz="900" dirty="0">
                <a:solidFill>
                  <a:srgbClr val="52514E"/>
                </a:solidFill>
              </a:rPr>
              <a:t>0</a:t>
            </a:r>
            <a:endParaRPr lang="en-US" sz="900" dirty="0"/>
          </a:p>
        </p:txBody>
      </p:sp>
      <p:sp>
        <p:nvSpPr>
          <p:cNvPr id="8" name="grid 40"/>
          <p:cNvSpPr/>
          <p:nvPr/>
        </p:nvSpPr>
        <p:spPr>
          <a:xfrm>
            <a:off x="9196578" y="1828800"/>
            <a:ext cx="0" cy="2788920"/>
          </a:xfrm>
          <a:prstGeom prst="line">
            <a:avLst/>
          </a:prstGeom>
          <a:noFill/>
          <a:ln w="9525">
            <a:solidFill>
              <a:srgbClr val="E1E0D9"/>
            </a:solidFill>
            <a:prstDash val="solid"/>
          </a:ln>
        </p:spPr>
      </p:sp>
      <p:sp>
        <p:nvSpPr>
          <p:cNvPr id="9" name="tick 40"/>
          <p:cNvSpPr txBox="1"/>
          <p:nvPr/>
        </p:nvSpPr>
        <p:spPr>
          <a:xfrm>
            <a:off x="8922258" y="4636008"/>
            <a:ext cx="548640" cy="201168"/>
          </a:xfrm>
          <a:prstGeom prst="rect">
            <a:avLst/>
          </a:prstGeom>
          <a:noFill/>
          <a:ln/>
        </p:spPr>
        <p:txBody>
          <a:bodyPr wrap="square" lIns="0" tIns="0" rIns="0" bIns="0" rtlCol="0" anchor="ctr"/>
          <a:lstStyle/>
          <a:p>
            <a:pPr algn="ctr" indent="0" marL="0">
              <a:buNone/>
            </a:pPr>
            <a:r>
              <a:rPr lang="en-US" sz="900" dirty="0">
                <a:solidFill>
                  <a:srgbClr val="52514E"/>
                </a:solidFill>
              </a:rPr>
              <a:t>40</a:t>
            </a:r>
            <a:endParaRPr lang="en-US" sz="900" dirty="0"/>
          </a:p>
        </p:txBody>
      </p:sp>
      <p:sp>
        <p:nvSpPr>
          <p:cNvPr id="10" name="grid 80"/>
          <p:cNvSpPr/>
          <p:nvPr/>
        </p:nvSpPr>
        <p:spPr>
          <a:xfrm>
            <a:off x="9889236" y="1828800"/>
            <a:ext cx="0" cy="2788920"/>
          </a:xfrm>
          <a:prstGeom prst="line">
            <a:avLst/>
          </a:prstGeom>
          <a:noFill/>
          <a:ln w="9525">
            <a:solidFill>
              <a:srgbClr val="E1E0D9"/>
            </a:solidFill>
            <a:prstDash val="solid"/>
          </a:ln>
        </p:spPr>
      </p:sp>
      <p:sp>
        <p:nvSpPr>
          <p:cNvPr id="11" name="tick 80"/>
          <p:cNvSpPr txBox="1"/>
          <p:nvPr/>
        </p:nvSpPr>
        <p:spPr>
          <a:xfrm>
            <a:off x="9614916" y="4636008"/>
            <a:ext cx="548640" cy="201168"/>
          </a:xfrm>
          <a:prstGeom prst="rect">
            <a:avLst/>
          </a:prstGeom>
          <a:noFill/>
          <a:ln/>
        </p:spPr>
        <p:txBody>
          <a:bodyPr wrap="square" lIns="0" tIns="0" rIns="0" bIns="0" rtlCol="0" anchor="ctr"/>
          <a:lstStyle/>
          <a:p>
            <a:pPr algn="ctr" indent="0" marL="0">
              <a:buNone/>
            </a:pPr>
            <a:r>
              <a:rPr lang="en-US" sz="900" dirty="0">
                <a:solidFill>
                  <a:srgbClr val="52514E"/>
                </a:solidFill>
              </a:rPr>
              <a:t>80</a:t>
            </a:r>
            <a:endParaRPr lang="en-US" sz="900" dirty="0"/>
          </a:p>
        </p:txBody>
      </p:sp>
      <p:sp>
        <p:nvSpPr>
          <p:cNvPr id="12" name="grid 120"/>
          <p:cNvSpPr/>
          <p:nvPr/>
        </p:nvSpPr>
        <p:spPr>
          <a:xfrm>
            <a:off x="10581894" y="1828800"/>
            <a:ext cx="0" cy="2788920"/>
          </a:xfrm>
          <a:prstGeom prst="line">
            <a:avLst/>
          </a:prstGeom>
          <a:noFill/>
          <a:ln w="9525">
            <a:solidFill>
              <a:srgbClr val="E1E0D9"/>
            </a:solidFill>
            <a:prstDash val="solid"/>
          </a:ln>
        </p:spPr>
      </p:sp>
      <p:sp>
        <p:nvSpPr>
          <p:cNvPr id="13" name="tick 120"/>
          <p:cNvSpPr txBox="1"/>
          <p:nvPr/>
        </p:nvSpPr>
        <p:spPr>
          <a:xfrm>
            <a:off x="10307574" y="4636008"/>
            <a:ext cx="548640" cy="201168"/>
          </a:xfrm>
          <a:prstGeom prst="rect">
            <a:avLst/>
          </a:prstGeom>
          <a:noFill/>
          <a:ln/>
        </p:spPr>
        <p:txBody>
          <a:bodyPr wrap="square" lIns="0" tIns="0" rIns="0" bIns="0" rtlCol="0" anchor="ctr"/>
          <a:lstStyle/>
          <a:p>
            <a:pPr algn="ctr" indent="0" marL="0">
              <a:buNone/>
            </a:pPr>
            <a:r>
              <a:rPr lang="en-US" sz="900" dirty="0">
                <a:solidFill>
                  <a:srgbClr val="52514E"/>
                </a:solidFill>
              </a:rPr>
              <a:t>120</a:t>
            </a:r>
            <a:endParaRPr lang="en-US" sz="900" dirty="0"/>
          </a:p>
        </p:txBody>
      </p:sp>
      <p:sp>
        <p:nvSpPr>
          <p:cNvPr id="14" name="grid 160"/>
          <p:cNvSpPr/>
          <p:nvPr/>
        </p:nvSpPr>
        <p:spPr>
          <a:xfrm>
            <a:off x="11274552" y="1828800"/>
            <a:ext cx="0" cy="2788920"/>
          </a:xfrm>
          <a:prstGeom prst="line">
            <a:avLst/>
          </a:prstGeom>
          <a:noFill/>
          <a:ln w="9525">
            <a:solidFill>
              <a:srgbClr val="E1E0D9"/>
            </a:solidFill>
            <a:prstDash val="solid"/>
          </a:ln>
        </p:spPr>
      </p:sp>
      <p:sp>
        <p:nvSpPr>
          <p:cNvPr id="15" name="tick 160"/>
          <p:cNvSpPr txBox="1"/>
          <p:nvPr/>
        </p:nvSpPr>
        <p:spPr>
          <a:xfrm>
            <a:off x="11000232" y="4636008"/>
            <a:ext cx="548640" cy="201168"/>
          </a:xfrm>
          <a:prstGeom prst="rect">
            <a:avLst/>
          </a:prstGeom>
          <a:noFill/>
          <a:ln/>
        </p:spPr>
        <p:txBody>
          <a:bodyPr wrap="square" lIns="0" tIns="0" rIns="0" bIns="0" rtlCol="0" anchor="ctr"/>
          <a:lstStyle/>
          <a:p>
            <a:pPr algn="ctr" indent="0" marL="0">
              <a:buNone/>
            </a:pPr>
            <a:r>
              <a:rPr lang="en-US" sz="900" dirty="0">
                <a:solidFill>
                  <a:srgbClr val="52514E"/>
                </a:solidFill>
              </a:rPr>
              <a:t>160</a:t>
            </a:r>
            <a:endParaRPr lang="en-US" sz="900" dirty="0"/>
          </a:p>
        </p:txBody>
      </p:sp>
      <p:sp>
        <p:nvSpPr>
          <p:cNvPr id="16" name="row generated ↔ Clinic"/>
          <p:cNvSpPr txBox="1"/>
          <p:nvPr/>
        </p:nvSpPr>
        <p:spPr>
          <a:xfrm>
            <a:off x="6309360" y="1924050"/>
            <a:ext cx="2148840" cy="274320"/>
          </a:xfrm>
          <a:prstGeom prst="rect">
            <a:avLst/>
          </a:prstGeom>
          <a:noFill/>
          <a:ln/>
        </p:spPr>
        <p:txBody>
          <a:bodyPr wrap="square" lIns="0" tIns="0" rIns="0" bIns="0" rtlCol="0" anchor="ctr"/>
          <a:lstStyle/>
          <a:p>
            <a:pPr algn="r" indent="0" marL="0">
              <a:buNone/>
            </a:pPr>
            <a:r>
              <a:rPr lang="en-US" sz="950" dirty="0">
                <a:solidFill>
                  <a:schemeClr val="tx1"/>
                </a:solidFill>
              </a:rPr>
              <a:t>generated ↔ Clinic</a:t>
            </a:r>
            <a:endParaRPr lang="en-US" sz="950" dirty="0"/>
          </a:p>
        </p:txBody>
      </p:sp>
      <p:sp>
        <p:nvSpPr>
          <p:cNvPr id="17" name="ci generated ↔ Clinic"/>
          <p:cNvSpPr/>
          <p:nvPr/>
        </p:nvSpPr>
        <p:spPr>
          <a:xfrm>
            <a:off x="8806278" y="2061210"/>
            <a:ext cx="520523" cy="0"/>
          </a:xfrm>
          <a:prstGeom prst="line">
            <a:avLst/>
          </a:prstGeom>
          <a:noFill/>
          <a:ln w="31750">
            <a:solidFill>
              <a:srgbClr val="EB6834"/>
            </a:solidFill>
            <a:prstDash val="solid"/>
          </a:ln>
        </p:spPr>
      </p:sp>
      <p:sp>
        <p:nvSpPr>
          <p:cNvPr id="18" name="w1 generated ↔ Clinic"/>
          <p:cNvSpPr/>
          <p:nvPr/>
        </p:nvSpPr>
        <p:spPr>
          <a:xfrm>
            <a:off x="9001903" y="1997202"/>
            <a:ext cx="128016" cy="128016"/>
          </a:xfrm>
          <a:prstGeom prst="ellipse">
            <a:avLst/>
          </a:prstGeom>
          <a:solidFill>
            <a:srgbClr val="EB6834"/>
          </a:solidFill>
          <a:ln w="9525">
            <a:solidFill>
              <a:srgbClr val="FFFFFF"/>
            </a:solidFill>
            <a:prstDash val="solid"/>
          </a:ln>
        </p:spPr>
      </p:sp>
      <p:sp>
        <p:nvSpPr>
          <p:cNvPr id="19" name="floor generated ↔ Clinic"/>
          <p:cNvSpPr/>
          <p:nvPr/>
        </p:nvSpPr>
        <p:spPr>
          <a:xfrm>
            <a:off x="8642006" y="1969770"/>
            <a:ext cx="0" cy="182880"/>
          </a:xfrm>
          <a:prstGeom prst="line">
            <a:avLst/>
          </a:prstGeom>
          <a:noFill/>
          <a:ln w="19050">
            <a:solidFill>
              <a:srgbClr val="898781"/>
            </a:solidFill>
            <a:prstDash val="solid"/>
          </a:ln>
        </p:spPr>
      </p:sp>
      <p:sp>
        <p:nvSpPr>
          <p:cNvPr id="20" name="value generated ↔ Clinic"/>
          <p:cNvSpPr txBox="1"/>
          <p:nvPr/>
        </p:nvSpPr>
        <p:spPr>
          <a:xfrm>
            <a:off x="9372520" y="1942338"/>
            <a:ext cx="457200" cy="237744"/>
          </a:xfrm>
          <a:prstGeom prst="rect">
            <a:avLst/>
          </a:prstGeom>
          <a:noFill/>
          <a:ln/>
        </p:spPr>
        <p:txBody>
          <a:bodyPr wrap="square" lIns="0" tIns="0" rIns="0" bIns="0" rtlCol="0" anchor="ctr"/>
          <a:lstStyle/>
          <a:p>
            <a:pPr indent="0" marL="0">
              <a:buNone/>
            </a:pPr>
            <a:r>
              <a:rPr lang="en-US" sz="1000" b="1" dirty="0">
                <a:solidFill>
                  <a:schemeClr val="tx1"/>
                </a:solidFill>
              </a:rPr>
              <a:t>32</a:t>
            </a:r>
            <a:endParaRPr lang="en-US" sz="1000" dirty="0"/>
          </a:p>
        </p:txBody>
      </p:sp>
      <p:sp>
        <p:nvSpPr>
          <p:cNvPr id="21" name="row Duplex MEP ↔ Duplex Plumbing"/>
          <p:cNvSpPr txBox="1"/>
          <p:nvPr/>
        </p:nvSpPr>
        <p:spPr>
          <a:xfrm>
            <a:off x="6309360" y="2388870"/>
            <a:ext cx="2148840" cy="274320"/>
          </a:xfrm>
          <a:prstGeom prst="rect">
            <a:avLst/>
          </a:prstGeom>
          <a:noFill/>
          <a:ln/>
        </p:spPr>
        <p:txBody>
          <a:bodyPr wrap="square" lIns="0" tIns="0" rIns="0" bIns="0" rtlCol="0" anchor="ctr"/>
          <a:lstStyle/>
          <a:p>
            <a:pPr algn="r" indent="0" marL="0">
              <a:buNone/>
            </a:pPr>
            <a:r>
              <a:rPr lang="en-US" sz="950" dirty="0">
                <a:solidFill>
                  <a:schemeClr val="tx1"/>
                </a:solidFill>
              </a:rPr>
              <a:t>Duplex MEP ↔ Duplex Plumbing</a:t>
            </a:r>
            <a:endParaRPr lang="en-US" sz="950" dirty="0"/>
          </a:p>
        </p:txBody>
      </p:sp>
      <p:sp>
        <p:nvSpPr>
          <p:cNvPr id="22" name="ci Duplex MEP ↔ Duplex Plumbing"/>
          <p:cNvSpPr/>
          <p:nvPr/>
        </p:nvSpPr>
        <p:spPr>
          <a:xfrm>
            <a:off x="8927644" y="2526030"/>
            <a:ext cx="1723504" cy="0"/>
          </a:xfrm>
          <a:prstGeom prst="line">
            <a:avLst/>
          </a:prstGeom>
          <a:noFill/>
          <a:ln w="31750">
            <a:solidFill>
              <a:srgbClr val="2A78D6"/>
            </a:solidFill>
            <a:prstDash val="solid"/>
          </a:ln>
        </p:spPr>
      </p:sp>
      <p:sp>
        <p:nvSpPr>
          <p:cNvPr id="23" name="w1 Duplex MEP ↔ Duplex Plumbing"/>
          <p:cNvSpPr/>
          <p:nvPr/>
        </p:nvSpPr>
        <p:spPr>
          <a:xfrm>
            <a:off x="8882721" y="2462022"/>
            <a:ext cx="128016" cy="128016"/>
          </a:xfrm>
          <a:prstGeom prst="ellipse">
            <a:avLst/>
          </a:prstGeom>
          <a:solidFill>
            <a:srgbClr val="2A78D6"/>
          </a:solidFill>
          <a:ln w="9525">
            <a:solidFill>
              <a:srgbClr val="FFFFFF"/>
            </a:solidFill>
            <a:prstDash val="solid"/>
          </a:ln>
        </p:spPr>
      </p:sp>
      <p:sp>
        <p:nvSpPr>
          <p:cNvPr id="24" name="value Duplex MEP ↔ Duplex Plumbing"/>
          <p:cNvSpPr txBox="1"/>
          <p:nvPr/>
        </p:nvSpPr>
        <p:spPr>
          <a:xfrm>
            <a:off x="10696869" y="2407158"/>
            <a:ext cx="457200" cy="237744"/>
          </a:xfrm>
          <a:prstGeom prst="rect">
            <a:avLst/>
          </a:prstGeom>
          <a:noFill/>
          <a:ln/>
        </p:spPr>
        <p:txBody>
          <a:bodyPr wrap="square" lIns="0" tIns="0" rIns="0" bIns="0" rtlCol="0" anchor="ctr"/>
          <a:lstStyle/>
          <a:p>
            <a:pPr indent="0" marL="0">
              <a:buNone/>
            </a:pPr>
            <a:r>
              <a:rPr lang="en-US" sz="1000" dirty="0">
                <a:solidFill>
                  <a:schemeClr val="tx1"/>
                </a:solidFill>
              </a:rPr>
              <a:t>26</a:t>
            </a:r>
            <a:endParaRPr lang="en-US" sz="1000" dirty="0"/>
          </a:p>
        </p:txBody>
      </p:sp>
      <p:sp>
        <p:nvSpPr>
          <p:cNvPr id="25" name="row generated ↔ Duplex MEP"/>
          <p:cNvSpPr txBox="1"/>
          <p:nvPr/>
        </p:nvSpPr>
        <p:spPr>
          <a:xfrm>
            <a:off x="6309360" y="2853690"/>
            <a:ext cx="2148840" cy="274320"/>
          </a:xfrm>
          <a:prstGeom prst="rect">
            <a:avLst/>
          </a:prstGeom>
          <a:noFill/>
          <a:ln/>
        </p:spPr>
        <p:txBody>
          <a:bodyPr wrap="square" lIns="0" tIns="0" rIns="0" bIns="0" rtlCol="0" anchor="ctr"/>
          <a:lstStyle/>
          <a:p>
            <a:pPr algn="r" indent="0" marL="0">
              <a:buNone/>
            </a:pPr>
            <a:r>
              <a:rPr lang="en-US" sz="950" dirty="0">
                <a:solidFill>
                  <a:schemeClr val="tx1"/>
                </a:solidFill>
              </a:rPr>
              <a:t>generated ↔ Duplex MEP</a:t>
            </a:r>
            <a:endParaRPr lang="en-US" sz="950" dirty="0"/>
          </a:p>
        </p:txBody>
      </p:sp>
      <p:sp>
        <p:nvSpPr>
          <p:cNvPr id="26" name="ci generated ↔ Duplex MEP"/>
          <p:cNvSpPr/>
          <p:nvPr/>
        </p:nvSpPr>
        <p:spPr>
          <a:xfrm>
            <a:off x="9559512" y="2990850"/>
            <a:ext cx="723164" cy="0"/>
          </a:xfrm>
          <a:prstGeom prst="line">
            <a:avLst/>
          </a:prstGeom>
          <a:noFill/>
          <a:ln w="31750">
            <a:solidFill>
              <a:srgbClr val="EB6834"/>
            </a:solidFill>
            <a:prstDash val="solid"/>
          </a:ln>
        </p:spPr>
      </p:sp>
      <p:sp>
        <p:nvSpPr>
          <p:cNvPr id="27" name="w1 generated ↔ Duplex MEP"/>
          <p:cNvSpPr/>
          <p:nvPr/>
        </p:nvSpPr>
        <p:spPr>
          <a:xfrm>
            <a:off x="9751147" y="2926842"/>
            <a:ext cx="128016" cy="128016"/>
          </a:xfrm>
          <a:prstGeom prst="ellipse">
            <a:avLst/>
          </a:prstGeom>
          <a:solidFill>
            <a:srgbClr val="EB6834"/>
          </a:solidFill>
          <a:ln w="9525">
            <a:solidFill>
              <a:srgbClr val="FFFFFF"/>
            </a:solidFill>
            <a:prstDash val="solid"/>
          </a:ln>
        </p:spPr>
      </p:sp>
      <p:sp>
        <p:nvSpPr>
          <p:cNvPr id="28" name="floor generated ↔ Duplex MEP"/>
          <p:cNvSpPr/>
          <p:nvPr/>
        </p:nvSpPr>
        <p:spPr>
          <a:xfrm>
            <a:off x="8895035" y="2899410"/>
            <a:ext cx="0" cy="182880"/>
          </a:xfrm>
          <a:prstGeom prst="line">
            <a:avLst/>
          </a:prstGeom>
          <a:noFill/>
          <a:ln w="19050">
            <a:solidFill>
              <a:srgbClr val="898781"/>
            </a:solidFill>
            <a:prstDash val="solid"/>
          </a:ln>
        </p:spPr>
      </p:sp>
      <p:sp>
        <p:nvSpPr>
          <p:cNvPr id="29" name="value generated ↔ Duplex MEP"/>
          <p:cNvSpPr txBox="1"/>
          <p:nvPr/>
        </p:nvSpPr>
        <p:spPr>
          <a:xfrm>
            <a:off x="10328396" y="2871978"/>
            <a:ext cx="457200" cy="237744"/>
          </a:xfrm>
          <a:prstGeom prst="rect">
            <a:avLst/>
          </a:prstGeom>
          <a:noFill/>
          <a:ln/>
        </p:spPr>
        <p:txBody>
          <a:bodyPr wrap="square" lIns="0" tIns="0" rIns="0" bIns="0" rtlCol="0" anchor="ctr"/>
          <a:lstStyle/>
          <a:p>
            <a:pPr indent="0" marL="0">
              <a:buNone/>
            </a:pPr>
            <a:r>
              <a:rPr lang="en-US" sz="1000" dirty="0">
                <a:solidFill>
                  <a:schemeClr val="tx1"/>
                </a:solidFill>
              </a:rPr>
              <a:t>76</a:t>
            </a:r>
            <a:endParaRPr lang="en-US" sz="1000" dirty="0"/>
          </a:p>
        </p:txBody>
      </p:sp>
      <p:sp>
        <p:nvSpPr>
          <p:cNvPr id="30" name="row Clinic ↔ Duplex MEP"/>
          <p:cNvSpPr txBox="1"/>
          <p:nvPr/>
        </p:nvSpPr>
        <p:spPr>
          <a:xfrm>
            <a:off x="6309360" y="3318510"/>
            <a:ext cx="2148840" cy="274320"/>
          </a:xfrm>
          <a:prstGeom prst="rect">
            <a:avLst/>
          </a:prstGeom>
          <a:noFill/>
          <a:ln/>
        </p:spPr>
        <p:txBody>
          <a:bodyPr wrap="square" lIns="0" tIns="0" rIns="0" bIns="0" rtlCol="0" anchor="ctr"/>
          <a:lstStyle/>
          <a:p>
            <a:pPr algn="r" indent="0" marL="0">
              <a:buNone/>
            </a:pPr>
            <a:r>
              <a:rPr lang="en-US" sz="950" dirty="0">
                <a:solidFill>
                  <a:schemeClr val="tx1"/>
                </a:solidFill>
              </a:rPr>
              <a:t>Clinic ↔ Duplex MEP</a:t>
            </a:r>
            <a:endParaRPr lang="en-US" sz="950" dirty="0"/>
          </a:p>
        </p:txBody>
      </p:sp>
      <p:sp>
        <p:nvSpPr>
          <p:cNvPr id="31" name="ci Clinic ↔ Duplex MEP"/>
          <p:cNvSpPr/>
          <p:nvPr/>
        </p:nvSpPr>
        <p:spPr>
          <a:xfrm>
            <a:off x="9439317" y="3455670"/>
            <a:ext cx="805135" cy="0"/>
          </a:xfrm>
          <a:prstGeom prst="line">
            <a:avLst/>
          </a:prstGeom>
          <a:noFill/>
          <a:ln w="31750">
            <a:solidFill>
              <a:srgbClr val="2A78D6"/>
            </a:solidFill>
            <a:prstDash val="solid"/>
          </a:ln>
        </p:spPr>
      </p:sp>
      <p:sp>
        <p:nvSpPr>
          <p:cNvPr id="32" name="w1 Clinic ↔ Duplex MEP"/>
          <p:cNvSpPr/>
          <p:nvPr/>
        </p:nvSpPr>
        <p:spPr>
          <a:xfrm>
            <a:off x="9669411" y="3391662"/>
            <a:ext cx="128016" cy="128016"/>
          </a:xfrm>
          <a:prstGeom prst="ellipse">
            <a:avLst/>
          </a:prstGeom>
          <a:solidFill>
            <a:srgbClr val="2A78D6"/>
          </a:solidFill>
          <a:ln w="9525">
            <a:solidFill>
              <a:srgbClr val="FFFFFF"/>
            </a:solidFill>
            <a:prstDash val="solid"/>
          </a:ln>
        </p:spPr>
      </p:sp>
      <p:sp>
        <p:nvSpPr>
          <p:cNvPr id="33" name="value Clinic ↔ Duplex MEP"/>
          <p:cNvSpPr txBox="1"/>
          <p:nvPr/>
        </p:nvSpPr>
        <p:spPr>
          <a:xfrm>
            <a:off x="10290172" y="3336798"/>
            <a:ext cx="457200" cy="237744"/>
          </a:xfrm>
          <a:prstGeom prst="rect">
            <a:avLst/>
          </a:prstGeom>
          <a:noFill/>
          <a:ln/>
        </p:spPr>
        <p:txBody>
          <a:bodyPr wrap="square" lIns="0" tIns="0" rIns="0" bIns="0" rtlCol="0" anchor="ctr"/>
          <a:lstStyle/>
          <a:p>
            <a:pPr indent="0" marL="0">
              <a:buNone/>
            </a:pPr>
            <a:r>
              <a:rPr lang="en-US" sz="1000" dirty="0">
                <a:solidFill>
                  <a:schemeClr val="tx1"/>
                </a:solidFill>
              </a:rPr>
              <a:t>71</a:t>
            </a:r>
            <a:endParaRPr lang="en-US" sz="1000" dirty="0"/>
          </a:p>
        </p:txBody>
      </p:sp>
      <p:sp>
        <p:nvSpPr>
          <p:cNvPr id="34" name="row generated ↔ Duplex Plumbing"/>
          <p:cNvSpPr txBox="1"/>
          <p:nvPr/>
        </p:nvSpPr>
        <p:spPr>
          <a:xfrm>
            <a:off x="6309360" y="3783330"/>
            <a:ext cx="2148840" cy="274320"/>
          </a:xfrm>
          <a:prstGeom prst="rect">
            <a:avLst/>
          </a:prstGeom>
          <a:noFill/>
          <a:ln/>
        </p:spPr>
        <p:txBody>
          <a:bodyPr wrap="square" lIns="0" tIns="0" rIns="0" bIns="0" rtlCol="0" anchor="ctr"/>
          <a:lstStyle/>
          <a:p>
            <a:pPr algn="r" indent="0" marL="0">
              <a:buNone/>
            </a:pPr>
            <a:r>
              <a:rPr lang="en-US" sz="950" dirty="0">
                <a:solidFill>
                  <a:schemeClr val="tx1"/>
                </a:solidFill>
              </a:rPr>
              <a:t>generated ↔ Duplex Plumbing</a:t>
            </a:r>
            <a:endParaRPr lang="en-US" sz="950" dirty="0"/>
          </a:p>
        </p:txBody>
      </p:sp>
      <p:sp>
        <p:nvSpPr>
          <p:cNvPr id="35" name="ci generated ↔ Duplex Plumbing"/>
          <p:cNvSpPr/>
          <p:nvPr/>
        </p:nvSpPr>
        <p:spPr>
          <a:xfrm>
            <a:off x="9570777" y="3920490"/>
            <a:ext cx="1227468" cy="0"/>
          </a:xfrm>
          <a:prstGeom prst="line">
            <a:avLst/>
          </a:prstGeom>
          <a:noFill/>
          <a:ln w="31750">
            <a:solidFill>
              <a:srgbClr val="EB6834"/>
            </a:solidFill>
            <a:prstDash val="solid"/>
          </a:ln>
        </p:spPr>
      </p:sp>
      <p:sp>
        <p:nvSpPr>
          <p:cNvPr id="36" name="w1 generated ↔ Duplex Plumbing"/>
          <p:cNvSpPr/>
          <p:nvPr/>
        </p:nvSpPr>
        <p:spPr>
          <a:xfrm>
            <a:off x="9964815" y="3856482"/>
            <a:ext cx="128016" cy="128016"/>
          </a:xfrm>
          <a:prstGeom prst="ellipse">
            <a:avLst/>
          </a:prstGeom>
          <a:solidFill>
            <a:srgbClr val="EB6834"/>
          </a:solidFill>
          <a:ln w="9525">
            <a:solidFill>
              <a:srgbClr val="FFFFFF"/>
            </a:solidFill>
            <a:prstDash val="solid"/>
          </a:ln>
        </p:spPr>
      </p:sp>
      <p:sp>
        <p:nvSpPr>
          <p:cNvPr id="37" name="floor generated ↔ Duplex Plumbing"/>
          <p:cNvSpPr/>
          <p:nvPr/>
        </p:nvSpPr>
        <p:spPr>
          <a:xfrm>
            <a:off x="9049830" y="3829050"/>
            <a:ext cx="0" cy="182880"/>
          </a:xfrm>
          <a:prstGeom prst="line">
            <a:avLst/>
          </a:prstGeom>
          <a:noFill/>
          <a:ln w="19050">
            <a:solidFill>
              <a:srgbClr val="898781"/>
            </a:solidFill>
            <a:prstDash val="solid"/>
          </a:ln>
        </p:spPr>
      </p:sp>
      <p:sp>
        <p:nvSpPr>
          <p:cNvPr id="38" name="value generated ↔ Duplex Plumbing"/>
          <p:cNvSpPr txBox="1"/>
          <p:nvPr/>
        </p:nvSpPr>
        <p:spPr>
          <a:xfrm>
            <a:off x="10843966" y="3801618"/>
            <a:ext cx="457200" cy="237744"/>
          </a:xfrm>
          <a:prstGeom prst="rect">
            <a:avLst/>
          </a:prstGeom>
          <a:noFill/>
          <a:ln/>
        </p:spPr>
        <p:txBody>
          <a:bodyPr wrap="square" lIns="0" tIns="0" rIns="0" bIns="0" rtlCol="0" anchor="ctr"/>
          <a:lstStyle/>
          <a:p>
            <a:pPr indent="0" marL="0">
              <a:buNone/>
            </a:pPr>
            <a:r>
              <a:rPr lang="en-US" sz="1000" dirty="0">
                <a:solidFill>
                  <a:schemeClr val="tx1"/>
                </a:solidFill>
              </a:rPr>
              <a:t>88</a:t>
            </a:r>
            <a:endParaRPr lang="en-US" sz="1000" dirty="0"/>
          </a:p>
        </p:txBody>
      </p:sp>
      <p:sp>
        <p:nvSpPr>
          <p:cNvPr id="39" name="row Clinic ↔ Duplex Plumbing"/>
          <p:cNvSpPr txBox="1"/>
          <p:nvPr/>
        </p:nvSpPr>
        <p:spPr>
          <a:xfrm>
            <a:off x="6309360" y="4248150"/>
            <a:ext cx="2148840" cy="274320"/>
          </a:xfrm>
          <a:prstGeom prst="rect">
            <a:avLst/>
          </a:prstGeom>
          <a:noFill/>
          <a:ln/>
        </p:spPr>
        <p:txBody>
          <a:bodyPr wrap="square" lIns="0" tIns="0" rIns="0" bIns="0" rtlCol="0" anchor="ctr"/>
          <a:lstStyle/>
          <a:p>
            <a:pPr algn="r" indent="0" marL="0">
              <a:buNone/>
            </a:pPr>
            <a:r>
              <a:rPr lang="en-US" sz="950" dirty="0">
                <a:solidFill>
                  <a:schemeClr val="tx1"/>
                </a:solidFill>
              </a:rPr>
              <a:t>Clinic ↔ Duplex Plumbing</a:t>
            </a:r>
            <a:endParaRPr lang="en-US" sz="950" dirty="0"/>
          </a:p>
        </p:txBody>
      </p:sp>
      <p:sp>
        <p:nvSpPr>
          <p:cNvPr id="40" name="ci Clinic ↔ Duplex Plumbing"/>
          <p:cNvSpPr/>
          <p:nvPr/>
        </p:nvSpPr>
        <p:spPr>
          <a:xfrm>
            <a:off x="9449566" y="4385310"/>
            <a:ext cx="1431553" cy="0"/>
          </a:xfrm>
          <a:prstGeom prst="line">
            <a:avLst/>
          </a:prstGeom>
          <a:noFill/>
          <a:ln w="31750">
            <a:solidFill>
              <a:srgbClr val="2A78D6"/>
            </a:solidFill>
            <a:prstDash val="solid"/>
          </a:ln>
        </p:spPr>
      </p:sp>
      <p:sp>
        <p:nvSpPr>
          <p:cNvPr id="41" name="w1 Clinic ↔ Duplex Plumbing"/>
          <p:cNvSpPr/>
          <p:nvPr/>
        </p:nvSpPr>
        <p:spPr>
          <a:xfrm>
            <a:off x="9912143" y="4321302"/>
            <a:ext cx="128016" cy="128016"/>
          </a:xfrm>
          <a:prstGeom prst="ellipse">
            <a:avLst/>
          </a:prstGeom>
          <a:solidFill>
            <a:srgbClr val="2A78D6"/>
          </a:solidFill>
          <a:ln w="9525">
            <a:solidFill>
              <a:srgbClr val="FFFFFF"/>
            </a:solidFill>
            <a:prstDash val="solid"/>
          </a:ln>
        </p:spPr>
      </p:sp>
      <p:sp>
        <p:nvSpPr>
          <p:cNvPr id="42" name="value Clinic ↔ Duplex Plumbing"/>
          <p:cNvSpPr txBox="1"/>
          <p:nvPr/>
        </p:nvSpPr>
        <p:spPr>
          <a:xfrm>
            <a:off x="10926839" y="4266438"/>
            <a:ext cx="457200" cy="237744"/>
          </a:xfrm>
          <a:prstGeom prst="rect">
            <a:avLst/>
          </a:prstGeom>
          <a:noFill/>
          <a:ln/>
        </p:spPr>
        <p:txBody>
          <a:bodyPr wrap="square" lIns="0" tIns="0" rIns="0" bIns="0" rtlCol="0" anchor="ctr"/>
          <a:lstStyle/>
          <a:p>
            <a:pPr indent="0" marL="0">
              <a:buNone/>
            </a:pPr>
            <a:r>
              <a:rPr lang="en-US" sz="1000" dirty="0">
                <a:solidFill>
                  <a:schemeClr val="tx1"/>
                </a:solidFill>
              </a:rPr>
              <a:t>85</a:t>
            </a:r>
            <a:endParaRPr lang="en-US" sz="1000" dirty="0"/>
          </a:p>
        </p:txBody>
      </p:sp>
      <p:sp>
        <p:nvSpPr>
          <p:cNvPr id="43" name="distance legend"/>
          <p:cNvSpPr txBox="1"/>
          <p:nvPr/>
        </p:nvSpPr>
        <p:spPr>
          <a:xfrm>
            <a:off x="6355080" y="4800600"/>
            <a:ext cx="5102352" cy="228600"/>
          </a:xfrm>
          <a:prstGeom prst="rect">
            <a:avLst/>
          </a:prstGeom>
          <a:noFill/>
          <a:ln/>
        </p:spPr>
        <p:txBody>
          <a:bodyPr wrap="square" lIns="0" tIns="0" rIns="0" bIns="0" rtlCol="0" anchor="ctr"/>
          <a:lstStyle/>
          <a:p>
            <a:pPr indent="0" marL="0">
              <a:buNone/>
            </a:pPr>
            <a:r>
              <a:rPr lang="en-US" sz="900" dirty="0">
                <a:solidFill>
                  <a:srgbClr val="EB6834"/>
                </a:solidFill>
              </a:rPr>
              <a:t>● </a:t>
            </a:r>
            <a:r>
              <a:rPr lang="en-US" sz="900" dirty="0">
                <a:solidFill>
                  <a:srgbClr val="52514E"/>
                </a:solidFill>
              </a:rPr>
              <a:t>generated vs a real model     </a:t>
            </a:r>
            <a:r>
              <a:rPr lang="en-US" sz="900" dirty="0">
                <a:solidFill>
                  <a:srgbClr val="2A78D6"/>
                </a:solidFill>
              </a:rPr>
              <a:t>● </a:t>
            </a:r>
            <a:r>
              <a:rPr lang="en-US" sz="900" dirty="0">
                <a:solidFill>
                  <a:srgbClr val="52514E"/>
                </a:solidFill>
              </a:rPr>
              <a:t>real vs real     </a:t>
            </a:r>
            <a:r>
              <a:rPr lang="en-US" sz="900" dirty="0">
                <a:solidFill>
                  <a:srgbClr val="52514E"/>
                </a:solidFill>
              </a:rPr>
              <a:t>|  noise floor: what a perfect generator would show</a:t>
            </a:r>
            <a:endParaRPr lang="en-US" sz="900" dirty="0"/>
          </a:p>
        </p:txBody>
      </p:sp>
      <p:sp>
        <p:nvSpPr>
          <p:cNvPr id="44" name="tile generator to clinic (95 % CI 17–48); fitted on the duplex, clinic held out"/>
          <p:cNvSpPr/>
          <p:nvPr/>
        </p:nvSpPr>
        <p:spPr>
          <a:xfrm>
            <a:off x="548640" y="5230368"/>
            <a:ext cx="3575304" cy="868680"/>
          </a:xfrm>
          <a:prstGeom prst="roundRect">
            <a:avLst>
              <a:gd name="adj" fmla="val 7368"/>
            </a:avLst>
          </a:prstGeom>
          <a:solidFill>
            <a:schemeClr val="bg2"/>
          </a:solidFill>
          <a:ln/>
        </p:spPr>
      </p:sp>
      <p:sp>
        <p:nvSpPr>
          <p:cNvPr id="45" name="value generator to clinic (95 % CI 17–48); fitted on the duplex, clinic held out"/>
          <p:cNvSpPr txBox="1"/>
          <p:nvPr/>
        </p:nvSpPr>
        <p:spPr>
          <a:xfrm>
            <a:off x="749808" y="5321808"/>
            <a:ext cx="3172968" cy="434340"/>
          </a:xfrm>
          <a:prstGeom prst="rect">
            <a:avLst/>
          </a:prstGeom>
          <a:noFill/>
          <a:ln/>
        </p:spPr>
        <p:txBody>
          <a:bodyPr wrap="square" lIns="0" tIns="0" rIns="0" bIns="0" rtlCol="0" anchor="ctr"/>
          <a:lstStyle/>
          <a:p>
            <a:pPr indent="0" marL="0">
              <a:buNone/>
            </a:pPr>
            <a:r>
              <a:rPr lang="en-US" sz="2000" b="1" dirty="0">
                <a:solidFill>
                  <a:schemeClr val="accent1"/>
                </a:solidFill>
              </a:rPr>
              <a:t>32 mm</a:t>
            </a:r>
            <a:endParaRPr lang="en-US" sz="2000" dirty="0"/>
          </a:p>
        </p:txBody>
      </p:sp>
      <p:sp>
        <p:nvSpPr>
          <p:cNvPr id="46" name="label generator to clinic (95 % CI 17–48); fitted on the duplex, clinic held out"/>
          <p:cNvSpPr txBox="1"/>
          <p:nvPr/>
        </p:nvSpPr>
        <p:spPr>
          <a:xfrm>
            <a:off x="749808" y="5734202"/>
            <a:ext cx="3172968" cy="330098"/>
          </a:xfrm>
          <a:prstGeom prst="rect">
            <a:avLst/>
          </a:prstGeom>
          <a:noFill/>
          <a:ln/>
        </p:spPr>
        <p:txBody>
          <a:bodyPr wrap="square" lIns="0" tIns="0" rIns="0" bIns="0" rtlCol="0" anchor="t"/>
          <a:lstStyle/>
          <a:p>
            <a:pPr indent="0" marL="0">
              <a:buNone/>
            </a:pPr>
            <a:r>
              <a:rPr lang="en-US" sz="1000" dirty="0">
                <a:solidFill>
                  <a:srgbClr val="52514E"/>
                </a:solidFill>
              </a:rPr>
              <a:t>generator to clinic (95 % CI 17–48); fitted on the duplex, clinic held out</a:t>
            </a:r>
            <a:endParaRPr lang="en-US" sz="1000" dirty="0"/>
          </a:p>
        </p:txBody>
      </p:sp>
      <p:sp>
        <p:nvSpPr>
          <p:cNvPr id="47" name="tile the duplex's own two models from each other: about as close as real is to real"/>
          <p:cNvSpPr/>
          <p:nvPr/>
        </p:nvSpPr>
        <p:spPr>
          <a:xfrm>
            <a:off x="4306824" y="5230368"/>
            <a:ext cx="3575304" cy="868680"/>
          </a:xfrm>
          <a:prstGeom prst="roundRect">
            <a:avLst>
              <a:gd name="adj" fmla="val 7368"/>
            </a:avLst>
          </a:prstGeom>
          <a:solidFill>
            <a:schemeClr val="bg2"/>
          </a:solidFill>
          <a:ln/>
        </p:spPr>
      </p:sp>
      <p:sp>
        <p:nvSpPr>
          <p:cNvPr id="48" name="value the duplex&amp;apos;s own two models from each other: about as close as real is to real"/>
          <p:cNvSpPr txBox="1"/>
          <p:nvPr/>
        </p:nvSpPr>
        <p:spPr>
          <a:xfrm>
            <a:off x="4507992" y="5321808"/>
            <a:ext cx="3172968" cy="434340"/>
          </a:xfrm>
          <a:prstGeom prst="rect">
            <a:avLst/>
          </a:prstGeom>
          <a:noFill/>
          <a:ln/>
        </p:spPr>
        <p:txBody>
          <a:bodyPr wrap="square" lIns="0" tIns="0" rIns="0" bIns="0" rtlCol="0" anchor="ctr"/>
          <a:lstStyle/>
          <a:p>
            <a:pPr indent="0" marL="0">
              <a:buNone/>
            </a:pPr>
            <a:r>
              <a:rPr lang="en-US" sz="2000" b="1" dirty="0">
                <a:solidFill>
                  <a:schemeClr val="accent1"/>
                </a:solidFill>
              </a:rPr>
              <a:t>26 mm</a:t>
            </a:r>
            <a:endParaRPr lang="en-US" sz="2000" dirty="0"/>
          </a:p>
        </p:txBody>
      </p:sp>
      <p:sp>
        <p:nvSpPr>
          <p:cNvPr id="49" name="label the duplex&amp;apos;s own two models from each other: about as close as real is to real"/>
          <p:cNvSpPr txBox="1"/>
          <p:nvPr/>
        </p:nvSpPr>
        <p:spPr>
          <a:xfrm>
            <a:off x="4507992" y="5734202"/>
            <a:ext cx="3172968" cy="330098"/>
          </a:xfrm>
          <a:prstGeom prst="rect">
            <a:avLst/>
          </a:prstGeom>
          <a:noFill/>
          <a:ln/>
        </p:spPr>
        <p:txBody>
          <a:bodyPr wrap="square" lIns="0" tIns="0" rIns="0" bIns="0" rtlCol="0" anchor="t"/>
          <a:lstStyle/>
          <a:p>
            <a:pPr indent="0" marL="0">
              <a:buNone/>
            </a:pPr>
            <a:r>
              <a:rPr lang="en-US" sz="1000" dirty="0">
                <a:solidFill>
                  <a:srgbClr val="52514E"/>
                </a:solidFill>
              </a:rPr>
              <a:t>the duplex's own two models from each other: about as close as real is to real</a:t>
            </a:r>
            <a:endParaRPr lang="en-US" sz="1000" dirty="0"/>
          </a:p>
        </p:txBody>
      </p:sp>
      <p:sp>
        <p:nvSpPr>
          <p:cNvPr id="50" name="tile what a fixed 25 mm gap would be from the clinic"/>
          <p:cNvSpPr/>
          <p:nvPr/>
        </p:nvSpPr>
        <p:spPr>
          <a:xfrm>
            <a:off x="8065008" y="5230368"/>
            <a:ext cx="3575304" cy="868680"/>
          </a:xfrm>
          <a:prstGeom prst="roundRect">
            <a:avLst>
              <a:gd name="adj" fmla="val 7368"/>
            </a:avLst>
          </a:prstGeom>
          <a:solidFill>
            <a:schemeClr val="bg2"/>
          </a:solidFill>
          <a:ln/>
        </p:spPr>
      </p:sp>
      <p:sp>
        <p:nvSpPr>
          <p:cNvPr id="51" name="value what a fixed 25 mm gap would be from the clinic"/>
          <p:cNvSpPr txBox="1"/>
          <p:nvPr/>
        </p:nvSpPr>
        <p:spPr>
          <a:xfrm>
            <a:off x="8266176" y="5321808"/>
            <a:ext cx="3172968" cy="434340"/>
          </a:xfrm>
          <a:prstGeom prst="rect">
            <a:avLst/>
          </a:prstGeom>
          <a:noFill/>
          <a:ln/>
        </p:spPr>
        <p:txBody>
          <a:bodyPr wrap="square" lIns="0" tIns="0" rIns="0" bIns="0" rtlCol="0" anchor="ctr"/>
          <a:lstStyle/>
          <a:p>
            <a:pPr indent="0" marL="0">
              <a:buNone/>
            </a:pPr>
            <a:r>
              <a:rPr lang="en-US" sz="2000" b="1" dirty="0">
                <a:solidFill>
                  <a:schemeClr val="accent1"/>
                </a:solidFill>
              </a:rPr>
              <a:t>190 mm</a:t>
            </a:r>
            <a:endParaRPr lang="en-US" sz="2000" dirty="0"/>
          </a:p>
        </p:txBody>
      </p:sp>
      <p:sp>
        <p:nvSpPr>
          <p:cNvPr id="52" name="label what a fixed 25 mm gap would be from the clinic"/>
          <p:cNvSpPr txBox="1"/>
          <p:nvPr/>
        </p:nvSpPr>
        <p:spPr>
          <a:xfrm>
            <a:off x="8266176" y="5734202"/>
            <a:ext cx="3172968" cy="330098"/>
          </a:xfrm>
          <a:prstGeom prst="rect">
            <a:avLst/>
          </a:prstGeom>
          <a:noFill/>
          <a:ln/>
        </p:spPr>
        <p:txBody>
          <a:bodyPr wrap="square" lIns="0" tIns="0" rIns="0" bIns="0" rtlCol="0" anchor="t"/>
          <a:lstStyle/>
          <a:p>
            <a:pPr indent="0" marL="0">
              <a:buNone/>
            </a:pPr>
            <a:r>
              <a:rPr lang="en-US" sz="1000" dirty="0">
                <a:solidFill>
                  <a:srgbClr val="52514E"/>
                </a:solidFill>
              </a:rPr>
              <a:t>what a fixed 25 mm gap would be from the clinic</a:t>
            </a:r>
            <a:endParaRPr lang="en-US" sz="1000" dirty="0"/>
          </a:p>
        </p:txBody>
      </p:sp>
      <p:sp>
        <p:nvSpPr>
          <p:cNvPr id="53" name="references"/>
          <p:cNvSpPr txBox="1"/>
          <p:nvPr/>
        </p:nvSpPr>
        <p:spPr>
          <a:xfrm>
            <a:off x="548640" y="6163056"/>
            <a:ext cx="11091672" cy="237744"/>
          </a:xfrm>
          <a:prstGeom prst="rect">
            <a:avLst/>
          </a:prstGeom>
          <a:noFill/>
          <a:ln/>
        </p:spPr>
        <p:txBody>
          <a:bodyPr wrap="square" lIns="0" tIns="0" rIns="0" bIns="0" rtlCol="0" anchor="b"/>
          <a:lstStyle/>
          <a:p>
            <a:pPr indent="0" marL="0">
              <a:buNone/>
            </a:pPr>
            <a:r>
              <a:rPr lang="en-US" sz="900" dirty="0">
                <a:solidFill>
                  <a:srgbClr val="52514E"/>
                </a:solidFill>
              </a:rPr>
              <a:t>Sections every 250 mm, clinic pipe pairs weighted by shared length; models: buildingSMART Duplex Apartment and Medical-Dental Clinic [12].   [12] buildingSMART International (2020), Duplex Apartment and Medical-Dental Clinic sample IFC files, CC BY 4.0</a:t>
            </a:r>
            <a:endParaRPr lang="en-US" sz="900" dirty="0"/>
          </a:p>
        </p:txBody>
      </p:sp>
      <p:sp>
        <p:nvSpPr>
          <p:cNvPr id="54"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The paper’s two clamp sizes reach one pipe in seven, and the dataset says which sizes to add</a:t>
            </a:r>
            <a:endParaRPr lang="en-US" sz="2600" dirty="0"/>
          </a:p>
        </p:txBody>
      </p:sp>
      <p:graphicFrame>
        <p:nvGraphicFramePr>
          <p:cNvPr id="3" name="attach by size chart" descr=""/>
          <p:cNvGraphicFramePr/>
          <p:nvPr/>
        </p:nvGraphicFramePr>
        <p:xfrm>
          <a:off x="548640" y="1325880"/>
          <a:ext cx="548640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demand chart" descr=""/>
          <p:cNvGraphicFramePr/>
          <p:nvPr/>
        </p:nvGraphicFramePr>
        <p:xfrm>
          <a:off x="6172200" y="1325880"/>
          <a:ext cx="5468112" cy="3246120"/>
        </p:xfrm>
        <a:graphic xmlns:a="http://schemas.openxmlformats.org/drawingml/2006/main">
          <a:graphicData uri="http://schemas.openxmlformats.org/drawingml/2006/chart">
            <c:chart xmlns:c="http://schemas.openxmlformats.org/drawingml/2006/chart" r:id="rId2"/>
          </a:graphicData>
        </a:graphic>
      </p:graphicFrame>
      <p:sp>
        <p:nvSpPr>
          <p:cNvPr id="5" name="tile of benchmark pipes attachable with the paper’s two sizes [2] (95 % CI 12.7–16.2); every one is DN40"/>
          <p:cNvSpPr/>
          <p:nvPr/>
        </p:nvSpPr>
        <p:spPr>
          <a:xfrm>
            <a:off x="548640" y="4663440"/>
            <a:ext cx="3575304" cy="1463040"/>
          </a:xfrm>
          <a:prstGeom prst="roundRect">
            <a:avLst>
              <a:gd name="adj" fmla="val 4375"/>
            </a:avLst>
          </a:prstGeom>
          <a:solidFill>
            <a:schemeClr val="bg2"/>
          </a:solidFill>
          <a:ln/>
        </p:spPr>
      </p:sp>
      <p:sp>
        <p:nvSpPr>
          <p:cNvPr id="6" name="value of benchmark pipes attachable with the paper’s two sizes [2] (95 % CI 12.7–16.2); every one is DN40"/>
          <p:cNvSpPr txBox="1"/>
          <p:nvPr/>
        </p:nvSpPr>
        <p:spPr>
          <a:xfrm>
            <a:off x="749808" y="4754880"/>
            <a:ext cx="3172968" cy="731520"/>
          </a:xfrm>
          <a:prstGeom prst="rect">
            <a:avLst/>
          </a:prstGeom>
          <a:noFill/>
          <a:ln/>
        </p:spPr>
        <p:txBody>
          <a:bodyPr wrap="square" lIns="0" tIns="0" rIns="0" bIns="0" rtlCol="0" anchor="ctr"/>
          <a:lstStyle/>
          <a:p>
            <a:pPr indent="0" marL="0">
              <a:buNone/>
            </a:pPr>
            <a:r>
              <a:rPr lang="en-US" sz="3200" b="1" dirty="0">
                <a:solidFill>
                  <a:schemeClr val="accent1"/>
                </a:solidFill>
              </a:rPr>
              <a:t>14.5 %</a:t>
            </a:r>
            <a:endParaRPr lang="en-US" sz="3200" dirty="0"/>
          </a:p>
        </p:txBody>
      </p:sp>
      <p:sp>
        <p:nvSpPr>
          <p:cNvPr id="7" name="label of benchmark pipes attachable with the paper’s two sizes [2] (95 % CI 12.7–16.2); every one is DN40"/>
          <p:cNvSpPr txBox="1"/>
          <p:nvPr/>
        </p:nvSpPr>
        <p:spPr>
          <a:xfrm>
            <a:off x="749808" y="5512003"/>
            <a:ext cx="3172968" cy="555955"/>
          </a:xfrm>
          <a:prstGeom prst="rect">
            <a:avLst/>
          </a:prstGeom>
          <a:noFill/>
          <a:ln/>
        </p:spPr>
        <p:txBody>
          <a:bodyPr wrap="square" lIns="0" tIns="0" rIns="0" bIns="0" rtlCol="0" anchor="t"/>
          <a:lstStyle/>
          <a:p>
            <a:pPr indent="0" marL="0">
              <a:buNone/>
            </a:pPr>
            <a:r>
              <a:rPr lang="en-US" sz="1100" dirty="0">
                <a:solidFill>
                  <a:srgbClr val="52514E"/>
                </a:solidFill>
              </a:rPr>
              <a:t>of benchmark pipes attachable with the paper’s two sizes [2] (95 % CI 12.7–16.2); every one is DN40</a:t>
            </a:r>
            <a:endParaRPr lang="en-US" sz="1100" dirty="0"/>
          </a:p>
        </p:txBody>
      </p:sp>
      <p:sp>
        <p:nvSpPr>
          <p:cNvPr id="8" name="tile with two sizes placed where the pipes are; 76 % with six, and every pipe with 15"/>
          <p:cNvSpPr/>
          <p:nvPr/>
        </p:nvSpPr>
        <p:spPr>
          <a:xfrm>
            <a:off x="4306824" y="4663440"/>
            <a:ext cx="3575304" cy="1463040"/>
          </a:xfrm>
          <a:prstGeom prst="roundRect">
            <a:avLst>
              <a:gd name="adj" fmla="val 4375"/>
            </a:avLst>
          </a:prstGeom>
          <a:solidFill>
            <a:schemeClr val="bg2"/>
          </a:solidFill>
          <a:ln/>
        </p:spPr>
      </p:sp>
      <p:sp>
        <p:nvSpPr>
          <p:cNvPr id="9" name="value with two sizes placed where the pipes are; 76 % with six, and every pipe with 15"/>
          <p:cNvSpPr txBox="1"/>
          <p:nvPr/>
        </p:nvSpPr>
        <p:spPr>
          <a:xfrm>
            <a:off x="4507992" y="4754880"/>
            <a:ext cx="3172968" cy="731520"/>
          </a:xfrm>
          <a:prstGeom prst="rect">
            <a:avLst/>
          </a:prstGeom>
          <a:noFill/>
          <a:ln/>
        </p:spPr>
        <p:txBody>
          <a:bodyPr wrap="square" lIns="0" tIns="0" rIns="0" bIns="0" rtlCol="0" anchor="ctr"/>
          <a:lstStyle/>
          <a:p>
            <a:pPr indent="0" marL="0">
              <a:buNone/>
            </a:pPr>
            <a:r>
              <a:rPr lang="en-US" sz="3200" b="1" dirty="0">
                <a:solidFill>
                  <a:schemeClr val="accent1"/>
                </a:solidFill>
              </a:rPr>
              <a:t>38.1 %</a:t>
            </a:r>
            <a:endParaRPr lang="en-US" sz="3200" dirty="0"/>
          </a:p>
        </p:txBody>
      </p:sp>
      <p:sp>
        <p:nvSpPr>
          <p:cNvPr id="10" name="label with two sizes placed where the pipes are; 76 % with six, and every pipe with 15"/>
          <p:cNvSpPr txBox="1"/>
          <p:nvPr/>
        </p:nvSpPr>
        <p:spPr>
          <a:xfrm>
            <a:off x="4507992" y="5512003"/>
            <a:ext cx="3172968" cy="555955"/>
          </a:xfrm>
          <a:prstGeom prst="rect">
            <a:avLst/>
          </a:prstGeom>
          <a:noFill/>
          <a:ln/>
        </p:spPr>
        <p:txBody>
          <a:bodyPr wrap="square" lIns="0" tIns="0" rIns="0" bIns="0" rtlCol="0" anchor="t"/>
          <a:lstStyle/>
          <a:p>
            <a:pPr indent="0" marL="0">
              <a:buNone/>
            </a:pPr>
            <a:r>
              <a:rPr lang="en-US" sz="1100" dirty="0">
                <a:solidFill>
                  <a:srgbClr val="52514E"/>
                </a:solidFill>
              </a:rPr>
              <a:t>with two sizes placed where the pipes are; 76 % with six, and every pipe with 15</a:t>
            </a:r>
            <a:endParaRPr lang="en-US" sz="1100" dirty="0"/>
          </a:p>
        </p:txBody>
      </p:sp>
      <p:sp>
        <p:nvSpPr>
          <p:cNvPr id="11" name="tile trays, ducts and conduits: a pipe-clamp catalog defines no attachment. Load never binds (1.97 vs 2.5 kN)"/>
          <p:cNvSpPr/>
          <p:nvPr/>
        </p:nvSpPr>
        <p:spPr>
          <a:xfrm>
            <a:off x="8065008" y="4663440"/>
            <a:ext cx="3575304" cy="1463040"/>
          </a:xfrm>
          <a:prstGeom prst="roundRect">
            <a:avLst>
              <a:gd name="adj" fmla="val 4375"/>
            </a:avLst>
          </a:prstGeom>
          <a:solidFill>
            <a:schemeClr val="bg2"/>
          </a:solidFill>
          <a:ln/>
        </p:spPr>
      </p:sp>
      <p:sp>
        <p:nvSpPr>
          <p:cNvPr id="12" name="value trays, ducts and conduits: a pipe-clamp catalog defines no attachment. Load never binds (1.97 vs 2.5 kN)"/>
          <p:cNvSpPr txBox="1"/>
          <p:nvPr/>
        </p:nvSpPr>
        <p:spPr>
          <a:xfrm>
            <a:off x="8266176" y="4754880"/>
            <a:ext cx="3172968" cy="731520"/>
          </a:xfrm>
          <a:prstGeom prst="rect">
            <a:avLst/>
          </a:prstGeom>
          <a:noFill/>
          <a:ln/>
        </p:spPr>
        <p:txBody>
          <a:bodyPr wrap="square" lIns="0" tIns="0" rIns="0" bIns="0" rtlCol="0" anchor="ctr"/>
          <a:lstStyle/>
          <a:p>
            <a:pPr indent="0" marL="0">
              <a:buNone/>
            </a:pPr>
            <a:r>
              <a:rPr lang="en-US" sz="3200" b="1" dirty="0">
                <a:solidFill>
                  <a:schemeClr val="accent1"/>
                </a:solidFill>
              </a:rPr>
              <a:t>0 of 2,012</a:t>
            </a:r>
            <a:endParaRPr lang="en-US" sz="3200" dirty="0"/>
          </a:p>
        </p:txBody>
      </p:sp>
      <p:sp>
        <p:nvSpPr>
          <p:cNvPr id="13" name="label trays, ducts and conduits: a pipe-clamp catalog defines no attachment. Load never binds (1.97 vs 2.5 kN)"/>
          <p:cNvSpPr txBox="1"/>
          <p:nvPr/>
        </p:nvSpPr>
        <p:spPr>
          <a:xfrm>
            <a:off x="8266176" y="5512003"/>
            <a:ext cx="3172968" cy="555955"/>
          </a:xfrm>
          <a:prstGeom prst="rect">
            <a:avLst/>
          </a:prstGeom>
          <a:noFill/>
          <a:ln/>
        </p:spPr>
        <p:txBody>
          <a:bodyPr wrap="square" lIns="0" tIns="0" rIns="0" bIns="0" rtlCol="0" anchor="t"/>
          <a:lstStyle/>
          <a:p>
            <a:pPr indent="0" marL="0">
              <a:buNone/>
            </a:pPr>
            <a:r>
              <a:rPr lang="en-US" sz="1100" dirty="0">
                <a:solidFill>
                  <a:srgbClr val="52514E"/>
                </a:solidFill>
              </a:rPr>
              <a:t>trays, ducts and conduits: a pipe-clamp catalog defines no attachment. Load never binds (1.97 vs 2.5 kN)</a:t>
            </a:r>
            <a:endParaRPr lang="en-US" sz="1100" dirty="0"/>
          </a:p>
        </p:txBody>
      </p:sp>
      <p:sp>
        <p:nvSpPr>
          <p:cNvPr id="14" name="references"/>
          <p:cNvSpPr txBox="1"/>
          <p:nvPr/>
        </p:nvSpPr>
        <p:spPr>
          <a:xfrm>
            <a:off x="548640" y="6163056"/>
            <a:ext cx="11091672" cy="237744"/>
          </a:xfrm>
          <a:prstGeom prst="rect">
            <a:avLst/>
          </a:prstGeom>
          <a:noFill/>
          <a:ln/>
        </p:spPr>
        <p:txBody>
          <a:bodyPr wrap="square" lIns="0" tIns="0" rIns="0" bIns="0" rtlCol="0" anchor="b"/>
          <a:lstStyle/>
          <a:p>
            <a:pPr indent="0" marL="0">
              <a:buNone/>
            </a:pPr>
            <a:r>
              <a:rPr lang="en-US" sz="900" dirty="0">
                <a:solidFill>
                  <a:srgbClr val="52514E"/>
                </a:solidFill>
              </a:rPr>
              <a:t>[2] Pedrollo, Gvadzabia, Graeber &amp; Fischer (2026), CrossMEP, CIB W78 2026 (this paper)</a:t>
            </a:r>
            <a:endParaRPr lang="en-US" sz="900" dirty="0"/>
          </a:p>
        </p:txBody>
      </p:sp>
      <p:sp>
        <p:nvSpPr>
          <p:cNvPr id="1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Pick a tier or an exact mix and a seed, and the Generator Studio returns the designer’s brief</a:t>
            </a:r>
            <a:endParaRPr lang="en-US" sz="2600" dirty="0"/>
          </a:p>
        </p:txBody>
      </p:sp>
      <p:sp>
        <p:nvSpPr>
          <p:cNvPr id="3" name="in label"/>
          <p:cNvSpPr txBox="1"/>
          <p:nvPr/>
        </p:nvSpPr>
        <p:spPr>
          <a:xfrm>
            <a:off x="548640" y="1280160"/>
            <a:ext cx="5486400" cy="228600"/>
          </a:xfrm>
          <a:prstGeom prst="rect">
            <a:avLst/>
          </a:prstGeom>
          <a:noFill/>
          <a:ln/>
        </p:spPr>
        <p:txBody>
          <a:bodyPr wrap="square" lIns="0" tIns="0" rIns="0" bIns="0" rtlCol="0" anchor="ctr"/>
          <a:lstStyle/>
          <a:p>
            <a:pPr indent="0" marL="0">
              <a:buNone/>
            </a:pPr>
            <a:r>
              <a:rPr lang="en-US" sz="1000" b="1" dirty="0">
                <a:solidFill>
                  <a:srgbClr val="52514E"/>
                </a:solidFill>
              </a:rPr>
              <a:t>In: the parameters</a:t>
            </a:r>
            <a:endParaRPr lang="en-US" sz="1000" dirty="0"/>
          </a:p>
        </p:txBody>
      </p:sp>
      <p:pic>
        <p:nvPicPr>
          <p:cNvPr id="4" name="studio parameters" descr="preencoded.png">    </p:cNvPr>
          <p:cNvPicPr>
            <a:picLocks noChangeAspect="1"/>
          </p:cNvPicPr>
          <p:nvPr/>
        </p:nvPicPr>
        <p:blipFill>
          <a:blip r:embed="rId1"/>
          <a:stretch>
            <a:fillRect/>
          </a:stretch>
        </p:blipFill>
        <p:spPr>
          <a:xfrm>
            <a:off x="912010" y="1554480"/>
            <a:ext cx="10364932" cy="685800"/>
          </a:xfrm>
          <a:prstGeom prst="rect">
            <a:avLst/>
          </a:prstGeom>
        </p:spPr>
      </p:pic>
      <p:sp>
        <p:nvSpPr>
          <p:cNvPr id="5" name="parameters frame"/>
          <p:cNvSpPr/>
          <p:nvPr/>
        </p:nvSpPr>
        <p:spPr>
          <a:xfrm>
            <a:off x="866290" y="1508760"/>
            <a:ext cx="10456372" cy="777240"/>
          </a:xfrm>
          <a:prstGeom prst="rect">
            <a:avLst/>
          </a:prstGeom>
          <a:ln w="9525">
            <a:solidFill>
              <a:srgbClr val="E1E0D9"/>
            </a:solidFill>
            <a:prstDash val="solid"/>
          </a:ln>
        </p:spPr>
      </p:sp>
      <p:pic>
        <p:nvPicPr>
          <p:cNvPr id="6" name="studio section" descr="preencoded.png">    </p:cNvPr>
          <p:cNvPicPr>
            <a:picLocks noChangeAspect="1"/>
          </p:cNvPicPr>
          <p:nvPr/>
        </p:nvPicPr>
        <p:blipFill>
          <a:blip r:embed="rId2"/>
          <a:stretch>
            <a:fillRect/>
          </a:stretch>
        </p:blipFill>
        <p:spPr>
          <a:xfrm>
            <a:off x="1061689" y="2697480"/>
            <a:ext cx="5877622" cy="2514600"/>
          </a:xfrm>
          <a:prstGeom prst="rect">
            <a:avLst/>
          </a:prstGeom>
        </p:spPr>
      </p:pic>
      <p:sp>
        <p:nvSpPr>
          <p:cNvPr id="7" name="section frame"/>
          <p:cNvSpPr/>
          <p:nvPr/>
        </p:nvSpPr>
        <p:spPr>
          <a:xfrm>
            <a:off x="1015969" y="2651760"/>
            <a:ext cx="5969062" cy="2606040"/>
          </a:xfrm>
          <a:prstGeom prst="rect">
            <a:avLst/>
          </a:prstGeom>
          <a:ln w="9525">
            <a:solidFill>
              <a:srgbClr val="E1E0D9"/>
            </a:solidFill>
            <a:prstDash val="solid"/>
          </a:ln>
        </p:spPr>
      </p:sp>
      <p:pic>
        <p:nvPicPr>
          <p:cNvPr id="8" name="studio facts" descr="preencoded.png">    </p:cNvPr>
          <p:cNvPicPr>
            <a:picLocks noChangeAspect="1"/>
          </p:cNvPicPr>
          <p:nvPr/>
        </p:nvPicPr>
        <p:blipFill>
          <a:blip r:embed="rId3"/>
          <a:stretch>
            <a:fillRect/>
          </a:stretch>
        </p:blipFill>
        <p:spPr>
          <a:xfrm>
            <a:off x="800100" y="5367528"/>
            <a:ext cx="6400800" cy="329184"/>
          </a:xfrm>
          <a:prstGeom prst="rect">
            <a:avLst/>
          </a:prstGeom>
        </p:spPr>
      </p:pic>
      <p:sp>
        <p:nvSpPr>
          <p:cNvPr id="9" name="out label"/>
          <p:cNvSpPr txBox="1"/>
          <p:nvPr/>
        </p:nvSpPr>
        <p:spPr>
          <a:xfrm>
            <a:off x="548640" y="2423160"/>
            <a:ext cx="6903720" cy="228600"/>
          </a:xfrm>
          <a:prstGeom prst="rect">
            <a:avLst/>
          </a:prstGeom>
          <a:noFill/>
          <a:ln/>
        </p:spPr>
        <p:txBody>
          <a:bodyPr wrap="square" lIns="0" tIns="0" rIns="0" bIns="0" rtlCol="0" anchor="ctr"/>
          <a:lstStyle/>
          <a:p>
            <a:pPr indent="0" marL="0">
              <a:buNone/>
            </a:pPr>
            <a:r>
              <a:rPr lang="en-US" sz="1000" b="1" dirty="0">
                <a:solidFill>
                  <a:srgbClr val="52514E"/>
                </a:solidFill>
              </a:rPr>
              <a:t>Out: section A–A as the designer receives it, and what it carries</a:t>
            </a:r>
            <a:endParaRPr lang="en-US" sz="1000" dirty="0"/>
          </a:p>
        </p:txBody>
      </p:sp>
      <p:pic>
        <p:nvPicPr>
          <p:cNvPr id="10" name="studio 3D" descr="preencoded.png">    </p:cNvPr>
          <p:cNvPicPr>
            <a:picLocks noChangeAspect="1"/>
          </p:cNvPicPr>
          <p:nvPr/>
        </p:nvPicPr>
        <p:blipFill>
          <a:blip r:embed="rId4"/>
          <a:stretch>
            <a:fillRect/>
          </a:stretch>
        </p:blipFill>
        <p:spPr>
          <a:xfrm>
            <a:off x="8137084" y="2697480"/>
            <a:ext cx="3092824" cy="2103120"/>
          </a:xfrm>
          <a:prstGeom prst="rect">
            <a:avLst/>
          </a:prstGeom>
        </p:spPr>
      </p:pic>
      <p:sp>
        <p:nvSpPr>
          <p:cNvPr id="11" name="3d frame"/>
          <p:cNvSpPr/>
          <p:nvPr/>
        </p:nvSpPr>
        <p:spPr>
          <a:xfrm>
            <a:off x="8091364" y="2651760"/>
            <a:ext cx="3184264" cy="2194560"/>
          </a:xfrm>
          <a:prstGeom prst="rect">
            <a:avLst/>
          </a:prstGeom>
          <a:ln w="9525">
            <a:solidFill>
              <a:srgbClr val="E1E0D9"/>
            </a:solidFill>
            <a:prstDash val="solid"/>
          </a:ln>
        </p:spPr>
      </p:sp>
      <p:sp>
        <p:nvSpPr>
          <p:cNvPr id="12" name="out 3d label"/>
          <p:cNvSpPr txBox="1"/>
          <p:nvPr/>
        </p:nvSpPr>
        <p:spPr>
          <a:xfrm>
            <a:off x="7726680" y="2423160"/>
            <a:ext cx="3913632" cy="228600"/>
          </a:xfrm>
          <a:prstGeom prst="rect">
            <a:avLst/>
          </a:prstGeom>
          <a:noFill/>
          <a:ln/>
        </p:spPr>
        <p:txBody>
          <a:bodyPr wrap="square" lIns="0" tIns="0" rIns="0" bIns="0" rtlCol="0" anchor="ctr"/>
          <a:lstStyle/>
          <a:p>
            <a:pPr indent="0" marL="0">
              <a:buNone/>
            </a:pPr>
            <a:r>
              <a:rPr lang="en-US" sz="1000" b="1" dirty="0">
                <a:solidFill>
                  <a:srgbClr val="52514E"/>
                </a:solidFill>
              </a:rPr>
              <a:t>Out: the same run in 3D, cut at the section</a:t>
            </a:r>
            <a:endParaRPr lang="en-US" sz="1000" dirty="0"/>
          </a:p>
        </p:txBody>
      </p:sp>
      <p:sp>
        <p:nvSpPr>
          <p:cNvPr id="13" name="studio link card"/>
          <p:cNvSpPr/>
          <p:nvPr/>
        </p:nvSpPr>
        <p:spPr>
          <a:xfrm>
            <a:off x="7726680" y="4937760"/>
            <a:ext cx="3913632" cy="1143000"/>
          </a:xfrm>
          <a:prstGeom prst="roundRect">
            <a:avLst>
              <a:gd name="adj" fmla="val 5600"/>
            </a:avLst>
          </a:prstGeom>
          <a:solidFill>
            <a:schemeClr val="bg2"/>
          </a:solidFill>
          <a:ln/>
        </p:spPr>
      </p:sp>
      <p:pic>
        <p:nvPicPr>
          <p:cNvPr id="14" name="qr studio" descr="/home/user/crossmep_dataset/docs/figures/qr_studio.png">    </p:cNvPr>
          <p:cNvPicPr>
            <a:picLocks noChangeAspect="1"/>
          </p:cNvPicPr>
          <p:nvPr/>
        </p:nvPicPr>
        <p:blipFill>
          <a:blip r:embed="rId5"/>
          <a:stretch>
            <a:fillRect/>
          </a:stretch>
        </p:blipFill>
        <p:spPr>
          <a:xfrm>
            <a:off x="7836408" y="4992624"/>
            <a:ext cx="1033272" cy="1033272"/>
          </a:xfrm>
          <a:prstGeom prst="rect">
            <a:avLst/>
          </a:prstGeom>
        </p:spPr>
      </p:pic>
      <p:sp>
        <p:nvSpPr>
          <p:cNvPr id="15" name="studio link"/>
          <p:cNvSpPr txBox="1"/>
          <p:nvPr/>
        </p:nvSpPr>
        <p:spPr>
          <a:xfrm>
            <a:off x="8961120" y="4937760"/>
            <a:ext cx="2542032" cy="1143000"/>
          </a:xfrm>
          <a:prstGeom prst="rect">
            <a:avLst/>
          </a:prstGeom>
          <a:noFill/>
          <a:ln/>
        </p:spPr>
        <p:txBody>
          <a:bodyPr wrap="square" lIns="0" tIns="0" rIns="0" bIns="0" rtlCol="0" anchor="ctr"/>
          <a:lstStyle/>
          <a:p>
            <a:pPr indent="0" marL="0">
              <a:buNone/>
            </a:pPr>
            <a:r>
              <a:rPr lang="en-US" sz="1250" b="1" dirty="0">
                <a:solidFill>
                  <a:schemeClr val="tx1"/>
                </a:solidFill>
              </a:rPr>
              <a:t>Scan to open the studio</a:t>
            </a:r>
            <a:endParaRPr lang="en-US" sz="1250" dirty="0"/>
          </a:p>
          <a:p>
            <a:pPr indent="0" marL="0">
              <a:buNone/>
            </a:pPr>
            <a:r>
              <a:rPr lang="en-US" sz="1050" dirty="0">
                <a:solidFill>
                  <a:srgbClr val="52514E"/>
                </a:solidFill>
              </a:rPr>
              <a:t>every section is a stored output of the released generator, with the call that reproduces it</a:t>
            </a:r>
            <a:endParaRPr lang="en-US" sz="1250" dirty="0"/>
          </a:p>
        </p:txBody>
      </p:sp>
      <p:sp>
        <p:nvSpPr>
          <p:cNvPr id="16"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Methods train on the generator and are compared on one fixed benchmark, tier by tier</a:t>
            </a:r>
            <a:endParaRPr lang="en-US" sz="2600" dirty="0"/>
          </a:p>
        </p:txBody>
      </p:sp>
      <p:sp>
        <p:nvSpPr>
          <p:cNvPr id="3" name="flow Generator"/>
          <p:cNvSpPr/>
          <p:nvPr/>
        </p:nvSpPr>
        <p:spPr>
          <a:xfrm>
            <a:off x="548640" y="1371600"/>
            <a:ext cx="2286000" cy="2057400"/>
          </a:xfrm>
          <a:prstGeom prst="roundRect">
            <a:avLst>
              <a:gd name="adj" fmla="val 3111"/>
            </a:avLst>
          </a:prstGeom>
          <a:solidFill>
            <a:schemeClr val="bg2"/>
          </a:solidFill>
          <a:ln/>
        </p:spPr>
      </p:sp>
      <p:sp>
        <p:nvSpPr>
          <p:cNvPr id="4" name="icon ring flow Generator"/>
          <p:cNvSpPr/>
          <p:nvPr/>
        </p:nvSpPr>
        <p:spPr>
          <a:xfrm>
            <a:off x="777240" y="1600200"/>
            <a:ext cx="548640" cy="548640"/>
          </a:xfrm>
          <a:prstGeom prst="ellipse">
            <a:avLst/>
          </a:prstGeom>
          <a:solidFill>
            <a:schemeClr val="accent1"/>
          </a:solidFill>
          <a:ln/>
        </p:spPr>
      </p:sp>
      <p:pic>
        <p:nvPicPr>
          <p:cNvPr id="5" name="icon flow Generator" descr="preencoded.png">    </p:cNvPr>
          <p:cNvPicPr>
            <a:picLocks noChangeAspect="1"/>
          </p:cNvPicPr>
          <p:nvPr/>
        </p:nvPicPr>
        <p:blipFill>
          <a:blip r:embed="rId1"/>
          <a:stretch>
            <a:fillRect/>
          </a:stretch>
        </p:blipFill>
        <p:spPr>
          <a:xfrm>
            <a:off x="892454" y="1715414"/>
            <a:ext cx="318211" cy="318211"/>
          </a:xfrm>
          <a:prstGeom prst="rect">
            <a:avLst/>
          </a:prstGeom>
        </p:spPr>
      </p:pic>
      <p:sp>
        <p:nvSpPr>
          <p:cNvPr id="6" name="flow head Generator"/>
          <p:cNvSpPr txBox="1"/>
          <p:nvPr/>
        </p:nvSpPr>
        <p:spPr>
          <a:xfrm>
            <a:off x="1463040" y="1600200"/>
            <a:ext cx="1188720" cy="548640"/>
          </a:xfrm>
          <a:prstGeom prst="rect">
            <a:avLst/>
          </a:prstGeom>
          <a:noFill/>
          <a:ln/>
        </p:spPr>
        <p:txBody>
          <a:bodyPr wrap="square" lIns="0" tIns="0" rIns="0" bIns="0" rtlCol="0" anchor="ctr"/>
          <a:lstStyle/>
          <a:p>
            <a:pPr indent="0" marL="0">
              <a:buNone/>
            </a:pPr>
            <a:r>
              <a:rPr lang="en-US" sz="1600" b="1" dirty="0">
                <a:solidFill>
                  <a:schemeClr val="tx1"/>
                </a:solidFill>
              </a:rPr>
              <a:t>Generator</a:t>
            </a:r>
            <a:endParaRPr lang="en-US" sz="1600" dirty="0"/>
          </a:p>
        </p:txBody>
      </p:sp>
      <p:sp>
        <p:nvSpPr>
          <p:cNvPr id="7" name="flow text Generator"/>
          <p:cNvSpPr txBox="1"/>
          <p:nvPr/>
        </p:nvSpPr>
        <p:spPr>
          <a:xfrm>
            <a:off x="777240" y="2286000"/>
            <a:ext cx="1828800" cy="1005840"/>
          </a:xfrm>
          <a:prstGeom prst="rect">
            <a:avLst/>
          </a:prstGeom>
          <a:noFill/>
          <a:ln/>
        </p:spPr>
        <p:txBody>
          <a:bodyPr wrap="square" lIns="0" tIns="0" rIns="0" bIns="0" rtlCol="0" anchor="t"/>
          <a:lstStyle/>
          <a:p>
            <a:pPr indent="0" marL="0">
              <a:buNone/>
            </a:pPr>
            <a:r>
              <a:rPr lang="en-US" sz="1200" dirty="0">
                <a:solidFill>
                  <a:schemeClr val="tx1"/>
                </a:solidFill>
              </a:rPr>
              <a:t>unlimited problems: a new seed is a new set; a curriculum from C1 up to C8</a:t>
            </a:r>
            <a:endParaRPr lang="en-US" sz="1200" dirty="0"/>
          </a:p>
        </p:txBody>
      </p:sp>
      <p:sp>
        <p:nvSpPr>
          <p:cNvPr id="8" name="flow arrow 0"/>
          <p:cNvSpPr/>
          <p:nvPr/>
        </p:nvSpPr>
        <p:spPr>
          <a:xfrm>
            <a:off x="2880360" y="1874520"/>
            <a:ext cx="557784" cy="0"/>
          </a:xfrm>
          <a:prstGeom prst="line">
            <a:avLst/>
          </a:prstGeom>
          <a:noFill/>
          <a:ln w="19050">
            <a:solidFill>
              <a:srgbClr val="52514E"/>
            </a:solidFill>
            <a:prstDash val="solid"/>
            <a:tailEnd type="triangle"/>
          </a:ln>
        </p:spPr>
      </p:sp>
      <p:sp>
        <p:nvSpPr>
          <p:cNvPr id="9" name="flow link 0"/>
          <p:cNvSpPr txBox="1"/>
          <p:nvPr/>
        </p:nvSpPr>
        <p:spPr>
          <a:xfrm>
            <a:off x="2606040" y="1920240"/>
            <a:ext cx="1106424" cy="228600"/>
          </a:xfrm>
          <a:prstGeom prst="rect">
            <a:avLst/>
          </a:prstGeom>
          <a:noFill/>
          <a:ln/>
        </p:spPr>
        <p:txBody>
          <a:bodyPr wrap="square" lIns="0" tIns="0" rIns="0" bIns="0" rtlCol="0" anchor="ctr"/>
          <a:lstStyle/>
          <a:p>
            <a:pPr algn="ctr" indent="0" marL="0">
              <a:buNone/>
            </a:pPr>
            <a:r>
              <a:rPr lang="en-US" sz="950" dirty="0">
                <a:solidFill>
                  <a:srgbClr val="52514E"/>
                </a:solidFill>
              </a:rPr>
              <a:t>train on</a:t>
            </a:r>
            <a:endParaRPr lang="en-US" sz="950" dirty="0"/>
          </a:p>
        </p:txBody>
      </p:sp>
      <p:sp>
        <p:nvSpPr>
          <p:cNvPr id="10" name="flow Train"/>
          <p:cNvSpPr/>
          <p:nvPr/>
        </p:nvSpPr>
        <p:spPr>
          <a:xfrm>
            <a:off x="3483864" y="1371600"/>
            <a:ext cx="2286000" cy="2057400"/>
          </a:xfrm>
          <a:prstGeom prst="roundRect">
            <a:avLst>
              <a:gd name="adj" fmla="val 3111"/>
            </a:avLst>
          </a:prstGeom>
          <a:solidFill>
            <a:schemeClr val="bg2"/>
          </a:solidFill>
          <a:ln/>
        </p:spPr>
      </p:sp>
      <p:sp>
        <p:nvSpPr>
          <p:cNvPr id="11" name="icon ring flow Train"/>
          <p:cNvSpPr/>
          <p:nvPr/>
        </p:nvSpPr>
        <p:spPr>
          <a:xfrm>
            <a:off x="3712464" y="1600200"/>
            <a:ext cx="548640" cy="548640"/>
          </a:xfrm>
          <a:prstGeom prst="ellipse">
            <a:avLst/>
          </a:prstGeom>
          <a:solidFill>
            <a:schemeClr val="accent1"/>
          </a:solidFill>
          <a:ln/>
        </p:spPr>
      </p:sp>
      <p:pic>
        <p:nvPicPr>
          <p:cNvPr id="12" name="icon flow Train" descr="preencoded.png">    </p:cNvPr>
          <p:cNvPicPr>
            <a:picLocks noChangeAspect="1"/>
          </p:cNvPicPr>
          <p:nvPr/>
        </p:nvPicPr>
        <p:blipFill>
          <a:blip r:embed="rId2"/>
          <a:stretch>
            <a:fillRect/>
          </a:stretch>
        </p:blipFill>
        <p:spPr>
          <a:xfrm>
            <a:off x="3827678" y="1715414"/>
            <a:ext cx="318211" cy="318211"/>
          </a:xfrm>
          <a:prstGeom prst="rect">
            <a:avLst/>
          </a:prstGeom>
        </p:spPr>
      </p:pic>
      <p:sp>
        <p:nvSpPr>
          <p:cNvPr id="13" name="flow head Train"/>
          <p:cNvSpPr txBox="1"/>
          <p:nvPr/>
        </p:nvSpPr>
        <p:spPr>
          <a:xfrm>
            <a:off x="4398264" y="1600200"/>
            <a:ext cx="1188720" cy="548640"/>
          </a:xfrm>
          <a:prstGeom prst="rect">
            <a:avLst/>
          </a:prstGeom>
          <a:noFill/>
          <a:ln/>
        </p:spPr>
        <p:txBody>
          <a:bodyPr wrap="square" lIns="0" tIns="0" rIns="0" bIns="0" rtlCol="0" anchor="ctr"/>
          <a:lstStyle/>
          <a:p>
            <a:pPr indent="0" marL="0">
              <a:buNone/>
            </a:pPr>
            <a:r>
              <a:rPr lang="en-US" sz="1600" b="1" dirty="0">
                <a:solidFill>
                  <a:schemeClr val="tx1"/>
                </a:solidFill>
              </a:rPr>
              <a:t>Train</a:t>
            </a:r>
            <a:endParaRPr lang="en-US" sz="1600" dirty="0"/>
          </a:p>
        </p:txBody>
      </p:sp>
      <p:sp>
        <p:nvSpPr>
          <p:cNvPr id="14" name="flow text Train"/>
          <p:cNvSpPr txBox="1"/>
          <p:nvPr/>
        </p:nvSpPr>
        <p:spPr>
          <a:xfrm>
            <a:off x="3712464" y="2286000"/>
            <a:ext cx="1828800" cy="1005840"/>
          </a:xfrm>
          <a:prstGeom prst="rect">
            <a:avLst/>
          </a:prstGeom>
          <a:noFill/>
          <a:ln/>
        </p:spPr>
        <p:txBody>
          <a:bodyPr wrap="square" lIns="0" tIns="0" rIns="0" bIns="0" rtlCol="0" anchor="t"/>
          <a:lstStyle/>
          <a:p>
            <a:pPr indent="0" marL="0">
              <a:buNone/>
            </a:pPr>
            <a:r>
              <a:rPr lang="en-US" sz="1200" dirty="0">
                <a:solidFill>
                  <a:schemeClr val="tx1"/>
                </a:solidFill>
              </a:rPr>
              <a:t>5,000 contexts (seed 1000); validation 500, test 500, on their own seeds</a:t>
            </a:r>
            <a:endParaRPr lang="en-US" sz="1200" dirty="0"/>
          </a:p>
        </p:txBody>
      </p:sp>
      <p:sp>
        <p:nvSpPr>
          <p:cNvPr id="15" name="flow arrow 1"/>
          <p:cNvSpPr/>
          <p:nvPr/>
        </p:nvSpPr>
        <p:spPr>
          <a:xfrm>
            <a:off x="5815584" y="1874520"/>
            <a:ext cx="557784" cy="0"/>
          </a:xfrm>
          <a:prstGeom prst="line">
            <a:avLst/>
          </a:prstGeom>
          <a:noFill/>
          <a:ln w="19050">
            <a:solidFill>
              <a:srgbClr val="52514E"/>
            </a:solidFill>
            <a:prstDash val="solid"/>
            <a:tailEnd type="triangle"/>
          </a:ln>
        </p:spPr>
      </p:sp>
      <p:sp>
        <p:nvSpPr>
          <p:cNvPr id="16" name="flow link 1"/>
          <p:cNvSpPr txBox="1"/>
          <p:nvPr/>
        </p:nvSpPr>
        <p:spPr>
          <a:xfrm>
            <a:off x="5541264" y="1920240"/>
            <a:ext cx="1106424" cy="228600"/>
          </a:xfrm>
          <a:prstGeom prst="rect">
            <a:avLst/>
          </a:prstGeom>
          <a:noFill/>
          <a:ln/>
        </p:spPr>
        <p:txBody>
          <a:bodyPr wrap="square" lIns="0" tIns="0" rIns="0" bIns="0" rtlCol="0" anchor="ctr"/>
          <a:lstStyle/>
          <a:p>
            <a:pPr algn="ctr" indent="0" marL="0">
              <a:buNone/>
            </a:pPr>
            <a:r>
              <a:rPr lang="en-US" sz="950" dirty="0">
                <a:solidFill>
                  <a:srgbClr val="52514E"/>
                </a:solidFill>
              </a:rPr>
              <a:t>evaluate on</a:t>
            </a:r>
            <a:endParaRPr lang="en-US" sz="950" dirty="0"/>
          </a:p>
        </p:txBody>
      </p:sp>
      <p:sp>
        <p:nvSpPr>
          <p:cNvPr id="17" name="flow Benchmark"/>
          <p:cNvSpPr/>
          <p:nvPr/>
        </p:nvSpPr>
        <p:spPr>
          <a:xfrm>
            <a:off x="6419088" y="1371600"/>
            <a:ext cx="2286000" cy="2057400"/>
          </a:xfrm>
          <a:prstGeom prst="roundRect">
            <a:avLst>
              <a:gd name="adj" fmla="val 3111"/>
            </a:avLst>
          </a:prstGeom>
          <a:solidFill>
            <a:schemeClr val="bg2"/>
          </a:solidFill>
          <a:ln/>
        </p:spPr>
      </p:sp>
      <p:sp>
        <p:nvSpPr>
          <p:cNvPr id="18" name="icon ring flow Benchmark"/>
          <p:cNvSpPr/>
          <p:nvPr/>
        </p:nvSpPr>
        <p:spPr>
          <a:xfrm>
            <a:off x="6647688" y="1600200"/>
            <a:ext cx="548640" cy="548640"/>
          </a:xfrm>
          <a:prstGeom prst="ellipse">
            <a:avLst/>
          </a:prstGeom>
          <a:solidFill>
            <a:schemeClr val="accent1"/>
          </a:solidFill>
          <a:ln/>
        </p:spPr>
      </p:sp>
      <p:pic>
        <p:nvPicPr>
          <p:cNvPr id="19" name="icon flow Benchmark" descr="preencoded.png">    </p:cNvPr>
          <p:cNvPicPr>
            <a:picLocks noChangeAspect="1"/>
          </p:cNvPicPr>
          <p:nvPr/>
        </p:nvPicPr>
        <p:blipFill>
          <a:blip r:embed="rId3"/>
          <a:stretch>
            <a:fillRect/>
          </a:stretch>
        </p:blipFill>
        <p:spPr>
          <a:xfrm>
            <a:off x="6762902" y="1715414"/>
            <a:ext cx="318211" cy="318211"/>
          </a:xfrm>
          <a:prstGeom prst="rect">
            <a:avLst/>
          </a:prstGeom>
        </p:spPr>
      </p:pic>
      <p:sp>
        <p:nvSpPr>
          <p:cNvPr id="20" name="flow head Benchmark"/>
          <p:cNvSpPr txBox="1"/>
          <p:nvPr/>
        </p:nvSpPr>
        <p:spPr>
          <a:xfrm>
            <a:off x="7333488" y="1600200"/>
            <a:ext cx="1188720" cy="548640"/>
          </a:xfrm>
          <a:prstGeom prst="rect">
            <a:avLst/>
          </a:prstGeom>
          <a:noFill/>
          <a:ln/>
        </p:spPr>
        <p:txBody>
          <a:bodyPr wrap="square" lIns="0" tIns="0" rIns="0" bIns="0" rtlCol="0" anchor="ctr"/>
          <a:lstStyle/>
          <a:p>
            <a:pPr indent="0" marL="0">
              <a:buNone/>
            </a:pPr>
            <a:r>
              <a:rPr lang="en-US" sz="1600" b="1" dirty="0">
                <a:solidFill>
                  <a:schemeClr val="tx1"/>
                </a:solidFill>
              </a:rPr>
              <a:t>Benchmark</a:t>
            </a:r>
            <a:endParaRPr lang="en-US" sz="1600" dirty="0"/>
          </a:p>
        </p:txBody>
      </p:sp>
      <p:sp>
        <p:nvSpPr>
          <p:cNvPr id="21" name="flow text Benchmark"/>
          <p:cNvSpPr txBox="1"/>
          <p:nvPr/>
        </p:nvSpPr>
        <p:spPr>
          <a:xfrm>
            <a:off x="6647688" y="2286000"/>
            <a:ext cx="1828800" cy="1005840"/>
          </a:xfrm>
          <a:prstGeom prst="rect">
            <a:avLst/>
          </a:prstGeom>
          <a:noFill/>
          <a:ln/>
        </p:spPr>
        <p:txBody>
          <a:bodyPr wrap="square" lIns="0" tIns="0" rIns="0" bIns="0" rtlCol="0" anchor="t"/>
          <a:lstStyle/>
          <a:p>
            <a:pPr indent="0" marL="0">
              <a:buNone/>
            </a:pPr>
            <a:r>
              <a:rPr lang="en-US" sz="1200" dirty="0">
                <a:solidFill>
                  <a:schemeClr val="tx1"/>
                </a:solidFill>
              </a:rPr>
              <a:t>1,000 contexts, 125 per tier, seed 42: never trained on, the same for every method</a:t>
            </a:r>
            <a:endParaRPr lang="en-US" sz="1200" dirty="0"/>
          </a:p>
        </p:txBody>
      </p:sp>
      <p:sp>
        <p:nvSpPr>
          <p:cNvPr id="22" name="flow arrow 2"/>
          <p:cNvSpPr/>
          <p:nvPr/>
        </p:nvSpPr>
        <p:spPr>
          <a:xfrm>
            <a:off x="8750808" y="1874520"/>
            <a:ext cx="557784" cy="0"/>
          </a:xfrm>
          <a:prstGeom prst="line">
            <a:avLst/>
          </a:prstGeom>
          <a:noFill/>
          <a:ln w="19050">
            <a:solidFill>
              <a:srgbClr val="52514E"/>
            </a:solidFill>
            <a:prstDash val="solid"/>
            <a:tailEnd type="triangle"/>
          </a:ln>
        </p:spPr>
      </p:sp>
      <p:sp>
        <p:nvSpPr>
          <p:cNvPr id="23" name="flow link 2"/>
          <p:cNvSpPr txBox="1"/>
          <p:nvPr/>
        </p:nvSpPr>
        <p:spPr>
          <a:xfrm>
            <a:off x="8476488" y="1920240"/>
            <a:ext cx="1106424" cy="228600"/>
          </a:xfrm>
          <a:prstGeom prst="rect">
            <a:avLst/>
          </a:prstGeom>
          <a:noFill/>
          <a:ln/>
        </p:spPr>
        <p:txBody>
          <a:bodyPr wrap="square" lIns="0" tIns="0" rIns="0" bIns="0" rtlCol="0" anchor="ctr"/>
          <a:lstStyle/>
          <a:p>
            <a:pPr algn="ctr" indent="0" marL="0">
              <a:buNone/>
            </a:pPr>
            <a:r>
              <a:rPr lang="en-US" sz="950" dirty="0">
                <a:solidFill>
                  <a:srgbClr val="52514E"/>
                </a:solidFill>
              </a:rPr>
              <a:t>then</a:t>
            </a:r>
            <a:endParaRPr lang="en-US" sz="950" dirty="0"/>
          </a:p>
        </p:txBody>
      </p:sp>
      <p:sp>
        <p:nvSpPr>
          <p:cNvPr id="24" name="flow Report"/>
          <p:cNvSpPr/>
          <p:nvPr/>
        </p:nvSpPr>
        <p:spPr>
          <a:xfrm>
            <a:off x="9354312" y="1371600"/>
            <a:ext cx="2286000" cy="2057400"/>
          </a:xfrm>
          <a:prstGeom prst="roundRect">
            <a:avLst>
              <a:gd name="adj" fmla="val 3111"/>
            </a:avLst>
          </a:prstGeom>
          <a:solidFill>
            <a:schemeClr val="bg2"/>
          </a:solidFill>
          <a:ln/>
        </p:spPr>
      </p:sp>
      <p:sp>
        <p:nvSpPr>
          <p:cNvPr id="25" name="icon ring flow Report"/>
          <p:cNvSpPr/>
          <p:nvPr/>
        </p:nvSpPr>
        <p:spPr>
          <a:xfrm>
            <a:off x="9582912" y="1600200"/>
            <a:ext cx="548640" cy="548640"/>
          </a:xfrm>
          <a:prstGeom prst="ellipse">
            <a:avLst/>
          </a:prstGeom>
          <a:solidFill>
            <a:schemeClr val="accent1"/>
          </a:solidFill>
          <a:ln/>
        </p:spPr>
      </p:sp>
      <p:pic>
        <p:nvPicPr>
          <p:cNvPr id="26" name="icon flow Report" descr="preencoded.png">    </p:cNvPr>
          <p:cNvPicPr>
            <a:picLocks noChangeAspect="1"/>
          </p:cNvPicPr>
          <p:nvPr/>
        </p:nvPicPr>
        <p:blipFill>
          <a:blip r:embed="rId4"/>
          <a:stretch>
            <a:fillRect/>
          </a:stretch>
        </p:blipFill>
        <p:spPr>
          <a:xfrm>
            <a:off x="9698126" y="1715414"/>
            <a:ext cx="318211" cy="318211"/>
          </a:xfrm>
          <a:prstGeom prst="rect">
            <a:avLst/>
          </a:prstGeom>
        </p:spPr>
      </p:pic>
      <p:sp>
        <p:nvSpPr>
          <p:cNvPr id="27" name="flow head Report"/>
          <p:cNvSpPr txBox="1"/>
          <p:nvPr/>
        </p:nvSpPr>
        <p:spPr>
          <a:xfrm>
            <a:off x="10268712" y="1600200"/>
            <a:ext cx="1188720" cy="548640"/>
          </a:xfrm>
          <a:prstGeom prst="rect">
            <a:avLst/>
          </a:prstGeom>
          <a:noFill/>
          <a:ln/>
        </p:spPr>
        <p:txBody>
          <a:bodyPr wrap="square" lIns="0" tIns="0" rIns="0" bIns="0" rtlCol="0" anchor="ctr"/>
          <a:lstStyle/>
          <a:p>
            <a:pPr indent="0" marL="0">
              <a:buNone/>
            </a:pPr>
            <a:r>
              <a:rPr lang="en-US" sz="1600" b="1" dirty="0">
                <a:solidFill>
                  <a:schemeClr val="tx1"/>
                </a:solidFill>
              </a:rPr>
              <a:t>Report</a:t>
            </a:r>
            <a:endParaRPr lang="en-US" sz="1600" dirty="0"/>
          </a:p>
        </p:txBody>
      </p:sp>
      <p:sp>
        <p:nvSpPr>
          <p:cNvPr id="28" name="flow text Report"/>
          <p:cNvSpPr txBox="1"/>
          <p:nvPr/>
        </p:nvSpPr>
        <p:spPr>
          <a:xfrm>
            <a:off x="9582912" y="2286000"/>
            <a:ext cx="1828800" cy="1005840"/>
          </a:xfrm>
          <a:prstGeom prst="rect">
            <a:avLst/>
          </a:prstGeom>
          <a:noFill/>
          <a:ln/>
        </p:spPr>
        <p:txBody>
          <a:bodyPr wrap="square" lIns="0" tIns="0" rIns="0" bIns="0" rtlCol="0" anchor="t"/>
          <a:lstStyle/>
          <a:p>
            <a:pPr indent="0" marL="0">
              <a:buNone/>
            </a:pPr>
            <a:r>
              <a:rPr lang="en-US" sz="1200" dirty="0">
                <a:solidFill>
                  <a:schemeClr val="tx1"/>
                </a:solidFill>
              </a:rPr>
              <a:t>per tier, with 95 % intervals and paired tests between methods</a:t>
            </a:r>
            <a:endParaRPr lang="en-US" sz="1200" dirty="0"/>
          </a:p>
        </p:txBody>
      </p:sp>
      <p:sp>
        <p:nvSpPr>
          <p:cNvPr id="29" name="code card"/>
          <p:cNvSpPr/>
          <p:nvPr/>
        </p:nvSpPr>
        <p:spPr>
          <a:xfrm>
            <a:off x="548640" y="3749040"/>
            <a:ext cx="11091672" cy="1325880"/>
          </a:xfrm>
          <a:prstGeom prst="roundRect">
            <a:avLst>
              <a:gd name="adj" fmla="val 4828"/>
            </a:avLst>
          </a:prstGeom>
          <a:solidFill>
            <a:schemeClr val="tx2"/>
          </a:solidFill>
          <a:ln/>
        </p:spPr>
      </p:sp>
      <p:sp>
        <p:nvSpPr>
          <p:cNvPr id="30" name="code"/>
          <p:cNvSpPr txBox="1"/>
          <p:nvPr/>
        </p:nvSpPr>
        <p:spPr>
          <a:xfrm>
            <a:off x="777240" y="3931920"/>
            <a:ext cx="10634472" cy="960120"/>
          </a:xfrm>
          <a:prstGeom prst="rect">
            <a:avLst/>
          </a:prstGeom>
          <a:noFill/>
          <a:ln/>
        </p:spPr>
        <p:txBody>
          <a:bodyPr wrap="square" lIns="0" tIns="0" rIns="0" bIns="0" rtlCol="0" anchor="t"/>
          <a:lstStyle/>
          <a:p>
            <a:pPr indent="0" marL="0">
              <a:buNone/>
            </a:pPr>
            <a:r>
              <a:rPr lang="en-US" sz="1300" dirty="0">
                <a:solidFill>
                  <a:srgbClr val="FFFFFF"/>
                </a:solidFill>
                <a:latin typeface="Aptos Mono" pitchFamily="34" charset="0"/>
                <a:ea typeface="Aptos Mono" pitchFamily="34" charset="-122"/>
                <a:cs typeface="Aptos Mono" pitchFamily="34" charset="-120"/>
              </a:rPr>
              <a:t>import crossmep.tasks as cm</a:t>
            </a:r>
            <a:endParaRPr lang="en-US" sz="1300" dirty="0"/>
          </a:p>
          <a:p>
            <a:pPr indent="0" marL="0">
              <a:buNone/>
            </a:pPr>
            <a:r>
              <a:rPr lang="en-US" sz="1300" dirty="0">
                <a:solidFill>
                  <a:srgbClr val="FFFFFF"/>
                </a:solidFill>
                <a:latin typeface="Aptos Mono" pitchFamily="34" charset="0"/>
                <a:ea typeface="Aptos Mono" pitchFamily="34" charset="-122"/>
                <a:cs typeface="Aptos Mono" pitchFamily="34" charset="-120"/>
              </a:rPr>
              <a:t>data = cm.load("benchmark")</a:t>
            </a:r>
            <a:r>
              <a:rPr lang="en-US" sz="1300" dirty="0">
                <a:solidFill>
                  <a:srgbClr val="CADCFC"/>
                </a:solidFill>
                <a:latin typeface="Aptos Mono" pitchFamily="34" charset="0"/>
                <a:ea typeface="Aptos Mono" pitchFamily="34" charset="-122"/>
                <a:cs typeface="Aptos Mono" pitchFamily="34" charset="-120"/>
              </a:rPr>
              <a:t>  # 1,000 contexts, or generate your own mix</a:t>
            </a:r>
            <a:endParaRPr lang="en-US" sz="1300" dirty="0"/>
          </a:p>
          <a:p>
            <a:pPr indent="0" marL="0">
              <a:buNone/>
            </a:pPr>
            <a:r>
              <a:rPr lang="en-US" sz="1300" dirty="0">
                <a:solidFill>
                  <a:srgbClr val="FFFFFF"/>
                </a:solidFill>
                <a:latin typeface="Aptos Mono" pitchFamily="34" charset="0"/>
                <a:ea typeface="Aptos Mono" pitchFamily="34" charset="-122"/>
                <a:cs typeface="Aptos Mono" pitchFamily="34" charset="-120"/>
              </a:rPr>
              <a:t>from crossmep.evaluate import score, compare</a:t>
            </a:r>
            <a:endParaRPr lang="en-US" sz="1300" dirty="0"/>
          </a:p>
          <a:p>
            <a:pPr indent="0" marL="0">
              <a:buNone/>
            </a:pPr>
            <a:r>
              <a:rPr lang="en-US" sz="1300" dirty="0">
                <a:solidFill>
                  <a:srgbClr val="FFFFFF"/>
                </a:solidFill>
                <a:latin typeface="Aptos Mono" pitchFamily="34" charset="0"/>
                <a:ea typeface="Aptos Mono" pitchFamily="34" charset="-122"/>
                <a:cs typeface="Aptos Mono" pitchFamily="34" charset="-120"/>
              </a:rPr>
              <a:t>score(my_results, data)</a:t>
            </a:r>
            <a:r>
              <a:rPr lang="en-US" sz="1300" dirty="0">
                <a:solidFill>
                  <a:srgbClr val="CADCFC"/>
                </a:solidFill>
                <a:latin typeface="Aptos Mono" pitchFamily="34" charset="0"/>
                <a:ea typeface="Aptos Mono" pitchFamily="34" charset="-122"/>
                <a:cs typeface="Aptos Mono" pitchFamily="34" charset="-120"/>
              </a:rPr>
              <a:t>  # per tier, 95 % CI    compare(mine, baseline, data)  # paired test</a:t>
            </a:r>
            <a:endParaRPr lang="en-US" sz="1300" dirty="0"/>
          </a:p>
        </p:txBody>
      </p:sp>
      <p:sp>
        <p:nvSpPr>
          <p:cNvPr id="31" name="code caption"/>
          <p:cNvSpPr txBox="1"/>
          <p:nvPr/>
        </p:nvSpPr>
        <p:spPr>
          <a:xfrm>
            <a:off x="548640" y="5212080"/>
            <a:ext cx="11091672" cy="502920"/>
          </a:xfrm>
          <a:prstGeom prst="rect">
            <a:avLst/>
          </a:prstGeom>
          <a:noFill/>
          <a:ln/>
        </p:spPr>
        <p:txBody>
          <a:bodyPr wrap="square" lIns="0" tIns="0" rIns="0" bIns="0" rtlCol="0" anchor="t"/>
          <a:lstStyle/>
          <a:p>
            <a:pPr indent="0" marL="0">
              <a:buNone/>
            </a:pPr>
            <a:r>
              <a:rPr lang="en-US" sz="1150" dirty="0">
                <a:solidFill>
                  <a:srgbClr val="52514E"/>
                </a:solidFill>
              </a:rPr>
              <a:t>Four lines to load, score and compare; loading, metrics and scoring need only the Python standard library, the generator needs NumPy. The same files serve reinforcement learning, constraint programming and benchmarking: there are no labels to fit a method to.</a:t>
            </a:r>
            <a:endParaRPr lang="en-US" sz="1150" dirty="0"/>
          </a:p>
        </p:txBody>
      </p:sp>
      <p:sp>
        <p:nvSpPr>
          <p:cNvPr id="32"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960120"/>
          </a:xfrm>
          <a:prstGeom prst="rect">
            <a:avLst/>
          </a:prstGeom>
          <a:noFill/>
          <a:ln/>
        </p:spPr>
        <p:txBody>
          <a:bodyPr wrap="square" lIns="0" tIns="0" rIns="0" bIns="0" rtlCol="0" anchor="ctr"/>
          <a:lstStyle/>
          <a:p>
            <a:pPr algn="l" indent="0" marL="0">
              <a:buNone/>
            </a:pPr>
            <a:r>
              <a:rPr lang="en-US" sz="2600" b="1" dirty="0">
                <a:solidFill>
                  <a:schemeClr val="tx1"/>
                </a:solidFill>
              </a:rPr>
              <a:t>Today CrossMEP is one section at one support, and next come a checker and real projects</a:t>
            </a:r>
            <a:endParaRPr lang="en-US" sz="2600" dirty="0"/>
          </a:p>
        </p:txBody>
      </p:sp>
      <p:sp>
        <p:nvSpPr>
          <p:cNvPr id="3" name="scope card"/>
          <p:cNvSpPr/>
          <p:nvPr/>
        </p:nvSpPr>
        <p:spPr>
          <a:xfrm>
            <a:off x="548640" y="1371600"/>
            <a:ext cx="5431536" cy="3246120"/>
          </a:xfrm>
          <a:prstGeom prst="roundRect">
            <a:avLst>
              <a:gd name="adj" fmla="val 1972"/>
            </a:avLst>
          </a:prstGeom>
          <a:solidFill>
            <a:schemeClr val="bg2"/>
          </a:solidFill>
          <a:ln/>
        </p:spPr>
      </p:sp>
      <p:sp>
        <p:nvSpPr>
          <p:cNvPr id="4" name="scope heading"/>
          <p:cNvSpPr txBox="1"/>
          <p:nvPr/>
        </p:nvSpPr>
        <p:spPr>
          <a:xfrm>
            <a:off x="822960" y="1463040"/>
            <a:ext cx="4882896" cy="365760"/>
          </a:xfrm>
          <a:prstGeom prst="rect">
            <a:avLst/>
          </a:prstGeom>
          <a:noFill/>
          <a:ln/>
        </p:spPr>
        <p:txBody>
          <a:bodyPr wrap="square" lIns="0" tIns="0" rIns="0" bIns="0" rtlCol="0" anchor="ctr"/>
          <a:lstStyle/>
          <a:p>
            <a:pPr indent="0" marL="0">
              <a:buNone/>
            </a:pPr>
            <a:r>
              <a:rPr lang="en-US" sz="1800" b="1" dirty="0">
                <a:solidFill>
                  <a:schemeClr val="tx1"/>
                </a:solidFill>
              </a:rPr>
              <a:t>Scope</a:t>
            </a:r>
            <a:endParaRPr lang="en-US" sz="1800" dirty="0"/>
          </a:p>
        </p:txBody>
      </p:sp>
      <p:sp>
        <p:nvSpPr>
          <p:cNvPr id="5" name="icon ring scope 0"/>
          <p:cNvSpPr/>
          <p:nvPr/>
        </p:nvSpPr>
        <p:spPr>
          <a:xfrm>
            <a:off x="822960" y="2050542"/>
            <a:ext cx="402336" cy="402336"/>
          </a:xfrm>
          <a:prstGeom prst="ellipse">
            <a:avLst/>
          </a:prstGeom>
          <a:solidFill>
            <a:schemeClr val="accent1"/>
          </a:solidFill>
          <a:ln/>
        </p:spPr>
      </p:sp>
      <p:pic>
        <p:nvPicPr>
          <p:cNvPr id="6" name="icon scope 0" descr="preencoded.png">    </p:cNvPr>
          <p:cNvPicPr>
            <a:picLocks noChangeAspect="1"/>
          </p:cNvPicPr>
          <p:nvPr/>
        </p:nvPicPr>
        <p:blipFill>
          <a:blip r:embed="rId1"/>
          <a:stretch>
            <a:fillRect/>
          </a:stretch>
        </p:blipFill>
        <p:spPr>
          <a:xfrm>
            <a:off x="907451" y="2135033"/>
            <a:ext cx="233355" cy="233355"/>
          </a:xfrm>
          <a:prstGeom prst="rect">
            <a:avLst/>
          </a:prstGeom>
        </p:spPr>
      </p:pic>
      <p:sp>
        <p:nvSpPr>
          <p:cNvPr id="7" name="scope text 0"/>
          <p:cNvSpPr txBox="1"/>
          <p:nvPr/>
        </p:nvSpPr>
        <p:spPr>
          <a:xfrm>
            <a:off x="1417320" y="1920240"/>
            <a:ext cx="4334256" cy="662940"/>
          </a:xfrm>
          <a:prstGeom prst="rect">
            <a:avLst/>
          </a:prstGeom>
          <a:noFill/>
          <a:ln/>
        </p:spPr>
        <p:txBody>
          <a:bodyPr wrap="square" lIns="0" tIns="0" rIns="0" bIns="0" rtlCol="0" anchor="ctr"/>
          <a:lstStyle/>
          <a:p>
            <a:pPr indent="0" marL="0">
              <a:buNone/>
            </a:pPr>
            <a:r>
              <a:rPr lang="en-US" sz="1250" dirty="0">
                <a:solidFill>
                  <a:schemeClr val="tx1"/>
                </a:solidFill>
              </a:rPr>
              <a:t>One cross-section at one support: routing, branches and support spacing are outside it; the span is recorded, so a method can vary it</a:t>
            </a:r>
            <a:endParaRPr lang="en-US" sz="1250" dirty="0"/>
          </a:p>
        </p:txBody>
      </p:sp>
      <p:sp>
        <p:nvSpPr>
          <p:cNvPr id="8" name="icon ring scope 1"/>
          <p:cNvSpPr/>
          <p:nvPr/>
        </p:nvSpPr>
        <p:spPr>
          <a:xfrm>
            <a:off x="822960" y="2713482"/>
            <a:ext cx="402336" cy="402336"/>
          </a:xfrm>
          <a:prstGeom prst="ellipse">
            <a:avLst/>
          </a:prstGeom>
          <a:solidFill>
            <a:schemeClr val="accent1"/>
          </a:solidFill>
          <a:ln/>
        </p:spPr>
      </p:sp>
      <p:pic>
        <p:nvPicPr>
          <p:cNvPr id="9" name="icon scope 1" descr="preencoded.png">    </p:cNvPr>
          <p:cNvPicPr>
            <a:picLocks noChangeAspect="1"/>
          </p:cNvPicPr>
          <p:nvPr/>
        </p:nvPicPr>
        <p:blipFill>
          <a:blip r:embed="rId2"/>
          <a:stretch>
            <a:fillRect/>
          </a:stretch>
        </p:blipFill>
        <p:spPr>
          <a:xfrm>
            <a:off x="907451" y="2797973"/>
            <a:ext cx="233355" cy="233355"/>
          </a:xfrm>
          <a:prstGeom prst="rect">
            <a:avLst/>
          </a:prstGeom>
        </p:spPr>
      </p:pic>
      <p:sp>
        <p:nvSpPr>
          <p:cNvPr id="10" name="scope text 1"/>
          <p:cNvSpPr txBox="1"/>
          <p:nvPr/>
        </p:nvSpPr>
        <p:spPr>
          <a:xfrm>
            <a:off x="1417320" y="2583180"/>
            <a:ext cx="4334256" cy="662940"/>
          </a:xfrm>
          <a:prstGeom prst="rect">
            <a:avLst/>
          </a:prstGeom>
          <a:noFill/>
          <a:ln/>
        </p:spPr>
        <p:txBody>
          <a:bodyPr wrap="square" lIns="0" tIns="0" rIns="0" bIns="0" rtlCol="0" anchor="ctr"/>
          <a:lstStyle/>
          <a:p>
            <a:pPr indent="0" marL="0">
              <a:buNone/>
            </a:pPr>
            <a:r>
              <a:rPr lang="en-US" sz="1250" dirty="0">
                <a:solidFill>
                  <a:schemeClr val="tx1"/>
                </a:solidFill>
              </a:rPr>
              <a:t>Realism checked on two open buildings, a residential duplex and a medical clinic; congested racks rest on practice and standards</a:t>
            </a:r>
            <a:endParaRPr lang="en-US" sz="1250" dirty="0"/>
          </a:p>
        </p:txBody>
      </p:sp>
      <p:sp>
        <p:nvSpPr>
          <p:cNvPr id="11" name="icon ring scope 2"/>
          <p:cNvSpPr/>
          <p:nvPr/>
        </p:nvSpPr>
        <p:spPr>
          <a:xfrm>
            <a:off x="822960" y="3376422"/>
            <a:ext cx="402336" cy="402336"/>
          </a:xfrm>
          <a:prstGeom prst="ellipse">
            <a:avLst/>
          </a:prstGeom>
          <a:solidFill>
            <a:schemeClr val="accent1"/>
          </a:solidFill>
          <a:ln/>
        </p:spPr>
      </p:sp>
      <p:pic>
        <p:nvPicPr>
          <p:cNvPr id="12" name="icon scope 2" descr="preencoded.png">    </p:cNvPr>
          <p:cNvPicPr>
            <a:picLocks noChangeAspect="1"/>
          </p:cNvPicPr>
          <p:nvPr/>
        </p:nvPicPr>
        <p:blipFill>
          <a:blip r:embed="rId3"/>
          <a:stretch>
            <a:fillRect/>
          </a:stretch>
        </p:blipFill>
        <p:spPr>
          <a:xfrm>
            <a:off x="907451" y="3460913"/>
            <a:ext cx="233355" cy="233355"/>
          </a:xfrm>
          <a:prstGeom prst="rect">
            <a:avLst/>
          </a:prstGeom>
        </p:spPr>
      </p:pic>
      <p:sp>
        <p:nvSpPr>
          <p:cNvPr id="13" name="scope text 2"/>
          <p:cNvSpPr txBox="1"/>
          <p:nvPr/>
        </p:nvSpPr>
        <p:spPr>
          <a:xfrm>
            <a:off x="1417320" y="3246120"/>
            <a:ext cx="4334256" cy="662940"/>
          </a:xfrm>
          <a:prstGeom prst="rect">
            <a:avLst/>
          </a:prstGeom>
          <a:noFill/>
          <a:ln/>
        </p:spPr>
        <p:txBody>
          <a:bodyPr wrap="square" lIns="0" tIns="0" rIns="0" bIns="0" rtlCol="0" anchor="ctr"/>
          <a:lstStyle/>
          <a:p>
            <a:pPr indent="0" marL="0">
              <a:buNone/>
            </a:pPr>
            <a:r>
              <a:rPr lang="en-US" sz="1250" dirty="0">
                <a:solidFill>
                  <a:schemeClr val="tx1"/>
                </a:solidFill>
              </a:rPr>
              <a:t>Trade mix and tier composition are design choices, not survey results</a:t>
            </a:r>
            <a:endParaRPr lang="en-US" sz="1250" dirty="0"/>
          </a:p>
        </p:txBody>
      </p:sp>
      <p:sp>
        <p:nvSpPr>
          <p:cNvPr id="14" name="icon ring scope 3"/>
          <p:cNvSpPr/>
          <p:nvPr/>
        </p:nvSpPr>
        <p:spPr>
          <a:xfrm>
            <a:off x="822960" y="4039362"/>
            <a:ext cx="402336" cy="402336"/>
          </a:xfrm>
          <a:prstGeom prst="ellipse">
            <a:avLst/>
          </a:prstGeom>
          <a:solidFill>
            <a:schemeClr val="accent1"/>
          </a:solidFill>
          <a:ln/>
        </p:spPr>
      </p:sp>
      <p:pic>
        <p:nvPicPr>
          <p:cNvPr id="15" name="icon scope 3" descr="preencoded.png">    </p:cNvPr>
          <p:cNvPicPr>
            <a:picLocks noChangeAspect="1"/>
          </p:cNvPicPr>
          <p:nvPr/>
        </p:nvPicPr>
        <p:blipFill>
          <a:blip r:embed="rId4"/>
          <a:stretch>
            <a:fillRect/>
          </a:stretch>
        </p:blipFill>
        <p:spPr>
          <a:xfrm>
            <a:off x="907451" y="4123853"/>
            <a:ext cx="233355" cy="233355"/>
          </a:xfrm>
          <a:prstGeom prst="rect">
            <a:avLst/>
          </a:prstGeom>
        </p:spPr>
      </p:pic>
      <p:sp>
        <p:nvSpPr>
          <p:cNvPr id="16" name="scope text 3"/>
          <p:cNvSpPr txBox="1"/>
          <p:nvPr/>
        </p:nvSpPr>
        <p:spPr>
          <a:xfrm>
            <a:off x="1417320" y="3909060"/>
            <a:ext cx="4334256" cy="662940"/>
          </a:xfrm>
          <a:prstGeom prst="rect">
            <a:avLst/>
          </a:prstGeom>
          <a:noFill/>
          <a:ln/>
        </p:spPr>
        <p:txBody>
          <a:bodyPr wrap="square" lIns="0" tIns="0" rIns="0" bIns="0" rtlCol="0" anchor="ctr"/>
          <a:lstStyle/>
          <a:p>
            <a:pPr indent="0" marL="0">
              <a:buNone/>
            </a:pPr>
            <a:r>
              <a:rPr lang="en-US" sz="1250" dirty="0">
                <a:solidFill>
                  <a:schemeClr val="tx1"/>
                </a:solidFill>
              </a:rPr>
              <a:t>Synthetic: not for the structural design of real installations</a:t>
            </a:r>
            <a:endParaRPr lang="en-US" sz="1250" dirty="0"/>
          </a:p>
        </p:txBody>
      </p:sp>
      <p:sp>
        <p:nvSpPr>
          <p:cNvPr id="17" name="next card"/>
          <p:cNvSpPr/>
          <p:nvPr/>
        </p:nvSpPr>
        <p:spPr>
          <a:xfrm>
            <a:off x="6208776" y="1371600"/>
            <a:ext cx="5431536" cy="3246120"/>
          </a:xfrm>
          <a:prstGeom prst="roundRect">
            <a:avLst>
              <a:gd name="adj" fmla="val 1972"/>
            </a:avLst>
          </a:prstGeom>
          <a:solidFill>
            <a:schemeClr val="bg2"/>
          </a:solidFill>
          <a:ln/>
        </p:spPr>
      </p:sp>
      <p:sp>
        <p:nvSpPr>
          <p:cNvPr id="18" name="next heading"/>
          <p:cNvSpPr txBox="1"/>
          <p:nvPr/>
        </p:nvSpPr>
        <p:spPr>
          <a:xfrm>
            <a:off x="6483096" y="1463040"/>
            <a:ext cx="4882896" cy="365760"/>
          </a:xfrm>
          <a:prstGeom prst="rect">
            <a:avLst/>
          </a:prstGeom>
          <a:noFill/>
          <a:ln/>
        </p:spPr>
        <p:txBody>
          <a:bodyPr wrap="square" lIns="0" tIns="0" rIns="0" bIns="0" rtlCol="0" anchor="ctr"/>
          <a:lstStyle/>
          <a:p>
            <a:pPr indent="0" marL="0">
              <a:buNone/>
            </a:pPr>
            <a:r>
              <a:rPr lang="en-US" sz="1800" b="1" dirty="0">
                <a:solidFill>
                  <a:schemeClr val="tx1"/>
                </a:solidFill>
              </a:rPr>
              <a:t>Next</a:t>
            </a:r>
            <a:endParaRPr lang="en-US" sz="1800" dirty="0"/>
          </a:p>
        </p:txBody>
      </p:sp>
      <p:sp>
        <p:nvSpPr>
          <p:cNvPr id="19" name="icon ring next 0"/>
          <p:cNvSpPr/>
          <p:nvPr/>
        </p:nvSpPr>
        <p:spPr>
          <a:xfrm>
            <a:off x="6483096" y="2161032"/>
            <a:ext cx="402336" cy="402336"/>
          </a:xfrm>
          <a:prstGeom prst="ellipse">
            <a:avLst/>
          </a:prstGeom>
          <a:solidFill>
            <a:schemeClr val="accent1"/>
          </a:solidFill>
          <a:ln/>
        </p:spPr>
      </p:sp>
      <p:sp>
        <p:nvSpPr>
          <p:cNvPr id="20" name="Text 14"/>
          <p:cNvSpPr txBox="1"/>
          <p:nvPr/>
        </p:nvSpPr>
        <p:spPr>
          <a:xfrm>
            <a:off x="6483096" y="216103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1" name="next text 0"/>
          <p:cNvSpPr txBox="1"/>
          <p:nvPr/>
        </p:nvSpPr>
        <p:spPr>
          <a:xfrm>
            <a:off x="7077456" y="1920240"/>
            <a:ext cx="4334256" cy="883920"/>
          </a:xfrm>
          <a:prstGeom prst="rect">
            <a:avLst/>
          </a:prstGeom>
          <a:noFill/>
          <a:ln/>
        </p:spPr>
        <p:txBody>
          <a:bodyPr wrap="square" lIns="0" tIns="0" rIns="0" bIns="0" rtlCol="0" anchor="ctr"/>
          <a:lstStyle/>
          <a:p>
            <a:pPr indent="0" marL="0">
              <a:buNone/>
            </a:pPr>
            <a:r>
              <a:rPr lang="en-US" sz="1250" dirty="0">
                <a:solidFill>
                  <a:schemeClr val="tx1"/>
                </a:solidFill>
              </a:rPr>
              <a:t>A public checker for support designs, with best-known costs from an exact solver on the small tiers</a:t>
            </a:r>
            <a:endParaRPr lang="en-US" sz="1250" dirty="0"/>
          </a:p>
        </p:txBody>
      </p:sp>
      <p:sp>
        <p:nvSpPr>
          <p:cNvPr id="22" name="icon ring next 1"/>
          <p:cNvSpPr/>
          <p:nvPr/>
        </p:nvSpPr>
        <p:spPr>
          <a:xfrm>
            <a:off x="6483096" y="3044952"/>
            <a:ext cx="402336" cy="402336"/>
          </a:xfrm>
          <a:prstGeom prst="ellipse">
            <a:avLst/>
          </a:prstGeom>
          <a:solidFill>
            <a:schemeClr val="accent1"/>
          </a:solidFill>
          <a:ln/>
        </p:spPr>
      </p:sp>
      <p:sp>
        <p:nvSpPr>
          <p:cNvPr id="23" name="Text 17"/>
          <p:cNvSpPr txBox="1"/>
          <p:nvPr/>
        </p:nvSpPr>
        <p:spPr>
          <a:xfrm>
            <a:off x="6483096" y="304495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4" name="next text 1"/>
          <p:cNvSpPr txBox="1"/>
          <p:nvPr/>
        </p:nvSpPr>
        <p:spPr>
          <a:xfrm>
            <a:off x="7077456" y="2804160"/>
            <a:ext cx="4334256" cy="883920"/>
          </a:xfrm>
          <a:prstGeom prst="rect">
            <a:avLst/>
          </a:prstGeom>
          <a:noFill/>
          <a:ln/>
        </p:spPr>
        <p:txBody>
          <a:bodyPr wrap="square" lIns="0" tIns="0" rIns="0" bIns="0" rtlCol="0" anchor="ctr"/>
          <a:lstStyle/>
          <a:p>
            <a:pPr indent="0" marL="0">
              <a:buNone/>
            </a:pPr>
            <a:r>
              <a:rPr lang="en-US" sz="1250" dirty="0">
                <a:solidFill>
                  <a:schemeClr val="tx1"/>
                </a:solidFill>
              </a:rPr>
              <a:t>The catalog as an input: generated catalogs, and catalogs a method has never seen</a:t>
            </a:r>
            <a:endParaRPr lang="en-US" sz="1250" dirty="0"/>
          </a:p>
        </p:txBody>
      </p:sp>
      <p:sp>
        <p:nvSpPr>
          <p:cNvPr id="25" name="icon ring next 2"/>
          <p:cNvSpPr/>
          <p:nvPr/>
        </p:nvSpPr>
        <p:spPr>
          <a:xfrm>
            <a:off x="6483096" y="3928872"/>
            <a:ext cx="402336" cy="402336"/>
          </a:xfrm>
          <a:prstGeom prst="ellipse">
            <a:avLst/>
          </a:prstGeom>
          <a:solidFill>
            <a:schemeClr val="accent1"/>
          </a:solidFill>
          <a:ln/>
        </p:spPr>
      </p:sp>
      <p:sp>
        <p:nvSpPr>
          <p:cNvPr id="26" name="Text 20"/>
          <p:cNvSpPr txBox="1"/>
          <p:nvPr/>
        </p:nvSpPr>
        <p:spPr>
          <a:xfrm>
            <a:off x="6483096" y="392887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7" name="next text 2"/>
          <p:cNvSpPr txBox="1"/>
          <p:nvPr/>
        </p:nvSpPr>
        <p:spPr>
          <a:xfrm>
            <a:off x="7077456" y="3688080"/>
            <a:ext cx="4334256" cy="883920"/>
          </a:xfrm>
          <a:prstGeom prst="rect">
            <a:avLst/>
          </a:prstGeom>
          <a:noFill/>
          <a:ln/>
        </p:spPr>
        <p:txBody>
          <a:bodyPr wrap="square" lIns="0" tIns="0" rIns="0" bIns="0" rtlCol="0" anchor="ctr"/>
          <a:lstStyle/>
          <a:p>
            <a:pPr indent="0" marL="0">
              <a:buNone/>
            </a:pPr>
            <a:r>
              <a:rPr lang="en-US" sz="1250" dirty="0">
                <a:solidFill>
                  <a:schemeClr val="tx1"/>
                </a:solidFill>
              </a:rPr>
              <a:t>A real test set: sections from commercial projects with supports designed by engineers</a:t>
            </a:r>
            <a:endParaRPr lang="en-US" sz="1250" dirty="0"/>
          </a:p>
        </p:txBody>
      </p:sp>
      <p:sp>
        <p:nvSpPr>
          <p:cNvPr id="28" name="ask band"/>
          <p:cNvSpPr/>
          <p:nvPr/>
        </p:nvSpPr>
        <p:spPr>
          <a:xfrm>
            <a:off x="548640" y="4846320"/>
            <a:ext cx="11091672" cy="1234440"/>
          </a:xfrm>
          <a:prstGeom prst="roundRect">
            <a:avLst>
              <a:gd name="adj" fmla="val 5185"/>
            </a:avLst>
          </a:prstGeom>
          <a:solidFill>
            <a:schemeClr val="tx2"/>
          </a:solidFill>
          <a:ln/>
        </p:spPr>
      </p:sp>
      <p:sp>
        <p:nvSpPr>
          <p:cNvPr id="29" name="ask"/>
          <p:cNvSpPr txBox="1"/>
          <p:nvPr/>
        </p:nvSpPr>
        <p:spPr>
          <a:xfrm>
            <a:off x="868680" y="4937760"/>
            <a:ext cx="9144000" cy="1051560"/>
          </a:xfrm>
          <a:prstGeom prst="rect">
            <a:avLst/>
          </a:prstGeom>
          <a:noFill/>
          <a:ln/>
        </p:spPr>
        <p:txBody>
          <a:bodyPr wrap="square" lIns="0" tIns="0" rIns="0" bIns="0" rtlCol="0" anchor="ctr"/>
          <a:lstStyle/>
          <a:p>
            <a:pPr indent="0" marL="0">
              <a:buNone/>
            </a:pPr>
            <a:r>
              <a:rPr lang="en-US" sz="1500" b="1" dirty="0">
                <a:solidFill>
                  <a:schemeClr val="bg1"/>
                </a:solidFill>
              </a:rPr>
              <a:t>If you coordinate services or design supports, </a:t>
            </a:r>
            <a:r>
              <a:rPr lang="en-US" sz="1500" dirty="0">
                <a:solidFill>
                  <a:schemeClr val="bg1"/>
                </a:solidFill>
              </a:rPr>
              <a:t>open the studio, generate the sections you know from your projects, and tell us what looks wrong. Every rule is one documented constant away from being changed.</a:t>
            </a:r>
            <a:endParaRPr lang="en-US" sz="1500" dirty="0"/>
          </a:p>
        </p:txBody>
      </p:sp>
      <p:pic>
        <p:nvPicPr>
          <p:cNvPr id="30" name="qr ask" descr="/home/user/crossmep_dataset/docs/figures/qr_repo.png">    </p:cNvPr>
          <p:cNvPicPr>
            <a:picLocks noChangeAspect="1"/>
          </p:cNvPicPr>
          <p:nvPr/>
        </p:nvPicPr>
        <p:blipFill>
          <a:blip r:embed="rId5"/>
          <a:stretch>
            <a:fillRect/>
          </a:stretch>
        </p:blipFill>
        <p:spPr>
          <a:xfrm>
            <a:off x="10561320" y="4956048"/>
            <a:ext cx="1005840" cy="1005840"/>
          </a:xfrm>
          <a:prstGeom prst="rect">
            <a:avLst/>
          </a:prstGeom>
        </p:spPr>
      </p:pic>
      <p:sp>
        <p:nvSpPr>
          <p:cNvPr id="31"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9878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498080" cy="1737360"/>
          </a:xfrm>
          <a:prstGeom prst="rect">
            <a:avLst/>
          </a:prstGeom>
          <a:noFill/>
          <a:ln/>
        </p:spPr>
        <p:txBody>
          <a:bodyPr wrap="square" lIns="0" tIns="0" rIns="0" bIns="0" rtlCol="0" anchor="b"/>
          <a:lstStyle/>
          <a:p>
            <a:pPr algn="l" indent="0" marL="0">
              <a:buNone/>
            </a:pPr>
            <a:r>
              <a:rPr lang="en-US" sz="3600" b="1" dirty="0">
                <a:solidFill>
                  <a:schemeClr val="bg1"/>
                </a:solidFill>
              </a:rPr>
              <a:t>Support design finally has open problems to learn from</a:t>
            </a:r>
            <a:endParaRPr lang="en-US" sz="3600" dirty="0"/>
          </a:p>
        </p:txBody>
      </p:sp>
      <p:sp>
        <p:nvSpPr>
          <p:cNvPr id="3" name="Text 0"/>
          <p:cNvSpPr/>
          <p:nvPr>
            <p:ph idx="101" type="body" hasCustomPrompt="1"/>
          </p:nvPr>
        </p:nvSpPr>
        <p:spPr>
          <a:xfrm>
            <a:off x="640080" y="3794760"/>
            <a:ext cx="7498080" cy="2011680"/>
          </a:xfrm>
          <a:prstGeom prst="rect">
            <a:avLst/>
          </a:prstGeom>
          <a:noFill/>
          <a:ln/>
        </p:spPr>
        <p:txBody>
          <a:bodyPr wrap="square" lIns="0" tIns="0" rIns="0" bIns="0" rtlCol="0" anchor="t"/>
          <a:lstStyle/>
          <a:p>
            <a:pPr indent="0" marL="0">
              <a:buNone/>
            </a:pPr>
            <a:r>
              <a:rPr lang="en-US" sz="1600" dirty="0">
                <a:solidFill>
                  <a:srgbClr val="CADCFC"/>
                </a:solidFill>
              </a:rPr>
              <a:t>CrossMEP is the brief, not the answer: seven thousand support-design problems, open to anyone who wants to teach a machine to design supports.</a:t>
            </a:r>
            <a:endParaRPr lang="en-US" sz="1600" dirty="0"/>
          </a:p>
          <a:p>
            <a:pPr indent="0" marL="0">
              <a:buNone/>
            </a:pPr>
            <a:r>
              <a:rPr lang="en-US" sz="600" dirty="0">
                <a:solidFill>
                  <a:srgbClr val="CADCFC"/>
                </a:solidFill>
              </a:rPr>
              <a:t> </a:t>
            </a:r>
            <a:endParaRPr lang="en-US" sz="1600" dirty="0"/>
          </a:p>
          <a:p>
            <a:pPr indent="0" marL="0">
              <a:buNone/>
            </a:pPr>
            <a:r>
              <a:rPr lang="en-US" sz="1200" dirty="0">
                <a:solidFill>
                  <a:srgbClr val="CADCFC"/>
                </a:solidFill>
              </a:rPr>
              <a:t>Data CC BY 4.0, code MIT.  Not for the structural design of real installations.</a:t>
            </a:r>
            <a:endParaRPr lang="en-US" sz="1600" dirty="0"/>
          </a:p>
        </p:txBody>
      </p:sp>
      <p:sp>
        <p:nvSpPr>
          <p:cNvPr id="4" name="takeaway 7,000"/>
          <p:cNvSpPr/>
          <p:nvPr/>
        </p:nvSpPr>
        <p:spPr>
          <a:xfrm>
            <a:off x="640080" y="4800600"/>
            <a:ext cx="1771650" cy="1325880"/>
          </a:xfrm>
          <a:prstGeom prst="roundRect">
            <a:avLst>
              <a:gd name="adj" fmla="val 4828"/>
            </a:avLst>
          </a:prstGeom>
          <a:solidFill>
            <a:srgbClr val="2B3946"/>
          </a:solidFill>
          <a:ln/>
        </p:spPr>
      </p:sp>
      <p:pic>
        <p:nvPicPr>
          <p:cNvPr id="5" name="takeaway icon 7,000" descr="preencoded.png">    </p:cNvPr>
          <p:cNvPicPr>
            <a:picLocks noChangeAspect="1"/>
          </p:cNvPicPr>
          <p:nvPr/>
        </p:nvPicPr>
        <p:blipFill>
          <a:blip r:embed="rId1"/>
          <a:stretch>
            <a:fillRect/>
          </a:stretch>
        </p:blipFill>
        <p:spPr>
          <a:xfrm>
            <a:off x="804672" y="4965192"/>
            <a:ext cx="310896" cy="310896"/>
          </a:xfrm>
          <a:prstGeom prst="rect">
            <a:avLst/>
          </a:prstGeom>
        </p:spPr>
      </p:pic>
      <p:sp>
        <p:nvSpPr>
          <p:cNvPr id="6" name="takeaway value 7,000"/>
          <p:cNvSpPr txBox="1"/>
          <p:nvPr/>
        </p:nvSpPr>
        <p:spPr>
          <a:xfrm>
            <a:off x="1207008" y="4910328"/>
            <a:ext cx="1085850" cy="411480"/>
          </a:xfrm>
          <a:prstGeom prst="rect">
            <a:avLst/>
          </a:prstGeom>
          <a:noFill/>
          <a:ln/>
        </p:spPr>
        <p:txBody>
          <a:bodyPr wrap="square" lIns="0" tIns="0" rIns="0" bIns="0" rtlCol="0" anchor="ctr"/>
          <a:lstStyle/>
          <a:p>
            <a:pPr indent="0" marL="0">
              <a:buNone/>
            </a:pPr>
            <a:r>
              <a:rPr lang="en-US" sz="1700" b="1" dirty="0">
                <a:solidFill>
                  <a:srgbClr val="FFFFFF"/>
                </a:solidFill>
              </a:rPr>
              <a:t>7,000</a:t>
            </a:r>
            <a:endParaRPr lang="en-US" sz="1700" dirty="0"/>
          </a:p>
        </p:txBody>
      </p:sp>
      <p:sp>
        <p:nvSpPr>
          <p:cNvPr id="7" name="takeaway label 7,000"/>
          <p:cNvSpPr txBox="1"/>
          <p:nvPr/>
        </p:nvSpPr>
        <p:spPr>
          <a:xfrm>
            <a:off x="804672" y="5394960"/>
            <a:ext cx="1442466" cy="658368"/>
          </a:xfrm>
          <a:prstGeom prst="rect">
            <a:avLst/>
          </a:prstGeom>
          <a:noFill/>
          <a:ln/>
        </p:spPr>
        <p:txBody>
          <a:bodyPr wrap="square" lIns="0" tIns="0" rIns="0" bIns="0" rtlCol="0" anchor="t"/>
          <a:lstStyle/>
          <a:p>
            <a:pPr indent="0" marL="0">
              <a:buNone/>
            </a:pPr>
            <a:r>
              <a:rPr lang="en-US" sz="1050" dirty="0">
                <a:solidFill>
                  <a:srgbClr val="CADCFC"/>
                </a:solidFill>
              </a:rPr>
              <a:t>support-design problems in eight tiers</a:t>
            </a:r>
            <a:endParaRPr lang="en-US" sz="1050" dirty="0"/>
          </a:p>
        </p:txBody>
      </p:sp>
      <p:sp>
        <p:nvSpPr>
          <p:cNvPr id="8" name="takeaway Sourced"/>
          <p:cNvSpPr/>
          <p:nvPr/>
        </p:nvSpPr>
        <p:spPr>
          <a:xfrm>
            <a:off x="2548890" y="4800600"/>
            <a:ext cx="1771650" cy="1325880"/>
          </a:xfrm>
          <a:prstGeom prst="roundRect">
            <a:avLst>
              <a:gd name="adj" fmla="val 4828"/>
            </a:avLst>
          </a:prstGeom>
          <a:solidFill>
            <a:srgbClr val="2B3946"/>
          </a:solidFill>
          <a:ln/>
        </p:spPr>
      </p:sp>
      <p:pic>
        <p:nvPicPr>
          <p:cNvPr id="9" name="takeaway icon Sourced" descr="preencoded.png">    </p:cNvPr>
          <p:cNvPicPr>
            <a:picLocks noChangeAspect="1"/>
          </p:cNvPicPr>
          <p:nvPr/>
        </p:nvPicPr>
        <p:blipFill>
          <a:blip r:embed="rId2"/>
          <a:stretch>
            <a:fillRect/>
          </a:stretch>
        </p:blipFill>
        <p:spPr>
          <a:xfrm>
            <a:off x="2713482" y="4965192"/>
            <a:ext cx="310896" cy="310896"/>
          </a:xfrm>
          <a:prstGeom prst="rect">
            <a:avLst/>
          </a:prstGeom>
        </p:spPr>
      </p:pic>
      <p:sp>
        <p:nvSpPr>
          <p:cNvPr id="10" name="takeaway value Sourced"/>
          <p:cNvSpPr txBox="1"/>
          <p:nvPr/>
        </p:nvSpPr>
        <p:spPr>
          <a:xfrm>
            <a:off x="3115818" y="4910328"/>
            <a:ext cx="1085850" cy="411480"/>
          </a:xfrm>
          <a:prstGeom prst="rect">
            <a:avLst/>
          </a:prstGeom>
          <a:noFill/>
          <a:ln/>
        </p:spPr>
        <p:txBody>
          <a:bodyPr wrap="square" lIns="0" tIns="0" rIns="0" bIns="0" rtlCol="0" anchor="ctr"/>
          <a:lstStyle/>
          <a:p>
            <a:pPr indent="0" marL="0">
              <a:buNone/>
            </a:pPr>
            <a:r>
              <a:rPr lang="en-US" sz="1700" b="1" dirty="0">
                <a:solidFill>
                  <a:srgbClr val="FFFFFF"/>
                </a:solidFill>
              </a:rPr>
              <a:t>Sourced</a:t>
            </a:r>
            <a:endParaRPr lang="en-US" sz="1700" dirty="0"/>
          </a:p>
        </p:txBody>
      </p:sp>
      <p:sp>
        <p:nvSpPr>
          <p:cNvPr id="11" name="takeaway label Sourced"/>
          <p:cNvSpPr txBox="1"/>
          <p:nvPr/>
        </p:nvSpPr>
        <p:spPr>
          <a:xfrm>
            <a:off x="2713482" y="5394960"/>
            <a:ext cx="1442466" cy="658368"/>
          </a:xfrm>
          <a:prstGeom prst="rect">
            <a:avLst/>
          </a:prstGeom>
          <a:noFill/>
          <a:ln/>
        </p:spPr>
        <p:txBody>
          <a:bodyPr wrap="square" lIns="0" tIns="0" rIns="0" bIns="0" rtlCol="0" anchor="t"/>
          <a:lstStyle/>
          <a:p>
            <a:pPr indent="0" marL="0">
              <a:buNone/>
            </a:pPr>
            <a:r>
              <a:rPr lang="en-US" sz="1050" dirty="0">
                <a:solidFill>
                  <a:srgbClr val="CADCFC"/>
                </a:solidFill>
              </a:rPr>
              <a:t>every constant sourced or declared</a:t>
            </a:r>
            <a:endParaRPr lang="en-US" sz="1050" dirty="0"/>
          </a:p>
        </p:txBody>
      </p:sp>
      <p:sp>
        <p:nvSpPr>
          <p:cNvPr id="12" name="takeaway Checked"/>
          <p:cNvSpPr/>
          <p:nvPr/>
        </p:nvSpPr>
        <p:spPr>
          <a:xfrm>
            <a:off x="4457700" y="4800600"/>
            <a:ext cx="1771650" cy="1325880"/>
          </a:xfrm>
          <a:prstGeom prst="roundRect">
            <a:avLst>
              <a:gd name="adj" fmla="val 4828"/>
            </a:avLst>
          </a:prstGeom>
          <a:solidFill>
            <a:srgbClr val="2B3946"/>
          </a:solidFill>
          <a:ln/>
        </p:spPr>
      </p:sp>
      <p:pic>
        <p:nvPicPr>
          <p:cNvPr id="13" name="takeaway icon Checked" descr="preencoded.png">    </p:cNvPr>
          <p:cNvPicPr>
            <a:picLocks noChangeAspect="1"/>
          </p:cNvPicPr>
          <p:nvPr/>
        </p:nvPicPr>
        <p:blipFill>
          <a:blip r:embed="rId3"/>
          <a:stretch>
            <a:fillRect/>
          </a:stretch>
        </p:blipFill>
        <p:spPr>
          <a:xfrm>
            <a:off x="4622292" y="4965192"/>
            <a:ext cx="310896" cy="310896"/>
          </a:xfrm>
          <a:prstGeom prst="rect">
            <a:avLst/>
          </a:prstGeom>
        </p:spPr>
      </p:pic>
      <p:sp>
        <p:nvSpPr>
          <p:cNvPr id="14" name="takeaway value Checked"/>
          <p:cNvSpPr txBox="1"/>
          <p:nvPr/>
        </p:nvSpPr>
        <p:spPr>
          <a:xfrm>
            <a:off x="5024628" y="4910328"/>
            <a:ext cx="1085850" cy="411480"/>
          </a:xfrm>
          <a:prstGeom prst="rect">
            <a:avLst/>
          </a:prstGeom>
          <a:noFill/>
          <a:ln/>
        </p:spPr>
        <p:txBody>
          <a:bodyPr wrap="square" lIns="0" tIns="0" rIns="0" bIns="0" rtlCol="0" anchor="ctr"/>
          <a:lstStyle/>
          <a:p>
            <a:pPr indent="0" marL="0">
              <a:buNone/>
            </a:pPr>
            <a:r>
              <a:rPr lang="en-US" sz="1700" b="1" dirty="0">
                <a:solidFill>
                  <a:srgbClr val="FFFFFF"/>
                </a:solidFill>
              </a:rPr>
              <a:t>Checked</a:t>
            </a:r>
            <a:endParaRPr lang="en-US" sz="1700" dirty="0"/>
          </a:p>
        </p:txBody>
      </p:sp>
      <p:sp>
        <p:nvSpPr>
          <p:cNvPr id="15" name="takeaway label Checked"/>
          <p:cNvSpPr txBox="1"/>
          <p:nvPr/>
        </p:nvSpPr>
        <p:spPr>
          <a:xfrm>
            <a:off x="4622292" y="5394960"/>
            <a:ext cx="1442466" cy="658368"/>
          </a:xfrm>
          <a:prstGeom prst="rect">
            <a:avLst/>
          </a:prstGeom>
          <a:noFill/>
          <a:ln/>
        </p:spPr>
        <p:txBody>
          <a:bodyPr wrap="square" lIns="0" tIns="0" rIns="0" bIns="0" rtlCol="0" anchor="t"/>
          <a:lstStyle/>
          <a:p>
            <a:pPr indent="0" marL="0">
              <a:buNone/>
            </a:pPr>
            <a:r>
              <a:rPr lang="en-US" sz="1050" dirty="0">
                <a:solidFill>
                  <a:srgbClr val="CADCFC"/>
                </a:solidFill>
              </a:rPr>
              <a:t>pipe gaps tested on two open buildings</a:t>
            </a:r>
            <a:endParaRPr lang="en-US" sz="1050" dirty="0"/>
          </a:p>
        </p:txBody>
      </p:sp>
      <p:sp>
        <p:nvSpPr>
          <p:cNvPr id="16" name="takeaway Open"/>
          <p:cNvSpPr/>
          <p:nvPr/>
        </p:nvSpPr>
        <p:spPr>
          <a:xfrm>
            <a:off x="6366510" y="4800600"/>
            <a:ext cx="1771650" cy="1325880"/>
          </a:xfrm>
          <a:prstGeom prst="roundRect">
            <a:avLst>
              <a:gd name="adj" fmla="val 4828"/>
            </a:avLst>
          </a:prstGeom>
          <a:solidFill>
            <a:srgbClr val="2B3946"/>
          </a:solidFill>
          <a:ln/>
        </p:spPr>
      </p:sp>
      <p:pic>
        <p:nvPicPr>
          <p:cNvPr id="17" name="takeaway icon Open" descr="preencoded.png">    </p:cNvPr>
          <p:cNvPicPr>
            <a:picLocks noChangeAspect="1"/>
          </p:cNvPicPr>
          <p:nvPr/>
        </p:nvPicPr>
        <p:blipFill>
          <a:blip r:embed="rId4"/>
          <a:stretch>
            <a:fillRect/>
          </a:stretch>
        </p:blipFill>
        <p:spPr>
          <a:xfrm>
            <a:off x="6531102" y="4965192"/>
            <a:ext cx="310896" cy="310896"/>
          </a:xfrm>
          <a:prstGeom prst="rect">
            <a:avLst/>
          </a:prstGeom>
        </p:spPr>
      </p:pic>
      <p:sp>
        <p:nvSpPr>
          <p:cNvPr id="18" name="takeaway value Open"/>
          <p:cNvSpPr txBox="1"/>
          <p:nvPr/>
        </p:nvSpPr>
        <p:spPr>
          <a:xfrm>
            <a:off x="6933438" y="4910328"/>
            <a:ext cx="1085850" cy="411480"/>
          </a:xfrm>
          <a:prstGeom prst="rect">
            <a:avLst/>
          </a:prstGeom>
          <a:noFill/>
          <a:ln/>
        </p:spPr>
        <p:txBody>
          <a:bodyPr wrap="square" lIns="0" tIns="0" rIns="0" bIns="0" rtlCol="0" anchor="ctr"/>
          <a:lstStyle/>
          <a:p>
            <a:pPr indent="0" marL="0">
              <a:buNone/>
            </a:pPr>
            <a:r>
              <a:rPr lang="en-US" sz="1700" b="1" dirty="0">
                <a:solidFill>
                  <a:srgbClr val="FFFFFF"/>
                </a:solidFill>
              </a:rPr>
              <a:t>Open</a:t>
            </a:r>
            <a:endParaRPr lang="en-US" sz="1700" dirty="0"/>
          </a:p>
        </p:txBody>
      </p:sp>
      <p:sp>
        <p:nvSpPr>
          <p:cNvPr id="19" name="takeaway label Open"/>
          <p:cNvSpPr txBox="1"/>
          <p:nvPr/>
        </p:nvSpPr>
        <p:spPr>
          <a:xfrm>
            <a:off x="6531102" y="5394960"/>
            <a:ext cx="1442466" cy="658368"/>
          </a:xfrm>
          <a:prstGeom prst="rect">
            <a:avLst/>
          </a:prstGeom>
          <a:noFill/>
          <a:ln/>
        </p:spPr>
        <p:txBody>
          <a:bodyPr wrap="square" lIns="0" tIns="0" rIns="0" bIns="0" rtlCol="0" anchor="t"/>
          <a:lstStyle/>
          <a:p>
            <a:pPr indent="0" marL="0">
              <a:buNone/>
            </a:pPr>
            <a:r>
              <a:rPr lang="en-US" sz="1050" dirty="0">
                <a:solidFill>
                  <a:srgbClr val="CADCFC"/>
                </a:solidFill>
              </a:rPr>
              <a:t>data, code and generator</a:t>
            </a:r>
            <a:endParaRPr lang="en-US" sz="1050" dirty="0"/>
          </a:p>
        </p:txBody>
      </p:sp>
      <p:pic>
        <p:nvPicPr>
          <p:cNvPr id="20" name="qr closing" descr="/home/user/crossmep_dataset/docs/figures/qr_repo.png">    </p:cNvPr>
          <p:cNvPicPr>
            <a:picLocks noChangeAspect="1"/>
          </p:cNvPicPr>
          <p:nvPr/>
        </p:nvPicPr>
        <p:blipFill>
          <a:blip r:embed="rId5"/>
          <a:stretch>
            <a:fillRect/>
          </a:stretch>
        </p:blipFill>
        <p:spPr>
          <a:xfrm>
            <a:off x="9006840" y="1600200"/>
            <a:ext cx="2011680" cy="2011680"/>
          </a:xfrm>
          <a:prstGeom prst="rect">
            <a:avLst/>
          </a:prstGeom>
        </p:spPr>
      </p:pic>
      <p:sp>
        <p:nvSpPr>
          <p:cNvPr id="21" name="closing link"/>
          <p:cNvSpPr txBox="1"/>
          <p:nvPr/>
        </p:nvSpPr>
        <p:spPr>
          <a:xfrm>
            <a:off x="8229600" y="3703320"/>
            <a:ext cx="3566160" cy="685800"/>
          </a:xfrm>
          <a:prstGeom prst="rect">
            <a:avLst/>
          </a:prstGeom>
          <a:noFill/>
          <a:ln/>
        </p:spPr>
        <p:txBody>
          <a:bodyPr wrap="square" lIns="0" tIns="0" rIns="0" bIns="0" rtlCol="0" anchor="t"/>
          <a:lstStyle/>
          <a:p>
            <a:pPr algn="ctr" indent="0" marL="0">
              <a:buNone/>
            </a:pPr>
            <a:r>
              <a:rPr lang="en-US" sz="1200" b="1" dirty="0">
                <a:solidFill>
                  <a:schemeClr val="bg1"/>
                </a:solidFill>
              </a:rPr>
              <a:t>github.com/lavinia-ped/CrossMEP_Dataset</a:t>
            </a:r>
            <a:endParaRPr lang="en-US" sz="1200" dirty="0"/>
          </a:p>
          <a:p>
            <a:pPr algn="ctr" indent="0" marL="0">
              <a:buNone/>
            </a:pPr>
            <a:r>
              <a:rPr lang="en-US" sz="1200" dirty="0">
                <a:solidFill>
                  <a:schemeClr val="bg1"/>
                </a:solidFill>
              </a:rPr>
              <a:t>laviniap@stanford.edu</a:t>
            </a:r>
            <a:endParaRPr lang="en-US" sz="1200" dirty="0"/>
          </a:p>
        </p:txBody>
      </p:sp>
      <p:sp>
        <p:nvSpPr>
          <p:cNvPr id="22" name="logo chip"/>
          <p:cNvSpPr/>
          <p:nvPr/>
        </p:nvSpPr>
        <p:spPr>
          <a:xfrm>
            <a:off x="8229600" y="4892040"/>
            <a:ext cx="3566160" cy="1188720"/>
          </a:xfrm>
          <a:prstGeom prst="roundRect">
            <a:avLst>
              <a:gd name="adj" fmla="val 6154"/>
            </a:avLst>
          </a:prstGeom>
          <a:solidFill>
            <a:srgbClr val="FFFFFF"/>
          </a:solidFill>
          <a:ln/>
        </p:spPr>
      </p:sp>
      <p:pic>
        <p:nvPicPr>
          <p:cNvPr id="23" name="logo stanford" descr="preencoded.png">    </p:cNvPr>
          <p:cNvPicPr>
            <a:picLocks noChangeAspect="1"/>
          </p:cNvPicPr>
          <p:nvPr/>
        </p:nvPicPr>
        <p:blipFill>
          <a:blip r:embed="rId6"/>
          <a:stretch>
            <a:fillRect/>
          </a:stretch>
        </p:blipFill>
        <p:spPr>
          <a:xfrm>
            <a:off x="8412480" y="5078476"/>
            <a:ext cx="2011680" cy="815848"/>
          </a:xfrm>
          <a:prstGeom prst="rect">
            <a:avLst/>
          </a:prstGeom>
        </p:spPr>
      </p:pic>
      <p:pic>
        <p:nvPicPr>
          <p:cNvPr id="24" name="logo hilti" descr="preencoded.png">    </p:cNvPr>
          <p:cNvPicPr>
            <a:picLocks noChangeAspect="1"/>
          </p:cNvPicPr>
          <p:nvPr/>
        </p:nvPicPr>
        <p:blipFill>
          <a:blip r:embed="rId7"/>
          <a:stretch>
            <a:fillRect/>
          </a:stretch>
        </p:blipFill>
        <p:spPr>
          <a:xfrm>
            <a:off x="10607040" y="5364189"/>
            <a:ext cx="1005840" cy="244423"/>
          </a:xfrm>
          <a:prstGeom prst="rect">
            <a:avLst/>
          </a:prstGeom>
        </p:spPr>
      </p:pic>
    </p:spTree>
  </p:cSld>
  <p:clrMapOvr>
    <a:masterClrMapping/>
  </p:clrMapOvr>
</p:sld>
</file>

<file path=ppt/theme/theme1.xml><?xml version="1.0" encoding="utf-8"?>
<a:theme xmlns:a="http://schemas.openxmlformats.org/drawingml/2006/main" name="Office Theme">
  <a:themeElements>
    <a:clrScheme name="CrossMEP">
      <a:dk1>
        <a:srgbClr val="0B0B0B"/>
      </a:dk1>
      <a:lt1>
        <a:srgbClr val="FFFFFF"/>
      </a:lt1>
      <a:dk2>
        <a:srgbClr val="1F2933"/>
      </a:dk2>
      <a:lt2>
        <a:srgbClr val="EEF1F4"/>
      </a:lt2>
      <a:accent1>
        <a:srgbClr val="2A78D6"/>
      </a:accent1>
      <a:accent2>
        <a:srgbClr val="EB6834"/>
      </a:accent2>
      <a:accent3>
        <a:srgbClr val="1BAF7A"/>
      </a:accent3>
      <a:accent4>
        <a:srgbClr val="4A3AA7"/>
      </a:accent4>
      <a:accent5>
        <a:srgbClr val="E34948"/>
      </a:accent5>
      <a:accent6>
        <a:srgbClr val="008300"/>
      </a:accent6>
      <a:hlink>
        <a:srgbClr val="2A78D6"/>
      </a:hlink>
      <a:folHlink>
        <a:srgbClr val="4A3AA7"/>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Stanford University, CIFE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CrossMEP: A Tiered Synthetic Dataset of Multi-Trade MEP Cross-Sections</dc:title>
  <dc:subject>43rd International CIB W78 Conference, New Delhi, 2026</dc:subject>
  <dc:creator>Lavinia Pedrollo</dc:creator>
  <cp:lastModifiedBy>Lavinia Pedrollo</cp:lastModifiedBy>
  <cp:revision>1</cp:revision>
  <dcterms:created xsi:type="dcterms:W3CDTF">2026-10-12T17:45:47Z</dcterms:created>
  <dcterms:modified xsi:type="dcterms:W3CDTF">2026-10-12T17:45:47Z</dcterms:modified>
</cp:coreProperties>
</file>