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bf4125-47cd-a3b7-1fc8-cfbc99c26387}">
          <p14:sldIdLst>
            <p14:sldId id="256"/>
          </p14:sldIdLst>
        </p14:section>
        <p14:section name="Motivation" id="{06eb4631-d4aa-1a71-3433-9649db765e20}">
          <p14:sldIdLst>
            <p14:sldId id="257"/>
            <p14:sldId id="258"/>
            <p14:sldId id="259"/>
            <p14:sldId id="260"/>
            <p14:sldId id="261"/>
          </p14:sldIdLst>
        </p14:section>
        <p14:section name="The dataset" id="{914f84d8-c58c-8289-593b-42b33f4bb92a}">
          <p14:sldIdLst>
            <p14:sldId id="262"/>
            <p14:sldId id="263"/>
            <p14:sldId id="264"/>
            <p14:sldId id="265"/>
            <p14:sldId id="266"/>
          </p14:sldIdLst>
        </p14:section>
        <p14:section name="Experiments" id="{c0835315-0dc9-8c11-fd2f-eeec54b0c20f}">
          <p14:sldIdLst>
            <p14:sldId id="267"/>
            <p14:sldId id="268"/>
            <p14:sldId id="269"/>
          </p14:sldIdLst>
        </p14:section>
        <p14:section name="Use" id="{18268bb2-37e1-7df1-bbe0-94950d977d4e}">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section" descr="preencoded.png">    </p:cNvPr>
          <p:cNvPicPr>
            <a:picLocks noChangeAspect="1"/>
          </p:cNvPicPr>
          <p:nvPr/>
        </p:nvPicPr>
        <p:blipFill>
          <a:blip r:embed="rId1"/>
          <a:stretch>
            <a:fillRect/>
          </a:stretch>
        </p:blipFill>
        <p:spPr>
          <a:xfrm>
            <a:off x="548640" y="1325880"/>
            <a:ext cx="5760720" cy="3532517"/>
          </a:xfrm>
          <a:prstGeom prst="rect">
            <a:avLst/>
          </a:prstGeom>
        </p:spPr>
      </p:pic>
      <p:sp>
        <p:nvSpPr>
          <p:cNvPr id="4" name="fields heading"/>
          <p:cNvSpPr txBox="1"/>
          <p:nvPr/>
        </p:nvSpPr>
        <p:spPr>
          <a:xfrm>
            <a:off x="548640" y="5440680"/>
            <a:ext cx="576072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5" name="chip kind"/>
          <p:cNvSpPr/>
          <p:nvPr/>
        </p:nvSpPr>
        <p:spPr>
          <a:xfrm>
            <a:off x="548640" y="5760720"/>
            <a:ext cx="453542" cy="310896"/>
          </a:xfrm>
          <a:prstGeom prst="roundRect">
            <a:avLst>
              <a:gd name="adj" fmla="val 50000"/>
            </a:avLst>
          </a:prstGeom>
          <a:solidFill>
            <a:srgbClr val="EEF1F4"/>
          </a:solidFill>
          <a:ln w="9525">
            <a:solidFill>
              <a:srgbClr val="E1E0D9"/>
            </a:solidFill>
            <a:prstDash val="solid"/>
          </a:ln>
        </p:spPr>
      </p:sp>
      <p:sp>
        <p:nvSpPr>
          <p:cNvPr id="6" name="chip text kind"/>
          <p:cNvSpPr txBox="1"/>
          <p:nvPr/>
        </p:nvSpPr>
        <p:spPr>
          <a:xfrm>
            <a:off x="548640" y="576072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7" name="chip service, trade"/>
          <p:cNvSpPr/>
          <p:nvPr/>
        </p:nvSpPr>
        <p:spPr>
          <a:xfrm>
            <a:off x="1111910" y="5760720"/>
            <a:ext cx="1038758" cy="310896"/>
          </a:xfrm>
          <a:prstGeom prst="roundRect">
            <a:avLst>
              <a:gd name="adj" fmla="val 50000"/>
            </a:avLst>
          </a:prstGeom>
          <a:solidFill>
            <a:srgbClr val="EEF1F4"/>
          </a:solidFill>
          <a:ln w="9525">
            <a:solidFill>
              <a:srgbClr val="E1E0D9"/>
            </a:solidFill>
            <a:prstDash val="solid"/>
          </a:ln>
        </p:spPr>
      </p:sp>
      <p:sp>
        <p:nvSpPr>
          <p:cNvPr id="8" name="chip text service, trade"/>
          <p:cNvSpPr txBox="1"/>
          <p:nvPr/>
        </p:nvSpPr>
        <p:spPr>
          <a:xfrm>
            <a:off x="1111910" y="576072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9" name="chip size"/>
          <p:cNvSpPr/>
          <p:nvPr/>
        </p:nvSpPr>
        <p:spPr>
          <a:xfrm>
            <a:off x="2260397" y="5760720"/>
            <a:ext cx="453542" cy="310896"/>
          </a:xfrm>
          <a:prstGeom prst="roundRect">
            <a:avLst>
              <a:gd name="adj" fmla="val 50000"/>
            </a:avLst>
          </a:prstGeom>
          <a:solidFill>
            <a:srgbClr val="EEF1F4"/>
          </a:solidFill>
          <a:ln w="9525">
            <a:solidFill>
              <a:srgbClr val="E1E0D9"/>
            </a:solidFill>
            <a:prstDash val="solid"/>
          </a:ln>
        </p:spPr>
      </p:sp>
      <p:sp>
        <p:nvSpPr>
          <p:cNvPr id="10" name="chip text size"/>
          <p:cNvSpPr txBox="1"/>
          <p:nvPr/>
        </p:nvSpPr>
        <p:spPr>
          <a:xfrm>
            <a:off x="2260397" y="576072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1" name="chip insulation"/>
          <p:cNvSpPr/>
          <p:nvPr/>
        </p:nvSpPr>
        <p:spPr>
          <a:xfrm>
            <a:off x="2823667" y="5760720"/>
            <a:ext cx="804672" cy="310896"/>
          </a:xfrm>
          <a:prstGeom prst="roundRect">
            <a:avLst>
              <a:gd name="adj" fmla="val 50000"/>
            </a:avLst>
          </a:prstGeom>
          <a:solidFill>
            <a:srgbClr val="EEF1F4"/>
          </a:solidFill>
          <a:ln w="9525">
            <a:solidFill>
              <a:srgbClr val="E1E0D9"/>
            </a:solidFill>
            <a:prstDash val="solid"/>
          </a:ln>
        </p:spPr>
      </p:sp>
      <p:sp>
        <p:nvSpPr>
          <p:cNvPr id="12" name="chip text insulation"/>
          <p:cNvSpPr txBox="1"/>
          <p:nvPr/>
        </p:nvSpPr>
        <p:spPr>
          <a:xfrm>
            <a:off x="2823667" y="5760720"/>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3" name="chip position"/>
          <p:cNvSpPr/>
          <p:nvPr/>
        </p:nvSpPr>
        <p:spPr>
          <a:xfrm>
            <a:off x="3738067" y="5760720"/>
            <a:ext cx="687629" cy="310896"/>
          </a:xfrm>
          <a:prstGeom prst="roundRect">
            <a:avLst>
              <a:gd name="adj" fmla="val 50000"/>
            </a:avLst>
          </a:prstGeom>
          <a:solidFill>
            <a:srgbClr val="EEF1F4"/>
          </a:solidFill>
          <a:ln w="9525">
            <a:solidFill>
              <a:srgbClr val="E1E0D9"/>
            </a:solidFill>
            <a:prstDash val="solid"/>
          </a:ln>
        </p:spPr>
      </p:sp>
      <p:sp>
        <p:nvSpPr>
          <p:cNvPr id="14" name="chip text position"/>
          <p:cNvSpPr txBox="1"/>
          <p:nvPr/>
        </p:nvSpPr>
        <p:spPr>
          <a:xfrm>
            <a:off x="3738067" y="5760720"/>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5" name="chip load = kN/m × span"/>
          <p:cNvSpPr/>
          <p:nvPr/>
        </p:nvSpPr>
        <p:spPr>
          <a:xfrm>
            <a:off x="4535424" y="5760720"/>
            <a:ext cx="1272845" cy="310896"/>
          </a:xfrm>
          <a:prstGeom prst="roundRect">
            <a:avLst>
              <a:gd name="adj" fmla="val 50000"/>
            </a:avLst>
          </a:prstGeom>
          <a:solidFill>
            <a:srgbClr val="EEF1F4"/>
          </a:solidFill>
          <a:ln w="9525">
            <a:solidFill>
              <a:srgbClr val="E1E0D9"/>
            </a:solidFill>
            <a:prstDash val="solid"/>
          </a:ln>
        </p:spPr>
      </p:sp>
      <p:sp>
        <p:nvSpPr>
          <p:cNvPr id="16" name="chip text load = kN/m × span"/>
          <p:cNvSpPr txBox="1"/>
          <p:nvPr/>
        </p:nvSpPr>
        <p:spPr>
          <a:xfrm>
            <a:off x="4535424" y="5760720"/>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17"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914400"/>
                <a:gridCol w="1371600"/>
                <a:gridCol w="640080"/>
                <a:gridCol w="685800"/>
                <a:gridCol w="621792"/>
                <a:gridCol w="868680"/>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600 tray</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4A3AA7"/>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electrical</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1.079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2.16</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150 tray</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4A3AA7"/>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electrical</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0.270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0.54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DN32</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E34948"/>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sprinkler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0.040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0.08</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2A78D6"/>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domestic water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0.019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50" b="1" dirty="0">
                          <a:solidFill>
                            <a:srgbClr val="0B0B0B"/>
                          </a:solidFill>
                          <a:latin typeface="Aptos" pitchFamily="34" charset="0"/>
                          <a:ea typeface="Aptos" pitchFamily="34" charset="-122"/>
                          <a:cs typeface="Aptos" pitchFamily="34" charset="-120"/>
                        </a:rPr>
                        <a:t>DN20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50" dirty="0">
                          <a:solidFill>
                            <a:srgbClr val="2A78D6"/>
                          </a:solidFill>
                          <a:latin typeface="Aptos" pitchFamily="34" charset="0"/>
                          <a:ea typeface="Aptos" pitchFamily="34" charset="-122"/>
                          <a:cs typeface="Aptos" pitchFamily="34" charset="-120"/>
                        </a:rPr>
                        <a:t>● </a:t>
                      </a:r>
                      <a:pPr algn="l" indent="0" marL="0">
                        <a:buNone/>
                      </a:pPr>
                      <a:r>
                        <a:rPr lang="en-US" sz="1150" dirty="0">
                          <a:solidFill>
                            <a:srgbClr val="0B0B0B"/>
                          </a:solidFill>
                          <a:latin typeface="Aptos" pitchFamily="34" charset="0"/>
                          <a:ea typeface="Aptos" pitchFamily="34" charset="-122"/>
                          <a:cs typeface="Aptos" pitchFamily="34" charset="-120"/>
                        </a:rPr>
                        <a:t>domestic water</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0.019</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dirty="0">
                          <a:solidFill>
                            <a:srgbClr val="0B0B0B"/>
                          </a:solidFill>
                          <a:latin typeface="Aptos" pitchFamily="34" charset="0"/>
                          <a:ea typeface="Aptos" pitchFamily="34" charset="-122"/>
                          <a:cs typeface="Aptos" pitchFamily="34" charset="-120"/>
                        </a:rPr>
                        <a:t>2.1 m</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50" b="1" dirty="0">
                          <a:solidFill>
                            <a:srgbClr val="0B0B0B"/>
                          </a:solidFill>
                          <a:latin typeface="Aptos" pitchFamily="34" charset="0"/>
                          <a:ea typeface="Aptos" pitchFamily="34" charset="-122"/>
                          <a:cs typeface="Aptos" pitchFamily="34" charset="-120"/>
                        </a:rPr>
                        <a:t>0.04</a:t>
                      </a:r>
                      <a:endParaRPr lang="en-US" sz="115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19" name="fact ceiling slab, concrete C30"/>
          <p:cNvSpPr/>
          <p:nvPr/>
        </p:nvSpPr>
        <p:spPr>
          <a:xfrm>
            <a:off x="6537960" y="3785616"/>
            <a:ext cx="1609344" cy="914400"/>
          </a:xfrm>
          <a:prstGeom prst="roundRect">
            <a:avLst>
              <a:gd name="adj" fmla="val 7000"/>
            </a:avLst>
          </a:prstGeom>
          <a:solidFill>
            <a:schemeClr val="bg2"/>
          </a:solidFill>
          <a:ln/>
        </p:spPr>
      </p:sp>
      <p:sp>
        <p:nvSpPr>
          <p:cNvPr id="20" name="icon ring fact ceiling slab, concrete C30"/>
          <p:cNvSpPr/>
          <p:nvPr/>
        </p:nvSpPr>
        <p:spPr>
          <a:xfrm>
            <a:off x="6675120" y="4014216"/>
            <a:ext cx="457200" cy="457200"/>
          </a:xfrm>
          <a:prstGeom prst="ellipse">
            <a:avLst/>
          </a:prstGeom>
          <a:solidFill>
            <a:schemeClr val="accent1"/>
          </a:solidFill>
          <a:ln/>
        </p:spPr>
      </p:sp>
      <p:pic>
        <p:nvPicPr>
          <p:cNvPr id="21" name="icon fact ceiling slab, concrete C30" descr="preencoded.png">    </p:cNvPr>
          <p:cNvPicPr>
            <a:picLocks noChangeAspect="1"/>
          </p:cNvPicPr>
          <p:nvPr/>
        </p:nvPicPr>
        <p:blipFill>
          <a:blip r:embed="rId2"/>
          <a:stretch>
            <a:fillRect/>
          </a:stretch>
        </p:blipFill>
        <p:spPr>
          <a:xfrm>
            <a:off x="6771132" y="4110228"/>
            <a:ext cx="265176" cy="265176"/>
          </a:xfrm>
          <a:prstGeom prst="rect">
            <a:avLst/>
          </a:prstGeom>
        </p:spPr>
      </p:pic>
      <p:sp>
        <p:nvSpPr>
          <p:cNvPr id="22"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150 mm</a:t>
            </a:r>
            <a:endParaRPr lang="en-US" sz="1250" dirty="0"/>
          </a:p>
          <a:p>
            <a:pPr indent="0" marL="0">
              <a:buNone/>
            </a:pPr>
            <a:r>
              <a:rPr lang="en-US" sz="950" dirty="0">
                <a:solidFill>
                  <a:srgbClr val="52514E"/>
                </a:solidFill>
              </a:rPr>
              <a:t>ceiling slab, concrete C30</a:t>
            </a:r>
            <a:endParaRPr lang="en-US" sz="1250" dirty="0"/>
          </a:p>
        </p:txBody>
      </p:sp>
      <p:sp>
        <p:nvSpPr>
          <p:cNvPr id="23" name="fact total load at this support"/>
          <p:cNvSpPr/>
          <p:nvPr/>
        </p:nvSpPr>
        <p:spPr>
          <a:xfrm>
            <a:off x="8284464" y="3785616"/>
            <a:ext cx="1609344" cy="914400"/>
          </a:xfrm>
          <a:prstGeom prst="roundRect">
            <a:avLst>
              <a:gd name="adj" fmla="val 7000"/>
            </a:avLst>
          </a:prstGeom>
          <a:solidFill>
            <a:schemeClr val="bg2"/>
          </a:solidFill>
          <a:ln/>
        </p:spPr>
      </p:sp>
      <p:sp>
        <p:nvSpPr>
          <p:cNvPr id="24" name="icon ring fact total load at this support"/>
          <p:cNvSpPr/>
          <p:nvPr/>
        </p:nvSpPr>
        <p:spPr>
          <a:xfrm>
            <a:off x="8421624" y="4014216"/>
            <a:ext cx="457200" cy="457200"/>
          </a:xfrm>
          <a:prstGeom prst="ellipse">
            <a:avLst/>
          </a:prstGeom>
          <a:solidFill>
            <a:schemeClr val="accent1"/>
          </a:solidFill>
          <a:ln/>
        </p:spPr>
      </p:sp>
      <p:pic>
        <p:nvPicPr>
          <p:cNvPr id="25" name="icon fact total load at this support" descr="preencoded.png">    </p:cNvPr>
          <p:cNvPicPr>
            <a:picLocks noChangeAspect="1"/>
          </p:cNvPicPr>
          <p:nvPr/>
        </p:nvPicPr>
        <p:blipFill>
          <a:blip r:embed="rId3"/>
          <a:stretch>
            <a:fillRect/>
          </a:stretch>
        </p:blipFill>
        <p:spPr>
          <a:xfrm>
            <a:off x="8517636" y="4110228"/>
            <a:ext cx="265176" cy="265176"/>
          </a:xfrm>
          <a:prstGeom prst="rect">
            <a:avLst/>
          </a:prstGeom>
        </p:spPr>
      </p:pic>
      <p:sp>
        <p:nvSpPr>
          <p:cNvPr id="26"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2.86 kN</a:t>
            </a:r>
            <a:endParaRPr lang="en-US" sz="1250" dirty="0"/>
          </a:p>
          <a:p>
            <a:pPr indent="0" marL="0">
              <a:buNone/>
            </a:pPr>
            <a:r>
              <a:rPr lang="en-US" sz="950" dirty="0">
                <a:solidFill>
                  <a:srgbClr val="52514E"/>
                </a:solidFill>
              </a:rPr>
              <a:t>total load at this support</a:t>
            </a:r>
            <a:endParaRPr lang="en-US" sz="1250" dirty="0"/>
          </a:p>
        </p:txBody>
      </p:sp>
      <p:sp>
        <p:nvSpPr>
          <p:cNvPr id="27" name="fact closest clear gap, 2 rows"/>
          <p:cNvSpPr/>
          <p:nvPr/>
        </p:nvSpPr>
        <p:spPr>
          <a:xfrm>
            <a:off x="10030968" y="3785616"/>
            <a:ext cx="1609344" cy="914400"/>
          </a:xfrm>
          <a:prstGeom prst="roundRect">
            <a:avLst>
              <a:gd name="adj" fmla="val 7000"/>
            </a:avLst>
          </a:prstGeom>
          <a:solidFill>
            <a:schemeClr val="bg2"/>
          </a:solidFill>
          <a:ln/>
        </p:spPr>
      </p:sp>
      <p:sp>
        <p:nvSpPr>
          <p:cNvPr id="28" name="icon ring fact closest clear gap, 2 rows"/>
          <p:cNvSpPr/>
          <p:nvPr/>
        </p:nvSpPr>
        <p:spPr>
          <a:xfrm>
            <a:off x="10168128" y="4014216"/>
            <a:ext cx="457200" cy="457200"/>
          </a:xfrm>
          <a:prstGeom prst="ellipse">
            <a:avLst/>
          </a:prstGeom>
          <a:solidFill>
            <a:schemeClr val="accent1"/>
          </a:solidFill>
          <a:ln/>
        </p:spPr>
      </p:sp>
      <p:pic>
        <p:nvPicPr>
          <p:cNvPr id="29" name="icon fact closest clear gap, 2 rows" descr="preencoded.png">    </p:cNvPr>
          <p:cNvPicPr>
            <a:picLocks noChangeAspect="1"/>
          </p:cNvPicPr>
          <p:nvPr/>
        </p:nvPicPr>
        <p:blipFill>
          <a:blip r:embed="rId4"/>
          <a:stretch>
            <a:fillRect/>
          </a:stretch>
        </p:blipFill>
        <p:spPr>
          <a:xfrm>
            <a:off x="10264140" y="4110228"/>
            <a:ext cx="265176" cy="265176"/>
          </a:xfrm>
          <a:prstGeom prst="rect">
            <a:avLst/>
          </a:prstGeom>
        </p:spPr>
      </p:pic>
      <p:sp>
        <p:nvSpPr>
          <p:cNvPr id="30"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72 mm</a:t>
            </a:r>
            <a:endParaRPr lang="en-US" sz="1250" dirty="0"/>
          </a:p>
          <a:p>
            <a:pPr indent="0" marL="0">
              <a:buNone/>
            </a:pPr>
            <a:r>
              <a:rPr lang="en-US" sz="950" dirty="0">
                <a:solidFill>
                  <a:srgbClr val="52514E"/>
                </a:solidFill>
              </a:rPr>
              <a:t>closest clear gap, 2 rows</a:t>
            </a:r>
            <a:endParaRPr lang="en-US" sz="1250" dirty="0"/>
          </a:p>
        </p:txBody>
      </p:sp>
      <p:sp>
        <p:nvSpPr>
          <p:cNvPr id="31" name="absent band"/>
          <p:cNvSpPr/>
          <p:nvPr/>
        </p:nvSpPr>
        <p:spPr>
          <a:xfrm>
            <a:off x="6537960" y="4882896"/>
            <a:ext cx="5102352" cy="1188720"/>
          </a:xfrm>
          <a:prstGeom prst="roundRect">
            <a:avLst>
              <a:gd name="adj" fmla="val 5385"/>
            </a:avLst>
          </a:prstGeom>
          <a:solidFill>
            <a:srgbClr val="1F2933"/>
          </a:solidFill>
          <a:ln/>
        </p:spPr>
      </p:sp>
      <p:pic>
        <p:nvPicPr>
          <p:cNvPr id="32" name="icon absent" descr="preencoded.png">    </p:cNvPr>
          <p:cNvPicPr>
            <a:picLocks noChangeAspect="1"/>
          </p:cNvPicPr>
          <p:nvPr/>
        </p:nvPicPr>
        <p:blipFill>
          <a:blip r:embed="rId5"/>
          <a:stretch>
            <a:fillRect/>
          </a:stretch>
        </p:blipFill>
        <p:spPr>
          <a:xfrm>
            <a:off x="6766560" y="5248656"/>
            <a:ext cx="457200" cy="457200"/>
          </a:xfrm>
          <a:prstGeom prst="rect">
            <a:avLst/>
          </a:prstGeom>
        </p:spPr>
      </p:pic>
      <p:sp>
        <p:nvSpPr>
          <p:cNvPr id="33"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ion example" descr="/home/user/crossmep_dataset/docs/figures/05_generation_example.png">    </p:cNvPr>
          <p:cNvPicPr>
            <a:picLocks noChangeAspect="1"/>
          </p:cNvPicPr>
          <p:nvPr/>
        </p:nvPicPr>
        <p:blipFill>
          <a:blip r:embed="rId7"/>
          <a:stretch>
            <a:fillRect/>
          </a:stretch>
        </p:blipFill>
        <p:spPr>
          <a:xfrm>
            <a:off x="6355080" y="1630935"/>
            <a:ext cx="5285232" cy="3230370"/>
          </a:xfrm>
          <a:prstGeom prst="rect">
            <a:avLst/>
          </a:prstGeom>
        </p:spPr>
      </p:pic>
      <p:sp>
        <p:nvSpPr>
          <p:cNvPr id="35" name="example frame"/>
          <p:cNvSpPr/>
          <p:nvPr/>
        </p:nvSpPr>
        <p:spPr>
          <a:xfrm>
            <a:off x="6355080" y="1630935"/>
            <a:ext cx="5285232" cy="3230370"/>
          </a:xfrm>
          <a:prstGeom prst="rect">
            <a:avLst/>
          </a:prstGeom>
          <a:ln w="9525">
            <a:solidFill>
              <a:srgbClr val="E1E0D9"/>
            </a:solidFill>
            <a:prstDash val="solid"/>
          </a:ln>
        </p:spPr>
      </p:sp>
      <p:sp>
        <p:nvSpPr>
          <p:cNvPr id="36" name="generation caption"/>
          <p:cNvSpPr txBox="1"/>
          <p:nvPr/>
        </p:nvSpPr>
        <p:spPr>
          <a:xfrm>
            <a:off x="6355080" y="4952745"/>
            <a:ext cx="5285232" cy="411480"/>
          </a:xfrm>
          <a:prstGeom prst="rect">
            <a:avLst/>
          </a:prstGeom>
          <a:noFill/>
          <a:ln/>
        </p:spPr>
        <p:txBody>
          <a:bodyPr wrap="square" lIns="0" tIns="0" rIns="0" bIns="0" rtlCol="0" anchor="t"/>
          <a:lstStyle/>
          <a:p>
            <a:pPr indent="0" marL="0">
              <a:buNone/>
            </a:pPr>
            <a:r>
              <a:rPr lang="en-US" sz="1150" dirty="0">
                <a:solidFill>
                  <a:srgbClr val="52514E"/>
                </a:solidFill>
              </a:rPr>
              <a:t>One generated benchmark context, three rows by priority; the gap marked is one draw from the measured distribution.</a:t>
            </a:r>
            <a:endParaRPr lang="en-US" sz="1150" dirty="0"/>
          </a:p>
        </p:txBody>
      </p:sp>
      <p:sp>
        <p:nvSpPr>
          <p:cNvPr id="37"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2026-10-06T23:04:43Z</dcterms:created>
  <dcterms:modified xsi:type="dcterms:W3CDTF">2026-10-06T23:04:43Z</dcterms:modified>
</cp:coreProperties>
</file>