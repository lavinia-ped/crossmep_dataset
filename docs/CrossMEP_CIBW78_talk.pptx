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2f94bb5-04e5-2b55-1999-25446b61cf3f}">
          <p14:sldIdLst>
            <p14:sldId id="256"/>
          </p14:sldIdLst>
        </p14:section>
        <p14:section name="The problem" id="{1aa4e5e4-c8f4-1365-d2fd-bbc72b140f80}">
          <p14:sldIdLst>
            <p14:sldId id="257"/>
            <p14:sldId id="258"/>
          </p14:sldIdLst>
        </p14:section>
        <p14:section name="The dataset" id="{25af51c0-7fee-88d8-4f4a-6df54a3f5ea4}">
          <p14:sldIdLst>
            <p14:sldId id="259"/>
            <p14:sldId id="260"/>
            <p14:sldId id="261"/>
          </p14:sldIdLst>
        </p14:section>
        <p14:section name="Evidence" id="{d0345ed6-917a-e127-2a8a-b0aacede3b4d}">
          <p14:sldIdLst>
            <p14:sldId id="262"/>
            <p14:sldId id="263"/>
            <p14:sldId id="264"/>
          </p14:sldIdLst>
        </p14:section>
        <p14:section name="Closing" id="{54c536a1-842f-462c-a2fa-d66c53e7ec58}">
          <p14:sldIdLst>
            <p14:sldId id="265"/>
            <p14:sldId id="266"/>
          </p14:sldIdLst>
        </p14:section>
        <p14:section name="Appendix" id="{4f8074b7-e94d-34ec-3121-52d930b806d6}">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Share of pipes the catalog can attach, by tier (%)</a:t>
            </a:r>
          </a:p>
        </c:rich>
      </c:tx>
      <c:layout/>
      <c:overlay val="0"/>
    </c:title>
    <c:autoTitleDeleted val="0"/>
    <c:plotArea>
      <c:layout/>
      <c:barChart>
        <c:barDir val="col"/>
        <c:grouping val="clustered"/>
        <c:varyColors val="0"/>
        <c:ser>
          <c:idx val="0"/>
          <c:order val="0"/>
          <c:tx>
            <c:strRef>
              <c:f>Sheet1!$B$1</c:f>
              <c:strCache>
                <c:ptCount val="1"/>
                <c:pt idx="0">
                  <c:v>pipes the catalog can attach (%)</c:v>
                </c:pt>
              </c:strCache>
            </c:strRef>
          </c:tx>
          <c:spPr>
            <a:solidFill>
              <a:srgbClr val="2A78D6"/>
            </a:solidFill>
            <a:effectLst/>
          </c:spPr>
          <c:invertIfNegative val="0"/>
          <c:dLbls>
            <c:numFmt formatCode="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Sheet1!$B$2:$B$9</c:f>
              <c:numCache>
                <c:formatCode>General</c:formatCode>
                <c:ptCount val="8"/>
                <c:pt idx="0">
                  <c:v>11.3</c:v>
                </c:pt>
                <c:pt idx="1">
                  <c:v>12.2</c:v>
                </c:pt>
                <c:pt idx="2">
                  <c:v>10.3</c:v>
                </c:pt>
                <c:pt idx="3">
                  <c:v>13.6</c:v>
                </c:pt>
                <c:pt idx="4">
                  <c:v>9.2</c:v>
                </c:pt>
                <c:pt idx="5">
                  <c:v>11.5</c:v>
                </c:pt>
                <c:pt idx="6">
                  <c:v>10.8</c:v>
                </c:pt>
                <c:pt idx="7">
                  <c:v>13.3</c:v>
                </c:pt>
              </c:numCache>
            </c:numRef>
          </c:val>
        </c:ser>
        <c:dLbls>
          <c:numFmt formatCode="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pipe, duct and tray in a building hangs from something. I am going to talk about the piece of information a support designer starts from - and why we turned it into a public dataset.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200,000 sq ft hospital: on the order of 10,000 support assemblies, each 20 minutes to 2 hours by hand; roughly a quarter of MEP design effort. Support design starts AFTER coordination: the designer receives the coordinated model and works hanger by hanger. At each hanger the brief is a cross-section. Nobody designs a support from the whole model - you design it from the section at that hanger. That section is the unit of work, and the unit of our dataset. (0:50)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Automating support design with learning needs MANY of those sections - the full spread of what shows up in buildings, not one project. Project models are proprietary; the few open ones are not organised around supports and often export no sizes. One project is one narrow slice. So: a rule-based generator, no learned model, no free randomness, that encodes the conventions you already use, verified against a built project, and public. We are not claiming a building. We are claiming the rules, and we show where each rule comes from. (1:40)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2-D section perpendicular to the run at one support location. Each element: kind, service and trade; bare size; insulation per side; load per metre and the span it was sized at, so load per support = kN/m x span; position along the surface and standoff from it. The surface: slab or wall, substrate, thickness. Deliberately absent: channel, rods, clamps, anchors. The context is the brief; the assembly is the answer. There are no 'correct' answers in the files because a feasible support depends on the catalog you build from. If you have ever been handed a section and a catalog and asked to make it hang - that is exactly what is in each record, in millimetres and kN.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Sizes from the standards you use; loads computed from them: EN 10255 steel plus water times B31.1 spans; the published full-tray datum; verbatim manufacturer duct weights; IEC fill for conduits. Layout conventions: ducts nearest the slab, then containment, then pipes; trades run in banks; electrical above wet on walls; clear gaps drawn from a distribution measured on a built project. Every constant has a source and a status in the repo; the loads are computed from those sources in the code, and the tests pin them. If you disagree with a number, there is one line to change and one test that will tell you what moved. (3:20)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 Cn = exactly n elements, C1 to C8; everything else varies within the tier. C1 is the most common support in any building: one pipe, one tray, one duct. C8 is the congested rack. As the count rises the median clear gap falls from 120 mm to 62 mm and the median load at the support rises from 0.10 kN to 1.7 kN. Difficulty here means a tighter, heavier scene - not that the support is harder to calculate. Whether it is harder to SOLVE is for the method to show. (4:10)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buildingSMART Duplex Apartment, MEP and Plumbing discipline models, parsed with IfcOpenShell: 427 and 231 segments; sizes, parallel-run counts, elevation spread and clear gaps measured. Gaps are irregular, not modular: median 108 mm, quartiles 24 to 238. We fit a lognormal to the measurement and sample from it. Distance between generated and measured gap distributions: 41 mm - the two real discipline models of the SAME building are 50 mm apart; a fixed modular gap would be 139 mm away. The generator sits inside the variation you get between two disciplines' models of one building. That is the realism claim, no more.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Rebuilding the release for publication we found the generator added a 25 mm routing envelope on each element ON TOP OF the 25 mm minimum gap: every neighbour sat 50 mm further apart than the sampled gap, and nothing was ever closer than 75 mm - while 42 % of the measured gaps are. The 41 mm in the paper was computed on the sampled gap, not the physical one; measured physically, the paper's files were 89 mm from the project. Revision 4.0 removes the offset. Same elements, same loads, same rows - the spacing moved. The physical gaps are now the sampled ones, and the 41 mm holds for the geometry you can measure in the files. Everything is reproducible: all eight files regenerate byte-for-byte on every CI run; every number in the paper that reproduces is a test, and the ones that do not - the paper's composition figures came from an internal build - are listed with the public values. I would rather tell you this than have you find it.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a released two-bin clamp catalog: 48 to 54 mm at 2.5 kN, 108 to 114 mm at 4.0 kN. Which of the 4,500 benchmark elements can it attach? 11.6 % of pipes; none of the 1,971 trays, ducts and conduits. Loads are never the limit; diameter and kind are. So 'generalise the catalog' is a measurable requirement: small-bore clamps first, then tray, duct and conduit attachments. This is the dataset telling the catalog what it is missing.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section only: routing, slope, branches, support spacing are outside it - span is recorded per element, so a method can vary it. DN up to 100, concrete substrates, no anchor capacity, no duct insulation. Stagger is drawn per element: a bank on one trapeze would be co-planar - we know, and it is next. Verified on one residential project: small-bore statistics are checked, congested racks rest on practice and standards. The ask: the thing we cannot compute is plausibility. If you coordinate or design supports, open the gallery and tell us what looks wrong. (7:50)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CrossMEP is the brief, not the answer: 7,000 sections, every number traced, verified against a built project, reproducible to the byte, and public. Thank you. (9:00)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per-tier distributions on the benchmark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authoritative numbers for the public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143000"/>
            <a:ext cx="6675120" cy="210312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endParaRPr lang="en-US" sz="3800" dirty="0"/>
          </a:p>
        </p:txBody>
      </p:sp>
      <p:sp>
        <p:nvSpPr>
          <p:cNvPr id="3" name="Text 0"/>
          <p:cNvSpPr/>
          <p:nvPr>
            <p:ph idx="101" type="body" hasCustomPrompt="1"/>
          </p:nvPr>
        </p:nvSpPr>
        <p:spPr>
          <a:xfrm>
            <a:off x="640080" y="3429000"/>
            <a:ext cx="667512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143000"/>
            <a:ext cx="6675120" cy="2103120"/>
          </a:xfrm>
          <a:prstGeom prst="rect">
            <a:avLst/>
          </a:prstGeom>
          <a:noFill/>
          <a:ln/>
        </p:spPr>
        <p:txBody>
          <a:bodyPr wrap="square" lIns="0" tIns="0" rIns="0" bIns="0" rtlCol="0" anchor="b"/>
          <a:lstStyle/>
          <a:p>
            <a:pPr algn="l" indent="0" marL="0">
              <a:buNone/>
            </a:pPr>
            <a:r>
              <a:rPr lang="en-US" sz="3800" b="1" dirty="0">
                <a:solidFill>
                  <a:schemeClr val="bg1"/>
                </a:solidFill>
              </a:rPr>
              <a:t>CrossMEP: the support designer’s brief, as a dataset</a:t>
            </a:r>
            <a:endParaRPr lang="en-US" sz="3800" dirty="0"/>
          </a:p>
        </p:txBody>
      </p:sp>
      <p:sp>
        <p:nvSpPr>
          <p:cNvPr id="3" name="Text 0"/>
          <p:cNvSpPr/>
          <p:nvPr>
            <p:ph idx="101" type="body" hasCustomPrompt="1"/>
          </p:nvPr>
        </p:nvSpPr>
        <p:spPr>
          <a:xfrm>
            <a:off x="640080" y="3429000"/>
            <a:ext cx="6675120" cy="1005840"/>
          </a:xfrm>
          <a:prstGeom prst="rect">
            <a:avLst/>
          </a:prstGeom>
          <a:noFill/>
          <a:ln/>
        </p:spPr>
        <p:txBody>
          <a:bodyPr wrap="square" lIns="0" tIns="0" rIns="0" bIns="0" rtlCol="0" anchor="t"/>
          <a:lstStyle/>
          <a:p>
            <a:pPr indent="0" marL="0">
              <a:buNone/>
            </a:pPr>
            <a:r>
              <a:rPr lang="en-US" sz="1600" dirty="0">
                <a:solidFill>
                  <a:srgbClr val="CADCFC"/>
                </a:solidFill>
              </a:rPr>
              <a:t>A tiered synthetic dataset of multi-trade MEP cross-sections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section art" descr="/home/user/crossmep_dataset/docs/figures/title_art.png">    </p:cNvPr>
          <p:cNvPicPr>
            <a:picLocks noChangeAspect="1"/>
          </p:cNvPicPr>
          <p:nvPr/>
        </p:nvPicPr>
        <p:blipFill>
          <a:blip r:embed="rId1"/>
          <a:stretch>
            <a:fillRect/>
          </a:stretch>
        </p:blipFill>
        <p:spPr>
          <a:xfrm>
            <a:off x="7589520" y="1463040"/>
            <a:ext cx="4206240" cy="2628900"/>
          </a:xfrm>
          <a:prstGeom prst="rect">
            <a:avLst/>
          </a:prstGeom>
        </p:spPr>
      </p:pic>
      <p:sp>
        <p:nvSpPr>
          <p:cNvPr id="6" name="art caption"/>
          <p:cNvSpPr txBox="1"/>
          <p:nvPr/>
        </p:nvSpPr>
        <p:spPr>
          <a:xfrm>
            <a:off x="7589520" y="4160520"/>
            <a:ext cx="420624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pipe, duct and tray hangs from a support designed by hand</a:t>
            </a:r>
            <a:endParaRPr lang="en-US" sz="2600" dirty="0"/>
          </a:p>
        </p:txBody>
      </p:sp>
      <p:sp>
        <p:nvSpPr>
          <p:cNvPr id="3" name="tile support assemblies in one 200,000 sq ft hospital"/>
          <p:cNvSpPr/>
          <p:nvPr/>
        </p:nvSpPr>
        <p:spPr>
          <a:xfrm>
            <a:off x="548640" y="1463040"/>
            <a:ext cx="3566160" cy="1371600"/>
          </a:xfrm>
          <a:prstGeom prst="roundRect">
            <a:avLst>
              <a:gd name="adj" fmla="val 4667"/>
            </a:avLst>
          </a:prstGeom>
          <a:solidFill>
            <a:schemeClr val="bg2"/>
          </a:solidFill>
          <a:ln/>
        </p:spPr>
      </p:sp>
      <p:sp>
        <p:nvSpPr>
          <p:cNvPr id="4" name="value support assemblies in one 200,000 sq ft hospital"/>
          <p:cNvSpPr txBox="1"/>
          <p:nvPr/>
        </p:nvSpPr>
        <p:spPr>
          <a:xfrm>
            <a:off x="777240" y="1554480"/>
            <a:ext cx="3108960" cy="768096"/>
          </a:xfrm>
          <a:prstGeom prst="rect">
            <a:avLst/>
          </a:prstGeom>
          <a:noFill/>
          <a:ln/>
        </p:spPr>
        <p:txBody>
          <a:bodyPr wrap="square" lIns="0" tIns="0" rIns="0" bIns="0" rtlCol="0" anchor="ctr"/>
          <a:lstStyle/>
          <a:p>
            <a:pPr indent="0" marL="0">
              <a:buNone/>
            </a:pPr>
            <a:r>
              <a:rPr lang="en-US" sz="3400" b="1" dirty="0">
                <a:solidFill>
                  <a:schemeClr val="accent1"/>
                </a:solidFill>
              </a:rPr>
              <a:t>≈ 10,000</a:t>
            </a:r>
            <a:endParaRPr lang="en-US" sz="3400" dirty="0"/>
          </a:p>
        </p:txBody>
      </p:sp>
      <p:sp>
        <p:nvSpPr>
          <p:cNvPr id="5" name="label support assemblies in one 200,000 sq ft hospital"/>
          <p:cNvSpPr txBox="1"/>
          <p:nvPr/>
        </p:nvSpPr>
        <p:spPr>
          <a:xfrm>
            <a:off x="777240" y="2340864"/>
            <a:ext cx="3108960" cy="452628"/>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6" name="tile to design each one by hand, from the coordinated model"/>
          <p:cNvSpPr/>
          <p:nvPr/>
        </p:nvSpPr>
        <p:spPr>
          <a:xfrm>
            <a:off x="548640" y="3017520"/>
            <a:ext cx="3566160" cy="1371600"/>
          </a:xfrm>
          <a:prstGeom prst="roundRect">
            <a:avLst>
              <a:gd name="adj" fmla="val 4667"/>
            </a:avLst>
          </a:prstGeom>
          <a:solidFill>
            <a:schemeClr val="bg2"/>
          </a:solidFill>
          <a:ln/>
        </p:spPr>
      </p:sp>
      <p:sp>
        <p:nvSpPr>
          <p:cNvPr id="7" name="value to design each one by hand, from the coordinated model"/>
          <p:cNvSpPr txBox="1"/>
          <p:nvPr/>
        </p:nvSpPr>
        <p:spPr>
          <a:xfrm>
            <a:off x="777240" y="3108960"/>
            <a:ext cx="3108960" cy="768096"/>
          </a:xfrm>
          <a:prstGeom prst="rect">
            <a:avLst/>
          </a:prstGeom>
          <a:noFill/>
          <a:ln/>
        </p:spPr>
        <p:txBody>
          <a:bodyPr wrap="square" lIns="0" tIns="0" rIns="0" bIns="0" rtlCol="0" anchor="ctr"/>
          <a:lstStyle/>
          <a:p>
            <a:pPr indent="0" marL="0">
              <a:buNone/>
            </a:pPr>
            <a:r>
              <a:rPr lang="en-US" sz="3400" b="1" dirty="0">
                <a:solidFill>
                  <a:schemeClr val="accent1"/>
                </a:solidFill>
              </a:rPr>
              <a:t>20 min – 2 h</a:t>
            </a:r>
            <a:endParaRPr lang="en-US" sz="3400" dirty="0"/>
          </a:p>
        </p:txBody>
      </p:sp>
      <p:sp>
        <p:nvSpPr>
          <p:cNvPr id="8" name="label to design each one by hand, from the coordinated model"/>
          <p:cNvSpPr txBox="1"/>
          <p:nvPr/>
        </p:nvSpPr>
        <p:spPr>
          <a:xfrm>
            <a:off x="777240" y="3895344"/>
            <a:ext cx="3108960" cy="452628"/>
          </a:xfrm>
          <a:prstGeom prst="rect">
            <a:avLst/>
          </a:prstGeom>
          <a:noFill/>
          <a:ln/>
        </p:spPr>
        <p:txBody>
          <a:bodyPr wrap="square" lIns="0" tIns="0" rIns="0" bIns="0" rtlCol="0" anchor="t"/>
          <a:lstStyle/>
          <a:p>
            <a:pPr indent="0" marL="0">
              <a:buNone/>
            </a:pPr>
            <a:r>
              <a:rPr lang="en-US" sz="1200" dirty="0">
                <a:solidFill>
                  <a:srgbClr val="52514E"/>
                </a:solidFill>
              </a:rPr>
              <a:t>to design each one by hand, from the coordinated model</a:t>
            </a:r>
            <a:endParaRPr lang="en-US" sz="1200" dirty="0"/>
          </a:p>
        </p:txBody>
      </p:sp>
      <p:sp>
        <p:nvSpPr>
          <p:cNvPr id="9" name="tile of MEP design effort; on the order of $600K of engineering per project"/>
          <p:cNvSpPr/>
          <p:nvPr/>
        </p:nvSpPr>
        <p:spPr>
          <a:xfrm>
            <a:off x="548640" y="4572000"/>
            <a:ext cx="3566160" cy="1371600"/>
          </a:xfrm>
          <a:prstGeom prst="roundRect">
            <a:avLst>
              <a:gd name="adj" fmla="val 4667"/>
            </a:avLst>
          </a:prstGeom>
          <a:solidFill>
            <a:schemeClr val="bg2"/>
          </a:solidFill>
          <a:ln/>
        </p:spPr>
      </p:sp>
      <p:sp>
        <p:nvSpPr>
          <p:cNvPr id="10" name="value of MEP design effort; on the order of $600K of engineering per project"/>
          <p:cNvSpPr txBox="1"/>
          <p:nvPr/>
        </p:nvSpPr>
        <p:spPr>
          <a:xfrm>
            <a:off x="777240" y="4663440"/>
            <a:ext cx="3108960" cy="768096"/>
          </a:xfrm>
          <a:prstGeom prst="rect">
            <a:avLst/>
          </a:prstGeom>
          <a:noFill/>
          <a:ln/>
        </p:spPr>
        <p:txBody>
          <a:bodyPr wrap="square" lIns="0" tIns="0" rIns="0" bIns="0" rtlCol="0" anchor="ctr"/>
          <a:lstStyle/>
          <a:p>
            <a:pPr indent="0" marL="0">
              <a:buNone/>
            </a:pPr>
            <a:r>
              <a:rPr lang="en-US" sz="3400" b="1" dirty="0">
                <a:solidFill>
                  <a:schemeClr val="accent1"/>
                </a:solidFill>
              </a:rPr>
              <a:t>≈ ¼</a:t>
            </a:r>
            <a:endParaRPr lang="en-US" sz="3400" dirty="0"/>
          </a:p>
        </p:txBody>
      </p:sp>
      <p:sp>
        <p:nvSpPr>
          <p:cNvPr id="11" name="label of MEP design effort; on the order of $600K of engineering per project"/>
          <p:cNvSpPr txBox="1"/>
          <p:nvPr/>
        </p:nvSpPr>
        <p:spPr>
          <a:xfrm>
            <a:off x="777240" y="5449824"/>
            <a:ext cx="3108960" cy="452628"/>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of engineering per project</a:t>
            </a:r>
            <a:endParaRPr lang="en-US" sz="1200" dirty="0"/>
          </a:p>
        </p:txBody>
      </p:sp>
      <p:pic>
        <p:nvPicPr>
          <p:cNvPr id="12" name="route to section" descr="/home/user/crossmep_dataset/docs/figures/paper_fig1_route_to_section.png">    </p:cNvPr>
          <p:cNvPicPr>
            <a:picLocks noChangeAspect="1"/>
          </p:cNvPicPr>
          <p:nvPr/>
        </p:nvPicPr>
        <p:blipFill>
          <a:blip r:embed="rId1"/>
          <a:stretch>
            <a:fillRect/>
          </a:stretch>
        </p:blipFill>
        <p:spPr>
          <a:xfrm>
            <a:off x="4480560" y="1568483"/>
            <a:ext cx="7178040" cy="1983675"/>
          </a:xfrm>
          <a:prstGeom prst="rect">
            <a:avLst/>
          </a:prstGeom>
        </p:spPr>
      </p:pic>
      <p:sp>
        <p:nvSpPr>
          <p:cNvPr id="13" name="fig1 caption"/>
          <p:cNvSpPr txBox="1"/>
          <p:nvPr/>
        </p:nvSpPr>
        <p:spPr>
          <a:xfrm>
            <a:off x="4480560" y="3689317"/>
            <a:ext cx="7178040" cy="685800"/>
          </a:xfrm>
          <a:prstGeom prst="rect">
            <a:avLst/>
          </a:prstGeom>
          <a:noFill/>
          <a:ln/>
        </p:spPr>
        <p:txBody>
          <a:bodyPr wrap="square" lIns="0" tIns="0" rIns="0" bIns="0" rtlCol="0" anchor="t"/>
          <a:lstStyle/>
          <a:p>
            <a:pPr indent="0" marL="0">
              <a:buNone/>
            </a:pPr>
            <a:r>
              <a:rPr lang="en-US" sz="1100" dirty="0">
                <a:solidFill>
                  <a:srgbClr val="52514E"/>
                </a:solidFill>
              </a:rPr>
              <a:t>Support design starts after coordination. At each hanger the brief is a cross-section: what passes, how big, how heavy, how far apart, what it hangs from. (Paper, Figure 1.)</a:t>
            </a:r>
            <a:endParaRPr lang="en-US" sz="1100" dirty="0"/>
          </a:p>
        </p:txBody>
      </p:sp>
      <p:sp>
        <p:nvSpPr>
          <p:cNvPr id="14" name="quote card"/>
          <p:cNvSpPr/>
          <p:nvPr/>
        </p:nvSpPr>
        <p:spPr>
          <a:xfrm>
            <a:off x="4480560" y="4572000"/>
            <a:ext cx="7178040" cy="1371600"/>
          </a:xfrm>
          <a:prstGeom prst="roundRect">
            <a:avLst>
              <a:gd name="adj" fmla="val 4667"/>
            </a:avLst>
          </a:prstGeom>
          <a:solidFill>
            <a:schemeClr val="bg2"/>
          </a:solidFill>
          <a:ln/>
        </p:spPr>
      </p:sp>
      <p:sp>
        <p:nvSpPr>
          <p:cNvPr id="15" name="quote"/>
          <p:cNvSpPr txBox="1"/>
          <p:nvPr/>
        </p:nvSpPr>
        <p:spPr>
          <a:xfrm>
            <a:off x="4754880" y="4709160"/>
            <a:ext cx="6629400" cy="1097280"/>
          </a:xfrm>
          <a:prstGeom prst="rect">
            <a:avLst/>
          </a:prstGeom>
          <a:noFill/>
          <a:ln/>
        </p:spPr>
        <p:txBody>
          <a:bodyPr wrap="square" lIns="0" tIns="0" rIns="0" bIns="0" rtlCol="0" anchor="ctr"/>
          <a:lstStyle/>
          <a:p>
            <a:pPr indent="0" marL="0">
              <a:buNone/>
            </a:pPr>
            <a:r>
              <a:rPr lang="en-US" sz="1500" i="1" dirty="0">
                <a:solidFill>
                  <a:schemeClr val="tx1"/>
                </a:solidFill>
              </a:rPr>
              <a:t>“Nobody designs a support from the whole model. You design it from the section at that hanger.”</a:t>
            </a:r>
            <a:endParaRPr lang="en-US" sz="1500" dirty="0"/>
          </a:p>
          <a:p>
            <a:pPr indent="0" marL="0">
              <a:buNone/>
            </a:pPr>
            <a:r>
              <a:rPr lang="en-US" sz="1500" b="1" dirty="0">
                <a:solidFill>
                  <a:schemeClr val="tx1"/>
                </a:solidFill>
              </a:rPr>
              <a:t>That section is the unit of work — and the unit of this dataset.</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Learning to design supports needs the full spread of sections — not one project</a:t>
            </a:r>
            <a:endParaRPr lang="en-US" sz="2600" dirty="0"/>
          </a:p>
        </p:txBody>
      </p:sp>
      <p:sp>
        <p:nvSpPr>
          <p:cNvPr id="3" name="card Scarcity"/>
          <p:cNvSpPr/>
          <p:nvPr/>
        </p:nvSpPr>
        <p:spPr>
          <a:xfrm>
            <a:off x="548640" y="1463040"/>
            <a:ext cx="3566160" cy="2697480"/>
          </a:xfrm>
          <a:prstGeom prst="roundRect">
            <a:avLst>
              <a:gd name="adj" fmla="val 2373"/>
            </a:avLst>
          </a:prstGeom>
          <a:solidFill>
            <a:schemeClr val="bg2"/>
          </a:solidFill>
          <a:ln/>
        </p:spPr>
      </p:sp>
      <p:sp>
        <p:nvSpPr>
          <p:cNvPr id="4" name="icon ring Scarcity"/>
          <p:cNvSpPr/>
          <p:nvPr/>
        </p:nvSpPr>
        <p:spPr>
          <a:xfrm>
            <a:off x="822960" y="1737360"/>
            <a:ext cx="566928" cy="566928"/>
          </a:xfrm>
          <a:prstGeom prst="ellipse">
            <a:avLst/>
          </a:prstGeom>
          <a:solidFill>
            <a:schemeClr val="accent1"/>
          </a:solidFill>
          <a:ln/>
        </p:spPr>
      </p:sp>
      <p:pic>
        <p:nvPicPr>
          <p:cNvPr id="5" name="icon Scarcity" descr="preencoded.png">    </p:cNvPr>
          <p:cNvPicPr>
            <a:picLocks noChangeAspect="1"/>
          </p:cNvPicPr>
          <p:nvPr/>
        </p:nvPicPr>
        <p:blipFill>
          <a:blip r:embed="rId1"/>
          <a:stretch>
            <a:fillRect/>
          </a:stretch>
        </p:blipFill>
        <p:spPr>
          <a:xfrm>
            <a:off x="941832" y="1856232"/>
            <a:ext cx="329184" cy="329184"/>
          </a:xfrm>
          <a:prstGeom prst="rect">
            <a:avLst/>
          </a:prstGeom>
        </p:spPr>
      </p:pic>
      <p:sp>
        <p:nvSpPr>
          <p:cNvPr id="6" name="heading Scarcity"/>
          <p:cNvSpPr txBox="1"/>
          <p:nvPr/>
        </p:nvSpPr>
        <p:spPr>
          <a:xfrm>
            <a:off x="1554480" y="1719072"/>
            <a:ext cx="2286000" cy="603504"/>
          </a:xfrm>
          <a:prstGeom prst="rect">
            <a:avLst/>
          </a:prstGeom>
          <a:noFill/>
          <a:ln/>
        </p:spPr>
        <p:txBody>
          <a:bodyPr wrap="square" lIns="0" tIns="0" rIns="0" bIns="0" rtlCol="0" anchor="ctr"/>
          <a:lstStyle/>
          <a:p>
            <a:pPr indent="0" marL="0">
              <a:buNone/>
            </a:pPr>
            <a:r>
              <a:rPr lang="en-US" sz="1800" b="1" dirty="0">
                <a:solidFill>
                  <a:schemeClr val="tx1"/>
                </a:solidFill>
              </a:rPr>
              <a:t>Scarcity</a:t>
            </a:r>
            <a:endParaRPr lang="en-US" sz="1800" dirty="0"/>
          </a:p>
        </p:txBody>
      </p:sp>
      <p:sp>
        <p:nvSpPr>
          <p:cNvPr id="7" name="body Scarcity"/>
          <p:cNvSpPr txBox="1"/>
          <p:nvPr/>
        </p:nvSpPr>
        <p:spPr>
          <a:xfrm>
            <a:off x="822960" y="2514600"/>
            <a:ext cx="3017520" cy="1417320"/>
          </a:xfrm>
          <a:prstGeom prst="rect">
            <a:avLst/>
          </a:prstGeom>
          <a:noFill/>
          <a:ln/>
        </p:spPr>
        <p:txBody>
          <a:bodyPr wrap="square" lIns="0" tIns="0" rIns="0" bIns="0" rtlCol="0" anchor="t"/>
          <a:lstStyle/>
          <a:p>
            <a:pPr indent="0" marL="0">
              <a:buNone/>
            </a:pPr>
            <a:r>
              <a:rPr lang="en-US" sz="1300" dirty="0">
                <a:solidFill>
                  <a:schemeClr val="tx1"/>
                </a:solidFill>
              </a:rPr>
              <a:t>Project models are proprietary. The few open ones are not organised around supports and often export no element sizes.</a:t>
            </a:r>
            <a:endParaRPr lang="en-US" sz="1300" dirty="0"/>
          </a:p>
        </p:txBody>
      </p:sp>
      <p:sp>
        <p:nvSpPr>
          <p:cNvPr id="8" name="card Coverage"/>
          <p:cNvSpPr/>
          <p:nvPr/>
        </p:nvSpPr>
        <p:spPr>
          <a:xfrm>
            <a:off x="4311396" y="1463040"/>
            <a:ext cx="3566160" cy="2697480"/>
          </a:xfrm>
          <a:prstGeom prst="roundRect">
            <a:avLst>
              <a:gd name="adj" fmla="val 2373"/>
            </a:avLst>
          </a:prstGeom>
          <a:solidFill>
            <a:schemeClr val="bg2"/>
          </a:solidFill>
          <a:ln/>
        </p:spPr>
      </p:sp>
      <p:sp>
        <p:nvSpPr>
          <p:cNvPr id="9" name="icon ring Coverage"/>
          <p:cNvSpPr/>
          <p:nvPr/>
        </p:nvSpPr>
        <p:spPr>
          <a:xfrm>
            <a:off x="4585716" y="1737360"/>
            <a:ext cx="566928" cy="566928"/>
          </a:xfrm>
          <a:prstGeom prst="ellipse">
            <a:avLst/>
          </a:prstGeom>
          <a:solidFill>
            <a:schemeClr val="accent1"/>
          </a:solidFill>
          <a:ln/>
        </p:spPr>
      </p:sp>
      <p:pic>
        <p:nvPicPr>
          <p:cNvPr id="10" name="icon Coverage" descr="preencoded.png">    </p:cNvPr>
          <p:cNvPicPr>
            <a:picLocks noChangeAspect="1"/>
          </p:cNvPicPr>
          <p:nvPr/>
        </p:nvPicPr>
        <p:blipFill>
          <a:blip r:embed="rId2"/>
          <a:stretch>
            <a:fillRect/>
          </a:stretch>
        </p:blipFill>
        <p:spPr>
          <a:xfrm>
            <a:off x="4704588" y="1856232"/>
            <a:ext cx="329184" cy="329184"/>
          </a:xfrm>
          <a:prstGeom prst="rect">
            <a:avLst/>
          </a:prstGeom>
        </p:spPr>
      </p:pic>
      <p:sp>
        <p:nvSpPr>
          <p:cNvPr id="11" name="heading Coverage"/>
          <p:cNvSpPr txBox="1"/>
          <p:nvPr/>
        </p:nvSpPr>
        <p:spPr>
          <a:xfrm>
            <a:off x="5317236" y="1719072"/>
            <a:ext cx="2286000" cy="603504"/>
          </a:xfrm>
          <a:prstGeom prst="rect">
            <a:avLst/>
          </a:prstGeom>
          <a:noFill/>
          <a:ln/>
        </p:spPr>
        <p:txBody>
          <a:bodyPr wrap="square" lIns="0" tIns="0" rIns="0" bIns="0" rtlCol="0" anchor="ctr"/>
          <a:lstStyle/>
          <a:p>
            <a:pPr indent="0" marL="0">
              <a:buNone/>
            </a:pPr>
            <a:r>
              <a:rPr lang="en-US" sz="1800" b="1" dirty="0">
                <a:solidFill>
                  <a:schemeClr val="tx1"/>
                </a:solidFill>
              </a:rPr>
              <a:t>Coverage</a:t>
            </a:r>
            <a:endParaRPr lang="en-US" sz="1800" dirty="0"/>
          </a:p>
        </p:txBody>
      </p:sp>
      <p:sp>
        <p:nvSpPr>
          <p:cNvPr id="12" name="body Coverage"/>
          <p:cNvSpPr txBox="1"/>
          <p:nvPr/>
        </p:nvSpPr>
        <p:spPr>
          <a:xfrm>
            <a:off x="4585716" y="2514600"/>
            <a:ext cx="3017520" cy="1417320"/>
          </a:xfrm>
          <a:prstGeom prst="rect">
            <a:avLst/>
          </a:prstGeom>
          <a:noFill/>
          <a:ln/>
        </p:spPr>
        <p:txBody>
          <a:bodyPr wrap="square" lIns="0" tIns="0" rIns="0" bIns="0" rtlCol="0" anchor="t"/>
          <a:lstStyle/>
          <a:p>
            <a:pPr indent="0" marL="0">
              <a:buNone/>
            </a:pPr>
            <a:r>
              <a:rPr lang="en-US" sz="1300" dirty="0">
                <a:solidFill>
                  <a:schemeClr val="tx1"/>
                </a:solidFill>
              </a:rPr>
              <a:t>One accessible project is one narrow slice: one building type, one trade mix. A method tuned to it measures fit to that project, not competence on the problem.</a:t>
            </a:r>
            <a:endParaRPr lang="en-US" sz="1300" dirty="0"/>
          </a:p>
        </p:txBody>
      </p:sp>
      <p:sp>
        <p:nvSpPr>
          <p:cNvPr id="13" name="card Control"/>
          <p:cNvSpPr/>
          <p:nvPr/>
        </p:nvSpPr>
        <p:spPr>
          <a:xfrm>
            <a:off x="8074152" y="1463040"/>
            <a:ext cx="3566160" cy="2697480"/>
          </a:xfrm>
          <a:prstGeom prst="roundRect">
            <a:avLst>
              <a:gd name="adj" fmla="val 2373"/>
            </a:avLst>
          </a:prstGeom>
          <a:solidFill>
            <a:schemeClr val="bg2"/>
          </a:solidFill>
          <a:ln/>
        </p:spPr>
      </p:sp>
      <p:sp>
        <p:nvSpPr>
          <p:cNvPr id="14" name="icon ring Control"/>
          <p:cNvSpPr/>
          <p:nvPr/>
        </p:nvSpPr>
        <p:spPr>
          <a:xfrm>
            <a:off x="8348472" y="1737360"/>
            <a:ext cx="566928" cy="566928"/>
          </a:xfrm>
          <a:prstGeom prst="ellipse">
            <a:avLst/>
          </a:prstGeom>
          <a:solidFill>
            <a:schemeClr val="accent1"/>
          </a:solidFill>
          <a:ln/>
        </p:spPr>
      </p:sp>
      <p:pic>
        <p:nvPicPr>
          <p:cNvPr id="15" name="icon Control" descr="preencoded.png">    </p:cNvPr>
          <p:cNvPicPr>
            <a:picLocks noChangeAspect="1"/>
          </p:cNvPicPr>
          <p:nvPr/>
        </p:nvPicPr>
        <p:blipFill>
          <a:blip r:embed="rId3"/>
          <a:stretch>
            <a:fillRect/>
          </a:stretch>
        </p:blipFill>
        <p:spPr>
          <a:xfrm>
            <a:off x="8467344" y="1856232"/>
            <a:ext cx="329184" cy="329184"/>
          </a:xfrm>
          <a:prstGeom prst="rect">
            <a:avLst/>
          </a:prstGeom>
        </p:spPr>
      </p:pic>
      <p:sp>
        <p:nvSpPr>
          <p:cNvPr id="16" name="heading Control"/>
          <p:cNvSpPr txBox="1"/>
          <p:nvPr/>
        </p:nvSpPr>
        <p:spPr>
          <a:xfrm>
            <a:off x="9079992" y="1719072"/>
            <a:ext cx="2286000" cy="603504"/>
          </a:xfrm>
          <a:prstGeom prst="rect">
            <a:avLst/>
          </a:prstGeom>
          <a:noFill/>
          <a:ln/>
        </p:spPr>
        <p:txBody>
          <a:bodyPr wrap="square" lIns="0" tIns="0" rIns="0" bIns="0" rtlCol="0" anchor="ctr"/>
          <a:lstStyle/>
          <a:p>
            <a:pPr indent="0" marL="0">
              <a:buNone/>
            </a:pPr>
            <a:r>
              <a:rPr lang="en-US" sz="1800" b="1" dirty="0">
                <a:solidFill>
                  <a:schemeClr val="tx1"/>
                </a:solidFill>
              </a:rPr>
              <a:t>Control</a:t>
            </a:r>
            <a:endParaRPr lang="en-US" sz="1800" dirty="0"/>
          </a:p>
        </p:txBody>
      </p:sp>
      <p:sp>
        <p:nvSpPr>
          <p:cNvPr id="17" name="body Control"/>
          <p:cNvSpPr txBox="1"/>
          <p:nvPr/>
        </p:nvSpPr>
        <p:spPr>
          <a:xfrm>
            <a:off x="8348472" y="2514600"/>
            <a:ext cx="3017520" cy="1417320"/>
          </a:xfrm>
          <a:prstGeom prst="rect">
            <a:avLst/>
          </a:prstGeom>
          <a:noFill/>
          <a:ln/>
        </p:spPr>
        <p:txBody>
          <a:bodyPr wrap="square" lIns="0" tIns="0" rIns="0" bIns="0" rtlCol="0" anchor="t"/>
          <a:lstStyle/>
          <a:p>
            <a:pPr indent="0" marL="0">
              <a:buNone/>
            </a:pPr>
            <a:r>
              <a:rPr lang="en-US" sz="1300" dirty="0">
                <a:solidFill>
                  <a:schemeClr val="tx1"/>
                </a:solidFill>
              </a:rPr>
              <a:t>A seeded generator yields unlimited sections with a known distribution: difficulty by construction, rare congested racks on demand, held-out seeds for testing.</a:t>
            </a:r>
            <a:endParaRPr lang="en-US" sz="1300" dirty="0"/>
          </a:p>
        </p:txBody>
      </p:sp>
      <p:sp>
        <p:nvSpPr>
          <p:cNvPr id="18" name="so card"/>
          <p:cNvSpPr/>
          <p:nvPr/>
        </p:nvSpPr>
        <p:spPr>
          <a:xfrm>
            <a:off x="548640" y="4434840"/>
            <a:ext cx="11091672" cy="1188720"/>
          </a:xfrm>
          <a:prstGeom prst="roundRect">
            <a:avLst>
              <a:gd name="adj" fmla="val 5385"/>
            </a:avLst>
          </a:prstGeom>
          <a:solidFill>
            <a:schemeClr val="bg2"/>
          </a:solidFill>
          <a:ln/>
        </p:spPr>
      </p:sp>
      <p:sp>
        <p:nvSpPr>
          <p:cNvPr id="19" name="so text"/>
          <p:cNvSpPr txBox="1"/>
          <p:nvPr/>
        </p:nvSpPr>
        <p:spPr>
          <a:xfrm>
            <a:off x="822960" y="4526280"/>
            <a:ext cx="10515600" cy="1005840"/>
          </a:xfrm>
          <a:prstGeom prst="rect">
            <a:avLst/>
          </a:prstGeom>
          <a:noFill/>
          <a:ln/>
        </p:spPr>
        <p:txBody>
          <a:bodyPr wrap="square" lIns="0" tIns="0" rIns="0" bIns="0" rtlCol="0" anchor="ctr"/>
          <a:lstStyle/>
          <a:p>
            <a:pPr indent="0" marL="0">
              <a:buNone/>
            </a:pPr>
            <a:r>
              <a:rPr lang="en-US" sz="1500" b="1" dirty="0">
                <a:solidFill>
                  <a:schemeClr val="tx1"/>
                </a:solidFill>
              </a:rPr>
              <a:t>So: </a:t>
            </a:r>
            <a:pPr indent="0" marL="0">
              <a:buNone/>
            </a:pPr>
            <a:r>
              <a:rPr lang="en-US" sz="1500" dirty="0">
                <a:solidFill>
                  <a:schemeClr val="tx1"/>
                </a:solidFill>
              </a:rPr>
              <a:t>a rule-based generator — no learned model, no free randomness — that encodes the conventions you already use, is verified against a built project, and is public. We are not claiming a building; we are claiming the rules, and we show where each rule comes from.</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context is the section at one hanger — the brief, not the answer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24911" y="1325880"/>
            <a:ext cx="9939130" cy="4572000"/>
          </a:xfrm>
          <a:prstGeom prst="rect">
            <a:avLst/>
          </a:prstGeom>
        </p:spPr>
      </p:pic>
      <p:sp>
        <p:nvSpPr>
          <p:cNvPr id="4" name="context caption"/>
          <p:cNvSpPr txBox="1"/>
          <p:nvPr/>
        </p:nvSpPr>
        <p:spPr>
          <a:xfrm>
            <a:off x="548640" y="5989320"/>
            <a:ext cx="11091672" cy="45720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per support · position. Per context: slab or wall, substrate, thickness. Absent by design: channel, rods, clamps, anchors — and any “correct” answer, because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number has a source, and every load is computed from it</a:t>
            </a:r>
            <a:endParaRPr lang="en-US" sz="2600" dirty="0"/>
          </a:p>
        </p:txBody>
      </p:sp>
      <p:graphicFrame>
        <p:nvGraphicFramePr>
          <p:cNvPr id="6"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Load basis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Pipes DN15–100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10220 / EN 10255 medium series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 water × ASME B31.1 water-service span (published points only)</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Insulation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GEG Anlage 8 (heated); 30/50 mm condensation control (chilled)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Cable trays 150–600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61537 systems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full tray: 50 kg/m at 300 mm datum, × 2.0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Ducts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1505 rectangular; EN 1506 round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manufacturer duct-weight table incl. flanges, × 2.4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Conduits Ø20–50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61386-1, parallel groups of 2–6</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tube + 40 %-of-bore cable fill, × 2.0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5257800"/>
            <a:ext cx="11091672" cy="777240"/>
          </a:xfrm>
          <a:prstGeom prst="roundRect">
            <a:avLst>
              <a:gd name="adj" fmla="val 8235"/>
            </a:avLst>
          </a:prstGeom>
          <a:solidFill>
            <a:schemeClr val="bg2"/>
          </a:solidFill>
          <a:ln/>
        </p:spPr>
      </p:sp>
      <p:sp>
        <p:nvSpPr>
          <p:cNvPr id="7" name="sources note"/>
          <p:cNvSpPr txBox="1"/>
          <p:nvPr/>
        </p:nvSpPr>
        <p:spPr>
          <a:xfrm>
            <a:off x="822960" y="5303520"/>
            <a:ext cx="10515600" cy="685800"/>
          </a:xfrm>
          <a:prstGeom prst="rect">
            <a:avLst/>
          </a:prstGeom>
          <a:noFill/>
          <a:ln/>
        </p:spPr>
        <p:txBody>
          <a:bodyPr wrap="square" lIns="0" tIns="0" rIns="0" bIns="0" rtlCol="0" anchor="ctr"/>
          <a:lstStyle/>
          <a:p>
            <a:pPr indent="0" marL="0">
              <a:buNone/>
            </a:pPr>
            <a:r>
              <a:rPr lang="en-US" sz="1300" dirty="0">
                <a:solidFill>
                  <a:schemeClr val="tx1"/>
                </a:solidFill>
              </a:rPr>
              <a:t>Every constant carries a source and a status (VERIFIED / PRACTICE-CITED / DEFAULT) in the repository. Loads are derived in code from those sources and pinned by tests: disagree with a number, change one line, and one test tells you what moved.</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Eight tiers by element count: from a lone pipe to a congested rack</a:t>
            </a:r>
            <a:endParaRPr lang="en-US" sz="2600" dirty="0"/>
          </a:p>
        </p:txBody>
      </p:sp>
      <p:pic>
        <p:nvPicPr>
          <p:cNvPr id="3" name="tier examples" descr="/home/user/crossmep_dataset/docs/figures/02_tiers_examples.png">    </p:cNvPr>
          <p:cNvPicPr>
            <a:picLocks noChangeAspect="1"/>
          </p:cNvPicPr>
          <p:nvPr/>
        </p:nvPicPr>
        <p:blipFill>
          <a:blip r:embed="rId1"/>
          <a:stretch>
            <a:fillRect/>
          </a:stretch>
        </p:blipFill>
        <p:spPr>
          <a:xfrm>
            <a:off x="1005405" y="1280160"/>
            <a:ext cx="10178143" cy="3886200"/>
          </a:xfrm>
          <a:prstGeom prst="rect">
            <a:avLst/>
          </a:prstGeom>
        </p:spPr>
      </p:pic>
      <p:sp>
        <p:nvSpPr>
          <p:cNvPr id="4" name="tile exactly n elements per tier; trades, kinds, surfaces and stacking vary within it"/>
          <p:cNvSpPr/>
          <p:nvPr/>
        </p:nvSpPr>
        <p:spPr>
          <a:xfrm>
            <a:off x="548640" y="5257800"/>
            <a:ext cx="3566160" cy="914400"/>
          </a:xfrm>
          <a:prstGeom prst="roundRect">
            <a:avLst>
              <a:gd name="adj" fmla="val 7000"/>
            </a:avLst>
          </a:prstGeom>
          <a:solidFill>
            <a:schemeClr val="bg2"/>
          </a:solidFill>
          <a:ln/>
        </p:spPr>
      </p:sp>
      <p:sp>
        <p:nvSpPr>
          <p:cNvPr id="5" name="value exactly n elements per tier; trades, kinds, surfaces and stacking vary within it"/>
          <p:cNvSpPr txBox="1"/>
          <p:nvPr/>
        </p:nvSpPr>
        <p:spPr>
          <a:xfrm>
            <a:off x="777240" y="5349240"/>
            <a:ext cx="3108960" cy="512064"/>
          </a:xfrm>
          <a:prstGeom prst="rect">
            <a:avLst/>
          </a:prstGeom>
          <a:noFill/>
          <a:ln/>
        </p:spPr>
        <p:txBody>
          <a:bodyPr wrap="square" lIns="0" tIns="0" rIns="0" bIns="0" rtlCol="0" anchor="ctr"/>
          <a:lstStyle/>
          <a:p>
            <a:pPr indent="0" marL="0">
              <a:buNone/>
            </a:pPr>
            <a:r>
              <a:rPr lang="en-US" sz="2600" b="1" dirty="0">
                <a:solidFill>
                  <a:schemeClr val="accent1"/>
                </a:solidFill>
              </a:rPr>
              <a:t>C1 → C8</a:t>
            </a:r>
            <a:endParaRPr lang="en-US" sz="2600" dirty="0"/>
          </a:p>
        </p:txBody>
      </p:sp>
      <p:sp>
        <p:nvSpPr>
          <p:cNvPr id="6" name="label exactly n elements per tier; trades, kinds, surfaces and stacking vary within it"/>
          <p:cNvSpPr txBox="1"/>
          <p:nvPr/>
        </p:nvSpPr>
        <p:spPr>
          <a:xfrm>
            <a:off x="777240" y="5843016"/>
            <a:ext cx="3108960" cy="301752"/>
          </a:xfrm>
          <a:prstGeom prst="rect">
            <a:avLst/>
          </a:prstGeom>
          <a:noFill/>
          <a:ln/>
        </p:spPr>
        <p:txBody>
          <a:bodyPr wrap="square" lIns="0" tIns="0" rIns="0" bIns="0" rtlCol="0" anchor="t"/>
          <a:lstStyle/>
          <a:p>
            <a:pPr indent="0" marL="0">
              <a:buNone/>
            </a:pPr>
            <a:r>
              <a:rPr lang="en-US" sz="1100" dirty="0">
                <a:solidFill>
                  <a:srgbClr val="52514E"/>
                </a:solidFill>
              </a:rPr>
              <a:t>exactly n elements per tier; trades, kinds, surfaces and stacking vary within it</a:t>
            </a:r>
            <a:endParaRPr lang="en-US" sz="1100" dirty="0"/>
          </a:p>
        </p:txBody>
      </p:sp>
      <p:sp>
        <p:nvSpPr>
          <p:cNvPr id="7" name="tile median clear gap between elements, C2 to C8 (benchmark split)"/>
          <p:cNvSpPr/>
          <p:nvPr/>
        </p:nvSpPr>
        <p:spPr>
          <a:xfrm>
            <a:off x="4311396" y="5257800"/>
            <a:ext cx="3566160" cy="914400"/>
          </a:xfrm>
          <a:prstGeom prst="roundRect">
            <a:avLst>
              <a:gd name="adj" fmla="val 7000"/>
            </a:avLst>
          </a:prstGeom>
          <a:solidFill>
            <a:schemeClr val="bg2"/>
          </a:solidFill>
          <a:ln/>
        </p:spPr>
      </p:sp>
      <p:sp>
        <p:nvSpPr>
          <p:cNvPr id="8" name="value median clear gap between elements, C2 to C8 (benchmark split)"/>
          <p:cNvSpPr txBox="1"/>
          <p:nvPr/>
        </p:nvSpPr>
        <p:spPr>
          <a:xfrm>
            <a:off x="4539996" y="5349240"/>
            <a:ext cx="3108960" cy="512064"/>
          </a:xfrm>
          <a:prstGeom prst="rect">
            <a:avLst/>
          </a:prstGeom>
          <a:noFill/>
          <a:ln/>
        </p:spPr>
        <p:txBody>
          <a:bodyPr wrap="square" lIns="0" tIns="0" rIns="0" bIns="0" rtlCol="0" anchor="ctr"/>
          <a:lstStyle/>
          <a:p>
            <a:pPr indent="0" marL="0">
              <a:buNone/>
            </a:pPr>
            <a:r>
              <a:rPr lang="en-US" sz="2600" b="1" dirty="0">
                <a:solidFill>
                  <a:schemeClr val="accent1"/>
                </a:solidFill>
              </a:rPr>
              <a:t>120 → 62 mm</a:t>
            </a:r>
            <a:endParaRPr lang="en-US" sz="2600" dirty="0"/>
          </a:p>
        </p:txBody>
      </p:sp>
      <p:sp>
        <p:nvSpPr>
          <p:cNvPr id="9" name="label median clear gap between elements, C2 to C8 (benchmark split)"/>
          <p:cNvSpPr txBox="1"/>
          <p:nvPr/>
        </p:nvSpPr>
        <p:spPr>
          <a:xfrm>
            <a:off x="4539996" y="5843016"/>
            <a:ext cx="3108960" cy="301752"/>
          </a:xfrm>
          <a:prstGeom prst="rect">
            <a:avLst/>
          </a:prstGeom>
          <a:noFill/>
          <a:ln/>
        </p:spPr>
        <p:txBody>
          <a:bodyPr wrap="square" lIns="0" tIns="0" rIns="0" bIns="0" rtlCol="0" anchor="t"/>
          <a:lstStyle/>
          <a:p>
            <a:pPr indent="0" marL="0">
              <a:buNone/>
            </a:pPr>
            <a:r>
              <a:rPr lang="en-US" sz="1100" dirty="0">
                <a:solidFill>
                  <a:srgbClr val="52514E"/>
                </a:solidFill>
              </a:rPr>
              <a:t>median clear gap between elements, C2 to C8 (benchmark split)</a:t>
            </a:r>
            <a:endParaRPr lang="en-US" sz="1100" dirty="0"/>
          </a:p>
        </p:txBody>
      </p:sp>
      <p:sp>
        <p:nvSpPr>
          <p:cNvPr id="10" name="tile median load at the support, C1 to C8"/>
          <p:cNvSpPr/>
          <p:nvPr/>
        </p:nvSpPr>
        <p:spPr>
          <a:xfrm>
            <a:off x="8074152" y="5257800"/>
            <a:ext cx="3566160" cy="914400"/>
          </a:xfrm>
          <a:prstGeom prst="roundRect">
            <a:avLst>
              <a:gd name="adj" fmla="val 7000"/>
            </a:avLst>
          </a:prstGeom>
          <a:solidFill>
            <a:schemeClr val="bg2"/>
          </a:solidFill>
          <a:ln/>
        </p:spPr>
      </p:sp>
      <p:sp>
        <p:nvSpPr>
          <p:cNvPr id="11" name="value median load at the support, C1 to C8"/>
          <p:cNvSpPr txBox="1"/>
          <p:nvPr/>
        </p:nvSpPr>
        <p:spPr>
          <a:xfrm>
            <a:off x="8302752" y="5349240"/>
            <a:ext cx="3108960" cy="512064"/>
          </a:xfrm>
          <a:prstGeom prst="rect">
            <a:avLst/>
          </a:prstGeom>
          <a:noFill/>
          <a:ln/>
        </p:spPr>
        <p:txBody>
          <a:bodyPr wrap="square" lIns="0" tIns="0" rIns="0" bIns="0" rtlCol="0" anchor="ctr"/>
          <a:lstStyle/>
          <a:p>
            <a:pPr indent="0" marL="0">
              <a:buNone/>
            </a:pPr>
            <a:r>
              <a:rPr lang="en-US" sz="2600" b="1" dirty="0">
                <a:solidFill>
                  <a:schemeClr val="accent1"/>
                </a:solidFill>
              </a:rPr>
              <a:t>0.10 → 1.71 kN</a:t>
            </a:r>
            <a:endParaRPr lang="en-US" sz="2600" dirty="0"/>
          </a:p>
        </p:txBody>
      </p:sp>
      <p:sp>
        <p:nvSpPr>
          <p:cNvPr id="12" name="label median load at the support, C1 to C8"/>
          <p:cNvSpPr txBox="1"/>
          <p:nvPr/>
        </p:nvSpPr>
        <p:spPr>
          <a:xfrm>
            <a:off x="8302752" y="5843016"/>
            <a:ext cx="3108960" cy="301752"/>
          </a:xfrm>
          <a:prstGeom prst="rect">
            <a:avLst/>
          </a:prstGeom>
          <a:noFill/>
          <a:ln/>
        </p:spPr>
        <p:txBody>
          <a:bodyPr wrap="square" lIns="0" tIns="0" rIns="0" bIns="0" rtlCol="0" anchor="t"/>
          <a:lstStyle/>
          <a:p>
            <a:pPr indent="0" marL="0">
              <a:buNone/>
            </a:pPr>
            <a:r>
              <a:rPr lang="en-US" sz="1100" dirty="0">
                <a:solidFill>
                  <a:srgbClr val="52514E"/>
                </a:solidFill>
              </a:rPr>
              <a:t>median load at the support, C1 to C8</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checked against a built project: 41 mm from the measured model</a:t>
            </a:r>
            <a:endParaRPr lang="en-US" sz="2600" dirty="0"/>
          </a:p>
        </p:txBody>
      </p:sp>
      <p:pic>
        <p:nvPicPr>
          <p:cNvPr id="3" name="gap distributions" descr="/home/user/crossmep_dataset/docs/figures/04_gaps_vs_measured.png">    </p:cNvPr>
          <p:cNvPicPr>
            <a:picLocks noChangeAspect="1"/>
          </p:cNvPicPr>
          <p:nvPr/>
        </p:nvPicPr>
        <p:blipFill>
          <a:blip r:embed="rId1"/>
          <a:stretch>
            <a:fillRect/>
          </a:stretch>
        </p:blipFill>
        <p:spPr>
          <a:xfrm>
            <a:off x="847067" y="1325880"/>
            <a:ext cx="10494818" cy="4617720"/>
          </a:xfrm>
          <a:prstGeom prst="rect">
            <a:avLst/>
          </a:prstGeom>
        </p:spPr>
      </p:pic>
      <p:sp>
        <p:nvSpPr>
          <p:cNvPr id="4" name="verification caption"/>
          <p:cNvSpPr txBox="1"/>
          <p:nvPr/>
        </p:nvSpPr>
        <p:spPr>
          <a:xfrm>
            <a:off x="548640" y="6016752"/>
            <a:ext cx="11091672" cy="457200"/>
          </a:xfrm>
          <a:prstGeom prst="rect">
            <a:avLst/>
          </a:prstGeom>
          <a:noFill/>
          <a:ln/>
        </p:spPr>
        <p:txBody>
          <a:bodyPr wrap="square" lIns="0" tIns="0" rIns="0" bIns="0" rtlCol="0" anchor="t"/>
          <a:lstStyle/>
          <a:p>
            <a:pPr indent="0" marL="0">
              <a:buNone/>
            </a:pPr>
            <a:r>
              <a:rPr lang="en-US" sz="1100" dirty="0">
                <a:solidFill>
                  <a:srgbClr val="52514E"/>
                </a:solidFill>
              </a:rPr>
              <a:t>buildingSMART Duplex Apartment, MEP and Plumbing discipline models parsed with IfcOpenShell (427 and 231 segments): sizes, parallel-run counts, elevation spread and clear gaps measured. Gaps are irregular, not modular (median 108 mm, quartiles 24–238). The two real discipline models of the same building are 50 mm apart; a fixed modular gap would be 139 mm away.</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What we found preparing the public release — and fixed</a:t>
            </a:r>
            <a:endParaRPr lang="en-US" sz="2600" dirty="0"/>
          </a:p>
        </p:txBody>
      </p:sp>
      <p:pic>
        <p:nvPicPr>
          <p:cNvPr id="3" name="v3 vs v4" descr="/home/user/crossmep_dataset/docs/figures/05_v3_vs_v4.png">    </p:cNvPr>
          <p:cNvPicPr>
            <a:picLocks noChangeAspect="1"/>
          </p:cNvPicPr>
          <p:nvPr/>
        </p:nvPicPr>
        <p:blipFill>
          <a:blip r:embed="rId1"/>
          <a:stretch>
            <a:fillRect/>
          </a:stretch>
        </p:blipFill>
        <p:spPr>
          <a:xfrm>
            <a:off x="1285993" y="1280160"/>
            <a:ext cx="9616966" cy="2788920"/>
          </a:xfrm>
          <a:prstGeom prst="rect">
            <a:avLst/>
          </a:prstGeom>
        </p:spPr>
      </p:pic>
      <p:sp>
        <p:nvSpPr>
          <p:cNvPr id="4" name="card 3.0"/>
          <p:cNvSpPr/>
          <p:nvPr/>
        </p:nvSpPr>
        <p:spPr>
          <a:xfrm>
            <a:off x="548640" y="4206240"/>
            <a:ext cx="5440680" cy="1874520"/>
          </a:xfrm>
          <a:prstGeom prst="roundRect">
            <a:avLst>
              <a:gd name="adj" fmla="val 3415"/>
            </a:avLst>
          </a:prstGeom>
          <a:solidFill>
            <a:schemeClr val="bg2"/>
          </a:solidFill>
          <a:ln/>
        </p:spPr>
      </p:sp>
      <p:sp>
        <p:nvSpPr>
          <p:cNvPr id="5" name="head 3.0"/>
          <p:cNvSpPr txBox="1"/>
          <p:nvPr/>
        </p:nvSpPr>
        <p:spPr>
          <a:xfrm>
            <a:off x="777240" y="4297680"/>
            <a:ext cx="4983480" cy="320040"/>
          </a:xfrm>
          <a:prstGeom prst="rect">
            <a:avLst/>
          </a:prstGeom>
          <a:noFill/>
          <a:ln/>
        </p:spPr>
        <p:txBody>
          <a:bodyPr wrap="square" lIns="0" tIns="0" rIns="0" bIns="0" rtlCol="0" anchor="ctr"/>
          <a:lstStyle/>
          <a:p>
            <a:pPr indent="0" marL="0">
              <a:buNone/>
            </a:pPr>
            <a:r>
              <a:rPr lang="en-US" sz="1400" b="1" dirty="0">
                <a:solidFill>
                  <a:schemeClr val="tx1"/>
                </a:solidFill>
              </a:rPr>
              <a:t>Revision 3.0 — the paper’s files</a:t>
            </a:r>
            <a:endParaRPr lang="en-US" sz="1400" dirty="0"/>
          </a:p>
        </p:txBody>
      </p:sp>
      <p:sp>
        <p:nvSpPr>
          <p:cNvPr id="6" name="bullets 3.0"/>
          <p:cNvSpPr txBox="1"/>
          <p:nvPr/>
        </p:nvSpPr>
        <p:spPr>
          <a:xfrm>
            <a:off x="777240" y="4663440"/>
            <a:ext cx="4983480" cy="13258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A 25 mm routing envelope per element on top of the 25 mm minimum gap: neighbours 50 mm further apart than sampled</a:t>
            </a:r>
            <a:endParaRPr lang="en-US" sz="1200" dirty="0"/>
          </a:p>
          <a:p>
            <a:pPr marL="342900" indent="-342900">
              <a:spcAft>
                <a:spcPts val="600"/>
              </a:spcAft>
              <a:buSzPct val="100000"/>
              <a:buChar char="•"/>
            </a:pPr>
            <a:r>
              <a:rPr lang="en-US" sz="1200" dirty="0">
                <a:solidFill>
                  <a:schemeClr val="tx1"/>
                </a:solidFill>
              </a:rPr>
              <a:t>Nothing closer than 75 mm, while 42 % of measured gaps are</a:t>
            </a:r>
            <a:endParaRPr lang="en-US" sz="1200" dirty="0"/>
          </a:p>
          <a:p>
            <a:pPr marL="342900" indent="-342900">
              <a:spcAft>
                <a:spcPts val="600"/>
              </a:spcAft>
              <a:buSzPct val="100000"/>
              <a:buChar char="•"/>
            </a:pPr>
            <a:r>
              <a:rPr lang="en-US" sz="1200" dirty="0">
                <a:solidFill>
                  <a:schemeClr val="tx1"/>
                </a:solidFill>
              </a:rPr>
              <a:t>The 41 mm was computed on the sampled gap; physically the files were 89 mm from the project</a:t>
            </a:r>
            <a:endParaRPr lang="en-US" sz="1200" dirty="0"/>
          </a:p>
        </p:txBody>
      </p:sp>
      <p:sp>
        <p:nvSpPr>
          <p:cNvPr id="7" name="card 4.0"/>
          <p:cNvSpPr/>
          <p:nvPr/>
        </p:nvSpPr>
        <p:spPr>
          <a:xfrm>
            <a:off x="6199632" y="4206240"/>
            <a:ext cx="5440680" cy="1874520"/>
          </a:xfrm>
          <a:prstGeom prst="roundRect">
            <a:avLst>
              <a:gd name="adj" fmla="val 3415"/>
            </a:avLst>
          </a:prstGeom>
          <a:solidFill>
            <a:schemeClr val="bg2"/>
          </a:solidFill>
          <a:ln/>
        </p:spPr>
      </p:sp>
      <p:sp>
        <p:nvSpPr>
          <p:cNvPr id="8" name="head 4.0"/>
          <p:cNvSpPr txBox="1"/>
          <p:nvPr/>
        </p:nvSpPr>
        <p:spPr>
          <a:xfrm>
            <a:off x="6428232" y="4297680"/>
            <a:ext cx="4983480" cy="320040"/>
          </a:xfrm>
          <a:prstGeom prst="rect">
            <a:avLst/>
          </a:prstGeom>
          <a:noFill/>
          <a:ln/>
        </p:spPr>
        <p:txBody>
          <a:bodyPr wrap="square" lIns="0" tIns="0" rIns="0" bIns="0" rtlCol="0" anchor="ctr"/>
          <a:lstStyle/>
          <a:p>
            <a:pPr indent="0" marL="0">
              <a:buNone/>
            </a:pPr>
            <a:r>
              <a:rPr lang="en-US" sz="1400" b="1" dirty="0">
                <a:solidFill>
                  <a:schemeClr val="tx1"/>
                </a:solidFill>
              </a:rPr>
              <a:t>Revision 4.0 — today</a:t>
            </a:r>
            <a:endParaRPr lang="en-US" sz="1400" dirty="0"/>
          </a:p>
        </p:txBody>
      </p:sp>
      <p:sp>
        <p:nvSpPr>
          <p:cNvPr id="9" name="bullets 4.0"/>
          <p:cNvSpPr txBox="1"/>
          <p:nvPr/>
        </p:nvSpPr>
        <p:spPr>
          <a:xfrm>
            <a:off x="6428232" y="4663440"/>
            <a:ext cx="4983480" cy="13258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The sampled gap is the physical gap; same elements, loads and rows — the spacing moved; 41 mm holds for geometry you can measure</a:t>
            </a:r>
            <a:endParaRPr lang="en-US" sz="1200" dirty="0"/>
          </a:p>
          <a:p>
            <a:pPr marL="342900" indent="-342900">
              <a:spcAft>
                <a:spcPts val="600"/>
              </a:spcAft>
              <a:buSzPct val="100000"/>
              <a:buChar char="•"/>
            </a:pPr>
            <a:r>
              <a:rPr lang="en-US" sz="1200" dirty="0">
                <a:solidFill>
                  <a:schemeClr val="tx1"/>
                </a:solidFill>
              </a:rPr>
              <a:t>All eight files regenerate byte-for-byte on every CI run; every paper number that reproduces is a test</a:t>
            </a:r>
            <a:endParaRPr lang="en-US" sz="1200" dirty="0"/>
          </a:p>
          <a:p>
            <a:pPr marL="342900" indent="-342900">
              <a:spcAft>
                <a:spcPts val="600"/>
              </a:spcAft>
              <a:buSzPct val="100000"/>
              <a:buChar char="•"/>
            </a:pPr>
            <a:r>
              <a:rPr lang="en-US" sz="1200" dirty="0">
                <a:solidFill>
                  <a:schemeClr val="tx1"/>
                </a:solidFill>
              </a:rPr>
              <a:t>The paper’s composition figures came from an internal build; the public values are restated</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two-bin clamp catalog attaches 1 pipe in 9 — and no tray, duct or conduit</a:t>
            </a:r>
            <a:endParaRPr lang="en-US" sz="2600" dirty="0"/>
          </a:p>
        </p:txBody>
      </p:sp>
      <p:graphicFrame>
        <p:nvGraphicFramePr>
          <p:cNvPr id="3" name="coverage chart" descr=""/>
          <p:cNvGraphicFramePr/>
          <p:nvPr/>
        </p:nvGraphicFramePr>
        <p:xfrm>
          <a:off x="548640" y="1371600"/>
          <a:ext cx="6949440" cy="4663440"/>
        </p:xfrm>
        <a:graphic xmlns:a="http://schemas.openxmlformats.org/drawingml/2006/main">
          <a:graphicData uri="http://schemas.openxmlformats.org/drawingml/2006/chart">
            <c:chart xmlns:c="http://schemas.openxmlformats.org/drawingml/2006/chart" r:id="rId1"/>
          </a:graphicData>
        </a:graphic>
      </p:graphicFrame>
      <p:sp>
        <p:nvSpPr>
          <p:cNvPr id="4" name="tile of the benchmark’s pipes can be attached with the released two bins (48–54 mm at 2.5 kN; 108–114 mm at 4.0 kN)"/>
          <p:cNvSpPr/>
          <p:nvPr/>
        </p:nvSpPr>
        <p:spPr>
          <a:xfrm>
            <a:off x="7772400" y="1417320"/>
            <a:ext cx="3867912" cy="1417320"/>
          </a:xfrm>
          <a:prstGeom prst="roundRect">
            <a:avLst>
              <a:gd name="adj" fmla="val 4516"/>
            </a:avLst>
          </a:prstGeom>
          <a:solidFill>
            <a:schemeClr val="bg2"/>
          </a:solidFill>
          <a:ln/>
        </p:spPr>
      </p:sp>
      <p:sp>
        <p:nvSpPr>
          <p:cNvPr id="5" name="value of the benchmark’s pipes can be attached with the released two bins (48–54 mm at 2.5 kN; 108–114 mm at 4.0 kN)"/>
          <p:cNvSpPr txBox="1"/>
          <p:nvPr/>
        </p:nvSpPr>
        <p:spPr>
          <a:xfrm>
            <a:off x="8001000" y="1508760"/>
            <a:ext cx="3410712" cy="793699"/>
          </a:xfrm>
          <a:prstGeom prst="rect">
            <a:avLst/>
          </a:prstGeom>
          <a:noFill/>
          <a:ln/>
        </p:spPr>
        <p:txBody>
          <a:bodyPr wrap="square" lIns="0" tIns="0" rIns="0" bIns="0" rtlCol="0" anchor="ctr"/>
          <a:lstStyle/>
          <a:p>
            <a:pPr indent="0" marL="0">
              <a:buNone/>
            </a:pPr>
            <a:r>
              <a:rPr lang="en-US" sz="3400" b="1" dirty="0">
                <a:solidFill>
                  <a:schemeClr val="accent1"/>
                </a:solidFill>
              </a:rPr>
              <a:t>11.6 %</a:t>
            </a:r>
            <a:endParaRPr lang="en-US" sz="3400" dirty="0"/>
          </a:p>
        </p:txBody>
      </p:sp>
      <p:sp>
        <p:nvSpPr>
          <p:cNvPr id="6" name="label of the benchmark’s pipes can be attached with the released two bins (48–54 mm at 2.5 kN; 108–114 mm at 4.0 kN)"/>
          <p:cNvSpPr txBox="1"/>
          <p:nvPr/>
        </p:nvSpPr>
        <p:spPr>
          <a:xfrm>
            <a:off x="8001000" y="2324405"/>
            <a:ext cx="3410712" cy="467716"/>
          </a:xfrm>
          <a:prstGeom prst="rect">
            <a:avLst/>
          </a:prstGeom>
          <a:noFill/>
          <a:ln/>
        </p:spPr>
        <p:txBody>
          <a:bodyPr wrap="square" lIns="0" tIns="0" rIns="0" bIns="0" rtlCol="0" anchor="t"/>
          <a:lstStyle/>
          <a:p>
            <a:pPr indent="0" marL="0">
              <a:buNone/>
            </a:pPr>
            <a:r>
              <a:rPr lang="en-US" sz="1100" dirty="0">
                <a:solidFill>
                  <a:srgbClr val="52514E"/>
                </a:solidFill>
              </a:rPr>
              <a:t>of the benchmark’s pipes can be attached with the released two bins (48–54 mm at 2.5 kN; 108–114 mm at 4.0 kN)</a:t>
            </a:r>
            <a:endParaRPr lang="en-US" sz="1100" dirty="0"/>
          </a:p>
        </p:txBody>
      </p:sp>
      <p:sp>
        <p:nvSpPr>
          <p:cNvPr id="7" name="tile trays, ducts and conduits: a clamp catalog defines no attachment for them"/>
          <p:cNvSpPr/>
          <p:nvPr/>
        </p:nvSpPr>
        <p:spPr>
          <a:xfrm>
            <a:off x="7772400" y="3017520"/>
            <a:ext cx="3867912" cy="1417320"/>
          </a:xfrm>
          <a:prstGeom prst="roundRect">
            <a:avLst>
              <a:gd name="adj" fmla="val 4516"/>
            </a:avLst>
          </a:prstGeom>
          <a:solidFill>
            <a:schemeClr val="bg2"/>
          </a:solidFill>
          <a:ln/>
        </p:spPr>
      </p:sp>
      <p:sp>
        <p:nvSpPr>
          <p:cNvPr id="8" name="value trays, ducts and conduits: a clamp catalog defines no attachment for them"/>
          <p:cNvSpPr txBox="1"/>
          <p:nvPr/>
        </p:nvSpPr>
        <p:spPr>
          <a:xfrm>
            <a:off x="8001000" y="3108960"/>
            <a:ext cx="3410712" cy="793699"/>
          </a:xfrm>
          <a:prstGeom prst="rect">
            <a:avLst/>
          </a:prstGeom>
          <a:noFill/>
          <a:ln/>
        </p:spPr>
        <p:txBody>
          <a:bodyPr wrap="square" lIns="0" tIns="0" rIns="0" bIns="0" rtlCol="0" anchor="ctr"/>
          <a:lstStyle/>
          <a:p>
            <a:pPr indent="0" marL="0">
              <a:buNone/>
            </a:pPr>
            <a:r>
              <a:rPr lang="en-US" sz="3400" b="1" dirty="0">
                <a:solidFill>
                  <a:schemeClr val="accent1"/>
                </a:solidFill>
              </a:rPr>
              <a:t>0 of 1,971</a:t>
            </a:r>
            <a:endParaRPr lang="en-US" sz="3400" dirty="0"/>
          </a:p>
        </p:txBody>
      </p:sp>
      <p:sp>
        <p:nvSpPr>
          <p:cNvPr id="9" name="label trays, ducts and conduits: a clamp catalog defines no attachment for them"/>
          <p:cNvSpPr txBox="1"/>
          <p:nvPr/>
        </p:nvSpPr>
        <p:spPr>
          <a:xfrm>
            <a:off x="8001000" y="3924605"/>
            <a:ext cx="3410712" cy="467716"/>
          </a:xfrm>
          <a:prstGeom prst="rect">
            <a:avLst/>
          </a:prstGeom>
          <a:noFill/>
          <a:ln/>
        </p:spPr>
        <p:txBody>
          <a:bodyPr wrap="square" lIns="0" tIns="0" rIns="0" bIns="0" rtlCol="0" anchor="t"/>
          <a:lstStyle/>
          <a:p>
            <a:pPr indent="0" marL="0">
              <a:buNone/>
            </a:pPr>
            <a:r>
              <a:rPr lang="en-US" sz="1100" dirty="0">
                <a:solidFill>
                  <a:srgbClr val="52514E"/>
                </a:solidFill>
              </a:rPr>
              <a:t>trays, ducts and conduits: a clamp catalog defines no attachment for them</a:t>
            </a:r>
            <a:endParaRPr lang="en-US" sz="1100" dirty="0"/>
          </a:p>
        </p:txBody>
      </p:sp>
      <p:sp>
        <p:nvSpPr>
          <p:cNvPr id="10" name="catalog note card"/>
          <p:cNvSpPr/>
          <p:nvPr/>
        </p:nvSpPr>
        <p:spPr>
          <a:xfrm>
            <a:off x="7772400" y="4617720"/>
            <a:ext cx="3867912" cy="1417320"/>
          </a:xfrm>
          <a:prstGeom prst="roundRect">
            <a:avLst>
              <a:gd name="adj" fmla="val 4516"/>
            </a:avLst>
          </a:prstGeom>
          <a:solidFill>
            <a:schemeClr val="bg2"/>
          </a:solidFill>
          <a:ln/>
        </p:spPr>
      </p:sp>
      <p:sp>
        <p:nvSpPr>
          <p:cNvPr id="11" name="catalog note"/>
          <p:cNvSpPr txBox="1"/>
          <p:nvPr/>
        </p:nvSpPr>
        <p:spPr>
          <a:xfrm>
            <a:off x="8001000" y="4709160"/>
            <a:ext cx="3429000" cy="1234440"/>
          </a:xfrm>
          <a:prstGeom prst="rect">
            <a:avLst/>
          </a:prstGeom>
          <a:noFill/>
          <a:ln/>
        </p:spPr>
        <p:txBody>
          <a:bodyPr wrap="square" lIns="0" tIns="0" rIns="0" bIns="0" rtlCol="0" anchor="ctr"/>
          <a:lstStyle/>
          <a:p>
            <a:pPr indent="0" marL="0">
              <a:buNone/>
            </a:pPr>
            <a:r>
              <a:rPr lang="en-US" sz="1250" b="1" dirty="0">
                <a:solidFill>
                  <a:schemeClr val="tx1"/>
                </a:solidFill>
              </a:rPr>
              <a:t>Loads never bind; diameter and kind do. </a:t>
            </a:r>
            <a:pPr indent="0" marL="0">
              <a:buNone/>
            </a:pPr>
            <a:r>
              <a:rPr lang="en-US" sz="1250" dirty="0">
                <a:solidFill>
                  <a:schemeClr val="tx1"/>
                </a:solidFill>
              </a:rPr>
              <a:t>“Generalise the catalog” becomes a measured requirement: small-bore clamps first, then tray, duct and conduit attachments.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What it is not, and what we need from you</a:t>
            </a:r>
            <a:endParaRPr lang="en-US" sz="2600" dirty="0"/>
          </a:p>
        </p:txBody>
      </p:sp>
      <p:sp>
        <p:nvSpPr>
          <p:cNvPr id="3" name="scope heading"/>
          <p:cNvSpPr txBox="1"/>
          <p:nvPr/>
        </p:nvSpPr>
        <p:spPr>
          <a:xfrm>
            <a:off x="548640" y="1417320"/>
            <a:ext cx="6766560" cy="411480"/>
          </a:xfrm>
          <a:prstGeom prst="rect">
            <a:avLst/>
          </a:prstGeom>
          <a:noFill/>
          <a:ln/>
        </p:spPr>
        <p:txBody>
          <a:bodyPr wrap="square" lIns="0" tIns="0" rIns="0" bIns="0" rtlCol="0" anchor="ctr"/>
          <a:lstStyle/>
          <a:p>
            <a:pPr indent="0" marL="0">
              <a:buNone/>
            </a:pPr>
            <a:r>
              <a:rPr lang="en-US" sz="1800" b="1" dirty="0">
                <a:solidFill>
                  <a:schemeClr val="tx1"/>
                </a:solidFill>
              </a:rPr>
              <a:t>Scope of this revision</a:t>
            </a:r>
            <a:endParaRPr lang="en-US" sz="1800" dirty="0"/>
          </a:p>
        </p:txBody>
      </p:sp>
      <p:sp>
        <p:nvSpPr>
          <p:cNvPr id="4" name="scope bullets"/>
          <p:cNvSpPr txBox="1"/>
          <p:nvPr/>
        </p:nvSpPr>
        <p:spPr>
          <a:xfrm>
            <a:off x="548640" y="1920240"/>
            <a:ext cx="676656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section only: routing, slope, branches and support spacing are outside it (the span is recorded per element, so a method can vary it)</a:t>
            </a:r>
            <a:endParaRPr lang="en-US" sz="1400" dirty="0"/>
          </a:p>
          <a:p>
            <a:pPr marL="342900" indent="-342900">
              <a:spcAft>
                <a:spcPts val="600"/>
              </a:spcAft>
              <a:buSzPct val="100000"/>
              <a:buChar char="•"/>
            </a:pPr>
            <a:r>
              <a:rPr lang="en-US" sz="1400" dirty="0">
                <a:solidFill>
                  <a:schemeClr val="tx1"/>
                </a:solidFill>
              </a:rPr>
              <a:t>Pipes up to DN100, concrete substrates, no anchor capacity, no duct insulation</a:t>
            </a:r>
            <a:endParaRPr lang="en-US" sz="1400" dirty="0"/>
          </a:p>
          <a:p>
            <a:pPr marL="342900" indent="-342900">
              <a:spcAft>
                <a:spcPts val="600"/>
              </a:spcAft>
              <a:buSzPct val="100000"/>
              <a:buChar char="•"/>
            </a:pPr>
            <a:r>
              <a:rPr lang="en-US" sz="1400" dirty="0">
                <a:solidFill>
                  <a:schemeClr val="tx1"/>
                </a:solidFill>
              </a:rPr>
              <a:t>Stagger is drawn per element: a bank on one trapeze would be co-planar — next revision, with re-calibration</a:t>
            </a:r>
            <a:endParaRPr lang="en-US" sz="1400" dirty="0"/>
          </a:p>
          <a:p>
            <a:pPr marL="342900" indent="-342900">
              <a:spcAft>
                <a:spcPts val="600"/>
              </a:spcAft>
              <a:buSzPct val="100000"/>
              <a:buChar char="•"/>
            </a:pPr>
            <a:r>
              <a:rPr lang="en-US" sz="1400" dirty="0">
                <a:solidFill>
                  <a:schemeClr val="tx1"/>
                </a:solidFill>
              </a:rPr>
              <a:t>Row spacing is a fixed 120 mm clear plus stagger, not a trapeze depth</a:t>
            </a:r>
            <a:endParaRPr lang="en-US" sz="1400" dirty="0"/>
          </a:p>
          <a:p>
            <a:pPr marL="342900" indent="-342900">
              <a:spcAft>
                <a:spcPts val="600"/>
              </a:spcAft>
              <a:buSzPct val="100000"/>
              <a:buChar char="•"/>
            </a:pPr>
            <a:r>
              <a:rPr lang="en-US" sz="1400" dirty="0">
                <a:solidFill>
                  <a:schemeClr val="tx1"/>
                </a:solidFill>
              </a:rPr>
              <a:t>Verified on one residential project: small-bore statistics are checked; congested racks rest on practice and standards</a:t>
            </a:r>
            <a:endParaRPr lang="en-US" sz="1400" dirty="0"/>
          </a:p>
        </p:txBody>
      </p:sp>
      <p:sp>
        <p:nvSpPr>
          <p:cNvPr id="5" name="next heading"/>
          <p:cNvSpPr txBox="1"/>
          <p:nvPr/>
        </p:nvSpPr>
        <p:spPr>
          <a:xfrm>
            <a:off x="548640" y="4343400"/>
            <a:ext cx="6766560"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6" name="next bullets"/>
          <p:cNvSpPr txBox="1"/>
          <p:nvPr/>
        </p:nvSpPr>
        <p:spPr>
          <a:xfrm>
            <a:off x="548640" y="4800600"/>
            <a:ext cx="6766560" cy="1371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Per-bank stagger (co-planar trapeze banks), re-calibrated against the measured elevation spread</a:t>
            </a:r>
            <a:endParaRPr lang="en-US" sz="1400" dirty="0"/>
          </a:p>
          <a:p>
            <a:pPr marL="342900" indent="-342900">
              <a:spcAft>
                <a:spcPts val="600"/>
              </a:spcAft>
              <a:buSzPct val="100000"/>
              <a:buChar char="•"/>
            </a:pPr>
            <a:r>
              <a:rPr lang="en-US" sz="1400" dirty="0">
                <a:solidFill>
                  <a:schemeClr val="tx1"/>
                </a:solidFill>
              </a:rPr>
              <a:t>Pipe materials and more substrates from public standards (EN 1057 copper, EN 10312 stainless, EN 1329 plastics)</a:t>
            </a:r>
            <a:endParaRPr lang="en-US" sz="1400" dirty="0"/>
          </a:p>
          <a:p>
            <a:pPr marL="342900" indent="-342900">
              <a:spcAft>
                <a:spcPts val="600"/>
              </a:spcAft>
              <a:buSzPct val="100000"/>
              <a:buChar char="•"/>
            </a:pPr>
            <a:r>
              <a:rPr lang="en-US" sz="1400" dirty="0">
                <a:solidFill>
                  <a:schemeClr val="tx1"/>
                </a:solidFill>
              </a:rPr>
              <a:t>The same measurement on a commercial corridor model, and an expert plausibility review of generated scenes</a:t>
            </a:r>
            <a:endParaRPr lang="en-US" sz="1400" dirty="0"/>
          </a:p>
        </p:txBody>
      </p:sp>
      <p:sp>
        <p:nvSpPr>
          <p:cNvPr id="7" name="ask card"/>
          <p:cNvSpPr/>
          <p:nvPr/>
        </p:nvSpPr>
        <p:spPr>
          <a:xfrm>
            <a:off x="7680960" y="1417320"/>
            <a:ext cx="3959352" cy="4617720"/>
          </a:xfrm>
          <a:prstGeom prst="roundRect">
            <a:avLst>
              <a:gd name="adj" fmla="val 1617"/>
            </a:avLst>
          </a:prstGeom>
          <a:solidFill>
            <a:schemeClr val="bg2"/>
          </a:solidFill>
          <a:ln/>
        </p:spPr>
      </p:sp>
      <p:sp>
        <p:nvSpPr>
          <p:cNvPr id="8" name="ask heading"/>
          <p:cNvSpPr txBox="1"/>
          <p:nvPr/>
        </p:nvSpPr>
        <p:spPr>
          <a:xfrm>
            <a:off x="7955280" y="1554480"/>
            <a:ext cx="3429000" cy="731520"/>
          </a:xfrm>
          <a:prstGeom prst="rect">
            <a:avLst/>
          </a:prstGeom>
          <a:noFill/>
          <a:ln/>
        </p:spPr>
        <p:txBody>
          <a:bodyPr wrap="square" lIns="0" tIns="0" rIns="0" bIns="0" rtlCol="0" anchor="t"/>
          <a:lstStyle/>
          <a:p>
            <a:pPr indent="0" marL="0">
              <a:buNone/>
            </a:pPr>
            <a:r>
              <a:rPr lang="en-US" sz="1700" b="1" dirty="0">
                <a:solidFill>
                  <a:schemeClr val="tx1"/>
                </a:solidFill>
              </a:rPr>
              <a:t>The thing we cannot compute is plausibility</a:t>
            </a:r>
            <a:endParaRPr lang="en-US" sz="1700" dirty="0"/>
          </a:p>
        </p:txBody>
      </p:sp>
      <p:sp>
        <p:nvSpPr>
          <p:cNvPr id="9" name="ask body"/>
          <p:cNvSpPr txBox="1"/>
          <p:nvPr/>
        </p:nvSpPr>
        <p:spPr>
          <a:xfrm>
            <a:off x="7955280" y="2331720"/>
            <a:ext cx="3429000" cy="1417320"/>
          </a:xfrm>
          <a:prstGeom prst="rect">
            <a:avLst/>
          </a:prstGeom>
          <a:noFill/>
          <a:ln/>
        </p:spPr>
        <p:txBody>
          <a:bodyPr wrap="square" lIns="0" tIns="0" rIns="0" bIns="0" rtlCol="0" anchor="t"/>
          <a:lstStyle/>
          <a:p>
            <a:pPr indent="0" marL="0">
              <a:buNone/>
            </a:pPr>
            <a:r>
              <a:rPr lang="en-US" sz="1300" dirty="0">
                <a:solidFill>
                  <a:schemeClr val="tx1"/>
                </a:solidFill>
              </a:rPr>
              <a:t>If you coordinate services or design supports: open the gallery, filter for the scenes you know, and tell us what looks wrong. Every rule is one constant and one test away from being changed.</a:t>
            </a:r>
            <a:endParaRPr lang="en-US" sz="1300" dirty="0"/>
          </a:p>
        </p:txBody>
      </p:sp>
      <p:pic>
        <p:nvPicPr>
          <p:cNvPr id="10" name="qr" descr="/home/user/crossmep_dataset/docs/figures/qr_repo.png">    </p:cNvPr>
          <p:cNvPicPr>
            <a:picLocks noChangeAspect="1"/>
          </p:cNvPicPr>
          <p:nvPr/>
        </p:nvPicPr>
        <p:blipFill>
          <a:blip r:embed="rId1"/>
          <a:stretch>
            <a:fillRect/>
          </a:stretch>
        </p:blipFill>
        <p:spPr>
          <a:xfrm>
            <a:off x="7955280" y="4160520"/>
            <a:ext cx="1463040" cy="1463040"/>
          </a:xfrm>
          <a:prstGeom prst="rect">
            <a:avLst/>
          </a:prstGeom>
        </p:spPr>
      </p:pic>
      <p:sp>
        <p:nvSpPr>
          <p:cNvPr id="11" name="repo link"/>
          <p:cNvSpPr txBox="1"/>
          <p:nvPr/>
        </p:nvSpPr>
        <p:spPr>
          <a:xfrm>
            <a:off x="9555480" y="4160520"/>
            <a:ext cx="2011680" cy="1463040"/>
          </a:xfrm>
          <a:prstGeom prst="rect">
            <a:avLst/>
          </a:prstGeom>
          <a:noFill/>
          <a:ln/>
        </p:spPr>
        <p:txBody>
          <a:bodyPr wrap="square" lIns="0" tIns="0" rIns="0" bIns="0" rtlCol="0" anchor="ctr"/>
          <a:lstStyle/>
          <a:p>
            <a:pPr indent="0" marL="0">
              <a:buNone/>
            </a:pPr>
            <a:r>
              <a:rPr lang="en-US" sz="1100" b="1" dirty="0">
                <a:solidFill>
                  <a:schemeClr val="tx1"/>
                </a:solidFill>
              </a:rPr>
              <a:t>github.com/lavinia-ped/CrossMEP_Dataset</a:t>
            </a:r>
            <a:endParaRPr lang="en-US" sz="1100" dirty="0"/>
          </a:p>
          <a:p>
            <a:pPr indent="0" marL="0">
              <a:buNone/>
            </a:pPr>
            <a:r>
              <a:rPr lang="en-US" sz="1100" dirty="0">
                <a:solidFill>
                  <a:schemeClr val="tx1"/>
                </a:solidFill>
              </a:rPr>
              <a:t>laviniap@stanford.edu</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CrossMEP is the brief, not the answer.</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sections  ·  every number traced  ·  verified against a built project  ·  reproducible to the byte  ·  public</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Appendix A — are the tiers actually ordered?</a:t>
            </a:r>
            <a:endParaRPr lang="en-US" sz="2600" dirty="0"/>
          </a:p>
        </p:txBody>
      </p:sp>
      <p:pic>
        <p:nvPicPr>
          <p:cNvPr id="3" name="tier statistics" descr="/home/user/crossmep_dataset/docs/figures/03_tiers_stats.png">    </p:cNvPr>
          <p:cNvPicPr>
            <a:picLocks noChangeAspect="1"/>
          </p:cNvPicPr>
          <p:nvPr/>
        </p:nvPicPr>
        <p:blipFill>
          <a:blip r:embed="rId1"/>
          <a:stretch>
            <a:fillRect/>
          </a:stretch>
        </p:blipFill>
        <p:spPr>
          <a:xfrm>
            <a:off x="548640" y="1390162"/>
            <a:ext cx="11091672" cy="4214835"/>
          </a:xfrm>
          <a:prstGeom prst="rect">
            <a:avLst/>
          </a:prstGeom>
        </p:spPr>
      </p:pic>
      <p:sp>
        <p:nvSpPr>
          <p:cNvPr id="4" name="appendix a caption"/>
          <p:cNvSpPr txBox="1"/>
          <p:nvPr/>
        </p:nvSpPr>
        <p:spPr>
          <a:xfrm>
            <a:off x="548640" y="5696438"/>
            <a:ext cx="11091672" cy="457200"/>
          </a:xfrm>
          <a:prstGeom prst="rect">
            <a:avLst/>
          </a:prstGeom>
          <a:noFill/>
          <a:ln/>
        </p:spPr>
        <p:txBody>
          <a:bodyPr wrap="square" lIns="0" tIns="0" rIns="0" bIns="0" rtlCol="0" anchor="t"/>
          <a:lstStyle/>
          <a:p>
            <a:pPr indent="0" marL="0">
              <a:buNone/>
            </a:pPr>
            <a:r>
              <a:rPr lang="en-US" sz="1100" dirty="0">
                <a:solidFill>
                  <a:srgbClr val="52514E"/>
                </a:solidFill>
              </a:rPr>
              <a:t>Element count is exact by construction; the medians of clear gap and load are near-monotone (C5/C6 and C7/C8 swap at 125 contexts per tier). Difficulty is carried jointly by count, congestion, load and stacking, with count as the controlled axis.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Appendix B — the public files in numbers (benchmark split, revision 4.0)</a:t>
            </a:r>
            <a:endParaRPr lang="en-US" sz="2600" dirty="0"/>
          </a:p>
        </p:txBody>
      </p:sp>
      <p:graphicFrame>
        <p:nvGraphicFramePr>
          <p:cNvPr id="14" name="tier 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822960"/>
                <a:gridCol w="1188720"/>
                <a:gridCol w="1828800"/>
                <a:gridCol w="1463040"/>
                <a:gridCol w="164592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clear gap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load (kN)</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bundle width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0.23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344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0.44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613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0.55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728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0.78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1027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993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1138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1.71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1448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tile 2,529 pipes · 1,141 conduits · 569 trays · 261 ducts"/>
          <p:cNvSpPr/>
          <p:nvPr/>
        </p:nvSpPr>
        <p:spPr>
          <a:xfrm>
            <a:off x="7772400" y="1417320"/>
            <a:ext cx="3867912" cy="1097280"/>
          </a:xfrm>
          <a:prstGeom prst="roundRect">
            <a:avLst>
              <a:gd name="adj" fmla="val 5833"/>
            </a:avLst>
          </a:prstGeom>
          <a:solidFill>
            <a:schemeClr val="bg2"/>
          </a:solidFill>
          <a:ln/>
        </p:spPr>
      </p:sp>
      <p:sp>
        <p:nvSpPr>
          <p:cNvPr id="5" name="value 2,529 pipes · 1,141 conduits · 569 trays · 261 ducts"/>
          <p:cNvSpPr txBox="1"/>
          <p:nvPr/>
        </p:nvSpPr>
        <p:spPr>
          <a:xfrm>
            <a:off x="8001000" y="1508760"/>
            <a:ext cx="3410712" cy="614477"/>
          </a:xfrm>
          <a:prstGeom prst="rect">
            <a:avLst/>
          </a:prstGeom>
          <a:noFill/>
          <a:ln/>
        </p:spPr>
        <p:txBody>
          <a:bodyPr wrap="square" lIns="0" tIns="0" rIns="0" bIns="0" rtlCol="0" anchor="ctr"/>
          <a:lstStyle/>
          <a:p>
            <a:pPr indent="0" marL="0">
              <a:buNone/>
            </a:pPr>
            <a:r>
              <a:rPr lang="en-US" sz="2400" b="1" dirty="0">
                <a:solidFill>
                  <a:schemeClr val="accent1"/>
                </a:solidFill>
              </a:rPr>
              <a:t>4,500 elements</a:t>
            </a:r>
            <a:endParaRPr lang="en-US" sz="2400" dirty="0"/>
          </a:p>
        </p:txBody>
      </p:sp>
      <p:sp>
        <p:nvSpPr>
          <p:cNvPr id="6" name="label 2,529 pipes · 1,141 conduits · 569 trays · 261 ducts"/>
          <p:cNvSpPr txBox="1"/>
          <p:nvPr/>
        </p:nvSpPr>
        <p:spPr>
          <a:xfrm>
            <a:off x="8001000" y="2119579"/>
            <a:ext cx="3410712" cy="362102"/>
          </a:xfrm>
          <a:prstGeom prst="rect">
            <a:avLst/>
          </a:prstGeom>
          <a:noFill/>
          <a:ln/>
        </p:spPr>
        <p:txBody>
          <a:bodyPr wrap="square" lIns="0" tIns="0" rIns="0" bIns="0" rtlCol="0" anchor="t"/>
          <a:lstStyle/>
          <a:p>
            <a:pPr indent="0" marL="0">
              <a:buNone/>
            </a:pPr>
            <a:r>
              <a:rPr lang="en-US" sz="1100" dirty="0">
                <a:solidFill>
                  <a:srgbClr val="52514E"/>
                </a:solidFill>
              </a:rPr>
              <a:t>2,529 pipes · 1,141 conduits · 569 trays · 261 ducts</a:t>
            </a:r>
            <a:endParaRPr lang="en-US" sz="1100" dirty="0"/>
          </a:p>
        </p:txBody>
      </p:sp>
      <p:sp>
        <p:nvSpPr>
          <p:cNvPr id="7" name="tile train 5,000 · val 500 · test 500 · benchmark 1,000 (125 per tier), disjoint seeds"/>
          <p:cNvSpPr/>
          <p:nvPr/>
        </p:nvSpPr>
        <p:spPr>
          <a:xfrm>
            <a:off x="7772400" y="2697480"/>
            <a:ext cx="3867912" cy="1097280"/>
          </a:xfrm>
          <a:prstGeom prst="roundRect">
            <a:avLst>
              <a:gd name="adj" fmla="val 5833"/>
            </a:avLst>
          </a:prstGeom>
          <a:solidFill>
            <a:schemeClr val="bg2"/>
          </a:solidFill>
          <a:ln/>
        </p:spPr>
      </p:sp>
      <p:sp>
        <p:nvSpPr>
          <p:cNvPr id="8" name="value train 5,000 · val 500 · test 500 · benchmark 1,000 (125 per tier), disjoint seeds"/>
          <p:cNvSpPr txBox="1"/>
          <p:nvPr/>
        </p:nvSpPr>
        <p:spPr>
          <a:xfrm>
            <a:off x="8001000" y="2788920"/>
            <a:ext cx="3410712" cy="614477"/>
          </a:xfrm>
          <a:prstGeom prst="rect">
            <a:avLst/>
          </a:prstGeom>
          <a:noFill/>
          <a:ln/>
        </p:spPr>
        <p:txBody>
          <a:bodyPr wrap="square" lIns="0" tIns="0" rIns="0" bIns="0" rtlCol="0" anchor="ctr"/>
          <a:lstStyle/>
          <a:p>
            <a:pPr indent="0" marL="0">
              <a:buNone/>
            </a:pPr>
            <a:r>
              <a:rPr lang="en-US" sz="2400" b="1" dirty="0">
                <a:solidFill>
                  <a:schemeClr val="accent1"/>
                </a:solidFill>
              </a:rPr>
              <a:t>7,000 contexts</a:t>
            </a:r>
            <a:endParaRPr lang="en-US" sz="2400" dirty="0"/>
          </a:p>
        </p:txBody>
      </p:sp>
      <p:sp>
        <p:nvSpPr>
          <p:cNvPr id="9" name="label train 5,000 · val 500 · test 500 · benchmark 1,000 (125 per tier), disjoint seeds"/>
          <p:cNvSpPr txBox="1"/>
          <p:nvPr/>
        </p:nvSpPr>
        <p:spPr>
          <a:xfrm>
            <a:off x="8001000" y="3399739"/>
            <a:ext cx="3410712" cy="362102"/>
          </a:xfrm>
          <a:prstGeom prst="rect">
            <a:avLst/>
          </a:prstGeom>
          <a:noFill/>
          <a:ln/>
        </p:spPr>
        <p:txBody>
          <a:bodyPr wrap="square" lIns="0" tIns="0" rIns="0" bIns="0" rtlCol="0" anchor="t"/>
          <a:lstStyle/>
          <a:p>
            <a:pPr indent="0" marL="0">
              <a:buNone/>
            </a:pPr>
            <a:r>
              <a:rPr lang="en-US" sz="1100" dirty="0">
                <a:solidFill>
                  <a:srgbClr val="52514E"/>
                </a:solidFill>
              </a:rPr>
              <a:t>train 5,000 · val 500 · test 500 · benchmark 1,000 (125 per tier), disjoint seeds</a:t>
            </a:r>
            <a:endParaRPr lang="en-US" sz="1100" dirty="0"/>
          </a:p>
        </p:txBody>
      </p:sp>
      <p:sp>
        <p:nvSpPr>
          <p:cNvPr id="10" name="tile Wasserstein-1 to the measured MEP model: insulation surface / bare surface (the measured quantity)"/>
          <p:cNvSpPr/>
          <p:nvPr/>
        </p:nvSpPr>
        <p:spPr>
          <a:xfrm>
            <a:off x="7772400" y="3977640"/>
            <a:ext cx="3867912" cy="1097280"/>
          </a:xfrm>
          <a:prstGeom prst="roundRect">
            <a:avLst>
              <a:gd name="adj" fmla="val 5833"/>
            </a:avLst>
          </a:prstGeom>
          <a:solidFill>
            <a:schemeClr val="bg2"/>
          </a:solidFill>
          <a:ln/>
        </p:spPr>
      </p:sp>
      <p:sp>
        <p:nvSpPr>
          <p:cNvPr id="11" name="value Wasserstein-1 to the measured MEP model: insulation surface / bare surface (the measured quantity)"/>
          <p:cNvSpPr txBox="1"/>
          <p:nvPr/>
        </p:nvSpPr>
        <p:spPr>
          <a:xfrm>
            <a:off x="8001000" y="4069080"/>
            <a:ext cx="3410712" cy="614477"/>
          </a:xfrm>
          <a:prstGeom prst="rect">
            <a:avLst/>
          </a:prstGeom>
          <a:noFill/>
          <a:ln/>
        </p:spPr>
        <p:txBody>
          <a:bodyPr wrap="square" lIns="0" tIns="0" rIns="0" bIns="0" rtlCol="0" anchor="ctr"/>
          <a:lstStyle/>
          <a:p>
            <a:pPr indent="0" marL="0">
              <a:buNone/>
            </a:pPr>
            <a:r>
              <a:rPr lang="en-US" sz="2400" b="1" dirty="0">
                <a:solidFill>
                  <a:schemeClr val="accent1"/>
                </a:solidFill>
              </a:rPr>
              <a:t>40.7 / 67.7 mm</a:t>
            </a:r>
            <a:endParaRPr lang="en-US" sz="2400" dirty="0"/>
          </a:p>
        </p:txBody>
      </p:sp>
      <p:sp>
        <p:nvSpPr>
          <p:cNvPr id="12" name="label Wasserstein-1 to the measured MEP model: insulation surface / bare surface (the measured quantity)"/>
          <p:cNvSpPr txBox="1"/>
          <p:nvPr/>
        </p:nvSpPr>
        <p:spPr>
          <a:xfrm>
            <a:off x="8001000" y="4679899"/>
            <a:ext cx="3410712" cy="362102"/>
          </a:xfrm>
          <a:prstGeom prst="rect">
            <a:avLst/>
          </a:prstGeom>
          <a:noFill/>
          <a:ln/>
        </p:spPr>
        <p:txBody>
          <a:bodyPr wrap="square" lIns="0" tIns="0" rIns="0" bIns="0" rtlCol="0" anchor="t"/>
          <a:lstStyle/>
          <a:p>
            <a:pPr indent="0" marL="0">
              <a:buNone/>
            </a:pPr>
            <a:r>
              <a:rPr lang="en-US" sz="1100" dirty="0">
                <a:solidFill>
                  <a:srgbClr val="52514E"/>
                </a:solidFill>
              </a:rPr>
              <a:t>Wasserstein-1 to the measured MEP model: insulation surface / bare surface (the measured quantity)</a:t>
            </a:r>
            <a:endParaRPr lang="en-US" sz="1100" dirty="0"/>
          </a:p>
        </p:txBody>
      </p:sp>
      <p:sp>
        <p:nvSpPr>
          <p:cNvPr id="13" name="appendix b note"/>
          <p:cNvSpPr txBox="1"/>
          <p:nvPr/>
        </p:nvSpPr>
        <p:spPr>
          <a:xfrm>
            <a:off x="548640" y="5120640"/>
            <a:ext cx="11091672" cy="548640"/>
          </a:xfrm>
          <a:prstGeom prst="rect">
            <a:avLst/>
          </a:prstGeom>
          <a:noFill/>
          <a:ln/>
        </p:spPr>
        <p:txBody>
          <a:bodyPr wrap="square" lIns="0" tIns="0" rIns="0" bIns="0" rtlCol="0" anchor="t"/>
          <a:lstStyle/>
          <a:p>
            <a:pPr indent="0" marL="0">
              <a:buNone/>
            </a:pPr>
            <a:r>
              <a:rPr lang="en-US" sz="1100" dirty="0">
                <a:solidFill>
                  <a:srgbClr val="52514E"/>
                </a:solidFill>
              </a:rPr>
              <a:t>The paper’s Table 1, Figure 3, Figure 4b and section 5.3 were computed on an internal build with a different pipe library; these are the values of the public files (RESULTS.md in the repository).</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the support designer's brief, as a dataset</dc:title>
  <dc:subject>43rd International CIB W78 Conference, New Delhi, 2026</dc:subject>
  <dc:creator>Lavinia Pedrollo</dc:creator>
  <cp:lastModifiedBy>Lavinia Pedrollo</cp:lastModifiedBy>
  <cp:revision>1</cp:revision>
  <dcterms:created xsi:type="dcterms:W3CDTF">2026-10-04T21:38:19Z</dcterms:created>
  <dcterms:modified xsi:type="dcterms:W3CDTF">2026-10-04T21:38:19Z</dcterms:modified>
</cp:coreProperties>
</file>