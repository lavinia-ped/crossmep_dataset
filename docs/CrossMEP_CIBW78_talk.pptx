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c17887-2821-2f7a-9895-4bfe5f9a0156}">
          <p14:sldIdLst>
            <p14:sldId id="256"/>
          </p14:sldIdLst>
        </p14:section>
        <p14:section name="Motivation" id="{83e74715-7f66-b7e2-28fe-09d164261fb6}">
          <p14:sldIdLst>
            <p14:sldId id="257"/>
            <p14:sldId id="258"/>
            <p14:sldId id="259"/>
            <p14:sldId id="260"/>
            <p14:sldId id="261"/>
          </p14:sldIdLst>
        </p14:section>
        <p14:section name="The dataset" id="{709f30f9-bf3b-a126-bc38-f0618633a07f}">
          <p14:sldIdLst>
            <p14:sldId id="262"/>
            <p14:sldId id="263"/>
            <p14:sldId id="264"/>
            <p14:sldId id="265"/>
            <p14:sldId id="266"/>
          </p14:sldIdLst>
        </p14:section>
        <p14:section name="Experiments" id="{8928fe26-e890-1ec0-1c45-95abe83039e0}">
          <p14:sldIdLst>
            <p14:sldId id="267"/>
            <p14:sldId id="268"/>
            <p14:sldId id="269"/>
          </p14:sldIdLst>
        </p14:section>
        <p14:section name="Use" id="{d4c47090-b65e-a9c6-4417-192b65f62e43}">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17573</c:v>
                </c:pt>
                <c:pt idx="1">
                  <c:v>6257</c:v>
                </c:pt>
                <c:pt idx="2">
                  <c:v>4237</c:v>
                </c:pt>
                <c:pt idx="3">
                  <c:v>3417</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959</c:v>
                </c:pt>
                <c:pt idx="1">
                  <c:v>1654</c:v>
                </c:pt>
                <c:pt idx="2">
                  <c:v>2503</c:v>
                </c:pt>
                <c:pt idx="3">
                  <c:v>2443</c:v>
                </c:pt>
                <c:pt idx="4">
                  <c:v>2512</c:v>
                </c:pt>
                <c:pt idx="5">
                  <c:v>2276</c:v>
                </c:pt>
                <c:pt idx="6">
                  <c:v>1308</c:v>
                </c:pt>
                <c:pt idx="7">
                  <c:v>1313</c:v>
                </c:pt>
                <c:pt idx="8">
                  <c:v>1348</c:v>
                </c:pt>
                <c:pt idx="9">
                  <c:v>635</c:v>
                </c:pt>
                <c:pt idx="10">
                  <c:v>622</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Lavinia Pedrollo, from Stanford. Every pipe, duct and cable tray in a building hangs from a support that an engineer designs by hand. We want machines to do some of that, and the first thing missing was data: no public set of support-design problems existed. So we built one, CrossMEP, with David Gvadzabia, Torben Graeber and Martin Fischer.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Every red mark in this hospital is a place where services hang from the structure. A modular support groups several services on one prefabricated frame: a structural support assembly. A hospital this size needs about ten thousand. Each takes twenty minutes to two hours to design, roughly a quarter of the MEP design effort. Practitioner estimates, but these are the numbers people live with. (0:25)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exactly is designed, and from what? In: one cross-section at a hanger. The structure it hangs from, and the services crossing it, each with trade, position, size and weight per metre. That is the context: the brief. Out: assemblies of catalog parts that carry those services to the structure, checked for statics, anchors, connectors and buildability, ranked by cost. That is the answer. Keep the two apart: CrossMEP is contexts. It contains no assemblies. (0:55)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Designers work from one section at each hanger, after coordination. Tools coordinate and check; they do not choose the layout or the parts. Three reasons: the topology comes from experience, the rules interact across thousands of combinations, and catalogs change faster than rule systems can be rewritten.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a method look like? The context and a catalog go in. Rules say which actions are legal; each action adds parts. In the middle, a black box chooses the next action: a rule table, a search, or a learned policy. A verifier checks every finished design and feeds pass or fail back. Whatever sits in the black box, it needs problems to learn from, a fixed set to compare on, and problems that look like practice.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designs we had were few, from one kind of project with one trade mix: one corner of the design space. A method tuned on them measures fit to that project. So we generate. CrossMEP fills the space by construction, without limit: a new seed is a new set, uniform over the tiers or any mix you ask for. Seven thousand contexts are the release, not the ceiling.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(3:15)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splits on disjoint seeds: five thousand for training, five hundred each for validation and test, and a benchmark of a thousand, a hundred and twenty-five per tier. Plain JSON, with a schema and a datasheet.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benchmark context per tier. C1 is a single element, the most common support in any building; C8 has eight services on three rows. Within a tier everything else varies, so the element count is the one controlled axis of difficulty. On walls the section rotates, and electrical sits above water.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the count is fixed by construction, and load and congestion follow from the rules. Load at the support rises with the tier, from about 0.3 to 2.0 kilonewtons, and the closest gap narrows at every step, from 130 to about 51 millimetres. The dataset behaves as designed. (4:40)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The same files serve reinforcement learning, constraint programming and benchmarking, and we ship the scoring. Train on the generator, C1 up to C8. Evaluate on the benchmark, the same 125 contexts per tier for every method. Report per tier, with intervals and paired tests. (7:10)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(7:35)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hospital needs about 10,000 support assemblies, each designed by hand</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EB6834"/>
            </a:solidFill>
            <a:prstDash val="solid"/>
          </a:ln>
        </p:spPr>
      </p:sp>
      <p:sp>
        <p:nvSpPr>
          <p:cNvPr id="5" name="zoom line top"/>
          <p:cNvSpPr/>
          <p:nvPr/>
        </p:nvSpPr>
        <p:spPr>
          <a:xfrm flipV="1">
            <a:off x="3897484" y="2791716"/>
            <a:ext cx="3051956" cy="-1008636"/>
          </a:xfrm>
          <a:prstGeom prst="line">
            <a:avLst/>
          </a:prstGeom>
          <a:noFill/>
          <a:ln w="19050">
            <a:solidFill>
              <a:srgbClr val="EB6834"/>
            </a:solidFill>
            <a:prstDash val="solid"/>
          </a:ln>
        </p:spPr>
      </p:sp>
      <p:sp>
        <p:nvSpPr>
          <p:cNvPr id="6" name="zoom line bottom"/>
          <p:cNvSpPr/>
          <p:nvPr/>
        </p:nvSpPr>
        <p:spPr>
          <a:xfrm>
            <a:off x="3897484" y="3265617"/>
            <a:ext cx="3051956" cy="1210645"/>
          </a:xfrm>
          <a:prstGeom prst="line">
            <a:avLst/>
          </a:prstGeom>
          <a:noFill/>
          <a:ln w="19050">
            <a:solidFill>
              <a:srgbClr val="EB6834"/>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EB6834"/>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tile assemblies"/>
          <p:cNvSpPr/>
          <p:nvPr/>
        </p:nvSpPr>
        <p:spPr>
          <a:xfrm>
            <a:off x="548640" y="4892040"/>
            <a:ext cx="3575304" cy="1188720"/>
          </a:xfrm>
          <a:prstGeom prst="roundRect">
            <a:avLst>
              <a:gd name="adj" fmla="val 5385"/>
            </a:avLst>
          </a:prstGeom>
          <a:solidFill>
            <a:schemeClr val="bg2"/>
          </a:solidFill>
          <a:ln/>
        </p:spPr>
      </p:sp>
      <p:sp>
        <p:nvSpPr>
          <p:cNvPr id="11" name="icon ring assemblies"/>
          <p:cNvSpPr/>
          <p:nvPr/>
        </p:nvSpPr>
        <p:spPr>
          <a:xfrm>
            <a:off x="777240" y="5193792"/>
            <a:ext cx="585216" cy="585216"/>
          </a:xfrm>
          <a:prstGeom prst="ellipse">
            <a:avLst/>
          </a:prstGeom>
          <a:solidFill>
            <a:schemeClr val="accent1"/>
          </a:solidFill>
          <a:ln/>
        </p:spPr>
      </p:sp>
      <p:pic>
        <p:nvPicPr>
          <p:cNvPr id="12"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3" name="value assemblies"/>
          <p:cNvSpPr txBox="1"/>
          <p:nvPr/>
        </p:nvSpPr>
        <p:spPr>
          <a:xfrm>
            <a:off x="1554480"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10,000</a:t>
            </a:r>
            <a:endParaRPr lang="en-US" sz="2800" dirty="0"/>
          </a:p>
        </p:txBody>
      </p:sp>
      <p:sp>
        <p:nvSpPr>
          <p:cNvPr id="14" name="label assemblies"/>
          <p:cNvSpPr txBox="1"/>
          <p:nvPr/>
        </p:nvSpPr>
        <p:spPr>
          <a:xfrm>
            <a:off x="1554480"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15" name="tile time"/>
          <p:cNvSpPr/>
          <p:nvPr/>
        </p:nvSpPr>
        <p:spPr>
          <a:xfrm>
            <a:off x="4306824" y="4892040"/>
            <a:ext cx="3575304" cy="1188720"/>
          </a:xfrm>
          <a:prstGeom prst="roundRect">
            <a:avLst>
              <a:gd name="adj" fmla="val 5385"/>
            </a:avLst>
          </a:prstGeom>
          <a:solidFill>
            <a:schemeClr val="bg2"/>
          </a:solidFill>
          <a:ln/>
        </p:spPr>
      </p:sp>
      <p:sp>
        <p:nvSpPr>
          <p:cNvPr id="16" name="icon ring time"/>
          <p:cNvSpPr/>
          <p:nvPr/>
        </p:nvSpPr>
        <p:spPr>
          <a:xfrm>
            <a:off x="4535424" y="5193792"/>
            <a:ext cx="585216" cy="585216"/>
          </a:xfrm>
          <a:prstGeom prst="ellipse">
            <a:avLst/>
          </a:prstGeom>
          <a:solidFill>
            <a:schemeClr val="accent1"/>
          </a:solidFill>
          <a:ln/>
        </p:spPr>
      </p:sp>
      <p:pic>
        <p:nvPicPr>
          <p:cNvPr id="17" name="icon time" descr="preencoded.png">    </p:cNvPr>
          <p:cNvPicPr>
            <a:picLocks noChangeAspect="1"/>
          </p:cNvPicPr>
          <p:nvPr/>
        </p:nvPicPr>
        <p:blipFill>
          <a:blip r:embed="rId4"/>
          <a:stretch>
            <a:fillRect/>
          </a:stretch>
        </p:blipFill>
        <p:spPr>
          <a:xfrm>
            <a:off x="4658319" y="5316687"/>
            <a:ext cx="339425" cy="339425"/>
          </a:xfrm>
          <a:prstGeom prst="rect">
            <a:avLst/>
          </a:prstGeom>
        </p:spPr>
      </p:pic>
      <p:sp>
        <p:nvSpPr>
          <p:cNvPr id="18" name="value time"/>
          <p:cNvSpPr txBox="1"/>
          <p:nvPr/>
        </p:nvSpPr>
        <p:spPr>
          <a:xfrm>
            <a:off x="5312664"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20 min – 2 h</a:t>
            </a:r>
            <a:endParaRPr lang="en-US" sz="2800" dirty="0"/>
          </a:p>
        </p:txBody>
      </p:sp>
      <p:sp>
        <p:nvSpPr>
          <p:cNvPr id="19" name="label time"/>
          <p:cNvSpPr txBox="1"/>
          <p:nvPr/>
        </p:nvSpPr>
        <p:spPr>
          <a:xfrm>
            <a:off x="5312664"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engineering for each assembly, designed one by one</a:t>
            </a:r>
            <a:endParaRPr lang="en-US" sz="1200" dirty="0"/>
          </a:p>
        </p:txBody>
      </p:sp>
      <p:sp>
        <p:nvSpPr>
          <p:cNvPr id="20" name="tile effort"/>
          <p:cNvSpPr/>
          <p:nvPr/>
        </p:nvSpPr>
        <p:spPr>
          <a:xfrm>
            <a:off x="8065008" y="4892040"/>
            <a:ext cx="3575304" cy="1188720"/>
          </a:xfrm>
          <a:prstGeom prst="roundRect">
            <a:avLst>
              <a:gd name="adj" fmla="val 5385"/>
            </a:avLst>
          </a:prstGeom>
          <a:solidFill>
            <a:schemeClr val="bg2"/>
          </a:solidFill>
          <a:ln/>
        </p:spPr>
      </p:sp>
      <p:sp>
        <p:nvSpPr>
          <p:cNvPr id="21" name="icon ring effort"/>
          <p:cNvSpPr/>
          <p:nvPr/>
        </p:nvSpPr>
        <p:spPr>
          <a:xfrm>
            <a:off x="8293608" y="5193792"/>
            <a:ext cx="585216" cy="585216"/>
          </a:xfrm>
          <a:prstGeom prst="ellipse">
            <a:avLst/>
          </a:prstGeom>
          <a:solidFill>
            <a:schemeClr val="accent1"/>
          </a:solidFill>
          <a:ln/>
        </p:spPr>
      </p:sp>
      <p:pic>
        <p:nvPicPr>
          <p:cNvPr id="22" name="icon effort" descr="preencoded.png">    </p:cNvPr>
          <p:cNvPicPr>
            <a:picLocks noChangeAspect="1"/>
          </p:cNvPicPr>
          <p:nvPr/>
        </p:nvPicPr>
        <p:blipFill>
          <a:blip r:embed="rId5"/>
          <a:stretch>
            <a:fillRect/>
          </a:stretch>
        </p:blipFill>
        <p:spPr>
          <a:xfrm>
            <a:off x="8416503" y="5316687"/>
            <a:ext cx="339425" cy="339425"/>
          </a:xfrm>
          <a:prstGeom prst="rect">
            <a:avLst/>
          </a:prstGeom>
        </p:spPr>
      </p:pic>
      <p:sp>
        <p:nvSpPr>
          <p:cNvPr id="23" name="value effort"/>
          <p:cNvSpPr txBox="1"/>
          <p:nvPr/>
        </p:nvSpPr>
        <p:spPr>
          <a:xfrm>
            <a:off x="9070848" y="4956048"/>
            <a:ext cx="2386584" cy="548640"/>
          </a:xfrm>
          <a:prstGeom prst="rect">
            <a:avLst/>
          </a:prstGeom>
          <a:noFill/>
          <a:ln/>
        </p:spPr>
        <p:txBody>
          <a:bodyPr wrap="square" lIns="0" tIns="0" rIns="0" bIns="0" rtlCol="0" anchor="ctr"/>
          <a:lstStyle/>
          <a:p>
            <a:pPr indent="0" marL="0">
              <a:buNone/>
            </a:pPr>
            <a:r>
              <a:rPr lang="en-US" sz="2800" b="1" dirty="0">
                <a:solidFill>
                  <a:schemeClr val="accent1"/>
                </a:solidFill>
              </a:rPr>
              <a:t>≈ ¼</a:t>
            </a:r>
            <a:endParaRPr lang="en-US" sz="2800" dirty="0"/>
          </a:p>
        </p:txBody>
      </p:sp>
      <p:sp>
        <p:nvSpPr>
          <p:cNvPr id="24" name="label effort"/>
          <p:cNvSpPr txBox="1"/>
          <p:nvPr/>
        </p:nvSpPr>
        <p:spPr>
          <a:xfrm>
            <a:off x="9070848" y="5504688"/>
            <a:ext cx="2386584" cy="530352"/>
          </a:xfrm>
          <a:prstGeom prst="rect">
            <a:avLst/>
          </a:prstGeom>
          <a:noFill/>
          <a:ln/>
        </p:spPr>
        <p:txBody>
          <a:bodyPr wrap="square" lIns="0" tIns="0" rIns="0" bIns="0" rtlCol="0" anchor="t"/>
          <a:lstStyle/>
          <a:p>
            <a:pPr indent="0" marL="0">
              <a:buNone/>
            </a:pPr>
            <a:r>
              <a:rPr lang="en-US" sz="1200" dirty="0">
                <a:solidFill>
                  <a:srgbClr val="52514E"/>
                </a:solidFill>
              </a:rPr>
              <a:t>of MEP design effort; on the order of $600K per project</a:t>
            </a:r>
            <a:endParaRPr lang="en-US" sz="1200" dirty="0"/>
          </a:p>
        </p:txBody>
      </p:sp>
      <p:sp>
        <p:nvSpPr>
          <p:cNvPr id="2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Approximate practitioner estimates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designer turns one cross-section into verified support assemblies</a:t>
            </a:r>
            <a:endParaRPr lang="en-US" sz="2600" dirty="0"/>
          </a:p>
        </p:txBody>
      </p:sp>
      <p:sp>
        <p:nvSpPr>
          <p:cNvPr id="3" name="head in"/>
          <p:cNvSpPr txBox="1"/>
          <p:nvPr/>
        </p:nvSpPr>
        <p:spPr>
          <a:xfrm>
            <a:off x="548640"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In: one cross-section = a context</a:t>
            </a:r>
            <a:endParaRPr lang="en-US" sz="1600" dirty="0"/>
          </a:p>
        </p:txBody>
      </p:sp>
      <p:sp>
        <p:nvSpPr>
          <p:cNvPr id="4" name="frame in"/>
          <p:cNvSpPr/>
          <p:nvPr/>
        </p:nvSpPr>
        <p:spPr>
          <a:xfrm>
            <a:off x="548640" y="1828800"/>
            <a:ext cx="4846320" cy="2743200"/>
          </a:xfrm>
          <a:prstGeom prst="roundRect">
            <a:avLst>
              <a:gd name="adj" fmla="val 2000"/>
            </a:avLst>
          </a:prstGeom>
          <a:solidFill>
            <a:srgbClr val="FFFFFF"/>
          </a:solidFill>
          <a:ln w="12700">
            <a:solidFill>
              <a:srgbClr val="E1E0D9"/>
            </a:solidFill>
            <a:prstDash val="solid"/>
          </a:ln>
        </p:spPr>
      </p:sp>
      <p:sp>
        <p:nvSpPr>
          <p:cNvPr id="5" name="ceiling in"/>
          <p:cNvSpPr/>
          <p:nvPr/>
        </p:nvSpPr>
        <p:spPr>
          <a:xfrm>
            <a:off x="731520" y="2011680"/>
            <a:ext cx="4480560" cy="384048"/>
          </a:xfrm>
          <a:prstGeom prst="rect">
            <a:avLst/>
          </a:prstGeom>
          <a:solidFill>
            <a:srgbClr val="EEF1F4"/>
          </a:solidFill>
          <a:ln w="9525">
            <a:solidFill>
              <a:srgbClr val="52514E"/>
            </a:solidFill>
            <a:prstDash val="solid"/>
          </a:ln>
        </p:spPr>
      </p:sp>
      <p:sp>
        <p:nvSpPr>
          <p:cNvPr id="6" name="hatch in 0.8"/>
          <p:cNvSpPr/>
          <p:nvPr/>
        </p:nvSpPr>
        <p:spPr>
          <a:xfrm flipV="1">
            <a:off x="731520" y="2011680"/>
            <a:ext cx="274320" cy="384048"/>
          </a:xfrm>
          <a:prstGeom prst="line">
            <a:avLst/>
          </a:prstGeom>
          <a:noFill/>
          <a:ln w="6350">
            <a:solidFill>
              <a:srgbClr val="898781"/>
            </a:solidFill>
            <a:prstDash val="solid"/>
          </a:ln>
        </p:spPr>
      </p:sp>
      <p:sp>
        <p:nvSpPr>
          <p:cNvPr id="7" name="hatch in 1.1"/>
          <p:cNvSpPr/>
          <p:nvPr/>
        </p:nvSpPr>
        <p:spPr>
          <a:xfrm flipV="1">
            <a:off x="1005840" y="2011680"/>
            <a:ext cx="274320" cy="384048"/>
          </a:xfrm>
          <a:prstGeom prst="line">
            <a:avLst/>
          </a:prstGeom>
          <a:noFill/>
          <a:ln w="6350">
            <a:solidFill>
              <a:srgbClr val="898781"/>
            </a:solidFill>
            <a:prstDash val="solid"/>
          </a:ln>
        </p:spPr>
      </p:sp>
      <p:sp>
        <p:nvSpPr>
          <p:cNvPr id="8" name="hatch in 1.4"/>
          <p:cNvSpPr/>
          <p:nvPr/>
        </p:nvSpPr>
        <p:spPr>
          <a:xfrm flipV="1">
            <a:off x="1280160" y="2011680"/>
            <a:ext cx="274320" cy="384048"/>
          </a:xfrm>
          <a:prstGeom prst="line">
            <a:avLst/>
          </a:prstGeom>
          <a:noFill/>
          <a:ln w="6350">
            <a:solidFill>
              <a:srgbClr val="898781"/>
            </a:solidFill>
            <a:prstDash val="solid"/>
          </a:ln>
        </p:spPr>
      </p:sp>
      <p:sp>
        <p:nvSpPr>
          <p:cNvPr id="9" name="hatch in 1.7"/>
          <p:cNvSpPr/>
          <p:nvPr/>
        </p:nvSpPr>
        <p:spPr>
          <a:xfrm flipV="1">
            <a:off x="1554480" y="2011680"/>
            <a:ext cx="274320" cy="384048"/>
          </a:xfrm>
          <a:prstGeom prst="line">
            <a:avLst/>
          </a:prstGeom>
          <a:noFill/>
          <a:ln w="6350">
            <a:solidFill>
              <a:srgbClr val="898781"/>
            </a:solidFill>
            <a:prstDash val="solid"/>
          </a:ln>
        </p:spPr>
      </p:sp>
      <p:sp>
        <p:nvSpPr>
          <p:cNvPr id="10" name="hatch in 2.0"/>
          <p:cNvSpPr/>
          <p:nvPr/>
        </p:nvSpPr>
        <p:spPr>
          <a:xfrm flipV="1">
            <a:off x="1828800" y="2011680"/>
            <a:ext cx="274320" cy="384048"/>
          </a:xfrm>
          <a:prstGeom prst="line">
            <a:avLst/>
          </a:prstGeom>
          <a:noFill/>
          <a:ln w="6350">
            <a:solidFill>
              <a:srgbClr val="898781"/>
            </a:solidFill>
            <a:prstDash val="solid"/>
          </a:ln>
        </p:spPr>
      </p:sp>
      <p:sp>
        <p:nvSpPr>
          <p:cNvPr id="11" name="hatch in 2.3"/>
          <p:cNvSpPr/>
          <p:nvPr/>
        </p:nvSpPr>
        <p:spPr>
          <a:xfrm flipV="1">
            <a:off x="2103120" y="2011680"/>
            <a:ext cx="274320" cy="384048"/>
          </a:xfrm>
          <a:prstGeom prst="line">
            <a:avLst/>
          </a:prstGeom>
          <a:noFill/>
          <a:ln w="6350">
            <a:solidFill>
              <a:srgbClr val="898781"/>
            </a:solidFill>
            <a:prstDash val="solid"/>
          </a:ln>
        </p:spPr>
      </p:sp>
      <p:sp>
        <p:nvSpPr>
          <p:cNvPr id="12" name="hatch in 2.6"/>
          <p:cNvSpPr/>
          <p:nvPr/>
        </p:nvSpPr>
        <p:spPr>
          <a:xfrm flipV="1">
            <a:off x="2377440" y="2011680"/>
            <a:ext cx="274320" cy="384048"/>
          </a:xfrm>
          <a:prstGeom prst="line">
            <a:avLst/>
          </a:prstGeom>
          <a:noFill/>
          <a:ln w="6350">
            <a:solidFill>
              <a:srgbClr val="898781"/>
            </a:solidFill>
            <a:prstDash val="solid"/>
          </a:ln>
        </p:spPr>
      </p:sp>
      <p:sp>
        <p:nvSpPr>
          <p:cNvPr id="13" name="hatch in 2.9"/>
          <p:cNvSpPr/>
          <p:nvPr/>
        </p:nvSpPr>
        <p:spPr>
          <a:xfrm flipV="1">
            <a:off x="2651760" y="2011680"/>
            <a:ext cx="274320" cy="384048"/>
          </a:xfrm>
          <a:prstGeom prst="line">
            <a:avLst/>
          </a:prstGeom>
          <a:noFill/>
          <a:ln w="6350">
            <a:solidFill>
              <a:srgbClr val="898781"/>
            </a:solidFill>
            <a:prstDash val="solid"/>
          </a:ln>
        </p:spPr>
      </p:sp>
      <p:sp>
        <p:nvSpPr>
          <p:cNvPr id="14" name="hatch in 3.2"/>
          <p:cNvSpPr/>
          <p:nvPr/>
        </p:nvSpPr>
        <p:spPr>
          <a:xfrm flipV="1">
            <a:off x="2926080" y="2011680"/>
            <a:ext cx="274320" cy="384048"/>
          </a:xfrm>
          <a:prstGeom prst="line">
            <a:avLst/>
          </a:prstGeom>
          <a:noFill/>
          <a:ln w="6350">
            <a:solidFill>
              <a:srgbClr val="898781"/>
            </a:solidFill>
            <a:prstDash val="solid"/>
          </a:ln>
        </p:spPr>
      </p:sp>
      <p:sp>
        <p:nvSpPr>
          <p:cNvPr id="15" name="hatch in 3.5"/>
          <p:cNvSpPr/>
          <p:nvPr/>
        </p:nvSpPr>
        <p:spPr>
          <a:xfrm flipV="1">
            <a:off x="3200400" y="2011680"/>
            <a:ext cx="274320" cy="384048"/>
          </a:xfrm>
          <a:prstGeom prst="line">
            <a:avLst/>
          </a:prstGeom>
          <a:noFill/>
          <a:ln w="6350">
            <a:solidFill>
              <a:srgbClr val="898781"/>
            </a:solidFill>
            <a:prstDash val="solid"/>
          </a:ln>
        </p:spPr>
      </p:sp>
      <p:sp>
        <p:nvSpPr>
          <p:cNvPr id="16" name="hatch in 3.8"/>
          <p:cNvSpPr/>
          <p:nvPr/>
        </p:nvSpPr>
        <p:spPr>
          <a:xfrm flipV="1">
            <a:off x="3474720" y="2011680"/>
            <a:ext cx="274320" cy="384048"/>
          </a:xfrm>
          <a:prstGeom prst="line">
            <a:avLst/>
          </a:prstGeom>
          <a:noFill/>
          <a:ln w="6350">
            <a:solidFill>
              <a:srgbClr val="898781"/>
            </a:solidFill>
            <a:prstDash val="solid"/>
          </a:ln>
        </p:spPr>
      </p:sp>
      <p:sp>
        <p:nvSpPr>
          <p:cNvPr id="17" name="hatch in 4.1"/>
          <p:cNvSpPr/>
          <p:nvPr/>
        </p:nvSpPr>
        <p:spPr>
          <a:xfrm flipV="1">
            <a:off x="3749040" y="2011680"/>
            <a:ext cx="274320" cy="384048"/>
          </a:xfrm>
          <a:prstGeom prst="line">
            <a:avLst/>
          </a:prstGeom>
          <a:noFill/>
          <a:ln w="6350">
            <a:solidFill>
              <a:srgbClr val="898781"/>
            </a:solidFill>
            <a:prstDash val="solid"/>
          </a:ln>
        </p:spPr>
      </p:sp>
      <p:sp>
        <p:nvSpPr>
          <p:cNvPr id="18" name="hatch in 4.4"/>
          <p:cNvSpPr/>
          <p:nvPr/>
        </p:nvSpPr>
        <p:spPr>
          <a:xfrm flipV="1">
            <a:off x="4023360" y="2011680"/>
            <a:ext cx="274320" cy="384048"/>
          </a:xfrm>
          <a:prstGeom prst="line">
            <a:avLst/>
          </a:prstGeom>
          <a:noFill/>
          <a:ln w="6350">
            <a:solidFill>
              <a:srgbClr val="898781"/>
            </a:solidFill>
            <a:prstDash val="solid"/>
          </a:ln>
        </p:spPr>
      </p:sp>
      <p:sp>
        <p:nvSpPr>
          <p:cNvPr id="19" name="hatch in 4.7"/>
          <p:cNvSpPr/>
          <p:nvPr/>
        </p:nvSpPr>
        <p:spPr>
          <a:xfrm flipV="1">
            <a:off x="4297680" y="2011680"/>
            <a:ext cx="274320" cy="384048"/>
          </a:xfrm>
          <a:prstGeom prst="line">
            <a:avLst/>
          </a:prstGeom>
          <a:noFill/>
          <a:ln w="6350">
            <a:solidFill>
              <a:srgbClr val="898781"/>
            </a:solidFill>
            <a:prstDash val="solid"/>
          </a:ln>
        </p:spPr>
      </p:sp>
      <p:sp>
        <p:nvSpPr>
          <p:cNvPr id="20" name="hatch in 5.0"/>
          <p:cNvSpPr/>
          <p:nvPr/>
        </p:nvSpPr>
        <p:spPr>
          <a:xfrm flipV="1">
            <a:off x="4572000" y="2011680"/>
            <a:ext cx="274320" cy="384048"/>
          </a:xfrm>
          <a:prstGeom prst="line">
            <a:avLst/>
          </a:prstGeom>
          <a:noFill/>
          <a:ln w="6350">
            <a:solidFill>
              <a:srgbClr val="898781"/>
            </a:solidFill>
            <a:prstDash val="solid"/>
          </a:ln>
        </p:spPr>
      </p:sp>
      <p:sp>
        <p:nvSpPr>
          <p:cNvPr id="21" name="hatch in 5.3"/>
          <p:cNvSpPr/>
          <p:nvPr/>
        </p:nvSpPr>
        <p:spPr>
          <a:xfrm flipV="1">
            <a:off x="4846320" y="2011680"/>
            <a:ext cx="274320" cy="384048"/>
          </a:xfrm>
          <a:prstGeom prst="line">
            <a:avLst/>
          </a:prstGeom>
          <a:noFill/>
          <a:ln w="6350">
            <a:solidFill>
              <a:srgbClr val="898781"/>
            </a:solidFill>
            <a:prstDash val="solid"/>
          </a:ln>
        </p:spPr>
      </p:sp>
      <p:sp>
        <p:nvSpPr>
          <p:cNvPr id="22" name="ceiling label in"/>
          <p:cNvSpPr txBox="1"/>
          <p:nvPr/>
        </p:nvSpPr>
        <p:spPr>
          <a:xfrm>
            <a:off x="2194560"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23" name="duct in"/>
          <p:cNvSpPr/>
          <p:nvPr/>
        </p:nvSpPr>
        <p:spPr>
          <a:xfrm>
            <a:off x="960120" y="3017520"/>
            <a:ext cx="1417320" cy="868680"/>
          </a:xfrm>
          <a:prstGeom prst="rect">
            <a:avLst/>
          </a:prstGeom>
          <a:solidFill>
            <a:srgbClr val="EEF1F4"/>
          </a:solidFill>
          <a:ln w="12700">
            <a:solidFill>
              <a:srgbClr val="52514E"/>
            </a:solidFill>
            <a:prstDash val="solid"/>
          </a:ln>
        </p:spPr>
      </p:sp>
      <p:sp>
        <p:nvSpPr>
          <p:cNvPr id="24" name="duct label in"/>
          <p:cNvSpPr txBox="1"/>
          <p:nvPr/>
        </p:nvSpPr>
        <p:spPr>
          <a:xfrm>
            <a:off x="960120" y="301752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25" name="pipe a in"/>
          <p:cNvSpPr/>
          <p:nvPr/>
        </p:nvSpPr>
        <p:spPr>
          <a:xfrm>
            <a:off x="2697480" y="3246120"/>
            <a:ext cx="640080" cy="640080"/>
          </a:xfrm>
          <a:prstGeom prst="ellipse">
            <a:avLst/>
          </a:prstGeom>
          <a:solidFill>
            <a:srgbClr val="EEF1F4"/>
          </a:solidFill>
          <a:ln w="12700">
            <a:solidFill>
              <a:srgbClr val="52514E"/>
            </a:solidFill>
            <a:prstDash val="solid"/>
          </a:ln>
        </p:spPr>
      </p:sp>
      <p:sp>
        <p:nvSpPr>
          <p:cNvPr id="26" name="pipe b in"/>
          <p:cNvSpPr/>
          <p:nvPr/>
        </p:nvSpPr>
        <p:spPr>
          <a:xfrm>
            <a:off x="3474720" y="3474720"/>
            <a:ext cx="411480" cy="411480"/>
          </a:xfrm>
          <a:prstGeom prst="ellipse">
            <a:avLst/>
          </a:prstGeom>
          <a:solidFill>
            <a:srgbClr val="EEF1F4"/>
          </a:solidFill>
          <a:ln w="12700">
            <a:solidFill>
              <a:srgbClr val="52514E"/>
            </a:solidFill>
            <a:prstDash val="solid"/>
          </a:ln>
        </p:spPr>
      </p:sp>
      <p:sp>
        <p:nvSpPr>
          <p:cNvPr id="27" name="tray in"/>
          <p:cNvSpPr/>
          <p:nvPr/>
        </p:nvSpPr>
        <p:spPr>
          <a:xfrm>
            <a:off x="3931920" y="3611880"/>
            <a:ext cx="914400" cy="274320"/>
          </a:xfrm>
          <a:prstGeom prst="rect">
            <a:avLst/>
          </a:prstGeom>
          <a:solidFill>
            <a:srgbClr val="EEF1F4"/>
          </a:solidFill>
          <a:ln w="12700">
            <a:solidFill>
              <a:srgbClr val="52514E"/>
            </a:solidFill>
            <a:prstDash val="solid"/>
          </a:ln>
        </p:spPr>
      </p:sp>
      <p:sp>
        <p:nvSpPr>
          <p:cNvPr id="28" name="pipes label"/>
          <p:cNvSpPr txBox="1"/>
          <p:nvPr/>
        </p:nvSpPr>
        <p:spPr>
          <a:xfrm>
            <a:off x="2697480" y="395935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Pipes</a:t>
            </a:r>
            <a:endParaRPr lang="en-US" sz="1200" dirty="0"/>
          </a:p>
        </p:txBody>
      </p:sp>
      <p:sp>
        <p:nvSpPr>
          <p:cNvPr id="29" name="tray label"/>
          <p:cNvSpPr txBox="1"/>
          <p:nvPr/>
        </p:nvSpPr>
        <p:spPr>
          <a:xfrm>
            <a:off x="3840480" y="3959352"/>
            <a:ext cx="1097280" cy="274320"/>
          </a:xfrm>
          <a:prstGeom prst="rect">
            <a:avLst/>
          </a:prstGeom>
          <a:noFill/>
          <a:ln/>
        </p:spPr>
        <p:txBody>
          <a:bodyPr wrap="square" lIns="0" tIns="0" rIns="0" bIns="0" rtlCol="0" anchor="ctr"/>
          <a:lstStyle/>
          <a:p>
            <a:pPr algn="ctr" indent="0" marL="0">
              <a:buNone/>
            </a:pPr>
            <a:r>
              <a:rPr lang="en-US" sz="1200" dirty="0">
                <a:solidFill>
                  <a:schemeClr val="tx1"/>
                </a:solidFill>
              </a:rPr>
              <a:t>Cable tray</a:t>
            </a:r>
            <a:endParaRPr lang="en-US" sz="1200" dirty="0"/>
          </a:p>
        </p:txBody>
      </p:sp>
      <p:sp>
        <p:nvSpPr>
          <p:cNvPr id="30" name="in caption"/>
          <p:cNvSpPr txBox="1"/>
          <p:nvPr/>
        </p:nvSpPr>
        <p:spPr>
          <a:xfrm>
            <a:off x="548640"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Structure: ceiling, floor or wall, with anchor zones</a:t>
            </a:r>
            <a:endParaRPr lang="en-US" sz="1200" dirty="0"/>
          </a:p>
          <a:p>
            <a:pPr indent="0" marL="0">
              <a:buNone/>
            </a:pPr>
            <a:r>
              <a:rPr lang="en-US" sz="1200" dirty="0">
                <a:solidFill>
                  <a:srgbClr val="52514E"/>
                </a:solidFill>
              </a:rPr>
              <a:t>Services: trade, position, size and weight per metre</a:t>
            </a:r>
            <a:endParaRPr lang="en-US" sz="1200" dirty="0"/>
          </a:p>
        </p:txBody>
      </p:sp>
      <p:sp>
        <p:nvSpPr>
          <p:cNvPr id="31" name="design arrow"/>
          <p:cNvSpPr/>
          <p:nvPr/>
        </p:nvSpPr>
        <p:spPr>
          <a:xfrm>
            <a:off x="5577840" y="3200400"/>
            <a:ext cx="1033272" cy="0"/>
          </a:xfrm>
          <a:prstGeom prst="line">
            <a:avLst/>
          </a:prstGeom>
          <a:noFill/>
          <a:ln w="19050">
            <a:solidFill>
              <a:srgbClr val="52514E"/>
            </a:solidFill>
            <a:prstDash val="solid"/>
            <a:tailEnd type="triangle"/>
          </a:ln>
        </p:spPr>
      </p:sp>
      <p:sp>
        <p:nvSpPr>
          <p:cNvPr id="32" name="design label"/>
          <p:cNvSpPr txBox="1"/>
          <p:nvPr/>
        </p:nvSpPr>
        <p:spPr>
          <a:xfrm>
            <a:off x="5394960" y="2834640"/>
            <a:ext cx="1399032" cy="274320"/>
          </a:xfrm>
          <a:prstGeom prst="rect">
            <a:avLst/>
          </a:prstGeom>
          <a:noFill/>
          <a:ln/>
        </p:spPr>
        <p:txBody>
          <a:bodyPr wrap="square" lIns="0" tIns="0" rIns="0" bIns="0" rtlCol="0" anchor="ctr"/>
          <a:lstStyle/>
          <a:p>
            <a:pPr algn="ctr" indent="0" marL="0">
              <a:buNone/>
            </a:pPr>
            <a:r>
              <a:rPr lang="en-US" sz="1150" dirty="0">
                <a:solidFill>
                  <a:srgbClr val="52514E"/>
                </a:solidFill>
              </a:rPr>
              <a:t>design</a:t>
            </a:r>
            <a:endParaRPr lang="en-US" sz="1150" dirty="0"/>
          </a:p>
        </p:txBody>
      </p:sp>
      <p:sp>
        <p:nvSpPr>
          <p:cNvPr id="33" name="head out"/>
          <p:cNvSpPr txBox="1"/>
          <p:nvPr/>
        </p:nvSpPr>
        <p:spPr>
          <a:xfrm>
            <a:off x="6793992" y="1325880"/>
            <a:ext cx="4846320" cy="274320"/>
          </a:xfrm>
          <a:prstGeom prst="rect">
            <a:avLst/>
          </a:prstGeom>
          <a:noFill/>
          <a:ln/>
        </p:spPr>
        <p:txBody>
          <a:bodyPr wrap="square" lIns="0" tIns="0" rIns="0" bIns="0" rtlCol="0" anchor="ctr"/>
          <a:lstStyle/>
          <a:p>
            <a:pPr indent="0" marL="0">
              <a:buNone/>
            </a:pPr>
            <a:r>
              <a:rPr lang="en-US" sz="1600" b="1" dirty="0">
                <a:solidFill>
                  <a:schemeClr val="tx1"/>
                </a:solidFill>
              </a:rPr>
              <a:t>Out: verified support designs = assemblies</a:t>
            </a:r>
            <a:endParaRPr lang="en-US" sz="1600" dirty="0"/>
          </a:p>
        </p:txBody>
      </p:sp>
      <p:sp>
        <p:nvSpPr>
          <p:cNvPr id="34" name="frame out back 0"/>
          <p:cNvSpPr/>
          <p:nvPr/>
        </p:nvSpPr>
        <p:spPr>
          <a:xfrm>
            <a:off x="6976872" y="1645920"/>
            <a:ext cx="4846320" cy="2743200"/>
          </a:xfrm>
          <a:prstGeom prst="roundRect">
            <a:avLst>
              <a:gd name="adj" fmla="val 2000"/>
            </a:avLst>
          </a:prstGeom>
          <a:solidFill>
            <a:srgbClr val="FFFFFF"/>
          </a:solidFill>
          <a:ln w="12700">
            <a:solidFill>
              <a:srgbClr val="E1E0D9"/>
            </a:solidFill>
            <a:prstDash val="solid"/>
          </a:ln>
        </p:spPr>
      </p:sp>
      <p:sp>
        <p:nvSpPr>
          <p:cNvPr id="35" name="frame out back 1"/>
          <p:cNvSpPr/>
          <p:nvPr/>
        </p:nvSpPr>
        <p:spPr>
          <a:xfrm>
            <a:off x="6885432" y="1737360"/>
            <a:ext cx="4846320" cy="2743200"/>
          </a:xfrm>
          <a:prstGeom prst="roundRect">
            <a:avLst>
              <a:gd name="adj" fmla="val 2000"/>
            </a:avLst>
          </a:prstGeom>
          <a:solidFill>
            <a:srgbClr val="FFFFFF"/>
          </a:solidFill>
          <a:ln w="12700">
            <a:solidFill>
              <a:srgbClr val="E1E0D9"/>
            </a:solidFill>
            <a:prstDash val="solid"/>
          </a:ln>
        </p:spPr>
      </p:sp>
      <p:sp>
        <p:nvSpPr>
          <p:cNvPr id="36" name="frame out"/>
          <p:cNvSpPr/>
          <p:nvPr/>
        </p:nvSpPr>
        <p:spPr>
          <a:xfrm>
            <a:off x="6793992" y="1828800"/>
            <a:ext cx="4846320" cy="2743200"/>
          </a:xfrm>
          <a:prstGeom prst="roundRect">
            <a:avLst>
              <a:gd name="adj" fmla="val 2000"/>
            </a:avLst>
          </a:prstGeom>
          <a:solidFill>
            <a:srgbClr val="FFFFFF"/>
          </a:solidFill>
          <a:ln w="9525">
            <a:solidFill>
              <a:srgbClr val="52514E"/>
            </a:solidFill>
            <a:prstDash val="solid"/>
          </a:ln>
        </p:spPr>
      </p:sp>
      <p:sp>
        <p:nvSpPr>
          <p:cNvPr id="37" name="ceiling out"/>
          <p:cNvSpPr/>
          <p:nvPr/>
        </p:nvSpPr>
        <p:spPr>
          <a:xfrm>
            <a:off x="6976872" y="2011680"/>
            <a:ext cx="4480560" cy="384048"/>
          </a:xfrm>
          <a:prstGeom prst="rect">
            <a:avLst/>
          </a:prstGeom>
          <a:solidFill>
            <a:srgbClr val="EEF1F4"/>
          </a:solidFill>
          <a:ln w="9525">
            <a:solidFill>
              <a:srgbClr val="52514E"/>
            </a:solidFill>
            <a:prstDash val="solid"/>
          </a:ln>
        </p:spPr>
      </p:sp>
      <p:sp>
        <p:nvSpPr>
          <p:cNvPr id="38" name="hatch out 7.6"/>
          <p:cNvSpPr/>
          <p:nvPr/>
        </p:nvSpPr>
        <p:spPr>
          <a:xfrm flipV="1">
            <a:off x="6976872" y="2011680"/>
            <a:ext cx="274320" cy="384048"/>
          </a:xfrm>
          <a:prstGeom prst="line">
            <a:avLst/>
          </a:prstGeom>
          <a:noFill/>
          <a:ln w="6350">
            <a:solidFill>
              <a:srgbClr val="898781"/>
            </a:solidFill>
            <a:prstDash val="solid"/>
          </a:ln>
        </p:spPr>
      </p:sp>
      <p:sp>
        <p:nvSpPr>
          <p:cNvPr id="39" name="hatch out 7.9"/>
          <p:cNvSpPr/>
          <p:nvPr/>
        </p:nvSpPr>
        <p:spPr>
          <a:xfrm flipV="1">
            <a:off x="7251192" y="2011680"/>
            <a:ext cx="274320" cy="384048"/>
          </a:xfrm>
          <a:prstGeom prst="line">
            <a:avLst/>
          </a:prstGeom>
          <a:noFill/>
          <a:ln w="6350">
            <a:solidFill>
              <a:srgbClr val="898781"/>
            </a:solidFill>
            <a:prstDash val="solid"/>
          </a:ln>
        </p:spPr>
      </p:sp>
      <p:sp>
        <p:nvSpPr>
          <p:cNvPr id="40" name="hatch out 8.2"/>
          <p:cNvSpPr/>
          <p:nvPr/>
        </p:nvSpPr>
        <p:spPr>
          <a:xfrm flipV="1">
            <a:off x="7525512" y="2011680"/>
            <a:ext cx="274320" cy="384048"/>
          </a:xfrm>
          <a:prstGeom prst="line">
            <a:avLst/>
          </a:prstGeom>
          <a:noFill/>
          <a:ln w="6350">
            <a:solidFill>
              <a:srgbClr val="898781"/>
            </a:solidFill>
            <a:prstDash val="solid"/>
          </a:ln>
        </p:spPr>
      </p:sp>
      <p:sp>
        <p:nvSpPr>
          <p:cNvPr id="41" name="hatch out 8.5"/>
          <p:cNvSpPr/>
          <p:nvPr/>
        </p:nvSpPr>
        <p:spPr>
          <a:xfrm flipV="1">
            <a:off x="7799832" y="2011680"/>
            <a:ext cx="274320" cy="384048"/>
          </a:xfrm>
          <a:prstGeom prst="line">
            <a:avLst/>
          </a:prstGeom>
          <a:noFill/>
          <a:ln w="6350">
            <a:solidFill>
              <a:srgbClr val="898781"/>
            </a:solidFill>
            <a:prstDash val="solid"/>
          </a:ln>
        </p:spPr>
      </p:sp>
      <p:sp>
        <p:nvSpPr>
          <p:cNvPr id="42" name="hatch out 8.8"/>
          <p:cNvSpPr/>
          <p:nvPr/>
        </p:nvSpPr>
        <p:spPr>
          <a:xfrm flipV="1">
            <a:off x="8074152" y="2011680"/>
            <a:ext cx="274320" cy="384048"/>
          </a:xfrm>
          <a:prstGeom prst="line">
            <a:avLst/>
          </a:prstGeom>
          <a:noFill/>
          <a:ln w="6350">
            <a:solidFill>
              <a:srgbClr val="898781"/>
            </a:solidFill>
            <a:prstDash val="solid"/>
          </a:ln>
        </p:spPr>
      </p:sp>
      <p:sp>
        <p:nvSpPr>
          <p:cNvPr id="43" name="hatch out 9.1"/>
          <p:cNvSpPr/>
          <p:nvPr/>
        </p:nvSpPr>
        <p:spPr>
          <a:xfrm flipV="1">
            <a:off x="8348472" y="2011680"/>
            <a:ext cx="274320" cy="384048"/>
          </a:xfrm>
          <a:prstGeom prst="line">
            <a:avLst/>
          </a:prstGeom>
          <a:noFill/>
          <a:ln w="6350">
            <a:solidFill>
              <a:srgbClr val="898781"/>
            </a:solidFill>
            <a:prstDash val="solid"/>
          </a:ln>
        </p:spPr>
      </p:sp>
      <p:sp>
        <p:nvSpPr>
          <p:cNvPr id="44" name="hatch out 9.4"/>
          <p:cNvSpPr/>
          <p:nvPr/>
        </p:nvSpPr>
        <p:spPr>
          <a:xfrm flipV="1">
            <a:off x="8622792" y="2011680"/>
            <a:ext cx="274320" cy="384048"/>
          </a:xfrm>
          <a:prstGeom prst="line">
            <a:avLst/>
          </a:prstGeom>
          <a:noFill/>
          <a:ln w="6350">
            <a:solidFill>
              <a:srgbClr val="898781"/>
            </a:solidFill>
            <a:prstDash val="solid"/>
          </a:ln>
        </p:spPr>
      </p:sp>
      <p:sp>
        <p:nvSpPr>
          <p:cNvPr id="45" name="hatch out 9.7"/>
          <p:cNvSpPr/>
          <p:nvPr/>
        </p:nvSpPr>
        <p:spPr>
          <a:xfrm flipV="1">
            <a:off x="8897112" y="2011680"/>
            <a:ext cx="274320" cy="384048"/>
          </a:xfrm>
          <a:prstGeom prst="line">
            <a:avLst/>
          </a:prstGeom>
          <a:noFill/>
          <a:ln w="6350">
            <a:solidFill>
              <a:srgbClr val="898781"/>
            </a:solidFill>
            <a:prstDash val="solid"/>
          </a:ln>
        </p:spPr>
      </p:sp>
      <p:sp>
        <p:nvSpPr>
          <p:cNvPr id="46" name="hatch out 10.0"/>
          <p:cNvSpPr/>
          <p:nvPr/>
        </p:nvSpPr>
        <p:spPr>
          <a:xfrm flipV="1">
            <a:off x="9171432" y="2011680"/>
            <a:ext cx="274320" cy="384048"/>
          </a:xfrm>
          <a:prstGeom prst="line">
            <a:avLst/>
          </a:prstGeom>
          <a:noFill/>
          <a:ln w="6350">
            <a:solidFill>
              <a:srgbClr val="898781"/>
            </a:solidFill>
            <a:prstDash val="solid"/>
          </a:ln>
        </p:spPr>
      </p:sp>
      <p:sp>
        <p:nvSpPr>
          <p:cNvPr id="47" name="hatch out 10.3"/>
          <p:cNvSpPr/>
          <p:nvPr/>
        </p:nvSpPr>
        <p:spPr>
          <a:xfrm flipV="1">
            <a:off x="9445752" y="2011680"/>
            <a:ext cx="274320" cy="384048"/>
          </a:xfrm>
          <a:prstGeom prst="line">
            <a:avLst/>
          </a:prstGeom>
          <a:noFill/>
          <a:ln w="6350">
            <a:solidFill>
              <a:srgbClr val="898781"/>
            </a:solidFill>
            <a:prstDash val="solid"/>
          </a:ln>
        </p:spPr>
      </p:sp>
      <p:sp>
        <p:nvSpPr>
          <p:cNvPr id="48" name="hatch out 10.6"/>
          <p:cNvSpPr/>
          <p:nvPr/>
        </p:nvSpPr>
        <p:spPr>
          <a:xfrm flipV="1">
            <a:off x="9720072" y="2011680"/>
            <a:ext cx="274320" cy="384048"/>
          </a:xfrm>
          <a:prstGeom prst="line">
            <a:avLst/>
          </a:prstGeom>
          <a:noFill/>
          <a:ln w="6350">
            <a:solidFill>
              <a:srgbClr val="898781"/>
            </a:solidFill>
            <a:prstDash val="solid"/>
          </a:ln>
        </p:spPr>
      </p:sp>
      <p:sp>
        <p:nvSpPr>
          <p:cNvPr id="49" name="hatch out 10.9"/>
          <p:cNvSpPr/>
          <p:nvPr/>
        </p:nvSpPr>
        <p:spPr>
          <a:xfrm flipV="1">
            <a:off x="9994392" y="2011680"/>
            <a:ext cx="274320" cy="384048"/>
          </a:xfrm>
          <a:prstGeom prst="line">
            <a:avLst/>
          </a:prstGeom>
          <a:noFill/>
          <a:ln w="6350">
            <a:solidFill>
              <a:srgbClr val="898781"/>
            </a:solidFill>
            <a:prstDash val="solid"/>
          </a:ln>
        </p:spPr>
      </p:sp>
      <p:sp>
        <p:nvSpPr>
          <p:cNvPr id="50" name="hatch out 11.2"/>
          <p:cNvSpPr/>
          <p:nvPr/>
        </p:nvSpPr>
        <p:spPr>
          <a:xfrm flipV="1">
            <a:off x="10268712" y="2011680"/>
            <a:ext cx="274320" cy="384048"/>
          </a:xfrm>
          <a:prstGeom prst="line">
            <a:avLst/>
          </a:prstGeom>
          <a:noFill/>
          <a:ln w="6350">
            <a:solidFill>
              <a:srgbClr val="898781"/>
            </a:solidFill>
            <a:prstDash val="solid"/>
          </a:ln>
        </p:spPr>
      </p:sp>
      <p:sp>
        <p:nvSpPr>
          <p:cNvPr id="51" name="hatch out 11.5"/>
          <p:cNvSpPr/>
          <p:nvPr/>
        </p:nvSpPr>
        <p:spPr>
          <a:xfrm flipV="1">
            <a:off x="10543032" y="2011680"/>
            <a:ext cx="274320" cy="384048"/>
          </a:xfrm>
          <a:prstGeom prst="line">
            <a:avLst/>
          </a:prstGeom>
          <a:noFill/>
          <a:ln w="6350">
            <a:solidFill>
              <a:srgbClr val="898781"/>
            </a:solidFill>
            <a:prstDash val="solid"/>
          </a:ln>
        </p:spPr>
      </p:sp>
      <p:sp>
        <p:nvSpPr>
          <p:cNvPr id="52" name="hatch out 11.8"/>
          <p:cNvSpPr/>
          <p:nvPr/>
        </p:nvSpPr>
        <p:spPr>
          <a:xfrm flipV="1">
            <a:off x="10817352" y="2011680"/>
            <a:ext cx="274320" cy="384048"/>
          </a:xfrm>
          <a:prstGeom prst="line">
            <a:avLst/>
          </a:prstGeom>
          <a:noFill/>
          <a:ln w="6350">
            <a:solidFill>
              <a:srgbClr val="898781"/>
            </a:solidFill>
            <a:prstDash val="solid"/>
          </a:ln>
        </p:spPr>
      </p:sp>
      <p:sp>
        <p:nvSpPr>
          <p:cNvPr id="53" name="hatch out 12.1"/>
          <p:cNvSpPr/>
          <p:nvPr/>
        </p:nvSpPr>
        <p:spPr>
          <a:xfrm flipV="1">
            <a:off x="11091672" y="2011680"/>
            <a:ext cx="274320" cy="384048"/>
          </a:xfrm>
          <a:prstGeom prst="line">
            <a:avLst/>
          </a:prstGeom>
          <a:noFill/>
          <a:ln w="6350">
            <a:solidFill>
              <a:srgbClr val="898781"/>
            </a:solidFill>
            <a:prstDash val="solid"/>
          </a:ln>
        </p:spPr>
      </p:sp>
      <p:sp>
        <p:nvSpPr>
          <p:cNvPr id="54" name="ceiling label out"/>
          <p:cNvSpPr txBox="1"/>
          <p:nvPr/>
        </p:nvSpPr>
        <p:spPr>
          <a:xfrm>
            <a:off x="8439912" y="2075688"/>
            <a:ext cx="155448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ceiling</a:t>
            </a:r>
            <a:endParaRPr lang="en-US" sz="1100" dirty="0"/>
          </a:p>
        </p:txBody>
      </p:sp>
      <p:sp>
        <p:nvSpPr>
          <p:cNvPr id="55" name="duct out"/>
          <p:cNvSpPr/>
          <p:nvPr/>
        </p:nvSpPr>
        <p:spPr>
          <a:xfrm>
            <a:off x="7205472" y="2880360"/>
            <a:ext cx="1417320" cy="868680"/>
          </a:xfrm>
          <a:prstGeom prst="rect">
            <a:avLst/>
          </a:prstGeom>
          <a:solidFill>
            <a:srgbClr val="EEF1F4"/>
          </a:solidFill>
          <a:ln w="12700">
            <a:solidFill>
              <a:srgbClr val="52514E"/>
            </a:solidFill>
            <a:prstDash val="solid"/>
          </a:ln>
        </p:spPr>
      </p:sp>
      <p:sp>
        <p:nvSpPr>
          <p:cNvPr id="56" name="duct label out"/>
          <p:cNvSpPr txBox="1"/>
          <p:nvPr/>
        </p:nvSpPr>
        <p:spPr>
          <a:xfrm>
            <a:off x="7205472" y="2880360"/>
            <a:ext cx="1417320" cy="868680"/>
          </a:xfrm>
          <a:prstGeom prst="rect">
            <a:avLst/>
          </a:prstGeom>
          <a:noFill/>
          <a:ln/>
        </p:spPr>
        <p:txBody>
          <a:bodyPr wrap="square" lIns="0" tIns="0" rIns="0" bIns="0" rtlCol="0" anchor="ctr"/>
          <a:lstStyle/>
          <a:p>
            <a:pPr algn="ctr" indent="0" marL="0">
              <a:buNone/>
            </a:pPr>
            <a:r>
              <a:rPr lang="en-US" sz="1200" dirty="0">
                <a:solidFill>
                  <a:schemeClr val="tx1"/>
                </a:solidFill>
              </a:rPr>
              <a:t>Duct</a:t>
            </a:r>
            <a:endParaRPr lang="en-US" sz="1200" dirty="0"/>
          </a:p>
        </p:txBody>
      </p:sp>
      <p:sp>
        <p:nvSpPr>
          <p:cNvPr id="57" name="pipe a out"/>
          <p:cNvSpPr/>
          <p:nvPr/>
        </p:nvSpPr>
        <p:spPr>
          <a:xfrm>
            <a:off x="8942832" y="3108960"/>
            <a:ext cx="640080" cy="640080"/>
          </a:xfrm>
          <a:prstGeom prst="ellipse">
            <a:avLst/>
          </a:prstGeom>
          <a:solidFill>
            <a:srgbClr val="EEF1F4"/>
          </a:solidFill>
          <a:ln w="12700">
            <a:solidFill>
              <a:srgbClr val="52514E"/>
            </a:solidFill>
            <a:prstDash val="solid"/>
          </a:ln>
        </p:spPr>
      </p:sp>
      <p:sp>
        <p:nvSpPr>
          <p:cNvPr id="58" name="pipe b out"/>
          <p:cNvSpPr/>
          <p:nvPr/>
        </p:nvSpPr>
        <p:spPr>
          <a:xfrm>
            <a:off x="9720072" y="3337560"/>
            <a:ext cx="411480" cy="411480"/>
          </a:xfrm>
          <a:prstGeom prst="ellipse">
            <a:avLst/>
          </a:prstGeom>
          <a:solidFill>
            <a:srgbClr val="EEF1F4"/>
          </a:solidFill>
          <a:ln w="12700">
            <a:solidFill>
              <a:srgbClr val="52514E"/>
            </a:solidFill>
            <a:prstDash val="solid"/>
          </a:ln>
        </p:spPr>
      </p:sp>
      <p:sp>
        <p:nvSpPr>
          <p:cNvPr id="59" name="tray out"/>
          <p:cNvSpPr/>
          <p:nvPr/>
        </p:nvSpPr>
        <p:spPr>
          <a:xfrm>
            <a:off x="10177272" y="3474720"/>
            <a:ext cx="914400" cy="274320"/>
          </a:xfrm>
          <a:prstGeom prst="rect">
            <a:avLst/>
          </a:prstGeom>
          <a:solidFill>
            <a:srgbClr val="EEF1F4"/>
          </a:solidFill>
          <a:ln w="12700">
            <a:solidFill>
              <a:srgbClr val="52514E"/>
            </a:solidFill>
            <a:prstDash val="solid"/>
          </a:ln>
        </p:spPr>
      </p:sp>
      <p:sp>
        <p:nvSpPr>
          <p:cNvPr id="60" name="anchor 0"/>
          <p:cNvSpPr/>
          <p:nvPr/>
        </p:nvSpPr>
        <p:spPr>
          <a:xfrm>
            <a:off x="7123176" y="2286000"/>
            <a:ext cx="146304" cy="146304"/>
          </a:xfrm>
          <a:prstGeom prst="rect">
            <a:avLst/>
          </a:prstGeom>
          <a:solidFill>
            <a:srgbClr val="1F2933"/>
          </a:solidFill>
          <a:ln/>
        </p:spPr>
      </p:sp>
      <p:sp>
        <p:nvSpPr>
          <p:cNvPr id="61" name="rod 0"/>
          <p:cNvSpPr/>
          <p:nvPr/>
        </p:nvSpPr>
        <p:spPr>
          <a:xfrm>
            <a:off x="7178040" y="2395728"/>
            <a:ext cx="36576" cy="1353312"/>
          </a:xfrm>
          <a:prstGeom prst="rect">
            <a:avLst/>
          </a:prstGeom>
          <a:solidFill>
            <a:srgbClr val="1F2933"/>
          </a:solidFill>
          <a:ln/>
        </p:spPr>
      </p:sp>
      <p:sp>
        <p:nvSpPr>
          <p:cNvPr id="62" name="anchor 1"/>
          <p:cNvSpPr/>
          <p:nvPr/>
        </p:nvSpPr>
        <p:spPr>
          <a:xfrm>
            <a:off x="11164824" y="2286000"/>
            <a:ext cx="146304" cy="146304"/>
          </a:xfrm>
          <a:prstGeom prst="rect">
            <a:avLst/>
          </a:prstGeom>
          <a:solidFill>
            <a:srgbClr val="1F2933"/>
          </a:solidFill>
          <a:ln/>
        </p:spPr>
      </p:sp>
      <p:sp>
        <p:nvSpPr>
          <p:cNvPr id="63" name="rod 1"/>
          <p:cNvSpPr/>
          <p:nvPr/>
        </p:nvSpPr>
        <p:spPr>
          <a:xfrm>
            <a:off x="11219688" y="2395728"/>
            <a:ext cx="36576" cy="1353312"/>
          </a:xfrm>
          <a:prstGeom prst="rect">
            <a:avLst/>
          </a:prstGeom>
          <a:solidFill>
            <a:srgbClr val="1F2933"/>
          </a:solidFill>
          <a:ln/>
        </p:spPr>
      </p:sp>
      <p:sp>
        <p:nvSpPr>
          <p:cNvPr id="64" name="trapeze bar"/>
          <p:cNvSpPr/>
          <p:nvPr/>
        </p:nvSpPr>
        <p:spPr>
          <a:xfrm>
            <a:off x="7068312" y="3749040"/>
            <a:ext cx="4297680" cy="82296"/>
          </a:xfrm>
          <a:prstGeom prst="rect">
            <a:avLst/>
          </a:prstGeom>
          <a:solidFill>
            <a:srgbClr val="1F2933"/>
          </a:solidFill>
          <a:ln/>
        </p:spPr>
      </p:sp>
      <p:sp>
        <p:nvSpPr>
          <p:cNvPr id="65" name="assembly name"/>
          <p:cNvSpPr txBox="1"/>
          <p:nvPr/>
        </p:nvSpPr>
        <p:spPr>
          <a:xfrm>
            <a:off x="7022592" y="4114800"/>
            <a:ext cx="2286000" cy="320040"/>
          </a:xfrm>
          <a:prstGeom prst="rect">
            <a:avLst/>
          </a:prstGeom>
          <a:noFill/>
          <a:ln/>
        </p:spPr>
        <p:txBody>
          <a:bodyPr wrap="square" lIns="0" tIns="0" rIns="0" bIns="0" rtlCol="0" anchor="ctr"/>
          <a:lstStyle/>
          <a:p>
            <a:pPr indent="0" marL="0">
              <a:buNone/>
            </a:pPr>
            <a:r>
              <a:rPr lang="en-US" sz="1300" b="1" dirty="0">
                <a:solidFill>
                  <a:schemeClr val="tx1"/>
                </a:solidFill>
              </a:rPr>
              <a:t>Rod trapeze</a:t>
            </a:r>
            <a:endParaRPr lang="en-US" sz="1300" dirty="0"/>
          </a:p>
        </p:txBody>
      </p:sp>
      <p:sp>
        <p:nvSpPr>
          <p:cNvPr id="66" name="verified"/>
          <p:cNvSpPr txBox="1"/>
          <p:nvPr/>
        </p:nvSpPr>
        <p:spPr>
          <a:xfrm>
            <a:off x="9811512" y="4114800"/>
            <a:ext cx="1600200" cy="320040"/>
          </a:xfrm>
          <a:prstGeom prst="rect">
            <a:avLst/>
          </a:prstGeom>
          <a:noFill/>
          <a:ln/>
        </p:spPr>
        <p:txBody>
          <a:bodyPr wrap="square" lIns="0" tIns="0" rIns="0" bIns="0" rtlCol="0" anchor="ctr"/>
          <a:lstStyle/>
          <a:p>
            <a:pPr algn="r" indent="0" marL="0">
              <a:buNone/>
            </a:pPr>
            <a:r>
              <a:rPr lang="en-US" sz="1300" b="1" dirty="0">
                <a:solidFill>
                  <a:srgbClr val="008300"/>
                </a:solidFill>
              </a:rPr>
              <a:t>✓ verified</a:t>
            </a:r>
            <a:endParaRPr lang="en-US" sz="1300" dirty="0"/>
          </a:p>
        </p:txBody>
      </p:sp>
      <p:sp>
        <p:nvSpPr>
          <p:cNvPr id="67" name="out caption"/>
          <p:cNvSpPr txBox="1"/>
          <p:nvPr/>
        </p:nvSpPr>
        <p:spPr>
          <a:xfrm>
            <a:off x="6793992" y="4663440"/>
            <a:ext cx="4846320" cy="502920"/>
          </a:xfrm>
          <a:prstGeom prst="rect">
            <a:avLst/>
          </a:prstGeom>
          <a:noFill/>
          <a:ln/>
        </p:spPr>
        <p:txBody>
          <a:bodyPr wrap="square" lIns="0" tIns="0" rIns="0" bIns="0" rtlCol="0" anchor="t"/>
          <a:lstStyle/>
          <a:p>
            <a:pPr indent="0" marL="0">
              <a:buNone/>
            </a:pPr>
            <a:r>
              <a:rPr lang="en-US" sz="1200" dirty="0">
                <a:solidFill>
                  <a:srgbClr val="52514E"/>
                </a:solidFill>
              </a:rPr>
              <a:t>Up to ten designs, ranked by installed cost</a:t>
            </a:r>
            <a:endParaRPr lang="en-US" sz="1200" dirty="0"/>
          </a:p>
          <a:p>
            <a:pPr indent="0" marL="0">
              <a:buNone/>
            </a:pPr>
            <a:r>
              <a:rPr lang="en-US" sz="1200" dirty="0">
                <a:solidFill>
                  <a:srgbClr val="52514E"/>
                </a:solidFill>
              </a:rPr>
              <a:t>Each checked: statics, anchors, connectors, buildability</a:t>
            </a:r>
            <a:endParaRPr lang="en-US" sz="1200" dirty="0"/>
          </a:p>
        </p:txBody>
      </p:sp>
      <p:sp>
        <p:nvSpPr>
          <p:cNvPr id="68" name="gloss context"/>
          <p:cNvSpPr/>
          <p:nvPr/>
        </p:nvSpPr>
        <p:spPr>
          <a:xfrm>
            <a:off x="548640" y="5257800"/>
            <a:ext cx="5454396" cy="777240"/>
          </a:xfrm>
          <a:prstGeom prst="roundRect">
            <a:avLst>
              <a:gd name="adj" fmla="val 8235"/>
            </a:avLst>
          </a:prstGeom>
          <a:solidFill>
            <a:schemeClr val="bg2"/>
          </a:solidFill>
          <a:ln/>
        </p:spPr>
      </p:sp>
      <p:sp>
        <p:nvSpPr>
          <p:cNvPr id="69" name="gloss text context"/>
          <p:cNvSpPr txBox="1"/>
          <p:nvPr/>
        </p:nvSpPr>
        <p:spPr>
          <a:xfrm>
            <a:off x="777240"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Context, the brief: </a:t>
            </a:r>
            <a:pPr indent="0" marL="0">
              <a:buNone/>
            </a:pPr>
            <a:r>
              <a:rPr lang="en-US" sz="1300" dirty="0">
                <a:solidFill>
                  <a:schemeClr val="tx1"/>
                </a:solidFill>
              </a:rPr>
              <a:t>the section at one hanger, its structure and services. This is what CrossMEP contains.</a:t>
            </a:r>
            <a:endParaRPr lang="en-US" sz="1300" dirty="0"/>
          </a:p>
        </p:txBody>
      </p:sp>
      <p:sp>
        <p:nvSpPr>
          <p:cNvPr id="70" name="gloss assembly"/>
          <p:cNvSpPr/>
          <p:nvPr/>
        </p:nvSpPr>
        <p:spPr>
          <a:xfrm>
            <a:off x="6185916" y="5257800"/>
            <a:ext cx="5454396" cy="777240"/>
          </a:xfrm>
          <a:prstGeom prst="roundRect">
            <a:avLst>
              <a:gd name="adj" fmla="val 8235"/>
            </a:avLst>
          </a:prstGeom>
          <a:solidFill>
            <a:schemeClr val="bg2"/>
          </a:solidFill>
          <a:ln/>
        </p:spPr>
      </p:sp>
      <p:sp>
        <p:nvSpPr>
          <p:cNvPr id="71" name="gloss text assembly"/>
          <p:cNvSpPr txBox="1"/>
          <p:nvPr/>
        </p:nvSpPr>
        <p:spPr>
          <a:xfrm>
            <a:off x="6414516" y="5257800"/>
            <a:ext cx="4997196" cy="777240"/>
          </a:xfrm>
          <a:prstGeom prst="rect">
            <a:avLst/>
          </a:prstGeom>
          <a:noFill/>
          <a:ln/>
        </p:spPr>
        <p:txBody>
          <a:bodyPr wrap="square" lIns="0" tIns="0" rIns="0" bIns="0" rtlCol="0" anchor="ctr"/>
          <a:lstStyle/>
          <a:p>
            <a:pPr indent="0" marL="0">
              <a:buNone/>
            </a:pPr>
            <a:r>
              <a:rPr lang="en-US" sz="1300" b="1" dirty="0">
                <a:solidFill>
                  <a:schemeClr val="accent1"/>
                </a:solidFill>
              </a:rPr>
              <a:t>Assembly, the answer: </a:t>
            </a:r>
            <a:pPr indent="0" marL="0">
              <a:buNone/>
            </a:pPr>
            <a:r>
              <a:rPr lang="en-US" sz="1300" dirty="0">
                <a:solidFill>
                  <a:schemeClr val="tx1"/>
                </a:solidFill>
              </a:rPr>
              <a:t>catalog parts that carry the services to the structure. Not in CrossMEP: a method produces it.</a:t>
            </a:r>
            <a:endParaRPr lang="en-US" sz="1300" dirty="0"/>
          </a:p>
        </p:txBody>
      </p:sp>
      <p:sp>
        <p:nvSpPr>
          <p:cNvPr id="7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The synthesis problem as defined at ISARC 2026 [1].   [1] Pedrollo, Graeber &amp; Fischer (2026), Feasibility-aware sequential synthesis of structural support assemblies, ISARC 2026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Synthesizing the assembly from a catalog and a context has resisted automation</a:t>
            </a:r>
            <a:endParaRPr lang="en-US" sz="2600" dirty="0"/>
          </a:p>
        </p:txBody>
      </p:sp>
      <p:pic>
        <p:nvPicPr>
          <p:cNvPr id="3" name="route to section" descr="/home/user/crossmep_dataset/docs/figures/paper_fig1_route_to_section.png">    </p:cNvPr>
          <p:cNvPicPr>
            <a:picLocks noChangeAspect="1"/>
          </p:cNvPicPr>
          <p:nvPr/>
        </p:nvPicPr>
        <p:blipFill>
          <a:blip r:embed="rId1"/>
          <a:stretch>
            <a:fillRect/>
          </a:stretch>
        </p:blipFill>
        <p:spPr>
          <a:xfrm>
            <a:off x="548640" y="1693919"/>
            <a:ext cx="6766560" cy="1869961"/>
          </a:xfrm>
          <a:prstGeom prst="rect">
            <a:avLst/>
          </a:prstGeom>
        </p:spPr>
      </p:pic>
      <p:sp>
        <p:nvSpPr>
          <p:cNvPr id="4" name="fig1 caption"/>
          <p:cNvSpPr txBox="1"/>
          <p:nvPr/>
        </p:nvSpPr>
        <p:spPr>
          <a:xfrm>
            <a:off x="548640" y="3655321"/>
            <a:ext cx="6766560" cy="457200"/>
          </a:xfrm>
          <a:prstGeom prst="rect">
            <a:avLst/>
          </a:prstGeom>
          <a:noFill/>
          <a:ln/>
        </p:spPr>
        <p:txBody>
          <a:bodyPr wrap="square" lIns="0" tIns="0" rIns="0" bIns="0" rtlCol="0" anchor="t"/>
          <a:lstStyle/>
          <a:p>
            <a:pPr indent="0" marL="0">
              <a:buNone/>
            </a:pPr>
            <a:r>
              <a:rPr lang="en-US" sz="1100" dirty="0">
                <a:solidFill>
                  <a:srgbClr val="52514E"/>
                </a:solidFill>
              </a:rPr>
              <a:t>Design starts after coordination [3]: at each hanger the designer works from the section across the run, not from the whole model [2].</a:t>
            </a:r>
            <a:endParaRPr lang="en-US" sz="1100" dirty="0"/>
          </a:p>
        </p:txBody>
      </p:sp>
      <p:sp>
        <p:nvSpPr>
          <p:cNvPr id="5" name="practice card"/>
          <p:cNvSpPr/>
          <p:nvPr/>
        </p:nvSpPr>
        <p:spPr>
          <a:xfrm>
            <a:off x="7543800" y="1371600"/>
            <a:ext cx="4096512" cy="2606040"/>
          </a:xfrm>
          <a:prstGeom prst="roundRect">
            <a:avLst>
              <a:gd name="adj" fmla="val 2456"/>
            </a:avLst>
          </a:prstGeom>
          <a:solidFill>
            <a:schemeClr val="bg2"/>
          </a:solidFill>
          <a:ln/>
        </p:spPr>
      </p:sp>
      <p:sp>
        <p:nvSpPr>
          <p:cNvPr id="6" name="icon ring practice"/>
          <p:cNvSpPr/>
          <p:nvPr/>
        </p:nvSpPr>
        <p:spPr>
          <a:xfrm>
            <a:off x="7772400" y="1536192"/>
            <a:ext cx="457200" cy="457200"/>
          </a:xfrm>
          <a:prstGeom prst="ellipse">
            <a:avLst/>
          </a:prstGeom>
          <a:solidFill>
            <a:schemeClr val="accent1"/>
          </a:solidFill>
          <a:ln/>
        </p:spPr>
      </p:sp>
      <p:pic>
        <p:nvPicPr>
          <p:cNvPr id="7" name="icon practice" descr="preencoded.png">    </p:cNvPr>
          <p:cNvPicPr>
            <a:picLocks noChangeAspect="1"/>
          </p:cNvPicPr>
          <p:nvPr/>
        </p:nvPicPr>
        <p:blipFill>
          <a:blip r:embed="rId2"/>
          <a:stretch>
            <a:fillRect/>
          </a:stretch>
        </p:blipFill>
        <p:spPr>
          <a:xfrm>
            <a:off x="7868412" y="1632204"/>
            <a:ext cx="265176" cy="265176"/>
          </a:xfrm>
          <a:prstGeom prst="rect">
            <a:avLst/>
          </a:prstGeom>
        </p:spPr>
      </p:pic>
      <p:sp>
        <p:nvSpPr>
          <p:cNvPr id="8" name="practice"/>
          <p:cNvSpPr txBox="1"/>
          <p:nvPr/>
        </p:nvSpPr>
        <p:spPr>
          <a:xfrm>
            <a:off x="8366760" y="1508760"/>
            <a:ext cx="3108960" cy="2377440"/>
          </a:xfrm>
          <a:prstGeom prst="rect">
            <a:avLst/>
          </a:prstGeom>
          <a:noFill/>
          <a:ln/>
        </p:spPr>
        <p:txBody>
          <a:bodyPr wrap="square" lIns="0" tIns="0" rIns="0" bIns="0" rtlCol="0" anchor="t"/>
          <a:lstStyle/>
          <a:p>
            <a:pPr indent="0" marL="0">
              <a:buNone/>
            </a:pPr>
            <a:r>
              <a:rPr lang="en-US" sz="1700" b="1" dirty="0">
                <a:solidFill>
                  <a:schemeClr val="tx1"/>
                </a:solidFill>
              </a:rPr>
              <a:t>Where practice stands</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Tools coordinate the model and check a design.</a:t>
            </a:r>
            <a:endParaRPr lang="en-US" sz="1500" dirty="0"/>
          </a:p>
          <a:p>
            <a:pPr indent="0" marL="0">
              <a:buNone/>
            </a:pPr>
            <a:r>
              <a:rPr lang="en-US" sz="600" dirty="0">
                <a:solidFill>
                  <a:schemeClr val="tx1"/>
                </a:solidFill>
              </a:rPr>
              <a:t> </a:t>
            </a:r>
            <a:endParaRPr lang="en-US" sz="1500" dirty="0"/>
          </a:p>
          <a:p>
            <a:pPr indent="0" marL="0">
              <a:buNone/>
            </a:pPr>
            <a:r>
              <a:rPr lang="en-US" sz="1500" dirty="0">
                <a:solidFill>
                  <a:schemeClr val="tx1"/>
                </a:solidFill>
              </a:rPr>
              <a:t>Choosing the topology and the parts, from a fixed catalog, is still done by hand, one section at a time [1].</a:t>
            </a:r>
            <a:endParaRPr lang="en-US" sz="1500" dirty="0"/>
          </a:p>
        </p:txBody>
      </p:sp>
      <p:sp>
        <p:nvSpPr>
          <p:cNvPr id="9" name="why Geometric judgment"/>
          <p:cNvSpPr/>
          <p:nvPr/>
        </p:nvSpPr>
        <p:spPr>
          <a:xfrm>
            <a:off x="548640" y="4251960"/>
            <a:ext cx="3575304" cy="1463040"/>
          </a:xfrm>
          <a:prstGeom prst="roundRect">
            <a:avLst>
              <a:gd name="adj" fmla="val 4375"/>
            </a:avLst>
          </a:prstGeom>
          <a:solidFill>
            <a:schemeClr val="bg2"/>
          </a:solidFill>
          <a:ln/>
        </p:spPr>
      </p:sp>
      <p:sp>
        <p:nvSpPr>
          <p:cNvPr id="10" name="icon ring why Geometric judgment"/>
          <p:cNvSpPr/>
          <p:nvPr/>
        </p:nvSpPr>
        <p:spPr>
          <a:xfrm>
            <a:off x="777240" y="4389120"/>
            <a:ext cx="457200" cy="457200"/>
          </a:xfrm>
          <a:prstGeom prst="ellipse">
            <a:avLst/>
          </a:prstGeom>
          <a:solidFill>
            <a:schemeClr val="accent1"/>
          </a:solidFill>
          <a:ln/>
        </p:spPr>
      </p:sp>
      <p:pic>
        <p:nvPicPr>
          <p:cNvPr id="11" name="icon why Geometric judgment" descr="preencoded.png">    </p:cNvPr>
          <p:cNvPicPr>
            <a:picLocks noChangeAspect="1"/>
          </p:cNvPicPr>
          <p:nvPr/>
        </p:nvPicPr>
        <p:blipFill>
          <a:blip r:embed="rId3"/>
          <a:stretch>
            <a:fillRect/>
          </a:stretch>
        </p:blipFill>
        <p:spPr>
          <a:xfrm>
            <a:off x="873252" y="4485132"/>
            <a:ext cx="265176" cy="265176"/>
          </a:xfrm>
          <a:prstGeom prst="rect">
            <a:avLst/>
          </a:prstGeom>
        </p:spPr>
      </p:pic>
      <p:sp>
        <p:nvSpPr>
          <p:cNvPr id="12" name="why head Geometric judgment"/>
          <p:cNvSpPr txBox="1"/>
          <p:nvPr/>
        </p:nvSpPr>
        <p:spPr>
          <a:xfrm>
            <a:off x="1371600"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1. Geometric judgment</a:t>
            </a:r>
            <a:endParaRPr lang="en-US" sz="1700" dirty="0"/>
          </a:p>
        </p:txBody>
      </p:sp>
      <p:sp>
        <p:nvSpPr>
          <p:cNvPr id="13" name="why text Geometric judgment"/>
          <p:cNvSpPr txBox="1"/>
          <p:nvPr/>
        </p:nvSpPr>
        <p:spPr>
          <a:xfrm>
            <a:off x="777240"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Engineers choose an assembly’s topology from experience.</a:t>
            </a:r>
            <a:endParaRPr lang="en-US" sz="1400" dirty="0"/>
          </a:p>
        </p:txBody>
      </p:sp>
      <p:sp>
        <p:nvSpPr>
          <p:cNvPr id="14" name="why Rule explosion"/>
          <p:cNvSpPr/>
          <p:nvPr/>
        </p:nvSpPr>
        <p:spPr>
          <a:xfrm>
            <a:off x="4306824" y="4251960"/>
            <a:ext cx="3575304" cy="1463040"/>
          </a:xfrm>
          <a:prstGeom prst="roundRect">
            <a:avLst>
              <a:gd name="adj" fmla="val 4375"/>
            </a:avLst>
          </a:prstGeom>
          <a:solidFill>
            <a:schemeClr val="bg2"/>
          </a:solidFill>
          <a:ln/>
        </p:spPr>
      </p:sp>
      <p:sp>
        <p:nvSpPr>
          <p:cNvPr id="15" name="icon ring why Rule explosion"/>
          <p:cNvSpPr/>
          <p:nvPr/>
        </p:nvSpPr>
        <p:spPr>
          <a:xfrm>
            <a:off x="4535424" y="4389120"/>
            <a:ext cx="457200" cy="457200"/>
          </a:xfrm>
          <a:prstGeom prst="ellipse">
            <a:avLst/>
          </a:prstGeom>
          <a:solidFill>
            <a:schemeClr val="accent1"/>
          </a:solidFill>
          <a:ln/>
        </p:spPr>
      </p:sp>
      <p:pic>
        <p:nvPicPr>
          <p:cNvPr id="16" name="icon why Rule explosion" descr="preencoded.png">    </p:cNvPr>
          <p:cNvPicPr>
            <a:picLocks noChangeAspect="1"/>
          </p:cNvPicPr>
          <p:nvPr/>
        </p:nvPicPr>
        <p:blipFill>
          <a:blip r:embed="rId4"/>
          <a:stretch>
            <a:fillRect/>
          </a:stretch>
        </p:blipFill>
        <p:spPr>
          <a:xfrm>
            <a:off x="4631436" y="4485132"/>
            <a:ext cx="265176" cy="265176"/>
          </a:xfrm>
          <a:prstGeom prst="rect">
            <a:avLst/>
          </a:prstGeom>
        </p:spPr>
      </p:pic>
      <p:sp>
        <p:nvSpPr>
          <p:cNvPr id="17" name="why head Rule explosion"/>
          <p:cNvSpPr txBox="1"/>
          <p:nvPr/>
        </p:nvSpPr>
        <p:spPr>
          <a:xfrm>
            <a:off x="5129784"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2. Rule explosion</a:t>
            </a:r>
            <a:endParaRPr lang="en-US" sz="1700" dirty="0"/>
          </a:p>
        </p:txBody>
      </p:sp>
      <p:sp>
        <p:nvSpPr>
          <p:cNvPr id="18" name="why text Rule explosion"/>
          <p:cNvSpPr txBox="1"/>
          <p:nvPr/>
        </p:nvSpPr>
        <p:spPr>
          <a:xfrm>
            <a:off x="4535424"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Code, load and material constraints interact across thousands of combinations.</a:t>
            </a:r>
            <a:endParaRPr lang="en-US" sz="1400" dirty="0"/>
          </a:p>
        </p:txBody>
      </p:sp>
      <p:sp>
        <p:nvSpPr>
          <p:cNvPr id="19" name="why Catalog volatility"/>
          <p:cNvSpPr/>
          <p:nvPr/>
        </p:nvSpPr>
        <p:spPr>
          <a:xfrm>
            <a:off x="8065008" y="4251960"/>
            <a:ext cx="3575304" cy="1463040"/>
          </a:xfrm>
          <a:prstGeom prst="roundRect">
            <a:avLst>
              <a:gd name="adj" fmla="val 4375"/>
            </a:avLst>
          </a:prstGeom>
          <a:solidFill>
            <a:schemeClr val="bg2"/>
          </a:solidFill>
          <a:ln/>
        </p:spPr>
      </p:sp>
      <p:sp>
        <p:nvSpPr>
          <p:cNvPr id="20" name="icon ring why Catalog volatility"/>
          <p:cNvSpPr/>
          <p:nvPr/>
        </p:nvSpPr>
        <p:spPr>
          <a:xfrm>
            <a:off x="8293608" y="4389120"/>
            <a:ext cx="457200" cy="457200"/>
          </a:xfrm>
          <a:prstGeom prst="ellipse">
            <a:avLst/>
          </a:prstGeom>
          <a:solidFill>
            <a:schemeClr val="accent1"/>
          </a:solidFill>
          <a:ln/>
        </p:spPr>
      </p:sp>
      <p:pic>
        <p:nvPicPr>
          <p:cNvPr id="21" name="icon why Catalog volatility" descr="preencoded.png">    </p:cNvPr>
          <p:cNvPicPr>
            <a:picLocks noChangeAspect="1"/>
          </p:cNvPicPr>
          <p:nvPr/>
        </p:nvPicPr>
        <p:blipFill>
          <a:blip r:embed="rId5"/>
          <a:stretch>
            <a:fillRect/>
          </a:stretch>
        </p:blipFill>
        <p:spPr>
          <a:xfrm>
            <a:off x="8389620" y="4485132"/>
            <a:ext cx="265176" cy="265176"/>
          </a:xfrm>
          <a:prstGeom prst="rect">
            <a:avLst/>
          </a:prstGeom>
        </p:spPr>
      </p:pic>
      <p:sp>
        <p:nvSpPr>
          <p:cNvPr id="22" name="why head Catalog volatility"/>
          <p:cNvSpPr txBox="1"/>
          <p:nvPr/>
        </p:nvSpPr>
        <p:spPr>
          <a:xfrm>
            <a:off x="8887968" y="4389120"/>
            <a:ext cx="2569464" cy="457200"/>
          </a:xfrm>
          <a:prstGeom prst="rect">
            <a:avLst/>
          </a:prstGeom>
          <a:noFill/>
          <a:ln/>
        </p:spPr>
        <p:txBody>
          <a:bodyPr wrap="square" lIns="0" tIns="0" rIns="0" bIns="0" rtlCol="0" anchor="ctr"/>
          <a:lstStyle/>
          <a:p>
            <a:pPr indent="0" marL="0">
              <a:buNone/>
            </a:pPr>
            <a:r>
              <a:rPr lang="en-US" sz="1700" b="1" dirty="0">
                <a:solidFill>
                  <a:schemeClr val="accent1"/>
                </a:solidFill>
              </a:rPr>
              <a:t>3. Catalog volatility</a:t>
            </a:r>
            <a:endParaRPr lang="en-US" sz="1700" dirty="0"/>
          </a:p>
        </p:txBody>
      </p:sp>
      <p:sp>
        <p:nvSpPr>
          <p:cNvPr id="23" name="why text Catalog volatility"/>
          <p:cNvSpPr txBox="1"/>
          <p:nvPr/>
        </p:nvSpPr>
        <p:spPr>
          <a:xfrm>
            <a:off x="8293608" y="4937760"/>
            <a:ext cx="3118104" cy="731520"/>
          </a:xfrm>
          <a:prstGeom prst="rect">
            <a:avLst/>
          </a:prstGeom>
          <a:noFill/>
          <a:ln/>
        </p:spPr>
        <p:txBody>
          <a:bodyPr wrap="square" lIns="0" tIns="0" rIns="0" bIns="0" rtlCol="0" anchor="t"/>
          <a:lstStyle/>
          <a:p>
            <a:pPr indent="0" marL="0">
              <a:buNone/>
            </a:pPr>
            <a:r>
              <a:rPr lang="en-US" sz="1400" dirty="0">
                <a:solidFill>
                  <a:schemeClr val="tx1"/>
                </a:solidFill>
              </a:rPr>
              <a:t>Catalogs change faster than rule-based systems can be rewritten.</a:t>
            </a:r>
            <a:endParaRPr lang="en-US" sz="1400" dirty="0"/>
          </a:p>
        </p:txBody>
      </p:sp>
      <p:sp>
        <p:nvSpPr>
          <p:cNvPr id="2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Whatever the method, it needs problems to learn from and a fixed set to compare on</a:t>
            </a:r>
            <a:endParaRPr lang="en-US" sz="2600" dirty="0"/>
          </a:p>
        </p:txBody>
      </p:sp>
      <p:sp>
        <p:nvSpPr>
          <p:cNvPr id="3" name="box context"/>
          <p:cNvSpPr/>
          <p:nvPr/>
        </p:nvSpPr>
        <p:spPr>
          <a:xfrm>
            <a:off x="548640" y="1554480"/>
            <a:ext cx="1737360" cy="1097280"/>
          </a:xfrm>
          <a:prstGeom prst="roundRect">
            <a:avLst>
              <a:gd name="adj" fmla="val 5000"/>
            </a:avLst>
          </a:prstGeom>
          <a:solidFill>
            <a:schemeClr val="bg2"/>
          </a:solidFill>
          <a:ln w="12700">
            <a:solidFill>
              <a:srgbClr val="52514E"/>
            </a:solidFill>
            <a:prstDash val="solid"/>
          </a:ln>
        </p:spPr>
      </p:sp>
      <p:sp>
        <p:nvSpPr>
          <p:cNvPr id="4" name="mini slab"/>
          <p:cNvSpPr/>
          <p:nvPr/>
        </p:nvSpPr>
        <p:spPr>
          <a:xfrm>
            <a:off x="777240" y="1664208"/>
            <a:ext cx="1280160" cy="91440"/>
          </a:xfrm>
          <a:prstGeom prst="rect">
            <a:avLst/>
          </a:prstGeom>
          <a:solidFill>
            <a:srgbClr val="EEF1F4"/>
          </a:solidFill>
          <a:ln w="6350">
            <a:solidFill>
              <a:srgbClr val="52514E"/>
            </a:solidFill>
            <a:prstDash val="solid"/>
          </a:ln>
        </p:spPr>
      </p:sp>
      <p:sp>
        <p:nvSpPr>
          <p:cNvPr id="5" name="mini duct"/>
          <p:cNvSpPr/>
          <p:nvPr/>
        </p:nvSpPr>
        <p:spPr>
          <a:xfrm>
            <a:off x="868680" y="1828800"/>
            <a:ext cx="384048" cy="219456"/>
          </a:xfrm>
          <a:prstGeom prst="rect">
            <a:avLst/>
          </a:prstGeom>
          <a:solidFill>
            <a:srgbClr val="FFFFFF"/>
          </a:solidFill>
          <a:ln w="9525">
            <a:solidFill>
              <a:srgbClr val="52514E"/>
            </a:solidFill>
            <a:prstDash val="solid"/>
          </a:ln>
        </p:spPr>
      </p:sp>
      <p:sp>
        <p:nvSpPr>
          <p:cNvPr id="6" name="mini pipe a"/>
          <p:cNvSpPr/>
          <p:nvPr/>
        </p:nvSpPr>
        <p:spPr>
          <a:xfrm>
            <a:off x="1371600" y="1856232"/>
            <a:ext cx="192024" cy="192024"/>
          </a:xfrm>
          <a:prstGeom prst="ellipse">
            <a:avLst/>
          </a:prstGeom>
          <a:solidFill>
            <a:srgbClr val="FFFFFF"/>
          </a:solidFill>
          <a:ln w="9525">
            <a:solidFill>
              <a:srgbClr val="52514E"/>
            </a:solidFill>
            <a:prstDash val="solid"/>
          </a:ln>
        </p:spPr>
      </p:sp>
      <p:sp>
        <p:nvSpPr>
          <p:cNvPr id="7" name="mini pipe b"/>
          <p:cNvSpPr/>
          <p:nvPr/>
        </p:nvSpPr>
        <p:spPr>
          <a:xfrm>
            <a:off x="1618488" y="1911096"/>
            <a:ext cx="137160" cy="137160"/>
          </a:xfrm>
          <a:prstGeom prst="ellipse">
            <a:avLst/>
          </a:prstGeom>
          <a:solidFill>
            <a:srgbClr val="FFFFFF"/>
          </a:solidFill>
          <a:ln w="9525">
            <a:solidFill>
              <a:srgbClr val="52514E"/>
            </a:solidFill>
            <a:prstDash val="solid"/>
          </a:ln>
        </p:spPr>
      </p:sp>
      <p:sp>
        <p:nvSpPr>
          <p:cNvPr id="8" name="mini tray"/>
          <p:cNvSpPr/>
          <p:nvPr/>
        </p:nvSpPr>
        <p:spPr>
          <a:xfrm>
            <a:off x="1828800" y="1965960"/>
            <a:ext cx="237744" cy="82296"/>
          </a:xfrm>
          <a:prstGeom prst="rect">
            <a:avLst/>
          </a:prstGeom>
          <a:solidFill>
            <a:srgbClr val="FFFFFF"/>
          </a:solidFill>
          <a:ln w="9525">
            <a:solidFill>
              <a:srgbClr val="52514E"/>
            </a:solidFill>
            <a:prstDash val="solid"/>
          </a:ln>
        </p:spPr>
      </p:sp>
      <p:sp>
        <p:nvSpPr>
          <p:cNvPr id="9" name="text context"/>
          <p:cNvSpPr txBox="1"/>
          <p:nvPr/>
        </p:nvSpPr>
        <p:spPr>
          <a:xfrm>
            <a:off x="548640" y="2084832"/>
            <a:ext cx="1737360" cy="548640"/>
          </a:xfrm>
          <a:prstGeom prst="rect">
            <a:avLst/>
          </a:prstGeom>
          <a:noFill/>
          <a:ln/>
        </p:spPr>
        <p:txBody>
          <a:bodyPr wrap="square" lIns="1016" tIns="1016" rIns="1016" bIns="1016" rtlCol="0" anchor="ctr"/>
          <a:lstStyle/>
          <a:p>
            <a:pPr algn="ctr" indent="0" marL="0">
              <a:buNone/>
            </a:pPr>
            <a:r>
              <a:rPr lang="en-US" sz="1400" b="1" dirty="0">
                <a:solidFill>
                  <a:schemeClr val="tx1"/>
                </a:solidFill>
              </a:rPr>
              <a:t>Context</a:t>
            </a:r>
            <a:endParaRPr lang="en-US" sz="1400" dirty="0"/>
          </a:p>
          <a:p>
            <a:pPr algn="ctr" indent="0" marL="0">
              <a:buNone/>
            </a:pPr>
            <a:r>
              <a:rPr lang="en-US" sz="1150" dirty="0">
                <a:solidFill>
                  <a:srgbClr val="52514E"/>
                </a:solidFill>
              </a:rPr>
              <a:t>structure, services, loads</a:t>
            </a:r>
            <a:endParaRPr lang="en-US" sz="1400" dirty="0"/>
          </a:p>
        </p:txBody>
      </p:sp>
      <p:sp>
        <p:nvSpPr>
          <p:cNvPr id="10" name="box catalog"/>
          <p:cNvSpPr/>
          <p:nvPr/>
        </p:nvSpPr>
        <p:spPr>
          <a:xfrm>
            <a:off x="640080" y="2743200"/>
            <a:ext cx="1554480" cy="1051560"/>
          </a:xfrm>
          <a:prstGeom prst="can">
            <a:avLst/>
          </a:prstGeom>
          <a:solidFill>
            <a:schemeClr val="bg2"/>
          </a:solidFill>
          <a:ln w="12700">
            <a:solidFill>
              <a:srgbClr val="52514E"/>
            </a:solidFill>
            <a:prstDash val="solid"/>
          </a:ln>
        </p:spPr>
      </p:sp>
      <p:sp>
        <p:nvSpPr>
          <p:cNvPr id="11" name="text catalog"/>
          <p:cNvSpPr txBox="1"/>
          <p:nvPr/>
        </p:nvSpPr>
        <p:spPr>
          <a:xfrm>
            <a:off x="548640" y="2834640"/>
            <a:ext cx="1737360" cy="914400"/>
          </a:xfrm>
          <a:prstGeom prst="rect">
            <a:avLst/>
          </a:prstGeom>
          <a:noFill/>
          <a:ln/>
        </p:spPr>
        <p:txBody>
          <a:bodyPr wrap="square" lIns="1016" tIns="1016" rIns="1016" bIns="1016" rtlCol="0" anchor="ctr"/>
          <a:lstStyle/>
          <a:p>
            <a:pPr algn="ctr" indent="0" marL="0">
              <a:buNone/>
            </a:pPr>
            <a:r>
              <a:rPr lang="en-US" sz="1400" b="1" dirty="0">
                <a:solidFill>
                  <a:schemeClr val="tx1"/>
                </a:solidFill>
              </a:rPr>
              <a:t>Catalog</a:t>
            </a:r>
            <a:endParaRPr lang="en-US" sz="1400" dirty="0"/>
          </a:p>
          <a:p>
            <a:pPr algn="ctr" indent="0" marL="0">
              <a:buNone/>
            </a:pPr>
            <a:r>
              <a:rPr lang="en-US" sz="1150" dirty="0">
                <a:solidFill>
                  <a:srgbClr val="52514E"/>
                </a:solidFill>
              </a:rPr>
              <a:t>parts, sizes, unit costs</a:t>
            </a:r>
            <a:endParaRPr lang="en-US" sz="1400" dirty="0"/>
          </a:p>
        </p:txBody>
      </p:sp>
      <p:sp>
        <p:nvSpPr>
          <p:cNvPr id="12" name="box rules"/>
          <p:cNvSpPr/>
          <p:nvPr/>
        </p:nvSpPr>
        <p:spPr>
          <a:xfrm>
            <a:off x="2743200" y="1554480"/>
            <a:ext cx="1828800" cy="2240280"/>
          </a:xfrm>
          <a:prstGeom prst="roundRect">
            <a:avLst>
              <a:gd name="adj" fmla="val 3000"/>
            </a:avLst>
          </a:prstGeom>
          <a:solidFill>
            <a:schemeClr val="bg2"/>
          </a:solidFill>
          <a:ln w="15875">
            <a:solidFill>
              <a:srgbClr val="1F2933"/>
            </a:solidFill>
            <a:prstDash val="solid"/>
          </a:ln>
        </p:spPr>
      </p:sp>
      <p:pic>
        <p:nvPicPr>
          <p:cNvPr id="13" name="icon rules" descr="preencoded.png">    </p:cNvPr>
          <p:cNvPicPr>
            <a:picLocks noChangeAspect="1"/>
          </p:cNvPicPr>
          <p:nvPr/>
        </p:nvPicPr>
        <p:blipFill>
          <a:blip r:embed="rId1"/>
          <a:stretch>
            <a:fillRect/>
          </a:stretch>
        </p:blipFill>
        <p:spPr>
          <a:xfrm>
            <a:off x="3429000" y="1828800"/>
            <a:ext cx="457200" cy="457200"/>
          </a:xfrm>
          <a:prstGeom prst="rect">
            <a:avLst/>
          </a:prstGeom>
        </p:spPr>
      </p:pic>
      <p:sp>
        <p:nvSpPr>
          <p:cNvPr id="14" name="text rules"/>
          <p:cNvSpPr txBox="1"/>
          <p:nvPr/>
        </p:nvSpPr>
        <p:spPr>
          <a:xfrm>
            <a:off x="274320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Rules</a:t>
            </a:r>
            <a:endParaRPr lang="en-US" sz="1400" dirty="0"/>
          </a:p>
          <a:p>
            <a:pPr algn="ctr" indent="0" marL="0">
              <a:buNone/>
            </a:pPr>
            <a:r>
              <a:rPr lang="en-US" sz="1150" dirty="0">
                <a:solidFill>
                  <a:srgbClr val="52514E"/>
                </a:solidFill>
              </a:rPr>
              <a:t>which actions are legal in a state; each action adds parts</a:t>
            </a:r>
            <a:endParaRPr lang="en-US" sz="1400" dirty="0"/>
          </a:p>
        </p:txBody>
      </p:sp>
      <p:sp>
        <p:nvSpPr>
          <p:cNvPr id="15" name="arrow context to rules"/>
          <p:cNvSpPr/>
          <p:nvPr/>
        </p:nvSpPr>
        <p:spPr>
          <a:xfrm>
            <a:off x="2286000" y="2103120"/>
            <a:ext cx="457200" cy="0"/>
          </a:xfrm>
          <a:prstGeom prst="line">
            <a:avLst/>
          </a:prstGeom>
          <a:noFill/>
          <a:ln w="15875">
            <a:solidFill>
              <a:srgbClr val="52514E"/>
            </a:solidFill>
            <a:prstDash val="solid"/>
            <a:tailEnd type="triangle"/>
          </a:ln>
        </p:spPr>
      </p:sp>
      <p:sp>
        <p:nvSpPr>
          <p:cNvPr id="16" name="arrow catalog to rules"/>
          <p:cNvSpPr/>
          <p:nvPr/>
        </p:nvSpPr>
        <p:spPr>
          <a:xfrm>
            <a:off x="2194560" y="3291840"/>
            <a:ext cx="548640" cy="0"/>
          </a:xfrm>
          <a:prstGeom prst="line">
            <a:avLst/>
          </a:prstGeom>
          <a:noFill/>
          <a:ln w="15875">
            <a:solidFill>
              <a:srgbClr val="52514E"/>
            </a:solidFill>
            <a:prstDash val="solid"/>
            <a:tailEnd type="triangle"/>
          </a:ln>
        </p:spPr>
      </p:sp>
      <p:sp>
        <p:nvSpPr>
          <p:cNvPr id="17" name="black box approach"/>
          <p:cNvSpPr/>
          <p:nvPr/>
        </p:nvSpPr>
        <p:spPr>
          <a:xfrm>
            <a:off x="5120640" y="1554480"/>
            <a:ext cx="2194560" cy="2240280"/>
          </a:xfrm>
          <a:prstGeom prst="roundRect">
            <a:avLst>
              <a:gd name="adj" fmla="val 2500"/>
            </a:avLst>
          </a:prstGeom>
          <a:solidFill>
            <a:srgbClr val="0B0B0B"/>
          </a:solidFill>
          <a:ln/>
        </p:spPr>
      </p:sp>
      <p:pic>
        <p:nvPicPr>
          <p:cNvPr id="18" name="icon approach" descr="preencoded.png">    </p:cNvPr>
          <p:cNvPicPr>
            <a:picLocks noChangeAspect="1"/>
          </p:cNvPicPr>
          <p:nvPr/>
        </p:nvPicPr>
        <p:blipFill>
          <a:blip r:embed="rId2"/>
          <a:stretch>
            <a:fillRect/>
          </a:stretch>
        </p:blipFill>
        <p:spPr>
          <a:xfrm>
            <a:off x="5989320" y="1828800"/>
            <a:ext cx="457200" cy="457200"/>
          </a:xfrm>
          <a:prstGeom prst="rect">
            <a:avLst/>
          </a:prstGeom>
        </p:spPr>
      </p:pic>
      <p:sp>
        <p:nvSpPr>
          <p:cNvPr id="19" name="text approach"/>
          <p:cNvSpPr txBox="1"/>
          <p:nvPr/>
        </p:nvSpPr>
        <p:spPr>
          <a:xfrm>
            <a:off x="5120640" y="2331720"/>
            <a:ext cx="2194560" cy="1371600"/>
          </a:xfrm>
          <a:prstGeom prst="rect">
            <a:avLst/>
          </a:prstGeom>
          <a:noFill/>
          <a:ln/>
        </p:spPr>
        <p:txBody>
          <a:bodyPr wrap="square" lIns="1016" tIns="1016" rIns="1016" bIns="1016" rtlCol="0" anchor="ctr"/>
          <a:lstStyle/>
          <a:p>
            <a:pPr algn="ctr" indent="0" marL="0">
              <a:buNone/>
            </a:pPr>
            <a:r>
              <a:rPr lang="en-US" sz="1600" b="1" dirty="0">
                <a:solidFill>
                  <a:srgbClr val="FFFFFF"/>
                </a:solidFill>
              </a:rPr>
              <a:t>Approach</a:t>
            </a:r>
            <a:endParaRPr lang="en-US" sz="1600" dirty="0"/>
          </a:p>
          <a:p>
            <a:pPr algn="ctr" indent="0" marL="0">
              <a:buNone/>
            </a:pPr>
            <a:r>
              <a:rPr lang="en-US" sz="1150" dirty="0">
                <a:solidFill>
                  <a:srgbClr val="CADCFC"/>
                </a:solidFill>
              </a:rPr>
              <a:t>a black box that chooses the next action</a:t>
            </a:r>
            <a:endParaRPr lang="en-US" sz="1600" dirty="0"/>
          </a:p>
          <a:p>
            <a:pPr algn="ctr" indent="0" marL="0">
              <a:buNone/>
            </a:pPr>
            <a:endParaRPr lang="en-US" sz="1600" dirty="0"/>
          </a:p>
          <a:p>
            <a:pPr algn="ctr" indent="0" marL="0">
              <a:buNone/>
            </a:pPr>
            <a:r>
              <a:rPr lang="en-US" sz="1150" dirty="0">
                <a:solidFill>
                  <a:srgbClr val="CADCFC"/>
                </a:solidFill>
              </a:rPr>
              <a:t>rule table · search · learned policy</a:t>
            </a:r>
            <a:endParaRPr lang="en-US" sz="1600" dirty="0"/>
          </a:p>
        </p:txBody>
      </p:sp>
      <p:sp>
        <p:nvSpPr>
          <p:cNvPr id="20" name="arrow legal actions"/>
          <p:cNvSpPr/>
          <p:nvPr/>
        </p:nvSpPr>
        <p:spPr>
          <a:xfrm>
            <a:off x="4572000" y="2354580"/>
            <a:ext cx="548640" cy="0"/>
          </a:xfrm>
          <a:prstGeom prst="line">
            <a:avLst/>
          </a:prstGeom>
          <a:noFill/>
          <a:ln w="15875">
            <a:solidFill>
              <a:srgbClr val="52514E"/>
            </a:solidFill>
            <a:prstDash val="solid"/>
            <a:tailEnd type="triangle"/>
          </a:ln>
        </p:spPr>
      </p:sp>
      <p:sp>
        <p:nvSpPr>
          <p:cNvPr id="21" name="label legal actions"/>
          <p:cNvSpPr txBox="1"/>
          <p:nvPr/>
        </p:nvSpPr>
        <p:spPr>
          <a:xfrm>
            <a:off x="4572000" y="207111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legal actions</a:t>
            </a:r>
            <a:endParaRPr lang="en-US" sz="1050" dirty="0"/>
          </a:p>
        </p:txBody>
      </p:sp>
      <p:sp>
        <p:nvSpPr>
          <p:cNvPr id="22" name="arrow chosen action"/>
          <p:cNvSpPr/>
          <p:nvPr/>
        </p:nvSpPr>
        <p:spPr>
          <a:xfrm>
            <a:off x="4572000" y="2994660"/>
            <a:ext cx="548640" cy="0"/>
          </a:xfrm>
          <a:prstGeom prst="line">
            <a:avLst/>
          </a:prstGeom>
          <a:noFill/>
          <a:ln w="15875">
            <a:solidFill>
              <a:srgbClr val="52514E"/>
            </a:solidFill>
            <a:prstDash val="solid"/>
            <a:headEnd type="triangle"/>
          </a:ln>
        </p:spPr>
      </p:sp>
      <p:sp>
        <p:nvSpPr>
          <p:cNvPr id="23" name="label chosen action"/>
          <p:cNvSpPr txBox="1"/>
          <p:nvPr/>
        </p:nvSpPr>
        <p:spPr>
          <a:xfrm>
            <a:off x="4572000" y="3040380"/>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chosen action</a:t>
            </a:r>
            <a:endParaRPr lang="en-US" sz="1050" dirty="0"/>
          </a:p>
        </p:txBody>
      </p:sp>
      <p:sp>
        <p:nvSpPr>
          <p:cNvPr id="24" name="box verifier"/>
          <p:cNvSpPr/>
          <p:nvPr/>
        </p:nvSpPr>
        <p:spPr>
          <a:xfrm>
            <a:off x="7863840" y="1554480"/>
            <a:ext cx="1828800" cy="2240280"/>
          </a:xfrm>
          <a:prstGeom prst="roundRect">
            <a:avLst>
              <a:gd name="adj" fmla="val 3000"/>
            </a:avLst>
          </a:prstGeom>
          <a:solidFill>
            <a:srgbClr val="EAF5EE"/>
          </a:solidFill>
          <a:ln w="19050">
            <a:solidFill>
              <a:srgbClr val="008300"/>
            </a:solidFill>
            <a:prstDash val="solid"/>
          </a:ln>
        </p:spPr>
      </p:sp>
      <p:pic>
        <p:nvPicPr>
          <p:cNvPr id="25" name="icon verifier" descr="preencoded.png">    </p:cNvPr>
          <p:cNvPicPr>
            <a:picLocks noChangeAspect="1"/>
          </p:cNvPicPr>
          <p:nvPr/>
        </p:nvPicPr>
        <p:blipFill>
          <a:blip r:embed="rId3"/>
          <a:stretch>
            <a:fillRect/>
          </a:stretch>
        </p:blipFill>
        <p:spPr>
          <a:xfrm>
            <a:off x="8549640" y="1828800"/>
            <a:ext cx="457200" cy="457200"/>
          </a:xfrm>
          <a:prstGeom prst="rect">
            <a:avLst/>
          </a:prstGeom>
        </p:spPr>
      </p:pic>
      <p:sp>
        <p:nvSpPr>
          <p:cNvPr id="26" name="text verifier"/>
          <p:cNvSpPr txBox="1"/>
          <p:nvPr/>
        </p:nvSpPr>
        <p:spPr>
          <a:xfrm>
            <a:off x="7863840" y="2331720"/>
            <a:ext cx="1828800"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Verifier</a:t>
            </a:r>
            <a:endParaRPr lang="en-US" sz="1400" dirty="0"/>
          </a:p>
          <a:p>
            <a:pPr algn="ctr" indent="0" marL="0">
              <a:buNone/>
            </a:pPr>
            <a:r>
              <a:rPr lang="en-US" sz="1150" dirty="0">
                <a:solidFill>
                  <a:srgbClr val="52514E"/>
                </a:solidFill>
              </a:rPr>
              <a:t>judges every finished design: statics, anchors, connectors, buildability</a:t>
            </a:r>
            <a:endParaRPr lang="en-US" sz="1400" dirty="0"/>
          </a:p>
        </p:txBody>
      </p:sp>
      <p:sp>
        <p:nvSpPr>
          <p:cNvPr id="27" name="arrow finished design"/>
          <p:cNvSpPr/>
          <p:nvPr/>
        </p:nvSpPr>
        <p:spPr>
          <a:xfrm>
            <a:off x="7315200" y="2674620"/>
            <a:ext cx="548640" cy="0"/>
          </a:xfrm>
          <a:prstGeom prst="line">
            <a:avLst/>
          </a:prstGeom>
          <a:noFill/>
          <a:ln w="15875">
            <a:solidFill>
              <a:srgbClr val="52514E"/>
            </a:solidFill>
            <a:prstDash val="solid"/>
            <a:tailEnd type="triangle"/>
          </a:ln>
        </p:spPr>
      </p:sp>
      <p:sp>
        <p:nvSpPr>
          <p:cNvPr id="28" name="label finished design"/>
          <p:cNvSpPr txBox="1"/>
          <p:nvPr/>
        </p:nvSpPr>
        <p:spPr>
          <a:xfrm>
            <a:off x="7315200" y="2391156"/>
            <a:ext cx="548640" cy="237744"/>
          </a:xfrm>
          <a:prstGeom prst="rect">
            <a:avLst/>
          </a:prstGeom>
          <a:noFill/>
          <a:ln/>
        </p:spPr>
        <p:txBody>
          <a:bodyPr wrap="square" lIns="0" tIns="0" rIns="0" bIns="0" rtlCol="0" anchor="ctr"/>
          <a:lstStyle/>
          <a:p>
            <a:pPr algn="ctr" indent="0" marL="0">
              <a:buNone/>
            </a:pPr>
            <a:r>
              <a:rPr lang="en-US" sz="1050" dirty="0">
                <a:solidFill>
                  <a:srgbClr val="52514E"/>
                </a:solidFill>
              </a:rPr>
              <a:t>finished design</a:t>
            </a:r>
            <a:endParaRPr lang="en-US" sz="1050" dirty="0"/>
          </a:p>
        </p:txBody>
      </p:sp>
      <p:sp>
        <p:nvSpPr>
          <p:cNvPr id="29" name="box output"/>
          <p:cNvSpPr/>
          <p:nvPr/>
        </p:nvSpPr>
        <p:spPr>
          <a:xfrm>
            <a:off x="10104120" y="1554480"/>
            <a:ext cx="1536192" cy="2240280"/>
          </a:xfrm>
          <a:prstGeom prst="roundRect">
            <a:avLst>
              <a:gd name="adj" fmla="val 3571"/>
            </a:avLst>
          </a:prstGeom>
          <a:solidFill>
            <a:schemeClr val="bg2"/>
          </a:solidFill>
          <a:ln w="19050">
            <a:solidFill>
              <a:srgbClr val="0B0B0B"/>
            </a:solidFill>
            <a:prstDash val="solid"/>
          </a:ln>
        </p:spPr>
      </p:sp>
      <p:sp>
        <p:nvSpPr>
          <p:cNvPr id="30" name="mini out slab"/>
          <p:cNvSpPr/>
          <p:nvPr/>
        </p:nvSpPr>
        <p:spPr>
          <a:xfrm>
            <a:off x="10287000" y="1719072"/>
            <a:ext cx="1170432" cy="91440"/>
          </a:xfrm>
          <a:prstGeom prst="rect">
            <a:avLst/>
          </a:prstGeom>
          <a:solidFill>
            <a:srgbClr val="EEF1F4"/>
          </a:solidFill>
          <a:ln w="6350">
            <a:solidFill>
              <a:srgbClr val="52514E"/>
            </a:solidFill>
            <a:prstDash val="solid"/>
          </a:ln>
        </p:spPr>
      </p:sp>
      <p:sp>
        <p:nvSpPr>
          <p:cNvPr id="31" name="mini rod 0"/>
          <p:cNvSpPr/>
          <p:nvPr/>
        </p:nvSpPr>
        <p:spPr>
          <a:xfrm>
            <a:off x="10378440" y="1810512"/>
            <a:ext cx="27432" cy="429768"/>
          </a:xfrm>
          <a:prstGeom prst="rect">
            <a:avLst/>
          </a:prstGeom>
          <a:solidFill>
            <a:srgbClr val="1F2933"/>
          </a:solidFill>
          <a:ln/>
        </p:spPr>
      </p:sp>
      <p:sp>
        <p:nvSpPr>
          <p:cNvPr id="32" name="mini rod 1"/>
          <p:cNvSpPr/>
          <p:nvPr/>
        </p:nvSpPr>
        <p:spPr>
          <a:xfrm>
            <a:off x="11338560" y="1810512"/>
            <a:ext cx="27432" cy="429768"/>
          </a:xfrm>
          <a:prstGeom prst="rect">
            <a:avLst/>
          </a:prstGeom>
          <a:solidFill>
            <a:srgbClr val="1F2933"/>
          </a:solidFill>
          <a:ln/>
        </p:spPr>
      </p:sp>
      <p:sp>
        <p:nvSpPr>
          <p:cNvPr id="33" name="mini bar"/>
          <p:cNvSpPr/>
          <p:nvPr/>
        </p:nvSpPr>
        <p:spPr>
          <a:xfrm>
            <a:off x="10305288" y="2240280"/>
            <a:ext cx="1133856" cy="36576"/>
          </a:xfrm>
          <a:prstGeom prst="rect">
            <a:avLst/>
          </a:prstGeom>
          <a:solidFill>
            <a:srgbClr val="1F2933"/>
          </a:solidFill>
          <a:ln/>
        </p:spPr>
      </p:sp>
      <p:sp>
        <p:nvSpPr>
          <p:cNvPr id="34" name="mini out pipe a"/>
          <p:cNvSpPr/>
          <p:nvPr/>
        </p:nvSpPr>
        <p:spPr>
          <a:xfrm>
            <a:off x="10543032" y="2029968"/>
            <a:ext cx="210312" cy="210312"/>
          </a:xfrm>
          <a:prstGeom prst="ellipse">
            <a:avLst/>
          </a:prstGeom>
          <a:solidFill>
            <a:srgbClr val="FFFFFF"/>
          </a:solidFill>
          <a:ln w="9525">
            <a:solidFill>
              <a:srgbClr val="52514E"/>
            </a:solidFill>
            <a:prstDash val="solid"/>
          </a:ln>
        </p:spPr>
      </p:sp>
      <p:sp>
        <p:nvSpPr>
          <p:cNvPr id="35" name="mini out pipe b"/>
          <p:cNvSpPr/>
          <p:nvPr/>
        </p:nvSpPr>
        <p:spPr>
          <a:xfrm>
            <a:off x="10890504" y="2084832"/>
            <a:ext cx="155448" cy="155448"/>
          </a:xfrm>
          <a:prstGeom prst="ellipse">
            <a:avLst/>
          </a:prstGeom>
          <a:solidFill>
            <a:srgbClr val="FFFFFF"/>
          </a:solidFill>
          <a:ln w="9525">
            <a:solidFill>
              <a:srgbClr val="52514E"/>
            </a:solidFill>
            <a:prstDash val="solid"/>
          </a:ln>
        </p:spPr>
      </p:sp>
      <p:sp>
        <p:nvSpPr>
          <p:cNvPr id="36" name="text output"/>
          <p:cNvSpPr txBox="1"/>
          <p:nvPr/>
        </p:nvSpPr>
        <p:spPr>
          <a:xfrm>
            <a:off x="10104120" y="2331720"/>
            <a:ext cx="1536192" cy="1371600"/>
          </a:xfrm>
          <a:prstGeom prst="rect">
            <a:avLst/>
          </a:prstGeom>
          <a:noFill/>
          <a:ln/>
        </p:spPr>
        <p:txBody>
          <a:bodyPr wrap="square" lIns="1016" tIns="1016" rIns="1016" bIns="1016" rtlCol="0" anchor="ctr"/>
          <a:lstStyle/>
          <a:p>
            <a:pPr algn="ctr" indent="0" marL="0">
              <a:buNone/>
            </a:pPr>
            <a:r>
              <a:rPr lang="en-US" sz="1400" b="1" dirty="0">
                <a:solidFill>
                  <a:schemeClr val="tx1"/>
                </a:solidFill>
              </a:rPr>
              <a:t>Verified designs</a:t>
            </a:r>
            <a:endParaRPr lang="en-US" sz="1400" dirty="0"/>
          </a:p>
          <a:p>
            <a:pPr algn="ctr" indent="0" marL="0">
              <a:buNone/>
            </a:pPr>
            <a:r>
              <a:rPr lang="en-US" sz="1150" dirty="0">
                <a:solidFill>
                  <a:srgbClr val="52514E"/>
                </a:solidFill>
              </a:rPr>
              <a:t>up to ten, ranked by installed cost</a:t>
            </a:r>
            <a:endParaRPr lang="en-US" sz="1400" dirty="0"/>
          </a:p>
        </p:txBody>
      </p:sp>
      <p:sp>
        <p:nvSpPr>
          <p:cNvPr id="37" name="arrow to output"/>
          <p:cNvSpPr/>
          <p:nvPr/>
        </p:nvSpPr>
        <p:spPr>
          <a:xfrm>
            <a:off x="9692640" y="2674620"/>
            <a:ext cx="411480" cy="0"/>
          </a:xfrm>
          <a:prstGeom prst="line">
            <a:avLst/>
          </a:prstGeom>
          <a:noFill/>
          <a:ln w="15875">
            <a:solidFill>
              <a:srgbClr val="52514E"/>
            </a:solidFill>
            <a:prstDash val="solid"/>
            <a:tailEnd type="triangle"/>
          </a:ln>
        </p:spPr>
      </p:sp>
      <p:sp>
        <p:nvSpPr>
          <p:cNvPr id="38" name="feedback down"/>
          <p:cNvSpPr/>
          <p:nvPr/>
        </p:nvSpPr>
        <p:spPr>
          <a:xfrm>
            <a:off x="8778240" y="3794760"/>
            <a:ext cx="0" cy="274320"/>
          </a:xfrm>
          <a:prstGeom prst="line">
            <a:avLst/>
          </a:prstGeom>
          <a:noFill/>
          <a:ln w="15875">
            <a:solidFill>
              <a:srgbClr val="008300"/>
            </a:solidFill>
            <a:prstDash val="dash"/>
          </a:ln>
        </p:spPr>
      </p:sp>
      <p:sp>
        <p:nvSpPr>
          <p:cNvPr id="39" name="feedback across"/>
          <p:cNvSpPr/>
          <p:nvPr/>
        </p:nvSpPr>
        <p:spPr>
          <a:xfrm>
            <a:off x="6217920" y="4069080"/>
            <a:ext cx="2560320" cy="0"/>
          </a:xfrm>
          <a:prstGeom prst="line">
            <a:avLst/>
          </a:prstGeom>
          <a:noFill/>
          <a:ln w="15875">
            <a:solidFill>
              <a:srgbClr val="008300"/>
            </a:solidFill>
            <a:prstDash val="dash"/>
          </a:ln>
        </p:spPr>
      </p:sp>
      <p:sp>
        <p:nvSpPr>
          <p:cNvPr id="40" name="feedback up"/>
          <p:cNvSpPr/>
          <p:nvPr/>
        </p:nvSpPr>
        <p:spPr>
          <a:xfrm>
            <a:off x="6217920" y="3794760"/>
            <a:ext cx="0" cy="274320"/>
          </a:xfrm>
          <a:prstGeom prst="line">
            <a:avLst/>
          </a:prstGeom>
          <a:noFill/>
          <a:ln w="15875">
            <a:solidFill>
              <a:srgbClr val="008300"/>
            </a:solidFill>
            <a:prstDash val="dash"/>
            <a:headEnd type="triangle"/>
          </a:ln>
        </p:spPr>
      </p:sp>
      <p:sp>
        <p:nvSpPr>
          <p:cNvPr id="41" name="label feedback"/>
          <p:cNvSpPr txBox="1"/>
          <p:nvPr/>
        </p:nvSpPr>
        <p:spPr>
          <a:xfrm>
            <a:off x="6400800" y="4096512"/>
            <a:ext cx="2194560" cy="237744"/>
          </a:xfrm>
          <a:prstGeom prst="rect">
            <a:avLst/>
          </a:prstGeom>
          <a:noFill/>
          <a:ln/>
        </p:spPr>
        <p:txBody>
          <a:bodyPr wrap="square" lIns="0" tIns="0" rIns="0" bIns="0" rtlCol="0" anchor="ctr"/>
          <a:lstStyle/>
          <a:p>
            <a:pPr algn="ctr" indent="0" marL="0">
              <a:buNone/>
            </a:pPr>
            <a:r>
              <a:rPr lang="en-US" sz="1050" dirty="0">
                <a:solidFill>
                  <a:srgbClr val="008300"/>
                </a:solidFill>
              </a:rPr>
              <a:t>pass or fail, fed back</a:t>
            </a:r>
            <a:endParaRPr lang="en-US" sz="1050" dirty="0"/>
          </a:p>
        </p:txBody>
      </p:sp>
      <p:sp>
        <p:nvSpPr>
          <p:cNvPr id="42" name="legend swatch Input"/>
          <p:cNvSpPr/>
          <p:nvPr/>
        </p:nvSpPr>
        <p:spPr>
          <a:xfrm>
            <a:off x="548640" y="4654296"/>
            <a:ext cx="274320" cy="182880"/>
          </a:xfrm>
          <a:prstGeom prst="roundRect">
            <a:avLst>
              <a:gd name="adj" fmla="val 20000"/>
            </a:avLst>
          </a:prstGeom>
          <a:solidFill>
            <a:schemeClr val="bg2"/>
          </a:solidFill>
          <a:ln w="12700">
            <a:solidFill>
              <a:srgbClr val="52514E"/>
            </a:solidFill>
            <a:prstDash val="solid"/>
          </a:ln>
        </p:spPr>
      </p:sp>
      <p:sp>
        <p:nvSpPr>
          <p:cNvPr id="43" name="legend Input"/>
          <p:cNvSpPr txBox="1"/>
          <p:nvPr/>
        </p:nvSpPr>
        <p:spPr>
          <a:xfrm>
            <a:off x="89611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Input</a:t>
            </a:r>
            <a:endParaRPr lang="en-US" sz="1150" dirty="0"/>
          </a:p>
        </p:txBody>
      </p:sp>
      <p:sp>
        <p:nvSpPr>
          <p:cNvPr id="44" name="legend swatch Rules"/>
          <p:cNvSpPr/>
          <p:nvPr/>
        </p:nvSpPr>
        <p:spPr>
          <a:xfrm>
            <a:off x="1787652" y="4654296"/>
            <a:ext cx="274320" cy="182880"/>
          </a:xfrm>
          <a:prstGeom prst="roundRect">
            <a:avLst>
              <a:gd name="adj" fmla="val 20000"/>
            </a:avLst>
          </a:prstGeom>
          <a:solidFill>
            <a:schemeClr val="bg2"/>
          </a:solidFill>
          <a:ln w="12700">
            <a:solidFill>
              <a:srgbClr val="1F2933"/>
            </a:solidFill>
            <a:prstDash val="solid"/>
          </a:ln>
        </p:spPr>
      </p:sp>
      <p:sp>
        <p:nvSpPr>
          <p:cNvPr id="45" name="legend Rules"/>
          <p:cNvSpPr txBox="1"/>
          <p:nvPr/>
        </p:nvSpPr>
        <p:spPr>
          <a:xfrm>
            <a:off x="2135124"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Rules</a:t>
            </a:r>
            <a:endParaRPr lang="en-US" sz="1150" dirty="0"/>
          </a:p>
        </p:txBody>
      </p:sp>
      <p:sp>
        <p:nvSpPr>
          <p:cNvPr id="46" name="legend swatch Approach (black box)"/>
          <p:cNvSpPr/>
          <p:nvPr/>
        </p:nvSpPr>
        <p:spPr>
          <a:xfrm>
            <a:off x="3026664" y="4654296"/>
            <a:ext cx="274320" cy="182880"/>
          </a:xfrm>
          <a:prstGeom prst="roundRect">
            <a:avLst>
              <a:gd name="adj" fmla="val 20000"/>
            </a:avLst>
          </a:prstGeom>
          <a:solidFill>
            <a:srgbClr val="0B0B0B"/>
          </a:solidFill>
          <a:ln w="12700">
            <a:solidFill>
              <a:srgbClr val="0B0B0B"/>
            </a:solidFill>
            <a:prstDash val="solid"/>
          </a:ln>
        </p:spPr>
      </p:sp>
      <p:sp>
        <p:nvSpPr>
          <p:cNvPr id="47" name="legend Approach (black box)"/>
          <p:cNvSpPr txBox="1"/>
          <p:nvPr/>
        </p:nvSpPr>
        <p:spPr>
          <a:xfrm>
            <a:off x="3374136"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Approach (black box)</a:t>
            </a:r>
            <a:endParaRPr lang="en-US" sz="1150" dirty="0"/>
          </a:p>
        </p:txBody>
      </p:sp>
      <p:sp>
        <p:nvSpPr>
          <p:cNvPr id="48" name="legend swatch Verifier"/>
          <p:cNvSpPr/>
          <p:nvPr/>
        </p:nvSpPr>
        <p:spPr>
          <a:xfrm>
            <a:off x="5431536" y="4654296"/>
            <a:ext cx="274320" cy="182880"/>
          </a:xfrm>
          <a:prstGeom prst="roundRect">
            <a:avLst>
              <a:gd name="adj" fmla="val 20000"/>
            </a:avLst>
          </a:prstGeom>
          <a:solidFill>
            <a:srgbClr val="EAF5EE"/>
          </a:solidFill>
          <a:ln w="12700">
            <a:solidFill>
              <a:srgbClr val="008300"/>
            </a:solidFill>
            <a:prstDash val="solid"/>
          </a:ln>
        </p:spPr>
      </p:sp>
      <p:sp>
        <p:nvSpPr>
          <p:cNvPr id="49" name="legend Verifier"/>
          <p:cNvSpPr txBox="1"/>
          <p:nvPr/>
        </p:nvSpPr>
        <p:spPr>
          <a:xfrm>
            <a:off x="5779008"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Verifier</a:t>
            </a:r>
            <a:endParaRPr lang="en-US" sz="1150" dirty="0"/>
          </a:p>
        </p:txBody>
      </p:sp>
      <p:sp>
        <p:nvSpPr>
          <p:cNvPr id="50" name="legend swatch Output"/>
          <p:cNvSpPr/>
          <p:nvPr/>
        </p:nvSpPr>
        <p:spPr>
          <a:xfrm>
            <a:off x="6903720" y="4654296"/>
            <a:ext cx="274320" cy="182880"/>
          </a:xfrm>
          <a:prstGeom prst="roundRect">
            <a:avLst>
              <a:gd name="adj" fmla="val 20000"/>
            </a:avLst>
          </a:prstGeom>
          <a:solidFill>
            <a:schemeClr val="bg2"/>
          </a:solidFill>
          <a:ln w="12700">
            <a:solidFill>
              <a:srgbClr val="0B0B0B"/>
            </a:solidFill>
            <a:prstDash val="solid"/>
          </a:ln>
        </p:spPr>
      </p:sp>
      <p:sp>
        <p:nvSpPr>
          <p:cNvPr id="51" name="legend Output"/>
          <p:cNvSpPr txBox="1"/>
          <p:nvPr/>
        </p:nvSpPr>
        <p:spPr>
          <a:xfrm>
            <a:off x="7251192" y="4617720"/>
            <a:ext cx="2011680" cy="256032"/>
          </a:xfrm>
          <a:prstGeom prst="rect">
            <a:avLst/>
          </a:prstGeom>
          <a:noFill/>
          <a:ln/>
        </p:spPr>
        <p:txBody>
          <a:bodyPr wrap="square" lIns="0" tIns="0" rIns="0" bIns="0" rtlCol="0" anchor="ctr"/>
          <a:lstStyle/>
          <a:p>
            <a:pPr indent="0" marL="0">
              <a:buNone/>
            </a:pPr>
            <a:r>
              <a:rPr lang="en-US" sz="1150" dirty="0">
                <a:solidFill>
                  <a:schemeClr val="tx1"/>
                </a:solidFill>
              </a:rPr>
              <a:t>Output</a:t>
            </a:r>
            <a:endParaRPr lang="en-US" sz="1150" dirty="0"/>
          </a:p>
        </p:txBody>
      </p:sp>
      <p:sp>
        <p:nvSpPr>
          <p:cNvPr id="52" name="needs band"/>
          <p:cNvSpPr/>
          <p:nvPr/>
        </p:nvSpPr>
        <p:spPr>
          <a:xfrm>
            <a:off x="548640" y="5074920"/>
            <a:ext cx="11091672" cy="914400"/>
          </a:xfrm>
          <a:prstGeom prst="roundRect">
            <a:avLst>
              <a:gd name="adj" fmla="val 7000"/>
            </a:avLst>
          </a:prstGeom>
          <a:solidFill>
            <a:schemeClr val="tx2"/>
          </a:solidFill>
          <a:ln/>
        </p:spPr>
      </p:sp>
      <p:sp>
        <p:nvSpPr>
          <p:cNvPr id="53" name="needs text"/>
          <p:cNvSpPr txBox="1"/>
          <p:nvPr/>
        </p:nvSpPr>
        <p:spPr>
          <a:xfrm>
            <a:off x="822960" y="5074920"/>
            <a:ext cx="10515600" cy="914400"/>
          </a:xfrm>
          <a:prstGeom prst="rect">
            <a:avLst/>
          </a:prstGeom>
          <a:noFill/>
          <a:ln/>
        </p:spPr>
        <p:txBody>
          <a:bodyPr wrap="square" lIns="0" tIns="0" rIns="0" bIns="0" rtlCol="0" anchor="ctr"/>
          <a:lstStyle/>
          <a:p>
            <a:pPr indent="0" marL="0">
              <a:buNone/>
            </a:pPr>
            <a:r>
              <a:rPr lang="en-US" sz="1600" dirty="0">
                <a:solidFill>
                  <a:srgbClr val="FFFFFF"/>
                </a:solidFill>
              </a:rPr>
              <a:t>Whatever sits in the black box, it needs </a:t>
            </a:r>
            <a:pPr indent="0" marL="0">
              <a:buNone/>
            </a:pPr>
            <a:r>
              <a:rPr lang="en-US" sz="1600" b="1" dirty="0">
                <a:solidFill>
                  <a:srgbClr val="FFFFFF"/>
                </a:solidFill>
              </a:rPr>
              <a:t>problems to learn from</a:t>
            </a:r>
            <a:pPr indent="0" marL="0">
              <a:buNone/>
            </a:pPr>
            <a:r>
              <a:rPr lang="en-US" sz="1600" dirty="0">
                <a:solidFill>
                  <a:srgbClr val="FFFFFF"/>
                </a:solidFill>
              </a:rPr>
              <a:t>, </a:t>
            </a:r>
            <a:pPr indent="0" marL="0">
              <a:buNone/>
            </a:pPr>
            <a:r>
              <a:rPr lang="en-US" sz="1600" b="1" dirty="0">
                <a:solidFill>
                  <a:srgbClr val="FFFFFF"/>
                </a:solidFill>
              </a:rPr>
              <a:t>a fixed set to compare on</a:t>
            </a:r>
            <a:pPr indent="0" marL="0">
              <a:buNone/>
            </a:pPr>
            <a:r>
              <a:rPr lang="en-US" sz="1600" dirty="0">
                <a:solidFill>
                  <a:srgbClr val="FFFFFF"/>
                </a:solidFill>
              </a:rPr>
              <a:t> and </a:t>
            </a:r>
            <a:pPr indent="0" marL="0">
              <a:buNone/>
            </a:pPr>
            <a:r>
              <a:rPr lang="en-US" sz="1600" b="1" dirty="0">
                <a:solidFill>
                  <a:srgbClr val="FFFFFF"/>
                </a:solidFill>
              </a:rPr>
              <a:t>problems that look like practice</a:t>
            </a:r>
            <a:pPr indent="0" marL="0">
              <a:buNone/>
            </a:pPr>
            <a:r>
              <a:rPr lang="en-US" sz="1600" dirty="0">
                <a:solidFill>
                  <a:srgbClr val="FFFFFF"/>
                </a:solidFill>
              </a:rPr>
              <a: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Real designs cover one corner of the design space; CrossMEP covers all of it</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pPr indent="0" marL="0">
              <a:buNone/>
            </a:pPr>
            <a:r>
              <a:rPr lang="en-US" sz="1150" dirty="0">
                <a:solidFill>
                  <a:srgbClr val="52514E"/>
                </a:solidFill>
              </a:rPr>
              <a:t>   few · one project · one trade mix</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1095908" y="2736342"/>
            <a:ext cx="548640" cy="329184"/>
          </a:xfrm>
          <a:prstGeom prst="rect">
            <a:avLst/>
          </a:prstGeom>
          <a:solidFill>
            <a:srgbClr val="FFFFFF"/>
          </a:solidFill>
          <a:ln w="6350">
            <a:solidFill>
              <a:srgbClr val="898781"/>
            </a:solidFill>
            <a:prstDash val="solid"/>
          </a:ln>
        </p:spPr>
      </p:sp>
      <p:sp>
        <p:nvSpPr>
          <p:cNvPr id="10" name="mini slab real 0"/>
          <p:cNvSpPr/>
          <p:nvPr/>
        </p:nvSpPr>
        <p:spPr>
          <a:xfrm>
            <a:off x="1141628" y="2782062"/>
            <a:ext cx="457200" cy="32004"/>
          </a:xfrm>
          <a:prstGeom prst="rect">
            <a:avLst/>
          </a:prstGeom>
          <a:solidFill>
            <a:srgbClr val="52514E"/>
          </a:solidFill>
          <a:ln/>
        </p:spPr>
      </p:sp>
      <p:sp>
        <p:nvSpPr>
          <p:cNvPr id="11" name="mini real 0 0"/>
          <p:cNvSpPr/>
          <p:nvPr/>
        </p:nvSpPr>
        <p:spPr>
          <a:xfrm>
            <a:off x="1225673" y="2855214"/>
            <a:ext cx="60512" cy="60512"/>
          </a:xfrm>
          <a:prstGeom prst="ellipse">
            <a:avLst/>
          </a:prstGeom>
          <a:solidFill>
            <a:srgbClr val="EB6834"/>
          </a:solidFill>
          <a:ln w="5080">
            <a:solidFill>
              <a:srgbClr val="FFFFFF"/>
            </a:solidFill>
            <a:prstDash val="solid"/>
          </a:ln>
        </p:spPr>
      </p:sp>
      <p:sp>
        <p:nvSpPr>
          <p:cNvPr id="12" name="mini real 0 1"/>
          <p:cNvSpPr/>
          <p:nvPr/>
        </p:nvSpPr>
        <p:spPr>
          <a:xfrm>
            <a:off x="1339973" y="2855214"/>
            <a:ext cx="60512" cy="60512"/>
          </a:xfrm>
          <a:prstGeom prst="ellipse">
            <a:avLst/>
          </a:prstGeom>
          <a:solidFill>
            <a:srgbClr val="EB6834"/>
          </a:solidFill>
          <a:ln w="5080">
            <a:solidFill>
              <a:srgbClr val="FFFFFF"/>
            </a:solidFill>
            <a:prstDash val="solid"/>
          </a:ln>
        </p:spPr>
      </p:sp>
      <p:sp>
        <p:nvSpPr>
          <p:cNvPr id="13" name="mini real 0 2"/>
          <p:cNvSpPr/>
          <p:nvPr/>
        </p:nvSpPr>
        <p:spPr>
          <a:xfrm>
            <a:off x="1454273" y="2855214"/>
            <a:ext cx="60512" cy="60512"/>
          </a:xfrm>
          <a:prstGeom prst="ellipse">
            <a:avLst/>
          </a:prstGeom>
          <a:solidFill>
            <a:srgbClr val="EB6834"/>
          </a:solidFill>
          <a:ln w="5080">
            <a:solidFill>
              <a:srgbClr val="FFFFFF"/>
            </a:solidFill>
            <a:prstDash val="solid"/>
          </a:ln>
        </p:spPr>
      </p:sp>
      <p:sp>
        <p:nvSpPr>
          <p:cNvPr id="14" name="mini card real 1"/>
          <p:cNvSpPr/>
          <p:nvPr/>
        </p:nvSpPr>
        <p:spPr>
          <a:xfrm>
            <a:off x="1593799" y="2649931"/>
            <a:ext cx="548640" cy="329184"/>
          </a:xfrm>
          <a:prstGeom prst="rect">
            <a:avLst/>
          </a:prstGeom>
          <a:solidFill>
            <a:srgbClr val="FFFFFF"/>
          </a:solidFill>
          <a:ln w="6350">
            <a:solidFill>
              <a:srgbClr val="898781"/>
            </a:solidFill>
            <a:prstDash val="solid"/>
          </a:ln>
        </p:spPr>
      </p:sp>
      <p:sp>
        <p:nvSpPr>
          <p:cNvPr id="15" name="mini slab real 1"/>
          <p:cNvSpPr/>
          <p:nvPr/>
        </p:nvSpPr>
        <p:spPr>
          <a:xfrm>
            <a:off x="1639519" y="2695651"/>
            <a:ext cx="457200" cy="32004"/>
          </a:xfrm>
          <a:prstGeom prst="rect">
            <a:avLst/>
          </a:prstGeom>
          <a:solidFill>
            <a:srgbClr val="52514E"/>
          </a:solidFill>
          <a:ln/>
        </p:spPr>
      </p:sp>
      <p:sp>
        <p:nvSpPr>
          <p:cNvPr id="16" name="mini real 1 0"/>
          <p:cNvSpPr/>
          <p:nvPr/>
        </p:nvSpPr>
        <p:spPr>
          <a:xfrm>
            <a:off x="1723563" y="2768803"/>
            <a:ext cx="60512" cy="60512"/>
          </a:xfrm>
          <a:prstGeom prst="ellipse">
            <a:avLst/>
          </a:prstGeom>
          <a:solidFill>
            <a:srgbClr val="EB6834"/>
          </a:solidFill>
          <a:ln w="5080">
            <a:solidFill>
              <a:srgbClr val="FFFFFF"/>
            </a:solidFill>
            <a:prstDash val="solid"/>
          </a:ln>
        </p:spPr>
      </p:sp>
      <p:sp>
        <p:nvSpPr>
          <p:cNvPr id="17" name="mini real 1 1"/>
          <p:cNvSpPr/>
          <p:nvPr/>
        </p:nvSpPr>
        <p:spPr>
          <a:xfrm>
            <a:off x="1837863" y="2768803"/>
            <a:ext cx="60512" cy="60512"/>
          </a:xfrm>
          <a:prstGeom prst="ellipse">
            <a:avLst/>
          </a:prstGeom>
          <a:solidFill>
            <a:srgbClr val="EB6834"/>
          </a:solidFill>
          <a:ln w="5080">
            <a:solidFill>
              <a:srgbClr val="FFFFFF"/>
            </a:solidFill>
            <a:prstDash val="solid"/>
          </a:ln>
        </p:spPr>
      </p:sp>
      <p:sp>
        <p:nvSpPr>
          <p:cNvPr id="18" name="mini real 1 2"/>
          <p:cNvSpPr/>
          <p:nvPr/>
        </p:nvSpPr>
        <p:spPr>
          <a:xfrm>
            <a:off x="1952163" y="2768803"/>
            <a:ext cx="60512" cy="60512"/>
          </a:xfrm>
          <a:prstGeom prst="ellipse">
            <a:avLst/>
          </a:prstGeom>
          <a:solidFill>
            <a:srgbClr val="EB6834"/>
          </a:solidFill>
          <a:ln w="5080">
            <a:solidFill>
              <a:srgbClr val="FFFFFF"/>
            </a:solidFill>
            <a:prstDash val="solid"/>
          </a:ln>
        </p:spPr>
      </p:sp>
      <p:sp>
        <p:nvSpPr>
          <p:cNvPr id="19" name="mini card real 2"/>
          <p:cNvSpPr/>
          <p:nvPr/>
        </p:nvSpPr>
        <p:spPr>
          <a:xfrm>
            <a:off x="2091690" y="2748686"/>
            <a:ext cx="548640" cy="329184"/>
          </a:xfrm>
          <a:prstGeom prst="rect">
            <a:avLst/>
          </a:prstGeom>
          <a:solidFill>
            <a:srgbClr val="FFFFFF"/>
          </a:solidFill>
          <a:ln w="6350">
            <a:solidFill>
              <a:srgbClr val="898781"/>
            </a:solidFill>
            <a:prstDash val="solid"/>
          </a:ln>
        </p:spPr>
      </p:sp>
      <p:sp>
        <p:nvSpPr>
          <p:cNvPr id="20" name="mini slab real 2"/>
          <p:cNvSpPr/>
          <p:nvPr/>
        </p:nvSpPr>
        <p:spPr>
          <a:xfrm>
            <a:off x="2137410" y="2794406"/>
            <a:ext cx="457200" cy="32004"/>
          </a:xfrm>
          <a:prstGeom prst="rect">
            <a:avLst/>
          </a:prstGeom>
          <a:solidFill>
            <a:srgbClr val="52514E"/>
          </a:solidFill>
          <a:ln/>
        </p:spPr>
      </p:sp>
      <p:sp>
        <p:nvSpPr>
          <p:cNvPr id="21" name="mini real 2 0"/>
          <p:cNvSpPr/>
          <p:nvPr/>
        </p:nvSpPr>
        <p:spPr>
          <a:xfrm>
            <a:off x="2221454" y="2867558"/>
            <a:ext cx="60512" cy="60512"/>
          </a:xfrm>
          <a:prstGeom prst="ellipse">
            <a:avLst/>
          </a:prstGeom>
          <a:solidFill>
            <a:srgbClr val="EB6834"/>
          </a:solidFill>
          <a:ln w="5080">
            <a:solidFill>
              <a:srgbClr val="FFFFFF"/>
            </a:solidFill>
            <a:prstDash val="solid"/>
          </a:ln>
        </p:spPr>
      </p:sp>
      <p:sp>
        <p:nvSpPr>
          <p:cNvPr id="22" name="mini real 2 1"/>
          <p:cNvSpPr/>
          <p:nvPr/>
        </p:nvSpPr>
        <p:spPr>
          <a:xfrm>
            <a:off x="2335754" y="2867558"/>
            <a:ext cx="60512" cy="60512"/>
          </a:xfrm>
          <a:prstGeom prst="ellipse">
            <a:avLst/>
          </a:prstGeom>
          <a:solidFill>
            <a:srgbClr val="EB6834"/>
          </a:solidFill>
          <a:ln w="5080">
            <a:solidFill>
              <a:srgbClr val="FFFFFF"/>
            </a:solidFill>
            <a:prstDash val="solid"/>
          </a:ln>
        </p:spPr>
      </p:sp>
      <p:sp>
        <p:nvSpPr>
          <p:cNvPr id="23" name="mini real 2 2"/>
          <p:cNvSpPr/>
          <p:nvPr/>
        </p:nvSpPr>
        <p:spPr>
          <a:xfrm>
            <a:off x="2450054" y="2867558"/>
            <a:ext cx="60512" cy="60512"/>
          </a:xfrm>
          <a:prstGeom prst="ellipse">
            <a:avLst/>
          </a:prstGeom>
          <a:solidFill>
            <a:srgbClr val="EB6834"/>
          </a:solidFill>
          <a:ln w="5080">
            <a:solidFill>
              <a:srgbClr val="FFFFFF"/>
            </a:solidFill>
            <a:prstDash val="solid"/>
          </a:ln>
        </p:spPr>
      </p:sp>
      <p:sp>
        <p:nvSpPr>
          <p:cNvPr id="24" name="mini card real 3"/>
          <p:cNvSpPr/>
          <p:nvPr/>
        </p:nvSpPr>
        <p:spPr>
          <a:xfrm>
            <a:off x="1231697" y="2304288"/>
            <a:ext cx="548640" cy="329184"/>
          </a:xfrm>
          <a:prstGeom prst="rect">
            <a:avLst/>
          </a:prstGeom>
          <a:solidFill>
            <a:srgbClr val="FFFFFF"/>
          </a:solidFill>
          <a:ln w="6350">
            <a:solidFill>
              <a:srgbClr val="898781"/>
            </a:solidFill>
            <a:prstDash val="solid"/>
          </a:ln>
        </p:spPr>
      </p:sp>
      <p:sp>
        <p:nvSpPr>
          <p:cNvPr id="25" name="mini slab real 3"/>
          <p:cNvSpPr/>
          <p:nvPr/>
        </p:nvSpPr>
        <p:spPr>
          <a:xfrm>
            <a:off x="1277417" y="2350008"/>
            <a:ext cx="457200" cy="32004"/>
          </a:xfrm>
          <a:prstGeom prst="rect">
            <a:avLst/>
          </a:prstGeom>
          <a:solidFill>
            <a:srgbClr val="52514E"/>
          </a:solidFill>
          <a:ln/>
        </p:spPr>
      </p:sp>
      <p:sp>
        <p:nvSpPr>
          <p:cNvPr id="26" name="mini real 3 0"/>
          <p:cNvSpPr/>
          <p:nvPr/>
        </p:nvSpPr>
        <p:spPr>
          <a:xfrm>
            <a:off x="1361461" y="2423160"/>
            <a:ext cx="60512" cy="60512"/>
          </a:xfrm>
          <a:prstGeom prst="ellipse">
            <a:avLst/>
          </a:prstGeom>
          <a:solidFill>
            <a:srgbClr val="EB6834"/>
          </a:solidFill>
          <a:ln w="5080">
            <a:solidFill>
              <a:srgbClr val="FFFFFF"/>
            </a:solidFill>
            <a:prstDash val="solid"/>
          </a:ln>
        </p:spPr>
      </p:sp>
      <p:sp>
        <p:nvSpPr>
          <p:cNvPr id="27" name="mini real 3 1"/>
          <p:cNvSpPr/>
          <p:nvPr/>
        </p:nvSpPr>
        <p:spPr>
          <a:xfrm>
            <a:off x="1475761" y="2423160"/>
            <a:ext cx="60512" cy="60512"/>
          </a:xfrm>
          <a:prstGeom prst="ellipse">
            <a:avLst/>
          </a:prstGeom>
          <a:solidFill>
            <a:srgbClr val="EB6834"/>
          </a:solidFill>
          <a:ln w="5080">
            <a:solidFill>
              <a:srgbClr val="FFFFFF"/>
            </a:solidFill>
            <a:prstDash val="solid"/>
          </a:ln>
        </p:spPr>
      </p:sp>
      <p:sp>
        <p:nvSpPr>
          <p:cNvPr id="28" name="mini real 3 2"/>
          <p:cNvSpPr/>
          <p:nvPr/>
        </p:nvSpPr>
        <p:spPr>
          <a:xfrm>
            <a:off x="1590061" y="2423160"/>
            <a:ext cx="60512" cy="60512"/>
          </a:xfrm>
          <a:prstGeom prst="ellipse">
            <a:avLst/>
          </a:prstGeom>
          <a:solidFill>
            <a:srgbClr val="EB6834"/>
          </a:solidFill>
          <a:ln w="5080">
            <a:solidFill>
              <a:srgbClr val="FFFFFF"/>
            </a:solidFill>
            <a:prstDash val="solid"/>
          </a:ln>
        </p:spPr>
      </p:sp>
      <p:sp>
        <p:nvSpPr>
          <p:cNvPr id="29" name="mini card real 4"/>
          <p:cNvSpPr/>
          <p:nvPr/>
        </p:nvSpPr>
        <p:spPr>
          <a:xfrm>
            <a:off x="1865376" y="2353666"/>
            <a:ext cx="548640" cy="329184"/>
          </a:xfrm>
          <a:prstGeom prst="rect">
            <a:avLst/>
          </a:prstGeom>
          <a:solidFill>
            <a:srgbClr val="FFFFFF"/>
          </a:solidFill>
          <a:ln w="6350">
            <a:solidFill>
              <a:srgbClr val="898781"/>
            </a:solidFill>
            <a:prstDash val="solid"/>
          </a:ln>
        </p:spPr>
      </p:sp>
      <p:sp>
        <p:nvSpPr>
          <p:cNvPr id="30" name="mini slab real 4"/>
          <p:cNvSpPr/>
          <p:nvPr/>
        </p:nvSpPr>
        <p:spPr>
          <a:xfrm>
            <a:off x="1911096" y="2399386"/>
            <a:ext cx="457200" cy="32004"/>
          </a:xfrm>
          <a:prstGeom prst="rect">
            <a:avLst/>
          </a:prstGeom>
          <a:solidFill>
            <a:srgbClr val="52514E"/>
          </a:solidFill>
          <a:ln/>
        </p:spPr>
      </p:sp>
      <p:sp>
        <p:nvSpPr>
          <p:cNvPr id="31" name="mini real 4 0"/>
          <p:cNvSpPr/>
          <p:nvPr/>
        </p:nvSpPr>
        <p:spPr>
          <a:xfrm>
            <a:off x="1995140" y="2472538"/>
            <a:ext cx="60512" cy="60512"/>
          </a:xfrm>
          <a:prstGeom prst="ellipse">
            <a:avLst/>
          </a:prstGeom>
          <a:solidFill>
            <a:srgbClr val="EB6834"/>
          </a:solidFill>
          <a:ln w="5080">
            <a:solidFill>
              <a:srgbClr val="FFFFFF"/>
            </a:solidFill>
            <a:prstDash val="solid"/>
          </a:ln>
        </p:spPr>
      </p:sp>
      <p:sp>
        <p:nvSpPr>
          <p:cNvPr id="32" name="mini real 4 1"/>
          <p:cNvSpPr/>
          <p:nvPr/>
        </p:nvSpPr>
        <p:spPr>
          <a:xfrm>
            <a:off x="2109440" y="2472538"/>
            <a:ext cx="60512" cy="60512"/>
          </a:xfrm>
          <a:prstGeom prst="ellipse">
            <a:avLst/>
          </a:prstGeom>
          <a:solidFill>
            <a:srgbClr val="EB6834"/>
          </a:solidFill>
          <a:ln w="5080">
            <a:solidFill>
              <a:srgbClr val="FFFFFF"/>
            </a:solidFill>
            <a:prstDash val="solid"/>
          </a:ln>
        </p:spPr>
      </p:sp>
      <p:sp>
        <p:nvSpPr>
          <p:cNvPr id="33" name="mini real 4 2"/>
          <p:cNvSpPr/>
          <p:nvPr/>
        </p:nvSpPr>
        <p:spPr>
          <a:xfrm>
            <a:off x="2223740" y="2472538"/>
            <a:ext cx="60512" cy="60512"/>
          </a:xfrm>
          <a:prstGeom prst="ellipse">
            <a:avLst/>
          </a:prstGeom>
          <a:solidFill>
            <a:srgbClr val="EB6834"/>
          </a:solidFill>
          <a:ln w="5080">
            <a:solidFill>
              <a:srgbClr val="FFFFFF"/>
            </a:solidFill>
            <a:prstDash val="solid"/>
          </a:ln>
        </p:spPr>
      </p:sp>
      <p:sp>
        <p:nvSpPr>
          <p:cNvPr id="34" name="mini card real 5"/>
          <p:cNvSpPr/>
          <p:nvPr/>
        </p:nvSpPr>
        <p:spPr>
          <a:xfrm>
            <a:off x="2453792" y="2427732"/>
            <a:ext cx="548640" cy="329184"/>
          </a:xfrm>
          <a:prstGeom prst="rect">
            <a:avLst/>
          </a:prstGeom>
          <a:solidFill>
            <a:srgbClr val="FFFFFF"/>
          </a:solidFill>
          <a:ln w="6350">
            <a:solidFill>
              <a:srgbClr val="898781"/>
            </a:solidFill>
            <a:prstDash val="solid"/>
          </a:ln>
        </p:spPr>
      </p:sp>
      <p:sp>
        <p:nvSpPr>
          <p:cNvPr id="35" name="mini slab real 5"/>
          <p:cNvSpPr/>
          <p:nvPr/>
        </p:nvSpPr>
        <p:spPr>
          <a:xfrm>
            <a:off x="2499512" y="2473452"/>
            <a:ext cx="457200" cy="32004"/>
          </a:xfrm>
          <a:prstGeom prst="rect">
            <a:avLst/>
          </a:prstGeom>
          <a:solidFill>
            <a:srgbClr val="52514E"/>
          </a:solidFill>
          <a:ln/>
        </p:spPr>
      </p:sp>
      <p:sp>
        <p:nvSpPr>
          <p:cNvPr id="36" name="mini real 5 0"/>
          <p:cNvSpPr/>
          <p:nvPr/>
        </p:nvSpPr>
        <p:spPr>
          <a:xfrm>
            <a:off x="2583557" y="2546604"/>
            <a:ext cx="60512" cy="60512"/>
          </a:xfrm>
          <a:prstGeom prst="ellipse">
            <a:avLst/>
          </a:prstGeom>
          <a:solidFill>
            <a:srgbClr val="EB6834"/>
          </a:solidFill>
          <a:ln w="5080">
            <a:solidFill>
              <a:srgbClr val="FFFFFF"/>
            </a:solidFill>
            <a:prstDash val="solid"/>
          </a:ln>
        </p:spPr>
      </p:sp>
      <p:sp>
        <p:nvSpPr>
          <p:cNvPr id="37" name="mini real 5 1"/>
          <p:cNvSpPr/>
          <p:nvPr/>
        </p:nvSpPr>
        <p:spPr>
          <a:xfrm>
            <a:off x="2697857" y="2546604"/>
            <a:ext cx="60512" cy="60512"/>
          </a:xfrm>
          <a:prstGeom prst="ellipse">
            <a:avLst/>
          </a:prstGeom>
          <a:solidFill>
            <a:srgbClr val="EB6834"/>
          </a:solidFill>
          <a:ln w="5080">
            <a:solidFill>
              <a:srgbClr val="FFFFFF"/>
            </a:solidFill>
            <a:prstDash val="solid"/>
          </a:ln>
        </p:spPr>
      </p:sp>
      <p:sp>
        <p:nvSpPr>
          <p:cNvPr id="38" name="mini real 5 2"/>
          <p:cNvSpPr/>
          <p:nvPr/>
        </p:nvSpPr>
        <p:spPr>
          <a:xfrm>
            <a:off x="2812157" y="2546604"/>
            <a:ext cx="60512" cy="60512"/>
          </a:xfrm>
          <a:prstGeom prst="ellipse">
            <a:avLst/>
          </a:prstGeom>
          <a:solidFill>
            <a:srgbClr val="EB6834"/>
          </a:solidFill>
          <a:ln w="5080">
            <a:solidFill>
              <a:srgbClr val="FFFFFF"/>
            </a:solidFill>
            <a:prstDash val="solid"/>
          </a:ln>
        </p:spPr>
      </p:sp>
      <p:sp>
        <p:nvSpPr>
          <p:cNvPr id="39" name="real cluster ring"/>
          <p:cNvSpPr/>
          <p:nvPr/>
        </p:nvSpPr>
        <p:spPr>
          <a:xfrm>
            <a:off x="987552" y="2279142"/>
            <a:ext cx="2263140" cy="839419"/>
          </a:xfrm>
          <a:prstGeom prst="ellipse">
            <a:avLst/>
          </a:prstGeom>
          <a:ln w="12700">
            <a:solidFill>
              <a:srgbClr val="EB6834"/>
            </a:solidFill>
            <a:prstDash val="dash"/>
          </a:ln>
        </p:spPr>
      </p:sp>
      <p:sp>
        <p:nvSpPr>
          <p:cNvPr id="40" name="real note"/>
          <p:cNvSpPr txBox="1"/>
          <p:nvPr/>
        </p:nvSpPr>
        <p:spPr>
          <a:xfrm>
            <a:off x="3359506" y="2217420"/>
            <a:ext cx="2172614" cy="457200"/>
          </a:xfrm>
          <a:prstGeom prst="rect">
            <a:avLst/>
          </a:prstGeom>
          <a:noFill/>
          <a:ln/>
        </p:spPr>
        <p:txBody>
          <a:bodyPr wrap="square" lIns="0" tIns="0" rIns="0" bIns="0" rtlCol="0" anchor="ctr"/>
          <a:lstStyle/>
          <a:p>
            <a:pPr indent="0" marL="0">
              <a:buNone/>
            </a:pPr>
            <a:r>
              <a:rPr lang="en-US" sz="1100" i="1" dirty="0">
                <a:solidFill>
                  <a:srgbClr val="52514E"/>
                </a:solidFill>
              </a:rPr>
              <a:t>a method tuned here only fits that project</a:t>
            </a:r>
            <a:endParaRPr lang="en-US" sz="1100" dirty="0"/>
          </a:p>
        </p:txBody>
      </p:sp>
      <p:sp>
        <p:nvSpPr>
          <p:cNvPr id="41" name="space synthetic"/>
          <p:cNvSpPr/>
          <p:nvPr/>
        </p:nvSpPr>
        <p:spPr>
          <a:xfrm>
            <a:off x="548640" y="3611880"/>
            <a:ext cx="5212080" cy="2103120"/>
          </a:xfrm>
          <a:prstGeom prst="roundRect">
            <a:avLst>
              <a:gd name="adj" fmla="val 3043"/>
            </a:avLst>
          </a:prstGeom>
          <a:solidFill>
            <a:schemeClr val="bg2"/>
          </a:solidFill>
          <a:ln/>
        </p:spPr>
      </p:sp>
      <p:sp>
        <p:nvSpPr>
          <p:cNvPr id="42"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pPr indent="0" marL="0">
              <a:buNone/>
            </a:pPr>
            <a:r>
              <a:rPr lang="en-US" sz="1150" dirty="0">
                <a:solidFill>
                  <a:srgbClr val="52514E"/>
                </a:solidFill>
              </a:rPr>
              <a:t>   every tier · kinds and surfaces varied · unlimited</a:t>
            </a:r>
            <a:endParaRPr lang="en-US" sz="1400" dirty="0"/>
          </a:p>
        </p:txBody>
      </p:sp>
      <p:sp>
        <p:nvSpPr>
          <p:cNvPr id="43" name="x axis synthetic"/>
          <p:cNvSpPr/>
          <p:nvPr/>
        </p:nvSpPr>
        <p:spPr>
          <a:xfrm>
            <a:off x="1005840" y="5321808"/>
            <a:ext cx="4526280" cy="0"/>
          </a:xfrm>
          <a:prstGeom prst="line">
            <a:avLst/>
          </a:prstGeom>
          <a:noFill/>
          <a:ln w="12700">
            <a:solidFill>
              <a:srgbClr val="52514E"/>
            </a:solidFill>
            <a:prstDash val="solid"/>
            <a:tailEnd type="triangle"/>
          </a:ln>
        </p:spPr>
      </p:sp>
      <p:sp>
        <p:nvSpPr>
          <p:cNvPr id="44" name="y axis synthetic"/>
          <p:cNvSpPr/>
          <p:nvPr/>
        </p:nvSpPr>
        <p:spPr>
          <a:xfrm>
            <a:off x="1005840" y="4087368"/>
            <a:ext cx="0" cy="1234440"/>
          </a:xfrm>
          <a:prstGeom prst="line">
            <a:avLst/>
          </a:prstGeom>
          <a:noFill/>
          <a:ln w="12700">
            <a:solidFill>
              <a:srgbClr val="52514E"/>
            </a:solidFill>
            <a:prstDash val="solid"/>
            <a:headEnd type="triangle"/>
          </a:ln>
        </p:spPr>
      </p:sp>
      <p:sp>
        <p:nvSpPr>
          <p:cNvPr id="45"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46"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47"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48" name="mini slab syn 10"/>
          <p:cNvSpPr/>
          <p:nvPr/>
        </p:nvSpPr>
        <p:spPr>
          <a:xfrm>
            <a:off x="1088136" y="4160520"/>
            <a:ext cx="401193" cy="32004"/>
          </a:xfrm>
          <a:prstGeom prst="rect">
            <a:avLst/>
          </a:prstGeom>
          <a:solidFill>
            <a:srgbClr val="52514E"/>
          </a:solidFill>
          <a:ln/>
        </p:spPr>
      </p:sp>
      <p:sp>
        <p:nvSpPr>
          <p:cNvPr id="49"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50"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51" name="mini slab syn 11"/>
          <p:cNvSpPr/>
          <p:nvPr/>
        </p:nvSpPr>
        <p:spPr>
          <a:xfrm>
            <a:off x="1088136" y="4572000"/>
            <a:ext cx="401193" cy="32004"/>
          </a:xfrm>
          <a:prstGeom prst="rect">
            <a:avLst/>
          </a:prstGeom>
          <a:solidFill>
            <a:srgbClr val="52514E"/>
          </a:solidFill>
          <a:ln/>
        </p:spPr>
      </p:sp>
      <p:sp>
        <p:nvSpPr>
          <p:cNvPr id="52"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53"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54" name="mini wall syn 12"/>
          <p:cNvSpPr/>
          <p:nvPr/>
        </p:nvSpPr>
        <p:spPr>
          <a:xfrm>
            <a:off x="1088136" y="4983480"/>
            <a:ext cx="32004" cy="265176"/>
          </a:xfrm>
          <a:prstGeom prst="rect">
            <a:avLst/>
          </a:prstGeom>
          <a:solidFill>
            <a:srgbClr val="52514E"/>
          </a:solidFill>
          <a:ln/>
        </p:spPr>
      </p:sp>
      <p:sp>
        <p:nvSpPr>
          <p:cNvPr id="55"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56"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57" name="mini slab syn 20"/>
          <p:cNvSpPr/>
          <p:nvPr/>
        </p:nvSpPr>
        <p:spPr>
          <a:xfrm>
            <a:off x="1653921" y="4160520"/>
            <a:ext cx="401193" cy="32004"/>
          </a:xfrm>
          <a:prstGeom prst="rect">
            <a:avLst/>
          </a:prstGeom>
          <a:solidFill>
            <a:srgbClr val="52514E"/>
          </a:solidFill>
          <a:ln/>
        </p:spPr>
      </p:sp>
      <p:sp>
        <p:nvSpPr>
          <p:cNvPr id="58"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59"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60"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61" name="mini slab syn 21"/>
          <p:cNvSpPr/>
          <p:nvPr/>
        </p:nvSpPr>
        <p:spPr>
          <a:xfrm>
            <a:off x="1653921" y="4572000"/>
            <a:ext cx="401193" cy="32004"/>
          </a:xfrm>
          <a:prstGeom prst="rect">
            <a:avLst/>
          </a:prstGeom>
          <a:solidFill>
            <a:srgbClr val="52514E"/>
          </a:solidFill>
          <a:ln/>
        </p:spPr>
      </p:sp>
      <p:sp>
        <p:nvSpPr>
          <p:cNvPr id="62"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63"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64"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65" name="mini wall syn 22"/>
          <p:cNvSpPr/>
          <p:nvPr/>
        </p:nvSpPr>
        <p:spPr>
          <a:xfrm>
            <a:off x="1653921" y="4983480"/>
            <a:ext cx="32004" cy="265176"/>
          </a:xfrm>
          <a:prstGeom prst="rect">
            <a:avLst/>
          </a:prstGeom>
          <a:solidFill>
            <a:srgbClr val="52514E"/>
          </a:solidFill>
          <a:ln/>
        </p:spPr>
      </p:sp>
      <p:sp>
        <p:nvSpPr>
          <p:cNvPr id="66"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67"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68"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69" name="mini slab syn 30"/>
          <p:cNvSpPr/>
          <p:nvPr/>
        </p:nvSpPr>
        <p:spPr>
          <a:xfrm>
            <a:off x="2219706" y="4160520"/>
            <a:ext cx="401193" cy="32004"/>
          </a:xfrm>
          <a:prstGeom prst="rect">
            <a:avLst/>
          </a:prstGeom>
          <a:solidFill>
            <a:srgbClr val="52514E"/>
          </a:solidFill>
          <a:ln/>
        </p:spPr>
      </p:sp>
      <p:sp>
        <p:nvSpPr>
          <p:cNvPr id="70"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71"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72"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73"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74" name="mini slab syn 31"/>
          <p:cNvSpPr/>
          <p:nvPr/>
        </p:nvSpPr>
        <p:spPr>
          <a:xfrm>
            <a:off x="2219706" y="4572000"/>
            <a:ext cx="401193" cy="32004"/>
          </a:xfrm>
          <a:prstGeom prst="rect">
            <a:avLst/>
          </a:prstGeom>
          <a:solidFill>
            <a:srgbClr val="52514E"/>
          </a:solidFill>
          <a:ln/>
        </p:spPr>
      </p:sp>
      <p:sp>
        <p:nvSpPr>
          <p:cNvPr id="75"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76"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77"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78"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79" name="mini wall syn 32"/>
          <p:cNvSpPr/>
          <p:nvPr/>
        </p:nvSpPr>
        <p:spPr>
          <a:xfrm>
            <a:off x="2219706" y="4983480"/>
            <a:ext cx="32004" cy="265176"/>
          </a:xfrm>
          <a:prstGeom prst="rect">
            <a:avLst/>
          </a:prstGeom>
          <a:solidFill>
            <a:srgbClr val="52514E"/>
          </a:solidFill>
          <a:ln/>
        </p:spPr>
      </p:sp>
      <p:sp>
        <p:nvSpPr>
          <p:cNvPr id="80"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81"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82"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83"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84" name="mini slab syn 40"/>
          <p:cNvSpPr/>
          <p:nvPr/>
        </p:nvSpPr>
        <p:spPr>
          <a:xfrm>
            <a:off x="2785491" y="4160520"/>
            <a:ext cx="401193" cy="32004"/>
          </a:xfrm>
          <a:prstGeom prst="rect">
            <a:avLst/>
          </a:prstGeom>
          <a:solidFill>
            <a:srgbClr val="52514E"/>
          </a:solidFill>
          <a:ln/>
        </p:spPr>
      </p:sp>
      <p:sp>
        <p:nvSpPr>
          <p:cNvPr id="85"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86"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87"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88"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89"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90" name="mini slab syn 41"/>
          <p:cNvSpPr/>
          <p:nvPr/>
        </p:nvSpPr>
        <p:spPr>
          <a:xfrm>
            <a:off x="2785491" y="4572000"/>
            <a:ext cx="401193" cy="32004"/>
          </a:xfrm>
          <a:prstGeom prst="rect">
            <a:avLst/>
          </a:prstGeom>
          <a:solidFill>
            <a:srgbClr val="52514E"/>
          </a:solidFill>
          <a:ln/>
        </p:spPr>
      </p:sp>
      <p:sp>
        <p:nvSpPr>
          <p:cNvPr id="91"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92"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93"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94"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95"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96" name="mini wall syn 42"/>
          <p:cNvSpPr/>
          <p:nvPr/>
        </p:nvSpPr>
        <p:spPr>
          <a:xfrm>
            <a:off x="2785491" y="4983480"/>
            <a:ext cx="32004" cy="265176"/>
          </a:xfrm>
          <a:prstGeom prst="rect">
            <a:avLst/>
          </a:prstGeom>
          <a:solidFill>
            <a:srgbClr val="52514E"/>
          </a:solidFill>
          <a:ln/>
        </p:spPr>
      </p:sp>
      <p:sp>
        <p:nvSpPr>
          <p:cNvPr id="97"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98"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99"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00"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01"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02" name="mini slab syn 50"/>
          <p:cNvSpPr/>
          <p:nvPr/>
        </p:nvSpPr>
        <p:spPr>
          <a:xfrm>
            <a:off x="3351276" y="4160520"/>
            <a:ext cx="401193" cy="32004"/>
          </a:xfrm>
          <a:prstGeom prst="rect">
            <a:avLst/>
          </a:prstGeom>
          <a:solidFill>
            <a:srgbClr val="52514E"/>
          </a:solidFill>
          <a:ln/>
        </p:spPr>
      </p:sp>
      <p:sp>
        <p:nvSpPr>
          <p:cNvPr id="103"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04"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05"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06"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07"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08"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09" name="mini slab syn 51"/>
          <p:cNvSpPr/>
          <p:nvPr/>
        </p:nvSpPr>
        <p:spPr>
          <a:xfrm>
            <a:off x="3351276" y="4572000"/>
            <a:ext cx="401193" cy="32004"/>
          </a:xfrm>
          <a:prstGeom prst="rect">
            <a:avLst/>
          </a:prstGeom>
          <a:solidFill>
            <a:srgbClr val="52514E"/>
          </a:solidFill>
          <a:ln/>
        </p:spPr>
      </p:sp>
      <p:sp>
        <p:nvSpPr>
          <p:cNvPr id="110"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11"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12"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13"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14"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15"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16" name="mini wall syn 52"/>
          <p:cNvSpPr/>
          <p:nvPr/>
        </p:nvSpPr>
        <p:spPr>
          <a:xfrm>
            <a:off x="3351276" y="4983480"/>
            <a:ext cx="32004" cy="265176"/>
          </a:xfrm>
          <a:prstGeom prst="rect">
            <a:avLst/>
          </a:prstGeom>
          <a:solidFill>
            <a:srgbClr val="52514E"/>
          </a:solidFill>
          <a:ln/>
        </p:spPr>
      </p:sp>
      <p:sp>
        <p:nvSpPr>
          <p:cNvPr id="117"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18"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19"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20"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21"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22"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23" name="mini slab syn 60"/>
          <p:cNvSpPr/>
          <p:nvPr/>
        </p:nvSpPr>
        <p:spPr>
          <a:xfrm>
            <a:off x="3917061" y="4160520"/>
            <a:ext cx="401193" cy="32004"/>
          </a:xfrm>
          <a:prstGeom prst="rect">
            <a:avLst/>
          </a:prstGeom>
          <a:solidFill>
            <a:srgbClr val="52514E"/>
          </a:solidFill>
          <a:ln/>
        </p:spPr>
      </p:sp>
      <p:sp>
        <p:nvSpPr>
          <p:cNvPr id="124"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25"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26"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27"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28"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29"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30"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31" name="mini slab syn 61"/>
          <p:cNvSpPr/>
          <p:nvPr/>
        </p:nvSpPr>
        <p:spPr>
          <a:xfrm>
            <a:off x="3917061" y="4572000"/>
            <a:ext cx="401193" cy="32004"/>
          </a:xfrm>
          <a:prstGeom prst="rect">
            <a:avLst/>
          </a:prstGeom>
          <a:solidFill>
            <a:srgbClr val="52514E"/>
          </a:solidFill>
          <a:ln/>
        </p:spPr>
      </p:sp>
      <p:sp>
        <p:nvSpPr>
          <p:cNvPr id="132"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33"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34"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35"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36"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37"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38"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39" name="mini wall syn 62"/>
          <p:cNvSpPr/>
          <p:nvPr/>
        </p:nvSpPr>
        <p:spPr>
          <a:xfrm>
            <a:off x="3917061" y="4983480"/>
            <a:ext cx="32004" cy="265176"/>
          </a:xfrm>
          <a:prstGeom prst="rect">
            <a:avLst/>
          </a:prstGeom>
          <a:solidFill>
            <a:srgbClr val="52514E"/>
          </a:solidFill>
          <a:ln/>
        </p:spPr>
      </p:sp>
      <p:sp>
        <p:nvSpPr>
          <p:cNvPr id="140"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41"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42"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43"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44"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45"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46"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47" name="mini slab syn 70"/>
          <p:cNvSpPr/>
          <p:nvPr/>
        </p:nvSpPr>
        <p:spPr>
          <a:xfrm>
            <a:off x="4482846" y="4160520"/>
            <a:ext cx="401193" cy="32004"/>
          </a:xfrm>
          <a:prstGeom prst="rect">
            <a:avLst/>
          </a:prstGeom>
          <a:solidFill>
            <a:srgbClr val="52514E"/>
          </a:solidFill>
          <a:ln/>
        </p:spPr>
      </p:sp>
      <p:sp>
        <p:nvSpPr>
          <p:cNvPr id="148"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49"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50"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51"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52"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53"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54"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55"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56" name="mini slab syn 71"/>
          <p:cNvSpPr/>
          <p:nvPr/>
        </p:nvSpPr>
        <p:spPr>
          <a:xfrm>
            <a:off x="4482846" y="4572000"/>
            <a:ext cx="401193" cy="32004"/>
          </a:xfrm>
          <a:prstGeom prst="rect">
            <a:avLst/>
          </a:prstGeom>
          <a:solidFill>
            <a:srgbClr val="52514E"/>
          </a:solidFill>
          <a:ln/>
        </p:spPr>
      </p:sp>
      <p:sp>
        <p:nvSpPr>
          <p:cNvPr id="157"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58"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59"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60"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61"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62"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63"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64"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65" name="mini wall syn 72"/>
          <p:cNvSpPr/>
          <p:nvPr/>
        </p:nvSpPr>
        <p:spPr>
          <a:xfrm>
            <a:off x="4482846" y="4983480"/>
            <a:ext cx="32004" cy="265176"/>
          </a:xfrm>
          <a:prstGeom prst="rect">
            <a:avLst/>
          </a:prstGeom>
          <a:solidFill>
            <a:srgbClr val="52514E"/>
          </a:solidFill>
          <a:ln/>
        </p:spPr>
      </p:sp>
      <p:sp>
        <p:nvSpPr>
          <p:cNvPr id="166"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67"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68"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69"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70"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71"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72"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73"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74" name="mini slab syn 80"/>
          <p:cNvSpPr/>
          <p:nvPr/>
        </p:nvSpPr>
        <p:spPr>
          <a:xfrm>
            <a:off x="5048631" y="4160520"/>
            <a:ext cx="401193" cy="32004"/>
          </a:xfrm>
          <a:prstGeom prst="rect">
            <a:avLst/>
          </a:prstGeom>
          <a:solidFill>
            <a:srgbClr val="52514E"/>
          </a:solidFill>
          <a:ln/>
        </p:spPr>
      </p:sp>
      <p:sp>
        <p:nvSpPr>
          <p:cNvPr id="175"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176"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177"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178"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179"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180"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181"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182"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183"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184" name="mini slab syn 81"/>
          <p:cNvSpPr/>
          <p:nvPr/>
        </p:nvSpPr>
        <p:spPr>
          <a:xfrm>
            <a:off x="5048631" y="4572000"/>
            <a:ext cx="401193" cy="32004"/>
          </a:xfrm>
          <a:prstGeom prst="rect">
            <a:avLst/>
          </a:prstGeom>
          <a:solidFill>
            <a:srgbClr val="52514E"/>
          </a:solidFill>
          <a:ln/>
        </p:spPr>
      </p:sp>
      <p:sp>
        <p:nvSpPr>
          <p:cNvPr id="185"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186"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187"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188"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189"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190"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191"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192"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193"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194" name="mini wall syn 82"/>
          <p:cNvSpPr/>
          <p:nvPr/>
        </p:nvSpPr>
        <p:spPr>
          <a:xfrm>
            <a:off x="5048631" y="4983480"/>
            <a:ext cx="32004" cy="265176"/>
          </a:xfrm>
          <a:prstGeom prst="rect">
            <a:avLst/>
          </a:prstGeom>
          <a:solidFill>
            <a:srgbClr val="52514E"/>
          </a:solidFill>
          <a:ln/>
        </p:spPr>
      </p:sp>
      <p:sp>
        <p:nvSpPr>
          <p:cNvPr id="195"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196"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197"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198"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199"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00"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01"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02"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03"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04" name="glance 7,000"/>
          <p:cNvSpPr/>
          <p:nvPr/>
        </p:nvSpPr>
        <p:spPr>
          <a:xfrm>
            <a:off x="5806440" y="1828800"/>
            <a:ext cx="2825496" cy="1188720"/>
          </a:xfrm>
          <a:prstGeom prst="roundRect">
            <a:avLst>
              <a:gd name="adj" fmla="val 5385"/>
            </a:avLst>
          </a:prstGeom>
          <a:solidFill>
            <a:schemeClr val="bg2"/>
          </a:solidFill>
          <a:ln/>
        </p:spPr>
      </p:sp>
      <p:sp>
        <p:nvSpPr>
          <p:cNvPr id="205" name="icon ring glance 7,000"/>
          <p:cNvSpPr/>
          <p:nvPr/>
        </p:nvSpPr>
        <p:spPr>
          <a:xfrm>
            <a:off x="6007608" y="2130552"/>
            <a:ext cx="585216" cy="585216"/>
          </a:xfrm>
          <a:prstGeom prst="ellipse">
            <a:avLst/>
          </a:prstGeom>
          <a:solidFill>
            <a:schemeClr val="accent1"/>
          </a:solidFill>
          <a:ln/>
        </p:spPr>
      </p:sp>
      <p:pic>
        <p:nvPicPr>
          <p:cNvPr id="206"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07"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08"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9" name="glance 31,484"/>
          <p:cNvSpPr/>
          <p:nvPr/>
        </p:nvSpPr>
        <p:spPr>
          <a:xfrm>
            <a:off x="8814816" y="1828800"/>
            <a:ext cx="2825496" cy="1188720"/>
          </a:xfrm>
          <a:prstGeom prst="roundRect">
            <a:avLst>
              <a:gd name="adj" fmla="val 5385"/>
            </a:avLst>
          </a:prstGeom>
          <a:solidFill>
            <a:schemeClr val="bg2"/>
          </a:solidFill>
          <a:ln/>
        </p:spPr>
      </p:sp>
      <p:sp>
        <p:nvSpPr>
          <p:cNvPr id="210" name="icon ring glance 31,484"/>
          <p:cNvSpPr/>
          <p:nvPr/>
        </p:nvSpPr>
        <p:spPr>
          <a:xfrm>
            <a:off x="9015984" y="2130552"/>
            <a:ext cx="585216" cy="585216"/>
          </a:xfrm>
          <a:prstGeom prst="ellipse">
            <a:avLst/>
          </a:prstGeom>
          <a:solidFill>
            <a:schemeClr val="accent1"/>
          </a:solidFill>
          <a:ln/>
        </p:spPr>
      </p:sp>
      <p:pic>
        <p:nvPicPr>
          <p:cNvPr id="211"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12"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13"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14" name="glance C1–C8"/>
          <p:cNvSpPr/>
          <p:nvPr/>
        </p:nvSpPr>
        <p:spPr>
          <a:xfrm>
            <a:off x="5806440" y="3172968"/>
            <a:ext cx="2825496" cy="1188720"/>
          </a:xfrm>
          <a:prstGeom prst="roundRect">
            <a:avLst>
              <a:gd name="adj" fmla="val 5385"/>
            </a:avLst>
          </a:prstGeom>
          <a:solidFill>
            <a:schemeClr val="bg2"/>
          </a:solidFill>
          <a:ln/>
        </p:spPr>
      </p:sp>
      <p:sp>
        <p:nvSpPr>
          <p:cNvPr id="215" name="icon ring glance C1–C8"/>
          <p:cNvSpPr/>
          <p:nvPr/>
        </p:nvSpPr>
        <p:spPr>
          <a:xfrm>
            <a:off x="6007608" y="3474720"/>
            <a:ext cx="585216" cy="585216"/>
          </a:xfrm>
          <a:prstGeom prst="ellipse">
            <a:avLst/>
          </a:prstGeom>
          <a:solidFill>
            <a:schemeClr val="accent1"/>
          </a:solidFill>
          <a:ln/>
        </p:spPr>
      </p:sp>
      <p:pic>
        <p:nvPicPr>
          <p:cNvPr id="216"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17"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18"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19" name="glance 0 labels"/>
          <p:cNvSpPr/>
          <p:nvPr/>
        </p:nvSpPr>
        <p:spPr>
          <a:xfrm>
            <a:off x="8814816" y="3172968"/>
            <a:ext cx="2825496" cy="1188720"/>
          </a:xfrm>
          <a:prstGeom prst="roundRect">
            <a:avLst>
              <a:gd name="adj" fmla="val 5385"/>
            </a:avLst>
          </a:prstGeom>
          <a:solidFill>
            <a:schemeClr val="bg2"/>
          </a:solidFill>
          <a:ln/>
        </p:spPr>
      </p:sp>
      <p:sp>
        <p:nvSpPr>
          <p:cNvPr id="220" name="icon ring glance 0 labels"/>
          <p:cNvSpPr/>
          <p:nvPr/>
        </p:nvSpPr>
        <p:spPr>
          <a:xfrm>
            <a:off x="9015984" y="3474720"/>
            <a:ext cx="585216" cy="585216"/>
          </a:xfrm>
          <a:prstGeom prst="ellipse">
            <a:avLst/>
          </a:prstGeom>
          <a:solidFill>
            <a:schemeClr val="accent1"/>
          </a:solidFill>
          <a:ln/>
        </p:spPr>
      </p:sp>
      <p:pic>
        <p:nvPicPr>
          <p:cNvPr id="221"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22"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23"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24" name="glance Traced"/>
          <p:cNvSpPr/>
          <p:nvPr/>
        </p:nvSpPr>
        <p:spPr>
          <a:xfrm>
            <a:off x="5806440" y="4517136"/>
            <a:ext cx="2825496" cy="1188720"/>
          </a:xfrm>
          <a:prstGeom prst="roundRect">
            <a:avLst>
              <a:gd name="adj" fmla="val 5385"/>
            </a:avLst>
          </a:prstGeom>
          <a:solidFill>
            <a:schemeClr val="bg2"/>
          </a:solidFill>
          <a:ln/>
        </p:spPr>
      </p:sp>
      <p:sp>
        <p:nvSpPr>
          <p:cNvPr id="225" name="icon ring glance Traced"/>
          <p:cNvSpPr/>
          <p:nvPr/>
        </p:nvSpPr>
        <p:spPr>
          <a:xfrm>
            <a:off x="6007608" y="4818888"/>
            <a:ext cx="585216" cy="585216"/>
          </a:xfrm>
          <a:prstGeom prst="ellipse">
            <a:avLst/>
          </a:prstGeom>
          <a:solidFill>
            <a:schemeClr val="accent1"/>
          </a:solidFill>
          <a:ln/>
        </p:spPr>
      </p:sp>
      <p:pic>
        <p:nvPicPr>
          <p:cNvPr id="226"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27"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28"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29" name="glance Open"/>
          <p:cNvSpPr/>
          <p:nvPr/>
        </p:nvSpPr>
        <p:spPr>
          <a:xfrm>
            <a:off x="8814816" y="4517136"/>
            <a:ext cx="2825496" cy="1188720"/>
          </a:xfrm>
          <a:prstGeom prst="roundRect">
            <a:avLst>
              <a:gd name="adj" fmla="val 5385"/>
            </a:avLst>
          </a:prstGeom>
          <a:solidFill>
            <a:schemeClr val="bg2"/>
          </a:solidFill>
          <a:ln/>
        </p:spPr>
      </p:sp>
      <p:sp>
        <p:nvSpPr>
          <p:cNvPr id="230" name="icon ring glance Open"/>
          <p:cNvSpPr/>
          <p:nvPr/>
        </p:nvSpPr>
        <p:spPr>
          <a:xfrm>
            <a:off x="9015984" y="4818888"/>
            <a:ext cx="585216" cy="585216"/>
          </a:xfrm>
          <a:prstGeom prst="ellipse">
            <a:avLst/>
          </a:prstGeom>
          <a:solidFill>
            <a:schemeClr val="accent1"/>
          </a:solidFill>
          <a:ln/>
        </p:spPr>
      </p:sp>
      <p:pic>
        <p:nvPicPr>
          <p:cNvPr id="231"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32"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33"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We generate what a designer receives: the section at one hanger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Sections follow trade practice and measured spacing, not random shapes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[3]: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[12] (at least 25 mm); stagger within rows; electrical above wet on walls [10].</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708403"/>
            <a:ext cx="5330952" cy="3258315"/>
          </a:xfrm>
          <a:prstGeom prst="rect">
            <a:avLst/>
          </a:prstGeom>
        </p:spPr>
      </p:pic>
      <p:sp>
        <p:nvSpPr>
          <p:cNvPr id="22" name="generation caption"/>
          <p:cNvSpPr txBox="1"/>
          <p:nvPr/>
        </p:nvSpPr>
        <p:spPr>
          <a:xfrm>
            <a:off x="6309360" y="5076445"/>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Sizes, spans and loads come from standards; the choices are declared</a:t>
            </a:r>
            <a:endParaRPr lang="en-US" sz="2600" dirty="0"/>
          </a:p>
        </p:txBody>
      </p:sp>
      <p:graphicFrame>
        <p:nvGraphicFramePr>
          <p:cNvPr id="10"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Aptos" pitchFamily="34" charset="0"/>
                          <a:ea typeface="Aptos" pitchFamily="34" charset="-122"/>
                          <a:cs typeface="Aptos" pitchFamily="34" charset="-120"/>
                        </a:rPr>
                        <a:t>Element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Sizes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Aptos" pitchFamily="34" charset="0"/>
                          <a:ea typeface="Aptos" pitchFamily="34" charset="-122"/>
                          <a:cs typeface="Aptos" pitchFamily="34" charset="-120"/>
                        </a:rPr>
                        <a:t>Load basis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Pipes DN15–100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10220 / EN 10255 medium series [4]</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 water × ASME B31.1 water-service span (published points only) [8]</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Aptos" pitchFamily="34" charset="0"/>
                          <a:ea typeface="Aptos" pitchFamily="34" charset="-122"/>
                          <a:cs typeface="Aptos" pitchFamily="34" charset="-120"/>
                        </a:rPr>
                        <a:t>Insulation</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GEG Anlage 8 (heated) [11]; 30/50 mm condensation control (chilled)</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Cable trays 150–600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61537 systems [6], NEMA VE 1 widths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full tray: 50 kg/m at 300 mm datum, × 2.0 m (NEMA VE 1 class span) [7]</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Ducts</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EN 1505 rectangular; EN 1506 round [5]</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manufacturer duct-weight table incl. flanges, × 2.4 m (SMACNA) [9]</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Aptos" pitchFamily="34" charset="0"/>
                          <a:ea typeface="Aptos" pitchFamily="34" charset="-122"/>
                          <a:cs typeface="Aptos" pitchFamily="34" charset="-120"/>
                        </a:rPr>
                        <a:t>Conduits Ø20–50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IEC 61386-1 [6], parallel groups of 2–6</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Aptos" pitchFamily="34" charset="0"/>
                          <a:ea typeface="Aptos" pitchFamily="34" charset="-122"/>
                          <a:cs typeface="Aptos" pitchFamily="34" charset="-120"/>
                        </a:rPr>
                        <a:t>steel tube + 40 %-of-bore cable fill, × 2.0 m (IET / BS 7671) [10]</a:t>
                      </a:r>
                      <a:endParaRPr lang="en-US" sz="1200" dirty="0">
                        <a:latin typeface="Aptos" charset="0"/>
                        <a:ea typeface="Aptos" charset="0"/>
                        <a:cs typeface="Aptos"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 BS 7671 528.3.2) [10]</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[12];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4983480"/>
            <a:ext cx="11091672" cy="685800"/>
          </a:xfrm>
          <a:prstGeom prst="roundRect">
            <a:avLst>
              <a:gd name="adj" fmla="val 9333"/>
            </a:avLst>
          </a:prstGeom>
          <a:solidFill>
            <a:schemeClr val="bg2"/>
          </a:solidFill>
          <a:ln/>
        </p:spPr>
      </p:sp>
      <p:sp>
        <p:nvSpPr>
          <p:cNvPr id="7" name="sources note"/>
          <p:cNvSpPr txBox="1"/>
          <p:nvPr/>
        </p:nvSpPr>
        <p:spPr>
          <a:xfrm>
            <a:off x="822960" y="4983480"/>
            <a:ext cx="10515600" cy="685800"/>
          </a:xfrm>
          <a:prstGeom prst="rect">
            <a:avLst/>
          </a:prstGeom>
          <a:noFill/>
          <a:ln/>
        </p:spPr>
        <p:txBody>
          <a:bodyPr wrap="square" lIns="0" tIns="0" rIns="0" bIns="0" rtlCol="0" anchor="ctr"/>
          <a:lstStyle/>
          <a:p>
            <a:pPr indent="0" marL="0">
              <a:buNone/>
            </a:pPr>
            <a:r>
              <a:rPr lang="en-US" sz="1250" dirty="0">
                <a:solidFill>
                  <a:schemeClr val="tx1"/>
                </a:solidFill>
              </a:rPr>
              <a:t>Three kinds of ground: standards (what each element is and weighs), measured open buildings (how close neighbours sit) and declared design choices (trade mix, surface mix, number of rows). Every constant carries its source and status in the repository, and the log says why each standard was chosen over its alternatives.</a:t>
            </a:r>
            <a:endParaRPr lang="en-US" sz="1250" dirty="0"/>
          </a:p>
        </p:txBody>
      </p:sp>
      <p:sp>
        <p:nvSpPr>
          <p:cNvPr id="8" name="references"/>
          <p:cNvSpPr txBox="1"/>
          <p:nvPr/>
        </p:nvSpPr>
        <p:spPr>
          <a:xfrm>
            <a:off x="548640" y="5715000"/>
            <a:ext cx="11091672" cy="658368"/>
          </a:xfrm>
          <a:prstGeom prst="rect">
            <a:avLst/>
          </a:prstGeom>
          <a:noFill/>
          <a:ln/>
        </p:spPr>
        <p:txBody>
          <a:bodyPr wrap="square" lIns="0" tIns="0" rIns="0" bIns="0" rtlCol="0" anchor="b"/>
          <a:lstStyle/>
          <a:p>
            <a:pPr indent="0" marL="0">
              <a:buNone/>
            </a:pPr>
            <a:r>
              <a:rPr lang="en-US" sz="8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7,000 contexts in four splits; the test seeds are never trained on</a:t>
            </a:r>
            <a:endParaRPr lang="en-US" sz="2600" dirty="0"/>
          </a:p>
        </p:txBody>
      </p:sp>
      <p:graphicFrame>
        <p:nvGraphicFramePr>
          <p:cNvPr id="11"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Aptos" pitchFamily="34" charset="0"/>
                          <a:ea typeface="Aptos" pitchFamily="34" charset="-122"/>
                          <a:cs typeface="Aptos" pitchFamily="34" charset="-120"/>
                        </a:rPr>
                        <a:t>split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contexts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elements</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Aptos" pitchFamily="34" charset="0"/>
                          <a:ea typeface="Aptos" pitchFamily="34" charset="-122"/>
                          <a:cs typeface="Aptos" pitchFamily="34" charset="-120"/>
                        </a:rPr>
                        <a:t>seed</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train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validation</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test</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2,242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3000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Aptos" pitchFamily="34" charset="0"/>
                          <a:ea typeface="Aptos" pitchFamily="34" charset="-122"/>
                          <a:cs typeface="Aptos" pitchFamily="34" charset="-120"/>
                        </a:rPr>
                        <a:t>benchmark</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1,000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4,500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Aptos" pitchFamily="34" charset="0"/>
                          <a:ea typeface="Aptos" pitchFamily="34" charset="-122"/>
                          <a:cs typeface="Aptos" pitchFamily="34" charset="-120"/>
                        </a:rPr>
                        <a:t>42</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Aptos" pitchFamily="34" charset="0"/>
                          <a:ea typeface="Aptos" pitchFamily="34" charset="-122"/>
                          <a:cs typeface="Aptos" pitchFamily="34" charset="-120"/>
                        </a:rPr>
                        <a:t>total</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7,000</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Aptos" pitchFamily="34" charset="0"/>
                          <a:ea typeface="Aptos" pitchFamily="34" charset="-122"/>
                          <a:cs typeface="Aptos" pitchFamily="34" charset="-120"/>
                        </a:rPr>
                        <a:t>31,484</a:t>
                      </a: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Aptos" charset="0"/>
                        <a:ea typeface="Aptos" charset="0"/>
                        <a:cs typeface="Aptos"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10,494, domestic water 5,725, heating 5,788, chilled water 3,987, sprinkler 2,073, ventilation 3,417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Difficulty is one number: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Higher tiers are heavier and tighter, as designed</a:t>
            </a:r>
            <a:endParaRPr lang="en-US" sz="2600" dirty="0"/>
          </a:p>
        </p:txBody>
      </p:sp>
      <p:pic>
        <p:nvPicPr>
          <p:cNvPr id="3" name="tier statistics" descr="preencoded.png">    </p:cNvPr>
          <p:cNvPicPr>
            <a:picLocks noChangeAspect="1"/>
          </p:cNvPicPr>
          <p:nvPr/>
        </p:nvPicPr>
        <p:blipFill>
          <a:blip r:embed="rId1"/>
          <a:stretch>
            <a:fillRect/>
          </a:stretch>
        </p:blipFill>
        <p:spPr>
          <a:xfrm>
            <a:off x="548640" y="1325880"/>
            <a:ext cx="11091672" cy="3965273"/>
          </a:xfrm>
          <a:prstGeom prst="rect">
            <a:avLst/>
          </a:prstGeom>
        </p:spPr>
      </p:pic>
      <p:sp>
        <p:nvSpPr>
          <p:cNvPr id="4" name="experiment 1 caption"/>
          <p:cNvSpPr txBox="1"/>
          <p:nvPr/>
        </p:nvSpPr>
        <p:spPr>
          <a:xfrm>
            <a:off x="548640" y="5400881"/>
            <a:ext cx="11091672" cy="731520"/>
          </a:xfrm>
          <a:prstGeom prst="rect">
            <a:avLst/>
          </a:prstGeom>
          <a:noFill/>
          <a:ln/>
        </p:spPr>
        <p:txBody>
          <a:bodyPr wrap="square" lIns="0" tIns="0" rIns="0" bIns="0" rtlCol="0" anchor="t"/>
          <a:lstStyle/>
          <a:p>
            <a:pPr indent="0" marL="0">
              <a:buNone/>
            </a:pPr>
            <a:r>
              <a:rPr lang="en-US" sz="1250" dirty="0">
                <a:solidFill>
                  <a:srgbClr val="52514E"/>
                </a:solidFill>
              </a:rPr>
              <a:t>A check that the dataset behaves as designed: the tier fixes the element count; load and congestion follow from the rules. Boxes: benchmark, 125 contexts per tier (IQR, whiskers 1.5 IQR); diamonds: medians of 2,000 generated contexts per tier. Load rises with the tier (rank correlation +0.46; the population medians rise at every step) and the closest gap narrows at every step (−0.38; 149 → 55 mm in the population).</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Spacing holds up on a clinic the generator never saw</a:t>
            </a:r>
            <a:endParaRPr lang="en-US" sz="2600" dirty="0"/>
          </a:p>
        </p:txBody>
      </p:sp>
      <p:pic>
        <p:nvPicPr>
          <p:cNvPr id="3" name="gap distributions" descr="preencoded.png">    </p:cNvPr>
          <p:cNvPicPr>
            <a:picLocks noChangeAspect="1"/>
          </p:cNvPicPr>
          <p:nvPr/>
        </p:nvPicPr>
        <p:blipFill>
          <a:blip r:embed="rId1"/>
          <a:stretch>
            <a:fillRect/>
          </a:stretch>
        </p:blipFill>
        <p:spPr>
          <a:xfrm>
            <a:off x="548640" y="1325880"/>
            <a:ext cx="11091672" cy="4133217"/>
          </a:xfrm>
          <a:prstGeom prst="rect">
            <a:avLst/>
          </a:prstGeom>
        </p:spPr>
      </p:pic>
      <p:sp>
        <p:nvSpPr>
          <p:cNvPr id="4" name="experiment 2 caption"/>
          <p:cNvSpPr txBox="1"/>
          <p:nvPr/>
        </p:nvSpPr>
        <p:spPr>
          <a:xfrm>
            <a:off x="548640" y="5550537"/>
            <a:ext cx="11091672" cy="640080"/>
          </a:xfrm>
          <a:prstGeom prst="rect">
            <a:avLst/>
          </a:prstGeom>
          <a:noFill/>
          <a:ln/>
        </p:spPr>
        <p:txBody>
          <a:bodyPr wrap="square" lIns="0" tIns="0" rIns="0" bIns="0" rtlCol="0" anchor="t"/>
          <a:lstStyle/>
          <a:p>
            <a:pPr indent="0" marL="0">
              <a:buNone/>
            </a:pPr>
            <a:r>
              <a:rPr lang="en-US" sz="1200" dirty="0">
                <a:solidFill>
                  <a:srgbClr val="52514E"/>
                </a:solidFill>
              </a:rPr>
              <a:t>The gap distribution was fitted on the duplex; the clinic was held out. Clear gaps between side-by-side pipes, on sections every 250 mm. Clinic (797 pipe pairs): 32 mm from the generated gaps (95 % CI 17–48), more than the 8 mm a perfect generator would show, and about as close as the duplex’s own two models are to each other (26 mm). Models: buildingSMART Duplex Apartment and Medical-Dental Clinic [12].</a:t>
            </a:r>
            <a:endParaRPr lang="en-US" sz="1200" dirty="0"/>
          </a:p>
        </p:txBody>
      </p:sp>
      <p:sp>
        <p:nvSpPr>
          <p:cNvPr id="5" name="references"/>
          <p:cNvSpPr txBox="1"/>
          <p:nvPr/>
        </p:nvSpPr>
        <p:spPr>
          <a:xfrm>
            <a:off x="548640" y="6217920"/>
            <a:ext cx="11091672" cy="237744"/>
          </a:xfrm>
          <a:prstGeom prst="rect">
            <a:avLst/>
          </a:prstGeom>
          <a:noFill/>
          <a:ln/>
        </p:spPr>
        <p:txBody>
          <a:bodyPr wrap="square" lIns="0" tIns="0" rIns="0" bIns="0" rtlCol="0" anchor="b"/>
          <a:lstStyle/>
          <a:p>
            <a:pPr indent="0" marL="0">
              <a:buNone/>
            </a:pPr>
            <a:r>
              <a:rPr lang="en-US" sz="800" dirty="0">
                <a:solidFill>
                  <a:srgbClr val="52514E"/>
                </a:solidFill>
              </a:rPr>
              <a:t>[12] buildingSMART International (2020), Duplex Apartment and Medical-Dental Clinic sample IFC files, CC BY 4.0</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two-size catalog attaches 1 pipe in 7; the dataset shows what to cover</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800" dirty="0">
                <a:solidFill>
                  <a:srgbClr val="52514E"/>
                </a:solidFill>
              </a:rPr>
              <a:t>[2] Pedrollo, Gvadzabia, Graeber &amp; Fischer (2026), CrossMEP, CIB W78 2026 (this paper)</a:t>
            </a:r>
            <a:endParaRPr lang="en-US" sz="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Set the parameters and the generator returns the designer’s brief</a:t>
            </a:r>
            <a:endParaRPr lang="en-US" sz="2600" dirty="0"/>
          </a:p>
        </p:txBody>
      </p:sp>
      <p:pic>
        <p:nvPicPr>
          <p:cNvPr id="3" name="studio parameters" descr="preencoded.png">    </p:cNvPr>
          <p:cNvPicPr>
            <a:picLocks noChangeAspect="1"/>
          </p:cNvPicPr>
          <p:nvPr/>
        </p:nvPicPr>
        <p:blipFill>
          <a:blip r:embed="rId1"/>
          <a:stretch>
            <a:fillRect/>
          </a:stretch>
        </p:blipFill>
        <p:spPr>
          <a:xfrm>
            <a:off x="548640" y="1280160"/>
            <a:ext cx="11091672" cy="733885"/>
          </a:xfrm>
          <a:prstGeom prst="rect">
            <a:avLst/>
          </a:prstGeom>
        </p:spPr>
      </p:pic>
      <p:pic>
        <p:nvPicPr>
          <p:cNvPr id="4" name="studio section" descr="preencoded.png">    </p:cNvPr>
          <p:cNvPicPr>
            <a:picLocks noChangeAspect="1"/>
          </p:cNvPicPr>
          <p:nvPr/>
        </p:nvPicPr>
        <p:blipFill>
          <a:blip r:embed="rId2"/>
          <a:stretch>
            <a:fillRect/>
          </a:stretch>
        </p:blipFill>
        <p:spPr>
          <a:xfrm>
            <a:off x="548640" y="2196925"/>
            <a:ext cx="7726680" cy="3000652"/>
          </a:xfrm>
          <a:prstGeom prst="rect">
            <a:avLst/>
          </a:prstGeom>
        </p:spPr>
      </p:pic>
      <p:sp>
        <p:nvSpPr>
          <p:cNvPr id="5" name="studio caption"/>
          <p:cNvSpPr txBox="1"/>
          <p:nvPr/>
        </p:nvSpPr>
        <p:spPr>
          <a:xfrm>
            <a:off x="548640" y="5334737"/>
            <a:ext cx="7726680" cy="731520"/>
          </a:xfrm>
          <a:prstGeom prst="rect">
            <a:avLst/>
          </a:prstGeom>
          <a:noFill/>
          <a:ln/>
        </p:spPr>
        <p:txBody>
          <a:bodyPr wrap="square" lIns="0" tIns="0" rIns="0" bIns="0" rtlCol="0" anchor="t"/>
          <a:lstStyle/>
          <a:p>
            <a:pPr indent="0" marL="0">
              <a:buNone/>
            </a:pPr>
            <a:r>
              <a:rPr lang="en-US" sz="1250" dirty="0">
                <a:solidFill>
                  <a:srgbClr val="52514E"/>
                </a:solidFill>
              </a:rPr>
              <a:t>In: the parameters (tier C7, seed 0). Out: section A–A at the support, as the support designer receives it (scale 1:20), and the same run in 3D. Every section is a stored output of the released generator, with the Python call that reproduces it.</a:t>
            </a:r>
            <a:endParaRPr lang="en-US" sz="1250" dirty="0"/>
          </a:p>
        </p:txBody>
      </p:sp>
      <p:pic>
        <p:nvPicPr>
          <p:cNvPr id="6" name="studio 3D" descr="preencoded.png">    </p:cNvPr>
          <p:cNvPicPr>
            <a:picLocks noChangeAspect="1"/>
          </p:cNvPicPr>
          <p:nvPr/>
        </p:nvPicPr>
        <p:blipFill>
          <a:blip r:embed="rId3"/>
          <a:stretch>
            <a:fillRect/>
          </a:stretch>
        </p:blipFill>
        <p:spPr>
          <a:xfrm>
            <a:off x="8503920" y="2196925"/>
            <a:ext cx="3136392" cy="2240280"/>
          </a:xfrm>
          <a:prstGeom prst="rect">
            <a:avLst/>
          </a:prstGeom>
        </p:spPr>
      </p:pic>
      <p:pic>
        <p:nvPicPr>
          <p:cNvPr id="7" name="qr studio" descr="/home/user/crossmep_dataset/docs/figures/qr_studio.png">    </p:cNvPr>
          <p:cNvPicPr>
            <a:picLocks noChangeAspect="1"/>
          </p:cNvPicPr>
          <p:nvPr/>
        </p:nvPicPr>
        <p:blipFill>
          <a:blip r:embed="rId4"/>
          <a:stretch>
            <a:fillRect/>
          </a:stretch>
        </p:blipFill>
        <p:spPr>
          <a:xfrm>
            <a:off x="9454896" y="4665805"/>
            <a:ext cx="1234440" cy="1234440"/>
          </a:xfrm>
          <a:prstGeom prst="rect">
            <a:avLst/>
          </a:prstGeom>
        </p:spPr>
      </p:pic>
      <p:sp>
        <p:nvSpPr>
          <p:cNvPr id="8" name="studio link"/>
          <p:cNvSpPr txBox="1"/>
          <p:nvPr/>
        </p:nvSpPr>
        <p:spPr>
          <a:xfrm>
            <a:off x="8503920" y="5945965"/>
            <a:ext cx="3136392" cy="274320"/>
          </a:xfrm>
          <a:prstGeom prst="rect">
            <a:avLst/>
          </a:prstGeom>
          <a:noFill/>
          <a:ln/>
        </p:spPr>
        <p:txBody>
          <a:bodyPr wrap="square" lIns="0" tIns="0" rIns="0" bIns="0" rtlCol="0" anchor="t"/>
          <a:lstStyle/>
          <a:p>
            <a:pPr algn="ctr" indent="0" marL="0">
              <a:buNone/>
            </a:pPr>
            <a:r>
              <a:rPr lang="en-US" sz="1200" dirty="0">
                <a:solidFill>
                  <a:srgbClr val="52514E"/>
                </a:solidFill>
              </a:rPr>
              <a:t>Scan to open the studio</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Train on the generator, evaluate on the benchmark, report per tier</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preencoded.png">    </p:cNvPr>
          <p:cNvPicPr>
            <a:picLocks noChangeAspect="1"/>
          </p:cNvPicPr>
          <p:nvPr/>
        </p:nvPicPr>
        <p:blipFill>
          <a:blip r:embed="rId1"/>
          <a:stretch>
            <a:fillRect/>
          </a:stretch>
        </p:blipFill>
        <p:spPr>
          <a:xfrm>
            <a:off x="6570536" y="1417320"/>
            <a:ext cx="4854321" cy="2834640"/>
          </a:xfrm>
          <a:prstGeom prst="rect">
            <a:avLst/>
          </a:prstGeom>
        </p:spPr>
      </p:pic>
      <p:sp>
        <p:nvSpPr>
          <p:cNvPr id="7" name="gallery screenshot caption"/>
          <p:cNvSpPr txBox="1"/>
          <p:nvPr/>
        </p:nvSpPr>
        <p:spPr>
          <a:xfrm>
            <a:off x="6570536" y="4325112"/>
            <a:ext cx="4854321"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section at one support today; a checker and real data come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now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constant sourced or declared</a:t>
            </a:r>
            <a:endParaRPr lang="en-US" sz="1600" dirty="0"/>
          </a:p>
          <a:p>
            <a:pPr indent="0" marL="0">
              <a:buNone/>
            </a:pPr>
            <a:r>
              <a:rPr lang="en-US" sz="1600" dirty="0">
                <a:solidFill>
                  <a:srgbClr val="CADCFC"/>
                </a:solidFill>
              </a:rPr>
              <a:t>pipe gaps checked on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2026-10-06T22:57:00Z</dcterms:created>
  <dcterms:modified xsi:type="dcterms:W3CDTF">2026-10-06T22:57:00Z</dcterms:modified>
</cp:coreProperties>
</file>